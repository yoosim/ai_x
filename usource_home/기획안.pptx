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9" r:id="rId4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A2A"/>
    <a:srgbClr val="F78535"/>
    <a:srgbClr val="FFFFFF"/>
    <a:srgbClr val="9A8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66" d="100"/>
          <a:sy n="66" d="100"/>
        </p:scale>
        <p:origin x="642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056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478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46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959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36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5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87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088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050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952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56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8B20E-7489-41F6-B3EF-D69EA7A7F97B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4A011C-F702-442E-DC70-75B01EDCC234}"/>
              </a:ext>
            </a:extLst>
          </p:cNvPr>
          <p:cNvSpPr/>
          <p:nvPr userDrawn="1"/>
        </p:nvSpPr>
        <p:spPr>
          <a:xfrm>
            <a:off x="-1398780" y="91931"/>
            <a:ext cx="1082675" cy="108267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j-ea"/>
                <a:ea typeface="+mj-ea"/>
              </a:rPr>
              <a:t>&lt;</a:t>
            </a:r>
            <a:r>
              <a:rPr lang="ko-KR" altLang="en-US" sz="1400" dirty="0" err="1">
                <a:latin typeface="+mj-ea"/>
                <a:ea typeface="+mj-ea"/>
              </a:rPr>
              <a:t>글자색</a:t>
            </a:r>
            <a:r>
              <a:rPr lang="en-US" altLang="ko-KR" sz="1400" dirty="0">
                <a:latin typeface="+mj-ea"/>
                <a:ea typeface="+mj-ea"/>
              </a:rPr>
              <a:t>&gt;</a:t>
            </a:r>
          </a:p>
          <a:p>
            <a:pPr algn="ctr"/>
            <a:r>
              <a:rPr lang="en-US" altLang="ko-KR" sz="1400" dirty="0">
                <a:latin typeface="+mj-ea"/>
                <a:ea typeface="+mj-ea"/>
              </a:rPr>
              <a:t># 2A2A2A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D5A15D-1482-E51F-0841-5A336D8BBBC3}"/>
              </a:ext>
            </a:extLst>
          </p:cNvPr>
          <p:cNvSpPr/>
          <p:nvPr userDrawn="1"/>
        </p:nvSpPr>
        <p:spPr>
          <a:xfrm>
            <a:off x="-1398780" y="1500043"/>
            <a:ext cx="1082675" cy="1082675"/>
          </a:xfrm>
          <a:prstGeom prst="rect">
            <a:avLst/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j-ea"/>
                <a:ea typeface="+mj-ea"/>
              </a:rPr>
              <a:t>&lt;</a:t>
            </a:r>
            <a:r>
              <a:rPr lang="ko-KR" altLang="en-US" sz="1400" dirty="0" err="1">
                <a:latin typeface="+mj-ea"/>
                <a:ea typeface="+mj-ea"/>
              </a:rPr>
              <a:t>강조색</a:t>
            </a:r>
            <a:r>
              <a:rPr lang="en-US" altLang="ko-KR" sz="1400" dirty="0">
                <a:latin typeface="+mj-ea"/>
                <a:ea typeface="+mj-ea"/>
              </a:rPr>
              <a:t>1&gt;</a:t>
            </a:r>
          </a:p>
          <a:p>
            <a:pPr algn="ctr"/>
            <a:r>
              <a:rPr lang="en-US" altLang="ko-KR" sz="1400" dirty="0">
                <a:latin typeface="+mj-ea"/>
                <a:ea typeface="+mj-ea"/>
              </a:rPr>
              <a:t>#F78535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7F10CE-6663-9184-7F92-C64A2606802A}"/>
              </a:ext>
            </a:extLst>
          </p:cNvPr>
          <p:cNvSpPr/>
          <p:nvPr userDrawn="1"/>
        </p:nvSpPr>
        <p:spPr>
          <a:xfrm>
            <a:off x="-1398780" y="2908155"/>
            <a:ext cx="1082675" cy="1082675"/>
          </a:xfrm>
          <a:prstGeom prst="rect">
            <a:avLst/>
          </a:prstGeom>
          <a:solidFill>
            <a:srgbClr val="9A8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j-ea"/>
              </a:rPr>
              <a:t>&lt;</a:t>
            </a:r>
            <a:r>
              <a:rPr lang="ko-KR" altLang="en-US" sz="1400" dirty="0" err="1">
                <a:latin typeface="+mj-ea"/>
              </a:rPr>
              <a:t>강조색</a:t>
            </a:r>
            <a:r>
              <a:rPr lang="en-US" altLang="ko-KR" sz="1400" dirty="0">
                <a:latin typeface="+mj-ea"/>
              </a:rPr>
              <a:t>2&gt;</a:t>
            </a:r>
          </a:p>
          <a:p>
            <a:pPr algn="ctr"/>
            <a:r>
              <a:rPr lang="en-US" altLang="ko-KR" sz="1400" dirty="0">
                <a:latin typeface="+mj-ea"/>
              </a:rPr>
              <a:t>#9A8B80</a:t>
            </a:r>
            <a:endParaRPr lang="ko-KR" altLang="en-US" sz="1400" dirty="0">
              <a:latin typeface="+mj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DAD72D-976F-9C47-D754-1B8E39B17C80}"/>
              </a:ext>
            </a:extLst>
          </p:cNvPr>
          <p:cNvSpPr/>
          <p:nvPr userDrawn="1"/>
        </p:nvSpPr>
        <p:spPr>
          <a:xfrm>
            <a:off x="-1398780" y="4316267"/>
            <a:ext cx="1082675" cy="1082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배경색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#FFFFFF</a:t>
            </a:r>
            <a:endParaRPr lang="ko-KR" altLang="en-US" sz="1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26561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패턴) 주황색 사선 훈제연어 샐러드">
            <a:extLst>
              <a:ext uri="{FF2B5EF4-FFF2-40B4-BE49-F238E27FC236}">
                <a16:creationId xmlns:a16="http://schemas.microsoft.com/office/drawing/2014/main" id="{D0C7C905-8609-86A6-77B0-2392449A2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99038" y="9660444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패턴) 주황색연어돋보기">
            <a:extLst>
              <a:ext uri="{FF2B5EF4-FFF2-40B4-BE49-F238E27FC236}">
                <a16:creationId xmlns:a16="http://schemas.microsoft.com/office/drawing/2014/main" id="{B641680D-5185-8DF4-7045-D7E63B463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66437" y="6967104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4B21B59-58CB-E6BC-4920-9A68550A9C88}"/>
              </a:ext>
            </a:extLst>
          </p:cNvPr>
          <p:cNvSpPr/>
          <p:nvPr/>
        </p:nvSpPr>
        <p:spPr>
          <a:xfrm>
            <a:off x="-1398780" y="91931"/>
            <a:ext cx="1082675" cy="108267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j-ea"/>
                <a:ea typeface="+mj-ea"/>
              </a:rPr>
              <a:t>&lt;</a:t>
            </a:r>
            <a:r>
              <a:rPr lang="ko-KR" altLang="en-US" sz="1400" dirty="0" err="1">
                <a:latin typeface="+mj-ea"/>
                <a:ea typeface="+mj-ea"/>
              </a:rPr>
              <a:t>글자색</a:t>
            </a:r>
            <a:r>
              <a:rPr lang="en-US" altLang="ko-KR" sz="1400" dirty="0">
                <a:latin typeface="+mj-ea"/>
                <a:ea typeface="+mj-ea"/>
              </a:rPr>
              <a:t>&gt;</a:t>
            </a:r>
          </a:p>
          <a:p>
            <a:pPr algn="ctr"/>
            <a:r>
              <a:rPr lang="en-US" altLang="ko-KR" sz="1400" dirty="0">
                <a:latin typeface="+mj-ea"/>
                <a:ea typeface="+mj-ea"/>
              </a:rPr>
              <a:t># 2A2A2A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B0737A-9AB1-A256-0018-C30AA65B67E7}"/>
              </a:ext>
            </a:extLst>
          </p:cNvPr>
          <p:cNvSpPr/>
          <p:nvPr/>
        </p:nvSpPr>
        <p:spPr>
          <a:xfrm>
            <a:off x="-1398780" y="1500043"/>
            <a:ext cx="1082675" cy="1082675"/>
          </a:xfrm>
          <a:prstGeom prst="rect">
            <a:avLst/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j-ea"/>
                <a:ea typeface="+mj-ea"/>
              </a:rPr>
              <a:t>&lt;</a:t>
            </a:r>
            <a:r>
              <a:rPr lang="ko-KR" altLang="en-US" sz="1400" dirty="0" err="1">
                <a:latin typeface="+mj-ea"/>
                <a:ea typeface="+mj-ea"/>
              </a:rPr>
              <a:t>강조색</a:t>
            </a:r>
            <a:r>
              <a:rPr lang="en-US" altLang="ko-KR" sz="1400" dirty="0">
                <a:latin typeface="+mj-ea"/>
                <a:ea typeface="+mj-ea"/>
              </a:rPr>
              <a:t>1&gt;</a:t>
            </a:r>
          </a:p>
          <a:p>
            <a:pPr algn="ctr"/>
            <a:r>
              <a:rPr lang="en-US" altLang="ko-KR" sz="1400" dirty="0">
                <a:latin typeface="+mj-ea"/>
                <a:ea typeface="+mj-ea"/>
              </a:rPr>
              <a:t>#F78535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B07898-11BD-6925-B2BE-E68F46E0D90A}"/>
              </a:ext>
            </a:extLst>
          </p:cNvPr>
          <p:cNvSpPr/>
          <p:nvPr/>
        </p:nvSpPr>
        <p:spPr>
          <a:xfrm>
            <a:off x="-1398780" y="2908155"/>
            <a:ext cx="1082675" cy="1082675"/>
          </a:xfrm>
          <a:prstGeom prst="rect">
            <a:avLst/>
          </a:prstGeom>
          <a:solidFill>
            <a:srgbClr val="9A8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j-ea"/>
              </a:rPr>
              <a:t>&lt;</a:t>
            </a:r>
            <a:r>
              <a:rPr lang="ko-KR" altLang="en-US" sz="1400" dirty="0" err="1">
                <a:latin typeface="+mj-ea"/>
              </a:rPr>
              <a:t>강조색</a:t>
            </a:r>
            <a:r>
              <a:rPr lang="en-US" altLang="ko-KR" sz="1400" dirty="0">
                <a:latin typeface="+mj-ea"/>
              </a:rPr>
              <a:t>2&gt;</a:t>
            </a:r>
          </a:p>
          <a:p>
            <a:pPr algn="ctr"/>
            <a:r>
              <a:rPr lang="en-US" altLang="ko-KR" sz="1400" dirty="0">
                <a:latin typeface="+mj-ea"/>
              </a:rPr>
              <a:t>#9A8B80</a:t>
            </a:r>
            <a:endParaRPr lang="ko-KR" altLang="en-US" sz="1400" dirty="0">
              <a:latin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AFB9E1-4560-1565-8EE3-26A93A325EA1}"/>
              </a:ext>
            </a:extLst>
          </p:cNvPr>
          <p:cNvSpPr/>
          <p:nvPr/>
        </p:nvSpPr>
        <p:spPr>
          <a:xfrm>
            <a:off x="-1398780" y="4316267"/>
            <a:ext cx="1082675" cy="1082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j-ea"/>
                <a:ea typeface="+mj-ea"/>
              </a:rPr>
              <a:t>배경색</a:t>
            </a:r>
            <a:endParaRPr lang="en-US" altLang="ko-KR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#FFFFFF</a:t>
            </a:r>
            <a:endParaRPr lang="ko-KR" altLang="en-US" sz="1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1576FC3-ED25-2405-71D8-CC81CD6CDA4C}"/>
              </a:ext>
            </a:extLst>
          </p:cNvPr>
          <p:cNvGrpSpPr/>
          <p:nvPr/>
        </p:nvGrpSpPr>
        <p:grpSpPr>
          <a:xfrm>
            <a:off x="5564838" y="0"/>
            <a:ext cx="6903748" cy="6903748"/>
            <a:chOff x="5564838" y="0"/>
            <a:chExt cx="6903748" cy="6903748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A3477D9-85AA-8EBE-159D-42D2CAF52B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094" t="2154" r="16387" b="8757"/>
            <a:stretch>
              <a:fillRect/>
            </a:stretch>
          </p:blipFill>
          <p:spPr bwMode="auto">
            <a:xfrm>
              <a:off x="6241473" y="676635"/>
              <a:ext cx="5550478" cy="5550478"/>
            </a:xfrm>
            <a:custGeom>
              <a:avLst/>
              <a:gdLst>
                <a:gd name="connsiteX0" fmla="*/ 2775238 w 5550478"/>
                <a:gd name="connsiteY0" fmla="*/ 0 h 5550478"/>
                <a:gd name="connsiteX1" fmla="*/ 5550478 w 5550478"/>
                <a:gd name="connsiteY1" fmla="*/ 2775239 h 5550478"/>
                <a:gd name="connsiteX2" fmla="*/ 2775238 w 5550478"/>
                <a:gd name="connsiteY2" fmla="*/ 5550478 h 5550478"/>
                <a:gd name="connsiteX3" fmla="*/ 0 w 5550478"/>
                <a:gd name="connsiteY3" fmla="*/ 2775239 h 5550478"/>
                <a:gd name="connsiteX4" fmla="*/ 2775238 w 5550478"/>
                <a:gd name="connsiteY4" fmla="*/ 0 h 555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50478" h="5550478">
                  <a:moveTo>
                    <a:pt x="2775238" y="0"/>
                  </a:moveTo>
                  <a:cubicBezTo>
                    <a:pt x="4307962" y="0"/>
                    <a:pt x="5550478" y="1242517"/>
                    <a:pt x="5550478" y="2775239"/>
                  </a:cubicBezTo>
                  <a:cubicBezTo>
                    <a:pt x="5550478" y="4307961"/>
                    <a:pt x="4307962" y="5550478"/>
                    <a:pt x="2775238" y="5550478"/>
                  </a:cubicBezTo>
                  <a:cubicBezTo>
                    <a:pt x="1242518" y="5550478"/>
                    <a:pt x="0" y="4307961"/>
                    <a:pt x="0" y="2775239"/>
                  </a:cubicBezTo>
                  <a:cubicBezTo>
                    <a:pt x="0" y="1242517"/>
                    <a:pt x="1242518" y="0"/>
                    <a:pt x="27752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8C1C12AC-A208-6BC4-5CE9-50F04B42A359}"/>
                </a:ext>
              </a:extLst>
            </p:cNvPr>
            <p:cNvSpPr/>
            <p:nvPr/>
          </p:nvSpPr>
          <p:spPr>
            <a:xfrm>
              <a:off x="6241473" y="676635"/>
              <a:ext cx="5550478" cy="5550478"/>
            </a:xfrm>
            <a:prstGeom prst="ellipse">
              <a:avLst/>
            </a:prstGeom>
            <a:noFill/>
            <a:ln w="355600">
              <a:solidFill>
                <a:srgbClr val="F785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막힌 원호 7">
              <a:extLst>
                <a:ext uri="{FF2B5EF4-FFF2-40B4-BE49-F238E27FC236}">
                  <a16:creationId xmlns:a16="http://schemas.microsoft.com/office/drawing/2014/main" id="{B544AAAE-875A-2B98-AD94-36D5499BAA31}"/>
                </a:ext>
              </a:extLst>
            </p:cNvPr>
            <p:cNvSpPr/>
            <p:nvPr/>
          </p:nvSpPr>
          <p:spPr>
            <a:xfrm rot="17100000">
              <a:off x="5564838" y="0"/>
              <a:ext cx="6903748" cy="6903748"/>
            </a:xfrm>
            <a:prstGeom prst="blockArc">
              <a:avLst>
                <a:gd name="adj1" fmla="val 12844197"/>
                <a:gd name="adj2" fmla="val 11965390"/>
                <a:gd name="adj3" fmla="val 1432"/>
              </a:avLst>
            </a:prstGeom>
            <a:solidFill>
              <a:srgbClr val="F78535"/>
            </a:solidFill>
            <a:ln w="3556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D73448-209D-CB10-F6A8-37E305B61B5A}"/>
              </a:ext>
            </a:extLst>
          </p:cNvPr>
          <p:cNvSpPr/>
          <p:nvPr/>
        </p:nvSpPr>
        <p:spPr>
          <a:xfrm rot="2455148">
            <a:off x="5743414" y="5102261"/>
            <a:ext cx="419100" cy="3561557"/>
          </a:xfrm>
          <a:prstGeom prst="rect">
            <a:avLst/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26110E-73E9-422D-1643-0B3F9CB43A2E}"/>
              </a:ext>
            </a:extLst>
          </p:cNvPr>
          <p:cNvSpPr txBox="1"/>
          <p:nvPr/>
        </p:nvSpPr>
        <p:spPr>
          <a:xfrm>
            <a:off x="1136321" y="1475110"/>
            <a:ext cx="3900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2A2A2A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TEAM PROJECT</a:t>
            </a:r>
          </a:p>
        </p:txBody>
      </p:sp>
      <p:pic>
        <p:nvPicPr>
          <p:cNvPr id="4" name="Picture 2" descr="생성된 이미지">
            <a:extLst>
              <a:ext uri="{FF2B5EF4-FFF2-40B4-BE49-F238E27FC236}">
                <a16:creationId xmlns:a16="http://schemas.microsoft.com/office/drawing/2014/main" id="{013B114F-11E1-9EF6-9E1D-D3FE04B7C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71006" y="-4974556"/>
            <a:ext cx="10691813" cy="712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5E4773-CE9D-0AC3-E63F-88F314105D1E}"/>
              </a:ext>
            </a:extLst>
          </p:cNvPr>
          <p:cNvSpPr txBox="1"/>
          <p:nvPr/>
        </p:nvSpPr>
        <p:spPr>
          <a:xfrm>
            <a:off x="1136321" y="2514357"/>
            <a:ext cx="6008641" cy="3046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9600" dirty="0">
                <a:solidFill>
                  <a:srgbClr val="2A2A2A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Depp </a:t>
            </a:r>
          </a:p>
          <a:p>
            <a:r>
              <a:rPr lang="en-US" altLang="ko-KR" sz="9600" dirty="0">
                <a:solidFill>
                  <a:srgbClr val="2A2A2A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Dish</a:t>
            </a:r>
            <a:r>
              <a:rPr lang="en-US" altLang="ko-KR" sz="5400" dirty="0">
                <a:solidFill>
                  <a:srgbClr val="2A2A2A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(</a:t>
            </a:r>
            <a:r>
              <a:rPr lang="ko-KR" altLang="en-US" sz="5400" dirty="0">
                <a:solidFill>
                  <a:srgbClr val="2A2A2A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가칭</a:t>
            </a:r>
            <a:r>
              <a:rPr lang="en-US" altLang="ko-KR" sz="5400" dirty="0">
                <a:solidFill>
                  <a:srgbClr val="2A2A2A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1262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2BFF0B9-F7E2-6632-159F-E2EB3E0D099D}"/>
              </a:ext>
            </a:extLst>
          </p:cNvPr>
          <p:cNvSpPr/>
          <p:nvPr/>
        </p:nvSpPr>
        <p:spPr>
          <a:xfrm>
            <a:off x="0" y="290286"/>
            <a:ext cx="4354286" cy="551543"/>
          </a:xfrm>
          <a:prstGeom prst="rect">
            <a:avLst/>
          </a:prstGeom>
          <a:solidFill>
            <a:srgbClr val="9A8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BB8CEF-BDC8-E216-9151-E378F46937D8}"/>
              </a:ext>
            </a:extLst>
          </p:cNvPr>
          <p:cNvSpPr/>
          <p:nvPr/>
        </p:nvSpPr>
        <p:spPr>
          <a:xfrm>
            <a:off x="0" y="290286"/>
            <a:ext cx="696686" cy="5515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solidFill>
                  <a:schemeClr val="bg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Ⅰ</a:t>
            </a:r>
            <a:endParaRPr lang="ko-KR" altLang="en-US" sz="3600" dirty="0">
              <a:solidFill>
                <a:schemeClr val="bg1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E47C78-85BB-1F5E-9C05-296A3C04D47D}"/>
              </a:ext>
            </a:extLst>
          </p:cNvPr>
          <p:cNvSpPr/>
          <p:nvPr/>
        </p:nvSpPr>
        <p:spPr>
          <a:xfrm>
            <a:off x="696686" y="290286"/>
            <a:ext cx="3657600" cy="5515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팀 프로젝트 이름 추천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3BED9F-E63E-C331-4801-6774765E9980}"/>
              </a:ext>
            </a:extLst>
          </p:cNvPr>
          <p:cNvSpPr/>
          <p:nvPr/>
        </p:nvSpPr>
        <p:spPr>
          <a:xfrm>
            <a:off x="478971" y="1306286"/>
            <a:ext cx="9739085" cy="17417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1. Deep Dish : Deep Learning +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음식 접시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2. Byte. Bite :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컴퓨터 데이터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(Byte) +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한입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(Bite) =&gt; AI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미식가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3. </a:t>
            </a:r>
            <a:endParaRPr lang="ko-KR" altLang="en-US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3DD3D1B-D8C1-1D71-5D47-704C985F77AF}"/>
              </a:ext>
            </a:extLst>
          </p:cNvPr>
          <p:cNvSpPr/>
          <p:nvPr/>
        </p:nvSpPr>
        <p:spPr>
          <a:xfrm>
            <a:off x="1538514" y="2510971"/>
            <a:ext cx="5762172" cy="25254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각자 고민이 필요하지만 </a:t>
            </a:r>
            <a:endParaRPr lang="en-US" altLang="ko-KR" dirty="0"/>
          </a:p>
          <a:p>
            <a:pPr algn="ctr"/>
            <a:r>
              <a:rPr lang="ko-KR" altLang="en-US" dirty="0"/>
              <a:t>지금 시점엔 중요한 게 아니라고 생각이 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8817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E37E1-C411-24C2-4FF4-8F4FEEAB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95C30E3-EA7C-F0D0-C834-09CA7B3DA7DE}"/>
              </a:ext>
            </a:extLst>
          </p:cNvPr>
          <p:cNvSpPr/>
          <p:nvPr/>
        </p:nvSpPr>
        <p:spPr>
          <a:xfrm>
            <a:off x="0" y="290286"/>
            <a:ext cx="4354286" cy="551543"/>
          </a:xfrm>
          <a:prstGeom prst="rect">
            <a:avLst/>
          </a:prstGeom>
          <a:solidFill>
            <a:srgbClr val="9A8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1F3F1D-9693-81FB-236B-236B2046FDEF}"/>
              </a:ext>
            </a:extLst>
          </p:cNvPr>
          <p:cNvSpPr/>
          <p:nvPr/>
        </p:nvSpPr>
        <p:spPr>
          <a:xfrm>
            <a:off x="0" y="290286"/>
            <a:ext cx="696686" cy="5515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solidFill>
                  <a:schemeClr val="bg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Ⅱ</a:t>
            </a:r>
            <a:endParaRPr lang="ko-KR" altLang="en-US" sz="3600" dirty="0">
              <a:solidFill>
                <a:schemeClr val="bg1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499921-A2D9-DD26-6C6E-7518B00E3998}"/>
              </a:ext>
            </a:extLst>
          </p:cNvPr>
          <p:cNvSpPr/>
          <p:nvPr/>
        </p:nvSpPr>
        <p:spPr>
          <a:xfrm>
            <a:off x="696686" y="290286"/>
            <a:ext cx="3657600" cy="5515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chemeClr val="bg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기획안 세부내용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76538A-19B0-FFAA-DE8B-2C980930C2B7}"/>
              </a:ext>
            </a:extLst>
          </p:cNvPr>
          <p:cNvSpPr/>
          <p:nvPr/>
        </p:nvSpPr>
        <p:spPr>
          <a:xfrm>
            <a:off x="478971" y="1306286"/>
            <a:ext cx="9739085" cy="4673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서론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주제에 대한 배경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주제 소개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: </a:t>
            </a:r>
            <a:b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</a:b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본 프로젝트는 음식 이미지로부터 가게 유형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/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주요 재료를 예측하고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이를 시계열로 분석하여 트렌드를 파악하는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AI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기반 분석 시스템을 목표로 한다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.</a:t>
            </a:r>
            <a:b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</a:b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이미지 기반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B2B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예측 기술의 실질적 응용 가능성을 탐색한다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.</a:t>
            </a: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문제 정의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기존 음식 이미지 분석 기술의 한계점 설명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1257300" lvl="2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현재 음식 이미지 분석은 음식 분류나 칼로리 예측에 국한되어 있음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1257300" lvl="2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재료 정보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시계열 변화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트렌드 분석까지 연결되는 구조는 부재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1257300" lvl="2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데이터 편향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실제 음식과 이미지의 괴리 등 문제점이 존재 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프로젝트 개요 및 목적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목표 설명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 :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다단계 예측 모델 연결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-&gt; B2B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활용 가능성 모색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]</a:t>
            </a:r>
          </a:p>
          <a:p>
            <a:pPr marL="1257300" lvl="2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이미지 → 가게  → 재료 → 트렌드 → 시사점까지 다단계 예측 모델 파이프라인 구성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1257300" lvl="2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이를 통해 유의미한 산업적용 가능성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식자재 수요 예측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마케팅 등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모색 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1257300" lvl="2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기술 </a:t>
            </a:r>
            <a:r>
              <a:rPr lang="ko-KR" altLang="en-US" dirty="0" err="1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그자체보다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적용가능성과 가치 중심 설계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우리 프로젝트의 필요성 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&lt;?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구체적인 정의가 필요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…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왜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 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음식 이미지를 </a:t>
            </a:r>
            <a:r>
              <a:rPr lang="ko-KR" altLang="en-US" dirty="0" err="1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분석해야하는거지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이걸 통해서 어떤 산업적 가치나 실생활에 적응이 가능할지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이런 내용에 대한 당위성이 약해서 공격포인트가 될 거 같음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..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상대방을 확실하게 설득할 수 잇는 논리 구조가 필요해 보임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… (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개인적인 생각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)&gt;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단순한 기술이 아닌 의미가 담긴 기술로 표현될 수 있게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하면 </a:t>
            </a:r>
            <a:r>
              <a:rPr lang="ko-KR" altLang="en-US" dirty="0" err="1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좋을것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같아요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. </a:t>
            </a:r>
            <a:b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</a:b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음식 이미지가 넘쳐나는 시대 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정보화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시각화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에서 이미지에서 정형자료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재료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조리법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트렌드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를 추출할 수 있는 기술이 있나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 </a:t>
            </a:r>
            <a:b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</a:b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특히 외식업체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유통업체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배달업체 플랫폼에서 현재 하고 있는 한계점은 무엇일까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</a:t>
            </a:r>
            <a:b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</a:b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우리가 그 빈틈을 노릴 수 있다고 판단이 됨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식자재 수요 예측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고객 취향 분석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마케팅 전략 수립 등 응용 가능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  <a:b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</a:b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현재 상용화 되고 있는 경쟁사들은 </a:t>
            </a:r>
            <a:r>
              <a:rPr lang="ko-KR" altLang="en-US" dirty="0" err="1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어떤가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우리와의 차이는 무엇일까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?</a:t>
            </a:r>
          </a:p>
          <a:p>
            <a:pPr marL="800100" lvl="1" indent="-342900">
              <a:buAutoNum type="arabicPeriod"/>
            </a:pPr>
            <a:endParaRPr lang="en-US" altLang="ko-KR" dirty="0">
              <a:solidFill>
                <a:srgbClr val="C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주제 선정 및 필요성 </a:t>
            </a:r>
            <a:r>
              <a: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 </a:t>
            </a:r>
            <a:r>
              <a: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상황 분석 </a:t>
            </a:r>
            <a:r>
              <a: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&amp; </a:t>
            </a:r>
            <a:r>
              <a: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현황 분석</a:t>
            </a:r>
            <a:r>
              <a: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 : </a:t>
            </a:r>
            <a:r>
              <a: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목적 및 필요성</a:t>
            </a:r>
            <a:endParaRPr lang="en-US" altLang="ko-KR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현황분석 </a:t>
            </a:r>
            <a:r>
              <a: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</a:t>
            </a:r>
          </a:p>
          <a:p>
            <a:pPr marL="1257300" lvl="2" indent="-342900">
              <a:buAutoNum type="arabicPeriod"/>
            </a:pPr>
            <a:r>
              <a: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배달</a:t>
            </a:r>
            <a:r>
              <a: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외식 시장의 급성장 </a:t>
            </a:r>
            <a:r>
              <a: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-&gt; </a:t>
            </a:r>
            <a:r>
              <a: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후기 리뷰를 중점으로 가게 선택 </a:t>
            </a:r>
            <a:r>
              <a: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사진 중심의 소비문화 확대</a:t>
            </a:r>
            <a:r>
              <a: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 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&lt;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 말이 맞는지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…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논리적인지는 모르겠음 그냥 </a:t>
            </a:r>
            <a:r>
              <a:rPr lang="ko-KR" altLang="en-US" dirty="0" err="1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우기는거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같음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&gt;</a:t>
            </a:r>
          </a:p>
          <a:p>
            <a:pPr marL="1257300" lvl="2" indent="-342900">
              <a:buAutoNum type="arabicPeriod"/>
            </a:pP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AI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이미지 분석 기술의 상용화 확산 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1257300" lvl="2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하지만 분석에서 확산되어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“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예측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”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까지 연결된 사례는 드물다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.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트렌드 기반 의사결정은 없음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…</a:t>
            </a:r>
          </a:p>
          <a:p>
            <a:pPr marL="1257300" lvl="2" indent="-342900">
              <a:buAutoNum type="arabicPeriod"/>
            </a:pPr>
            <a:endParaRPr lang="en-US" altLang="ko-KR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그렇다면 이런 시장상황에서 우리가 가진 궁금증 </a:t>
            </a:r>
            <a:r>
              <a: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질문</a:t>
            </a:r>
            <a:r>
              <a: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 ?</a:t>
            </a:r>
          </a:p>
          <a:p>
            <a:pPr marL="1257300" lvl="2" indent="-342900">
              <a:buAutoNum type="arabicPeriod"/>
            </a:pPr>
            <a:r>
              <a: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이미지만 보고 재료를 유추할 수 있을까</a:t>
            </a:r>
            <a:r>
              <a: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</a:t>
            </a:r>
          </a:p>
          <a:p>
            <a:pPr marL="1257300" lvl="2" indent="-342900">
              <a:buAutoNum type="arabicPeriod"/>
            </a:pPr>
            <a:r>
              <a: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이미지만 보고 가게를 유추할 수 있을까</a:t>
            </a:r>
            <a:r>
              <a: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</a:t>
            </a:r>
          </a:p>
          <a:p>
            <a:pPr marL="1257300" lvl="2" indent="-342900">
              <a:buAutoNum type="arabicPeriod"/>
            </a:pPr>
            <a:r>
              <a: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쌓인 데이터를 통해 트렌드화 할 수 있을까</a:t>
            </a:r>
            <a:r>
              <a: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</a:t>
            </a:r>
          </a:p>
          <a:p>
            <a:pPr marL="1257300" lvl="2" indent="-342900">
              <a:buAutoNum type="arabicPeriod"/>
            </a:pPr>
            <a:r>
              <a:rPr lang="ko-KR" altLang="en-US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이런 분석이 산업군에 어떤 영향을 미칠까</a:t>
            </a:r>
            <a:r>
              <a:rPr lang="en-US" altLang="ko-KR" dirty="0">
                <a:solidFill>
                  <a:schemeClr val="tx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 </a:t>
            </a:r>
          </a:p>
          <a:p>
            <a:pPr marL="1257300" lvl="2" indent="-342900">
              <a:buAutoNum type="arabicPeriod"/>
            </a:pPr>
            <a:endParaRPr lang="en-US" altLang="ko-KR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유사 사례 조사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비교대상군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-&gt;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우리 시스템에 대한 전략에 대한 개요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연구 사례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선행 사업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 :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음식 분류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/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인식 모델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CNN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기반 식재료 추론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서비스 사례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식단 추천 앱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음식 칼로리 사진 툴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음식 사진 캘리브레이션 툴 등 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1200150" lvl="2" indent="-285750">
              <a:buFontTx/>
              <a:buChar char="-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강점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모델 구조 학습에 참고 가능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1200150" lvl="2" indent="-285750">
              <a:buFontTx/>
              <a:buChar char="-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단점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시계열 분석 부재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B2B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적용 미비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통합 모델 없음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1200150" lvl="2" indent="-285750">
              <a:buFontTx/>
              <a:buChar char="-"/>
            </a:pP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전체 시스템 아키텍처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&amp;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전체 시스템 구성도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742950" lvl="1" indent="-285750">
              <a:buFontTx/>
              <a:buChar char="-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모델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1 :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이미지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-&gt;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음식 예측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음식 이미지로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</a:p>
          <a:p>
            <a:pPr marL="742950" lvl="1" indent="-285750">
              <a:buFontTx/>
              <a:buChar char="-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모델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2 :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음식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-&gt;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가게 예측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dirty="0" err="1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플레이팅으로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</a:p>
          <a:p>
            <a:pPr marL="742950" lvl="1" indent="-285750">
              <a:buFontTx/>
              <a:buChar char="-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모델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3 :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음식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-&gt;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재료 분석 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742950" lvl="1" indent="-285750">
              <a:buFontTx/>
              <a:buChar char="-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모델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4 :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통합 대시보드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or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결과 시각화 플랫폼 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lvl="1"/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+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데이터 흐름 및 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API/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서버 구조도 도식화 필요 </a:t>
            </a:r>
            <a:endParaRPr lang="en-US" altLang="ko-KR" dirty="0">
              <a:solidFill>
                <a:srgbClr val="C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lvl="1"/>
            <a:endParaRPr lang="en-US" altLang="ko-KR" dirty="0">
              <a:solidFill>
                <a:srgbClr val="C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모듈별 목표 과제 및 실행 예측 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/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담당 업무 세분화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이건 각 파트별 고민 필요 하지 않을까 싶어요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.</a:t>
            </a:r>
          </a:p>
          <a:p>
            <a:pPr marL="800100" lvl="1" indent="-342900">
              <a:buAutoNum type="arabicPeriod"/>
            </a:pPr>
            <a:endParaRPr lang="en-US" altLang="ko-KR" dirty="0">
              <a:solidFill>
                <a:srgbClr val="C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팀원 역할분담 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역할분담 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이건 각자 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…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고민 </a:t>
            </a:r>
            <a:r>
              <a:rPr lang="ko-KR" altLang="en-US" dirty="0" err="1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해봐야할듯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endParaRPr lang="en-US" altLang="ko-KR" dirty="0">
              <a:solidFill>
                <a:srgbClr val="C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실행 로드맵 </a:t>
            </a:r>
            <a:r>
              <a:rPr lang="en-US" altLang="ko-KR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en-US" dirty="0">
                <a:solidFill>
                  <a:srgbClr val="C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세부 일정 정리 필요</a:t>
            </a:r>
            <a:endParaRPr lang="en-US" altLang="ko-KR" dirty="0">
              <a:solidFill>
                <a:srgbClr val="C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800100" lvl="1" indent="-342900">
              <a:buAutoNum type="arabicPeriod"/>
            </a:pP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데이터 수집 목록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/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데이터 정리 내용 구조화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(</a:t>
            </a:r>
            <a:r>
              <a:rPr lang="ko-KR" altLang="en-US" dirty="0" err="1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전처리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모델 구성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세부 요소들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</a:p>
          <a:p>
            <a:pPr lvl="1"/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&lt;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데이터 수집 목록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_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예시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&gt;</a:t>
            </a: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이미지 데이터 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라벨 데이터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텍스트 데이터 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lvl="1"/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--------------</a:t>
            </a:r>
          </a:p>
          <a:p>
            <a:pPr lvl="1"/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&lt;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데이터 </a:t>
            </a:r>
            <a:r>
              <a:rPr lang="ko-KR" altLang="en-US" dirty="0" err="1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전처리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및 정리 내용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&gt;</a:t>
            </a: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이미지 리사이징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정규화 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텍스트 정리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dirty="0" err="1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시게열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정리 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800100" lvl="1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분류형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구분 등 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전체 데이터 분석 과정 구조화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체계화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각 </a:t>
            </a:r>
            <a:r>
              <a:rPr lang="ko-KR" altLang="en-US" dirty="0" err="1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모델별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기본 구조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각 </a:t>
            </a:r>
            <a:r>
              <a:rPr lang="ko-KR" altLang="en-US" dirty="0" err="1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모델별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세부 구성 및 진행과정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모델 연결 및 통합 시나리오 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 </a:t>
            </a: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연결 구조 설명</a:t>
            </a:r>
            <a:r>
              <a:rPr lang="en-US" altLang="ko-KR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 </a:t>
            </a: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재료 예측 및 시계열 트렌드 분석 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성능 평가 및 시사점 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한계점 및 향후 과제 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참고 자료 및 사용데이터 </a:t>
            </a:r>
            <a:r>
              <a:rPr lang="ko-KR" altLang="en-US" dirty="0" err="1">
                <a:solidFill>
                  <a:srgbClr val="2A2A2A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출저</a:t>
            </a: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buAutoNum type="arabicPeriod"/>
            </a:pPr>
            <a:endParaRPr lang="en-US" altLang="ko-KR" dirty="0">
              <a:solidFill>
                <a:srgbClr val="2A2A2A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buAutoNum type="arabicPeriod"/>
            </a:pPr>
            <a:endParaRPr lang="ko-KR" altLang="en-US" dirty="0">
              <a:solidFill>
                <a:schemeClr val="tx1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5349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</TotalTime>
  <Words>715</Words>
  <Application>Microsoft Office PowerPoint</Application>
  <PresentationFormat>사용자 지정</PresentationFormat>
  <Paragraphs>82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SB 어그로 Bold</vt:lpstr>
      <vt:lpstr>맑은 고딕</vt:lpstr>
      <vt:lpstr>에스코어 드림 4 Regular</vt:lpstr>
      <vt:lpstr>에스코어 드림 7 ExtraBold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미 성</dc:creator>
  <cp:lastModifiedBy>미 성</cp:lastModifiedBy>
  <cp:revision>4</cp:revision>
  <dcterms:created xsi:type="dcterms:W3CDTF">2025-07-05T12:58:14Z</dcterms:created>
  <dcterms:modified xsi:type="dcterms:W3CDTF">2025-07-05T14:56:51Z</dcterms:modified>
</cp:coreProperties>
</file>