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29"/>
  </p:notesMasterIdLst>
  <p:sldIdLst>
    <p:sldId id="257" r:id="rId2"/>
    <p:sldId id="269" r:id="rId3"/>
    <p:sldId id="293" r:id="rId4"/>
    <p:sldId id="287" r:id="rId5"/>
    <p:sldId id="288" r:id="rId6"/>
    <p:sldId id="286" r:id="rId7"/>
    <p:sldId id="289" r:id="rId8"/>
    <p:sldId id="290" r:id="rId9"/>
    <p:sldId id="296" r:id="rId10"/>
    <p:sldId id="297" r:id="rId11"/>
    <p:sldId id="298" r:id="rId12"/>
    <p:sldId id="299" r:id="rId13"/>
    <p:sldId id="295" r:id="rId14"/>
    <p:sldId id="294" r:id="rId15"/>
    <p:sldId id="283" r:id="rId16"/>
    <p:sldId id="300" r:id="rId17"/>
    <p:sldId id="271" r:id="rId18"/>
    <p:sldId id="276" r:id="rId19"/>
    <p:sldId id="272" r:id="rId20"/>
    <p:sldId id="277" r:id="rId21"/>
    <p:sldId id="275" r:id="rId22"/>
    <p:sldId id="260" r:id="rId23"/>
    <p:sldId id="274" r:id="rId24"/>
    <p:sldId id="278" r:id="rId25"/>
    <p:sldId id="279" r:id="rId26"/>
    <p:sldId id="280" r:id="rId27"/>
    <p:sldId id="281" r:id="rId28"/>
  </p:sldIdLst>
  <p:sldSz cx="12192000" cy="6858000"/>
  <p:notesSz cx="6858000" cy="9144000"/>
  <p:embeddedFontLst>
    <p:embeddedFont>
      <p:font typeface="ONE 모바일고딕 Title" panose="00000500000000000000" pitchFamily="2" charset="-127"/>
      <p:regular r:id="rId30"/>
    </p:embeddedFont>
    <p:embeddedFont>
      <p:font typeface="프리젠테이션 3 Light" pitchFamily="2" charset="-127"/>
      <p:regular r:id="rId31"/>
    </p:embeddedFont>
    <p:embeddedFont>
      <p:font typeface="프리젠테이션 5 Medium" pitchFamily="2" charset="-127"/>
      <p:regular r:id="rId32"/>
    </p:embeddedFont>
    <p:embeddedFont>
      <p:font typeface="프리젠테이션 8 ExtraBold" pitchFamily="2" charset="-127"/>
      <p:bold r:id="rId33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15AF1F11-EBE9-474F-B2DE-819A01AF99A4}">
          <p14:sldIdLst>
            <p14:sldId id="257"/>
            <p14:sldId id="269"/>
            <p14:sldId id="293"/>
            <p14:sldId id="287"/>
            <p14:sldId id="288"/>
            <p14:sldId id="286"/>
            <p14:sldId id="289"/>
            <p14:sldId id="290"/>
            <p14:sldId id="296"/>
            <p14:sldId id="297"/>
            <p14:sldId id="298"/>
            <p14:sldId id="299"/>
            <p14:sldId id="295"/>
            <p14:sldId id="294"/>
            <p14:sldId id="283"/>
            <p14:sldId id="300"/>
          </p14:sldIdLst>
        </p14:section>
        <p14:section name="1차 제출용 PPT" id="{EB7AC183-87A0-4319-A5F1-3DBF456147F4}">
          <p14:sldIdLst>
            <p14:sldId id="271"/>
            <p14:sldId id="276"/>
            <p14:sldId id="272"/>
            <p14:sldId id="277"/>
            <p14:sldId id="275"/>
            <p14:sldId id="260"/>
            <p14:sldId id="274"/>
            <p14:sldId id="278"/>
            <p14:sldId id="279"/>
            <p14:sldId id="280"/>
            <p14:sldId id="281"/>
          </p14:sldIdLst>
        </p14:section>
      </p14:sectionLst>
    </p:ex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pos="665" userDrawn="1">
          <p15:clr>
            <a:srgbClr val="A4A3A4"/>
          </p15:clr>
        </p15:guide>
        <p15:guide id="3" pos="2706" userDrawn="1">
          <p15:clr>
            <a:srgbClr val="A4A3A4"/>
          </p15:clr>
        </p15:guide>
        <p15:guide id="4" orient="horz" pos="209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D3142"/>
    <a:srgbClr val="6A4C93"/>
    <a:srgbClr val="B00020"/>
    <a:srgbClr val="777777"/>
    <a:srgbClr val="EEEEEE"/>
    <a:srgbClr val="D3D3D3"/>
    <a:srgbClr val="9F9F9F"/>
    <a:srgbClr val="7A4A91"/>
    <a:srgbClr val="262122"/>
    <a:srgbClr val="D8B4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02" autoAdjust="0"/>
    <p:restoredTop sz="84034" autoAdjust="0"/>
  </p:normalViewPr>
  <p:slideViewPr>
    <p:cSldViewPr snapToGrid="0" showGuides="1">
      <p:cViewPr>
        <p:scale>
          <a:sx n="75" d="100"/>
          <a:sy n="75" d="100"/>
        </p:scale>
        <p:origin x="534" y="108"/>
      </p:cViewPr>
      <p:guideLst>
        <p:guide pos="3840"/>
        <p:guide pos="665"/>
        <p:guide pos="2706"/>
        <p:guide orient="horz" pos="2092"/>
      </p:guideLst>
    </p:cSldViewPr>
  </p:slideViewPr>
  <p:notesTextViewPr>
    <p:cViewPr>
      <p:scale>
        <a:sx n="66" d="100"/>
        <a:sy n="66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프리젠테이션 8 ExtraBold" pitchFamily="2" charset="-127"/>
                <a:ea typeface="프리젠테이션 8 ExtraBold" pitchFamily="2" charset="-127"/>
              </a:defRPr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프리젠테이션 8 ExtraBold" pitchFamily="2" charset="-127"/>
                <a:ea typeface="프리젠테이션 8 ExtraBold" pitchFamily="2" charset="-127"/>
              </a:defRPr>
            </a:lvl1pPr>
          </a:lstStyle>
          <a:p>
            <a:fld id="{37751E06-FB3C-4D01-947B-0172C099AC01}" type="datetimeFigureOut">
              <a:rPr lang="ko-KR" altLang="en-US" smtClean="0"/>
              <a:pPr/>
              <a:t>2025-08-25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프리젠테이션 8 ExtraBold" pitchFamily="2" charset="-127"/>
                <a:ea typeface="프리젠테이션 8 ExtraBold" pitchFamily="2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프리젠테이션 8 ExtraBold" pitchFamily="2" charset="-127"/>
                <a:ea typeface="프리젠테이션 8 ExtraBold" pitchFamily="2" charset="-127"/>
              </a:defRPr>
            </a:lvl1pPr>
          </a:lstStyle>
          <a:p>
            <a:fld id="{FD7160FC-9A3C-48D0-89E5-2FC5FA707A5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7283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프리젠테이션 8 ExtraBold" pitchFamily="2" charset="-127"/>
        <a:ea typeface="프리젠테이션 8 ExtraBold" pitchFamily="2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프리젠테이션 8 ExtraBold" pitchFamily="2" charset="-127"/>
        <a:ea typeface="프리젠테이션 8 ExtraBold" pitchFamily="2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프리젠테이션 8 ExtraBold" pitchFamily="2" charset="-127"/>
        <a:ea typeface="프리젠테이션 8 ExtraBold" pitchFamily="2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프리젠테이션 8 ExtraBold" pitchFamily="2" charset="-127"/>
        <a:ea typeface="프리젠테이션 8 ExtraBold" pitchFamily="2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프리젠테이션 8 ExtraBold" pitchFamily="2" charset="-127"/>
        <a:ea typeface="프리젠테이션 8 ExtraBold" pitchFamily="2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안녕하세요</a:t>
            </a:r>
            <a:r>
              <a:rPr lang="en-US" altLang="ko-KR"/>
              <a:t>.</a:t>
            </a:r>
            <a:br>
              <a:rPr lang="en-US" altLang="ko-KR"/>
            </a:br>
            <a:r>
              <a:rPr lang="en-US" altLang="ko-KR"/>
              <a:t>2</a:t>
            </a:r>
            <a:r>
              <a:rPr lang="ko-KR" altLang="en-US"/>
              <a:t>조 코딩싹팀은 </a:t>
            </a:r>
            <a:r>
              <a:rPr lang="en-US" altLang="ko-KR"/>
              <a:t>LLM</a:t>
            </a:r>
            <a:r>
              <a:rPr lang="ko-KR" altLang="en-US"/>
              <a:t>과 </a:t>
            </a:r>
            <a:r>
              <a:rPr lang="en-US" altLang="ko-KR"/>
              <a:t>RAG </a:t>
            </a:r>
            <a:r>
              <a:rPr lang="ko-KR" altLang="en-US"/>
              <a:t>기반으로 자동차보험을 추천하는 플랫폼을 만들었습니다</a:t>
            </a:r>
            <a:r>
              <a:rPr lang="en-US" altLang="ko-KR"/>
              <a:t>.</a:t>
            </a:r>
          </a:p>
          <a:p>
            <a:r>
              <a:rPr lang="ko-KR" altLang="en-US"/>
              <a:t>조원으로는 김진경</a:t>
            </a:r>
            <a:r>
              <a:rPr lang="en-US" altLang="ko-KR"/>
              <a:t>,</a:t>
            </a:r>
            <a:r>
              <a:rPr lang="ko-KR" altLang="en-US"/>
              <a:t>김민준</a:t>
            </a:r>
            <a:r>
              <a:rPr lang="en-US" altLang="ko-KR"/>
              <a:t>,</a:t>
            </a:r>
            <a:r>
              <a:rPr lang="ko-KR" altLang="en-US"/>
              <a:t>장선호</a:t>
            </a:r>
            <a:r>
              <a:rPr lang="en-US" altLang="ko-KR"/>
              <a:t>,</a:t>
            </a:r>
            <a:r>
              <a:rPr lang="ko-KR" altLang="en-US"/>
              <a:t>한창희</a:t>
            </a:r>
            <a:r>
              <a:rPr lang="en-US" altLang="ko-KR"/>
              <a:t>,</a:t>
            </a:r>
            <a:r>
              <a:rPr lang="ko-KR" altLang="en-US"/>
              <a:t>유성미로 구성되었습니다</a:t>
            </a:r>
            <a:r>
              <a:rPr lang="en-US" altLang="ko-KR"/>
              <a:t>.</a:t>
            </a:r>
          </a:p>
          <a:p>
            <a:r>
              <a:rPr lang="ko-KR" altLang="en-US"/>
              <a:t>프로젝트 발표를 시작하겠습니다</a:t>
            </a:r>
            <a:r>
              <a:rPr lang="en-US" altLang="ko-KR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160FC-9A3C-48D0-89E5-2FC5FA707A5A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45072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자동차 보험에 대한 설명 </a:t>
            </a:r>
            <a:r>
              <a:rPr lang="en-US" altLang="ko-KR"/>
              <a:t>..</a:t>
            </a:r>
            <a:r>
              <a:rPr lang="ko-KR" altLang="en-US">
                <a:solidFill>
                  <a:srgbClr val="2D3142"/>
                </a:solidFill>
              </a:rPr>
              <a:t> 자동차 보험은 잠재적인 위험과 책임으로부터 차량 소유자를 보호하는 중요한 재정적 안전장치입니다</a:t>
            </a:r>
            <a:r>
              <a:rPr lang="en-US" altLang="ko-KR">
                <a:solidFill>
                  <a:srgbClr val="2D3142"/>
                </a:solidFill>
              </a:rPr>
              <a:t>.</a:t>
            </a:r>
          </a:p>
          <a:p>
            <a:r>
              <a:rPr lang="ko-KR" altLang="en-US">
                <a:solidFill>
                  <a:srgbClr val="2D3142"/>
                </a:solidFill>
              </a:rPr>
              <a:t>이 보험은 사고</a:t>
            </a:r>
            <a:r>
              <a:rPr lang="en-US" altLang="ko-KR">
                <a:solidFill>
                  <a:srgbClr val="2D3142"/>
                </a:solidFill>
              </a:rPr>
              <a:t>, </a:t>
            </a:r>
            <a:r>
              <a:rPr lang="ko-KR" altLang="en-US">
                <a:solidFill>
                  <a:srgbClr val="2D3142"/>
                </a:solidFill>
              </a:rPr>
              <a:t>도난 또는 기타 예상치 못한 사건으로 인해 발생하는 피보험 차량의 손해와 제</a:t>
            </a:r>
            <a:r>
              <a:rPr lang="en-US" altLang="ko-KR">
                <a:solidFill>
                  <a:srgbClr val="2D3142"/>
                </a:solidFill>
              </a:rPr>
              <a:t>3</a:t>
            </a:r>
            <a:r>
              <a:rPr lang="ko-KR" altLang="en-US">
                <a:solidFill>
                  <a:srgbClr val="2D3142"/>
                </a:solidFill>
              </a:rPr>
              <a:t>자 배상 책임을 보장합니다</a:t>
            </a:r>
            <a:r>
              <a:rPr lang="en-US" altLang="ko-KR">
                <a:solidFill>
                  <a:srgbClr val="2D3142"/>
                </a:solidFill>
              </a:rPr>
              <a:t>. </a:t>
            </a:r>
          </a:p>
          <a:p>
            <a:r>
              <a:rPr lang="ko-KR" altLang="en-US">
                <a:solidFill>
                  <a:srgbClr val="2D3142"/>
                </a:solidFill>
              </a:rPr>
              <a:t>종합 자동차 보험에는 일반적으로 피보험 차량의 물리적 손상</a:t>
            </a:r>
            <a:r>
              <a:rPr lang="en-US" altLang="ko-KR">
                <a:solidFill>
                  <a:srgbClr val="2D3142"/>
                </a:solidFill>
              </a:rPr>
              <a:t>, </a:t>
            </a:r>
            <a:r>
              <a:rPr lang="ko-KR" altLang="en-US">
                <a:solidFill>
                  <a:srgbClr val="2D3142"/>
                </a:solidFill>
              </a:rPr>
              <a:t>신체 상해 책임</a:t>
            </a:r>
            <a:r>
              <a:rPr lang="en-US" altLang="ko-KR">
                <a:solidFill>
                  <a:srgbClr val="2D3142"/>
                </a:solidFill>
              </a:rPr>
              <a:t>, </a:t>
            </a:r>
            <a:r>
              <a:rPr lang="ko-KR" altLang="en-US">
                <a:solidFill>
                  <a:srgbClr val="2D3142"/>
                </a:solidFill>
              </a:rPr>
              <a:t>재산 피해 책임</a:t>
            </a:r>
            <a:r>
              <a:rPr lang="en-US" altLang="ko-KR">
                <a:solidFill>
                  <a:srgbClr val="2D3142"/>
                </a:solidFill>
              </a:rPr>
              <a:t>, </a:t>
            </a:r>
            <a:r>
              <a:rPr lang="ko-KR" altLang="en-US">
                <a:solidFill>
                  <a:srgbClr val="2D3142"/>
                </a:solidFill>
              </a:rPr>
              <a:t>의료비 보장이 포함됩니다</a:t>
            </a:r>
            <a:r>
              <a:rPr lang="en-US" altLang="ko-KR">
                <a:solidFill>
                  <a:srgbClr val="2D3142"/>
                </a:solidFill>
              </a:rPr>
              <a:t>. </a:t>
            </a:r>
          </a:p>
          <a:p>
            <a:r>
              <a:rPr lang="ko-KR" altLang="en-US">
                <a:solidFill>
                  <a:srgbClr val="2D3142"/>
                </a:solidFill>
              </a:rPr>
              <a:t>보험 계약자는 보험사에 보험료를 지불하고 그 대가로 보험사는 보장된 손실 또는 손해에 대한 재정적 책임을 집니다</a:t>
            </a:r>
            <a:r>
              <a:rPr lang="en-US" altLang="ko-KR">
                <a:solidFill>
                  <a:srgbClr val="2D3142"/>
                </a:solidFill>
              </a:rPr>
              <a:t>. </a:t>
            </a:r>
          </a:p>
          <a:p>
            <a:r>
              <a:rPr lang="ko-KR" altLang="en-US">
                <a:solidFill>
                  <a:srgbClr val="2D3142"/>
                </a:solidFill>
              </a:rPr>
              <a:t>자동차 보험은 재정적 보호를 제공하며 많은 관할권에서 법적 요건인 경우가 많아 도로를 주행하는 모든 운전자가 잠재적인 사고에 대해 재정적 책임을 지도록 합니다</a:t>
            </a:r>
            <a:r>
              <a:rPr lang="en-US" altLang="ko-KR">
                <a:solidFill>
                  <a:srgbClr val="2D3142"/>
                </a:solidFill>
              </a:rPr>
              <a:t>. </a:t>
            </a:r>
          </a:p>
          <a:p>
            <a:endParaRPr lang="en-US" altLang="ko-KR">
              <a:solidFill>
                <a:srgbClr val="2D3142"/>
              </a:solidFill>
            </a:endParaRPr>
          </a:p>
          <a:p>
            <a:r>
              <a:rPr lang="ko-KR" altLang="en-US">
                <a:solidFill>
                  <a:srgbClr val="2D3142"/>
                </a:solidFill>
              </a:rPr>
              <a:t>또한 차량 소유자는 사고</a:t>
            </a:r>
            <a:r>
              <a:rPr lang="en-US" altLang="ko-KR">
                <a:solidFill>
                  <a:srgbClr val="2D3142"/>
                </a:solidFill>
              </a:rPr>
              <a:t>, </a:t>
            </a:r>
            <a:r>
              <a:rPr lang="ko-KR" altLang="en-US">
                <a:solidFill>
                  <a:srgbClr val="2D3142"/>
                </a:solidFill>
              </a:rPr>
              <a:t>도난 또는 기타 보장되는 사건 발생 시 재정적으로 보호받고 법적 의무를 준수한다는 사실을 알고 안심할 수 있으므로 책임감 있는 차량 소유의 필수 요소입니다</a:t>
            </a:r>
            <a:r>
              <a:rPr lang="en-US" altLang="ko-KR">
                <a:solidFill>
                  <a:srgbClr val="2D3142"/>
                </a:solidFill>
              </a:rPr>
              <a:t>.</a:t>
            </a:r>
            <a:endParaRPr lang="ko-KR" altLang="en-US">
              <a:solidFill>
                <a:srgbClr val="2D3142"/>
              </a:solidFill>
            </a:endParaRPr>
          </a:p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160FC-9A3C-48D0-89E5-2FC5FA707A5A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32371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목차입니다</a:t>
            </a:r>
            <a:r>
              <a:rPr lang="en-US" altLang="ko-KR"/>
              <a:t>. 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160FC-9A3C-48D0-89E5-2FC5FA707A5A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14153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먼저</a:t>
            </a:r>
            <a:r>
              <a:rPr lang="en-US" altLang="ko-KR"/>
              <a:t>, </a:t>
            </a:r>
            <a:r>
              <a:rPr lang="ko-KR" altLang="en-US"/>
              <a:t>저희 프로젝트가 주목하는 자동차보험 시장의 규모 자체는 압도적입니다</a:t>
            </a:r>
            <a:r>
              <a:rPr lang="en-US" altLang="ko-KR"/>
              <a:t>.</a:t>
            </a:r>
          </a:p>
          <a:p>
            <a:r>
              <a:rPr lang="en-US" altLang="ko-KR"/>
              <a:t>10</a:t>
            </a:r>
            <a:r>
              <a:rPr lang="ko-KR" altLang="en-US"/>
              <a:t>년간 자동차 등록 차량은 </a:t>
            </a:r>
            <a:r>
              <a:rPr lang="en-US" altLang="ko-KR"/>
              <a:t>35%</a:t>
            </a:r>
            <a:r>
              <a:rPr lang="ko-KR" altLang="en-US"/>
              <a:t>이상 증가하였습니다</a:t>
            </a:r>
            <a:r>
              <a:rPr lang="en-US" altLang="ko-KR"/>
              <a:t>. </a:t>
            </a:r>
          </a:p>
          <a:p>
            <a:r>
              <a:rPr lang="ko-KR" altLang="en-US"/>
              <a:t>소득 증가와 도시 인구 증가로 인해 도로에 운행되는 차량 수가 증가함에 따라 크게 성장하였고</a:t>
            </a:r>
            <a:r>
              <a:rPr lang="en-US" altLang="ko-KR"/>
              <a:t>, </a:t>
            </a:r>
            <a:r>
              <a:rPr lang="ko-KR" altLang="en-US"/>
              <a:t>지방은 대중교통 감소로 인해 개인이동수단이 늘어났기에 차량은 증가되었다고 볼 수 있습니다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이는 자동차가 단순한 이동순단을 넘어 </a:t>
            </a:r>
            <a:r>
              <a:rPr lang="en-US" altLang="ko-KR"/>
              <a:t>‘</a:t>
            </a:r>
            <a:r>
              <a:rPr lang="ko-KR" altLang="en-US"/>
              <a:t>국민 필수템</a:t>
            </a:r>
            <a:r>
              <a:rPr lang="en-US" altLang="ko-KR"/>
              <a:t>’</a:t>
            </a:r>
            <a:r>
              <a:rPr lang="ko-KR" altLang="en-US"/>
              <a:t>으로 자리매김 했다고 볼 수 있습니다</a:t>
            </a:r>
            <a:r>
              <a:rPr lang="en-US" altLang="ko-KR"/>
              <a:t>.</a:t>
            </a:r>
          </a:p>
          <a:p>
            <a:r>
              <a:rPr lang="ko-KR" altLang="en-US"/>
              <a:t>이에 따른 자동차 보험 역시 연간 </a:t>
            </a:r>
            <a:r>
              <a:rPr lang="en-US" altLang="ko-KR"/>
              <a:t>N</a:t>
            </a:r>
            <a:r>
              <a:rPr lang="ko-KR" altLang="en-US"/>
              <a:t>조원 규모에 달하는 거대한 규모를 형성하고 있습니다</a:t>
            </a:r>
            <a:r>
              <a:rPr lang="en-US" altLang="ko-KR"/>
              <a:t>. </a:t>
            </a:r>
          </a:p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160FC-9A3C-48D0-89E5-2FC5FA707A5A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12688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이런 대규모 자동차 보험시장에서 소비자들이 겪는 가장 큰 </a:t>
            </a:r>
            <a:r>
              <a:rPr lang="en-US" altLang="ko-KR"/>
              <a:t>Pain Point</a:t>
            </a:r>
            <a:r>
              <a:rPr lang="ko-KR" altLang="en-US"/>
              <a:t>는 바로 정보 과부하 입니다</a:t>
            </a:r>
            <a:r>
              <a:rPr lang="en-US" altLang="ko-KR"/>
              <a:t>. </a:t>
            </a:r>
          </a:p>
          <a:p>
            <a:r>
              <a:rPr lang="ko-KR" altLang="en-US"/>
              <a:t>보험사들이 경쟁적으로 다양한 상품을 쏟아내고 있어며</a:t>
            </a:r>
            <a:r>
              <a:rPr lang="en-US" altLang="ko-KR"/>
              <a:t>, </a:t>
            </a:r>
            <a:r>
              <a:rPr lang="ko-KR" altLang="en-US"/>
              <a:t>대부분 약관이 비슷하면서 미묘하게 달라 일반 소비자들이 직접 비교하여 최적의 선택을 하기에는 불가능에 가깝습니다</a:t>
            </a:r>
            <a:r>
              <a:rPr lang="en-US" altLang="ko-KR"/>
              <a:t>. </a:t>
            </a:r>
          </a:p>
          <a:p>
            <a:r>
              <a:rPr lang="ko-KR" altLang="en-US"/>
              <a:t>이로인해 소비자들은 불필요한 비교 피로도를 느끼거나</a:t>
            </a:r>
            <a:r>
              <a:rPr lang="en-US" altLang="ko-KR"/>
              <a:t>, </a:t>
            </a:r>
            <a:r>
              <a:rPr lang="ko-KR" altLang="en-US"/>
              <a:t>복잡한 전문 용어로 인해 정보를 오해하고 합리적인 판단을 내리지 못하는 상황에 놓여있습니다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이러한 소비자 </a:t>
            </a:r>
            <a:r>
              <a:rPr lang="en-US" altLang="ko-KR"/>
              <a:t>Pain Point</a:t>
            </a:r>
            <a:r>
              <a:rPr lang="ko-KR" altLang="en-US"/>
              <a:t>와 맞물려 보험사들역시 어려움을 겪고 있습니다</a:t>
            </a:r>
            <a:r>
              <a:rPr lang="en-US" altLang="ko-KR"/>
              <a:t>. </a:t>
            </a:r>
            <a:br>
              <a:rPr lang="en-US" altLang="ko-KR"/>
            </a:br>
            <a:r>
              <a:rPr lang="ko-KR" altLang="en-US"/>
              <a:t>지난해 국내 자동차 보험 시장은 </a:t>
            </a:r>
            <a:r>
              <a:rPr lang="en-US" altLang="ko-KR"/>
              <a:t>4</a:t>
            </a:r>
            <a:r>
              <a:rPr lang="ko-KR" altLang="en-US"/>
              <a:t>년만에 운영 적자로 전환되었으며</a:t>
            </a:r>
            <a:r>
              <a:rPr lang="en-US" altLang="ko-KR"/>
              <a:t>, </a:t>
            </a:r>
            <a:r>
              <a:rPr lang="ko-KR" altLang="en-US"/>
              <a:t>이는 보험료를 낮춘 반면 사고 건수는 늘어 손해율이 급증했기 때문입니다</a:t>
            </a:r>
            <a:r>
              <a:rPr lang="en-US" altLang="ko-KR"/>
              <a:t>.</a:t>
            </a:r>
            <a:br>
              <a:rPr lang="en-US" altLang="ko-KR"/>
            </a:br>
            <a:r>
              <a:rPr lang="ko-KR" altLang="en-US"/>
              <a:t>이는 보험사들이 수익성을 확보하기 위해 더욱 다양한 상품을 내놓거나</a:t>
            </a:r>
            <a:r>
              <a:rPr lang="en-US" altLang="ko-KR"/>
              <a:t>, </a:t>
            </a:r>
            <a:r>
              <a:rPr lang="ko-KR" altLang="en-US"/>
              <a:t>복잡한 약관을 통해 손해율을 관리하려는 시도로 이어질 수 있으며</a:t>
            </a:r>
            <a:r>
              <a:rPr lang="en-US" altLang="ko-KR"/>
              <a:t>, </a:t>
            </a:r>
            <a:r>
              <a:rPr lang="ko-KR" altLang="en-US"/>
              <a:t>결국 소비자들의 정보 접근성을 더욱 저해하고 혼란을 가중시키고 있습니다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이러한 문제는 비단 소비자와 보험사만의 영역이 아닙니다</a:t>
            </a:r>
            <a:r>
              <a:rPr lang="en-US" altLang="ko-KR"/>
              <a:t>. 25</a:t>
            </a:r>
            <a:r>
              <a:rPr lang="ko-KR" altLang="en-US"/>
              <a:t>년 </a:t>
            </a:r>
            <a:r>
              <a:rPr lang="en-US" altLang="ko-KR"/>
              <a:t>2</a:t>
            </a:r>
            <a:r>
              <a:rPr lang="ko-KR" altLang="en-US"/>
              <a:t>월 정부가 </a:t>
            </a:r>
            <a:r>
              <a:rPr lang="en-US" altLang="ko-KR"/>
              <a:t>‘</a:t>
            </a:r>
            <a:r>
              <a:rPr lang="ko-KR" altLang="en-US"/>
              <a:t>자동차보험 부정수급 개선 대책</a:t>
            </a:r>
            <a:r>
              <a:rPr lang="en-US" altLang="ko-KR"/>
              <a:t>‘</a:t>
            </a:r>
            <a:r>
              <a:rPr lang="ko-KR" altLang="en-US"/>
              <a:t>을 발표하며 국민 부담을 낮추고 시장의 건전성을 확보하려 나선것은</a:t>
            </a:r>
            <a:r>
              <a:rPr lang="en-US" altLang="ko-KR"/>
              <a:t>, </a:t>
            </a:r>
          </a:p>
          <a:p>
            <a:r>
              <a:rPr lang="ko-KR" altLang="en-US"/>
              <a:t>현재 자동차 보험 시장의 비효율성과 문제점이 국가적 차원의 해결이 필요한 과제임을 명확히 보여줍니다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현 시장에는 보험상품 비교</a:t>
            </a:r>
            <a:r>
              <a:rPr lang="en-US" altLang="ko-KR"/>
              <a:t>. </a:t>
            </a:r>
            <a:r>
              <a:rPr lang="ko-KR" altLang="en-US"/>
              <a:t>추천 플랫폼이 출시되었습니다</a:t>
            </a:r>
            <a:r>
              <a:rPr lang="en-US" altLang="ko-KR"/>
              <a:t>.</a:t>
            </a:r>
            <a:br>
              <a:rPr lang="en-US" altLang="ko-KR"/>
            </a:br>
            <a:r>
              <a:rPr lang="ko-KR" altLang="en-US"/>
              <a:t>다만 보험업계와 핀테크 업계가 수수료를 둘러싸고 갈등을 받고 있습니다</a:t>
            </a:r>
            <a:r>
              <a:rPr lang="en-US" altLang="ko-KR"/>
              <a:t>.</a:t>
            </a:r>
            <a:br>
              <a:rPr lang="en-US" altLang="ko-KR"/>
            </a:br>
            <a:br>
              <a:rPr lang="en-US" altLang="ko-KR"/>
            </a:br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160FC-9A3C-48D0-89E5-2FC5FA707A5A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61050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이처럼 보험사와 소비자 모두가 겪는 정보 불균형과 정보 과부하는 더 이상 간과할 수 없는 심각한 문제입니다</a:t>
            </a:r>
            <a:r>
              <a:rPr lang="en-US" altLang="ko-KR"/>
              <a:t>. </a:t>
            </a:r>
            <a:r>
              <a:rPr lang="ko-KR" altLang="en-US"/>
              <a:t>현재의 보험 선택 과정은 불필요한 시간 낭비</a:t>
            </a:r>
            <a:r>
              <a:rPr lang="en-US" altLang="ko-KR"/>
              <a:t>, </a:t>
            </a:r>
            <a:r>
              <a:rPr lang="ko-KR" altLang="en-US"/>
              <a:t>그리고 불완전한 이해로 인한 위험을 내포하고 있습니다</a:t>
            </a:r>
            <a:r>
              <a:rPr lang="en-US" altLang="ko-KR"/>
              <a:t>. </a:t>
            </a:r>
          </a:p>
          <a:p>
            <a:r>
              <a:rPr lang="ko-KR" altLang="en-US"/>
              <a:t>저희 프로젝트는 이러한 문제를 해결하기 위해 다음과 같은 기능들을 제공합니다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160FC-9A3C-48D0-89E5-2FC5FA707A5A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99170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F943F-B9A0-B8D5-16D7-ABCE90EE0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997F535-2DB0-E527-7614-126AA0C879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733BFB6-F4E4-2C5A-9240-29338A9CEB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2E4D31-D2F9-9490-CFEE-BD356BB754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160FC-9A3C-48D0-89E5-2FC5FA707A5A}" type="slidenum">
              <a:rPr lang="ko-KR" altLang="en-US" smtClean="0"/>
              <a:pPr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41974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160FC-9A3C-48D0-89E5-2FC5FA707A5A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86848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CB32D1-B23C-F9C2-0B01-D6E01C4220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0DE6A96-07DC-EB6A-ACAE-9D37064554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D18033-A82F-1B31-F903-749E3CA0A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E32BD9-2BF1-8D30-8A45-DF6DE768A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DA08914-0924-19F1-0FA2-6BE731AD7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8619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F99EC3-9274-930D-89F3-2A4055E90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BA11A3-EAB9-3FDA-1B4E-1D730FA5CD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15DC354-2158-5C66-CE3F-598B04F7A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88A82AB-9161-BD39-580B-F5E6862F3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3F53CB-C5A5-FABB-98C2-19702A4B6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6830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9E34B1-9883-14C2-2ED9-63A693BD4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7D0E70C-153C-5C68-5FF8-8DF994D908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9A2ED4-2B97-135E-63B5-EF1798F35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CF09E4-BEF5-56B9-CB9A-0DDAB2FBA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DC7672B-CFBF-4DD1-C43E-FAFABC4DF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4153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9E6291-631D-1257-BBD4-E3F0EA055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2EB8F4-1329-F3F9-E789-DD03001150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EDF9262-AE67-B495-3C03-88CB4B519F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457FCA6-E2B9-8DFF-BB8D-51C984542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34732E9-11E9-B9A3-E544-70C706FD6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336E412-5551-C967-18B1-56A125DA8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5344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9FBB91-42E0-C83C-14C2-A2B9467B5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FE1E7C1-66D9-7D61-3858-E39F45D23E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C907299-1815-27E5-F709-B0F14643B9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9F658AF-3FEB-A0C2-AE7E-C7ECF719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346C552-9626-504E-BEB9-02B261AA1F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83DCBC9-CB61-7152-3ADF-77FEE3098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2025-08-25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07D6513-85EE-AD28-775C-2640C7ADF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20BF5A8-5085-6306-A00A-BCC0DFC98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2057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DBEE0B-08C7-2CC0-C6CD-E4CD5D3DD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DF614E2-3077-B759-5668-CEE9CAF40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420ABAC-0792-C31C-A931-2D57FD02B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B295ECA-81A3-1E8A-AF21-65AA8C20D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824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8AE4E98-8165-CA76-B449-0118EBE62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2025-08-25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5306F91-A1A8-6B60-72B1-6968E37A5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E7D815-7722-BD7C-C3B0-B536B2FDC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58DC96D1-32A2-6B4A-455C-05BF1CE29002}"/>
              </a:ext>
            </a:extLst>
          </p:cNvPr>
          <p:cNvSpPr/>
          <p:nvPr userDrawn="1"/>
        </p:nvSpPr>
        <p:spPr>
          <a:xfrm>
            <a:off x="746124" y="362084"/>
            <a:ext cx="590282" cy="587176"/>
          </a:xfrm>
          <a:custGeom>
            <a:avLst/>
            <a:gdLst>
              <a:gd name="connsiteX0" fmla="*/ 317456 w 590282"/>
              <a:gd name="connsiteY0" fmla="*/ 0 h 587176"/>
              <a:gd name="connsiteX1" fmla="*/ 386647 w 590282"/>
              <a:gd name="connsiteY1" fmla="*/ 13969 h 587176"/>
              <a:gd name="connsiteX2" fmla="*/ 410713 w 590282"/>
              <a:gd name="connsiteY2" fmla="*/ 30195 h 587176"/>
              <a:gd name="connsiteX3" fmla="*/ 424702 w 590282"/>
              <a:gd name="connsiteY3" fmla="*/ 33019 h 587176"/>
              <a:gd name="connsiteX4" fmla="*/ 502909 w 590282"/>
              <a:gd name="connsiteY4" fmla="*/ 97421 h 587176"/>
              <a:gd name="connsiteX5" fmla="*/ 516852 w 590282"/>
              <a:gd name="connsiteY5" fmla="*/ 126425 h 587176"/>
              <a:gd name="connsiteX6" fmla="*/ 538219 w 590282"/>
              <a:gd name="connsiteY6" fmla="*/ 140831 h 587176"/>
              <a:gd name="connsiteX7" fmla="*/ 590282 w 590282"/>
              <a:gd name="connsiteY7" fmla="*/ 266523 h 587176"/>
              <a:gd name="connsiteX8" fmla="*/ 581721 w 590282"/>
              <a:gd name="connsiteY8" fmla="*/ 308929 h 587176"/>
              <a:gd name="connsiteX9" fmla="*/ 587243 w 590282"/>
              <a:gd name="connsiteY9" fmla="*/ 336283 h 587176"/>
              <a:gd name="connsiteX10" fmla="*/ 573274 w 590282"/>
              <a:gd name="connsiteY10" fmla="*/ 405474 h 587176"/>
              <a:gd name="connsiteX11" fmla="*/ 573035 w 590282"/>
              <a:gd name="connsiteY11" fmla="*/ 405829 h 587176"/>
              <a:gd name="connsiteX12" fmla="*/ 569771 w 590282"/>
              <a:gd name="connsiteY12" fmla="*/ 427420 h 587176"/>
              <a:gd name="connsiteX13" fmla="*/ 469197 w 590282"/>
              <a:gd name="connsiteY13" fmla="*/ 538348 h 587176"/>
              <a:gd name="connsiteX14" fmla="*/ 454557 w 590282"/>
              <a:gd name="connsiteY14" fmla="*/ 541304 h 587176"/>
              <a:gd name="connsiteX15" fmla="*/ 412047 w 590282"/>
              <a:gd name="connsiteY15" fmla="*/ 569965 h 587176"/>
              <a:gd name="connsiteX16" fmla="*/ 342856 w 590282"/>
              <a:gd name="connsiteY16" fmla="*/ 583934 h 587176"/>
              <a:gd name="connsiteX17" fmla="*/ 322378 w 590282"/>
              <a:gd name="connsiteY17" fmla="*/ 579800 h 587176"/>
              <a:gd name="connsiteX18" fmla="*/ 285841 w 590282"/>
              <a:gd name="connsiteY18" fmla="*/ 587176 h 587176"/>
              <a:gd name="connsiteX19" fmla="*/ 216650 w 590282"/>
              <a:gd name="connsiteY19" fmla="*/ 573207 h 587176"/>
              <a:gd name="connsiteX20" fmla="*/ 205115 w 590282"/>
              <a:gd name="connsiteY20" fmla="*/ 565430 h 587176"/>
              <a:gd name="connsiteX21" fmla="*/ 191528 w 590282"/>
              <a:gd name="connsiteY21" fmla="*/ 563376 h 587176"/>
              <a:gd name="connsiteX22" fmla="*/ 80600 w 590282"/>
              <a:gd name="connsiteY22" fmla="*/ 462802 h 587176"/>
              <a:gd name="connsiteX23" fmla="*/ 80462 w 590282"/>
              <a:gd name="connsiteY23" fmla="*/ 462117 h 587176"/>
              <a:gd name="connsiteX24" fmla="*/ 52064 w 590282"/>
              <a:gd name="connsiteY24" fmla="*/ 442971 h 587176"/>
              <a:gd name="connsiteX25" fmla="*/ 0 w 590282"/>
              <a:gd name="connsiteY25" fmla="*/ 317278 h 587176"/>
              <a:gd name="connsiteX26" fmla="*/ 13969 w 590282"/>
              <a:gd name="connsiteY26" fmla="*/ 248087 h 587176"/>
              <a:gd name="connsiteX27" fmla="*/ 23115 w 590282"/>
              <a:gd name="connsiteY27" fmla="*/ 234522 h 587176"/>
              <a:gd name="connsiteX28" fmla="*/ 26715 w 590282"/>
              <a:gd name="connsiteY28" fmla="*/ 216691 h 587176"/>
              <a:gd name="connsiteX29" fmla="*/ 53337 w 590282"/>
              <a:gd name="connsiteY29" fmla="*/ 172813 h 587176"/>
              <a:gd name="connsiteX30" fmla="*/ 68649 w 590282"/>
              <a:gd name="connsiteY30" fmla="*/ 158899 h 587176"/>
              <a:gd name="connsiteX31" fmla="*/ 71119 w 590282"/>
              <a:gd name="connsiteY31" fmla="*/ 146665 h 587176"/>
              <a:gd name="connsiteX32" fmla="*/ 182047 w 590282"/>
              <a:gd name="connsiteY32" fmla="*/ 46092 h 587176"/>
              <a:gd name="connsiteX33" fmla="*/ 205990 w 590282"/>
              <a:gd name="connsiteY33" fmla="*/ 42472 h 587176"/>
              <a:gd name="connsiteX34" fmla="*/ 248265 w 590282"/>
              <a:gd name="connsiteY34" fmla="*/ 13969 h 587176"/>
              <a:gd name="connsiteX35" fmla="*/ 317456 w 590282"/>
              <a:gd name="connsiteY35" fmla="*/ 0 h 587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90282" h="587176">
                <a:moveTo>
                  <a:pt x="317456" y="0"/>
                </a:moveTo>
                <a:cubicBezTo>
                  <a:pt x="341999" y="0"/>
                  <a:pt x="365380" y="4974"/>
                  <a:pt x="386647" y="13969"/>
                </a:cubicBezTo>
                <a:lnTo>
                  <a:pt x="410713" y="30195"/>
                </a:lnTo>
                <a:lnTo>
                  <a:pt x="424702" y="33019"/>
                </a:lnTo>
                <a:cubicBezTo>
                  <a:pt x="456601" y="46511"/>
                  <a:pt x="483743" y="69051"/>
                  <a:pt x="502909" y="97421"/>
                </a:cubicBezTo>
                <a:lnTo>
                  <a:pt x="516852" y="126425"/>
                </a:lnTo>
                <a:lnTo>
                  <a:pt x="538219" y="140831"/>
                </a:lnTo>
                <a:cubicBezTo>
                  <a:pt x="570386" y="172998"/>
                  <a:pt x="590282" y="217437"/>
                  <a:pt x="590282" y="266523"/>
                </a:cubicBezTo>
                <a:lnTo>
                  <a:pt x="581721" y="308929"/>
                </a:lnTo>
                <a:lnTo>
                  <a:pt x="587243" y="336283"/>
                </a:lnTo>
                <a:cubicBezTo>
                  <a:pt x="587243" y="360826"/>
                  <a:pt x="582269" y="384207"/>
                  <a:pt x="573274" y="405474"/>
                </a:cubicBezTo>
                <a:lnTo>
                  <a:pt x="573035" y="405829"/>
                </a:lnTo>
                <a:lnTo>
                  <a:pt x="569771" y="427420"/>
                </a:lnTo>
                <a:cubicBezTo>
                  <a:pt x="554189" y="477515"/>
                  <a:pt x="517046" y="518110"/>
                  <a:pt x="469197" y="538348"/>
                </a:cubicBezTo>
                <a:lnTo>
                  <a:pt x="454557" y="541304"/>
                </a:lnTo>
                <a:lnTo>
                  <a:pt x="412047" y="569965"/>
                </a:lnTo>
                <a:cubicBezTo>
                  <a:pt x="390780" y="578960"/>
                  <a:pt x="367399" y="583934"/>
                  <a:pt x="342856" y="583934"/>
                </a:cubicBezTo>
                <a:lnTo>
                  <a:pt x="322378" y="579800"/>
                </a:lnTo>
                <a:lnTo>
                  <a:pt x="285841" y="587176"/>
                </a:lnTo>
                <a:cubicBezTo>
                  <a:pt x="261298" y="587176"/>
                  <a:pt x="237917" y="582202"/>
                  <a:pt x="216650" y="573207"/>
                </a:cubicBezTo>
                <a:lnTo>
                  <a:pt x="205115" y="565430"/>
                </a:lnTo>
                <a:lnTo>
                  <a:pt x="191528" y="563376"/>
                </a:lnTo>
                <a:cubicBezTo>
                  <a:pt x="141433" y="547794"/>
                  <a:pt x="100839" y="510651"/>
                  <a:pt x="80600" y="462802"/>
                </a:cubicBezTo>
                <a:lnTo>
                  <a:pt x="80462" y="462117"/>
                </a:lnTo>
                <a:lnTo>
                  <a:pt x="52064" y="442971"/>
                </a:lnTo>
                <a:cubicBezTo>
                  <a:pt x="19896" y="410803"/>
                  <a:pt x="0" y="366364"/>
                  <a:pt x="0" y="317278"/>
                </a:cubicBezTo>
                <a:cubicBezTo>
                  <a:pt x="0" y="292735"/>
                  <a:pt x="4974" y="269354"/>
                  <a:pt x="13969" y="248087"/>
                </a:cubicBezTo>
                <a:lnTo>
                  <a:pt x="23115" y="234522"/>
                </a:lnTo>
                <a:lnTo>
                  <a:pt x="26715" y="216691"/>
                </a:lnTo>
                <a:cubicBezTo>
                  <a:pt x="33461" y="200742"/>
                  <a:pt x="42469" y="185981"/>
                  <a:pt x="53337" y="172813"/>
                </a:cubicBezTo>
                <a:lnTo>
                  <a:pt x="68649" y="158899"/>
                </a:lnTo>
                <a:lnTo>
                  <a:pt x="71119" y="146665"/>
                </a:lnTo>
                <a:cubicBezTo>
                  <a:pt x="91358" y="98816"/>
                  <a:pt x="131952" y="61673"/>
                  <a:pt x="182047" y="46092"/>
                </a:cubicBezTo>
                <a:lnTo>
                  <a:pt x="205990" y="42472"/>
                </a:lnTo>
                <a:lnTo>
                  <a:pt x="248265" y="13969"/>
                </a:lnTo>
                <a:cubicBezTo>
                  <a:pt x="269532" y="4974"/>
                  <a:pt x="292913" y="0"/>
                  <a:pt x="317456" y="0"/>
                </a:cubicBezTo>
                <a:close/>
              </a:path>
            </a:pathLst>
          </a:custGeom>
          <a:solidFill>
            <a:srgbClr val="6A4C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19F8AC5-0061-5467-FA92-F7D67CAD40D2}"/>
              </a:ext>
            </a:extLst>
          </p:cNvPr>
          <p:cNvSpPr/>
          <p:nvPr userDrawn="1"/>
        </p:nvSpPr>
        <p:spPr>
          <a:xfrm>
            <a:off x="-1022082" y="343755"/>
            <a:ext cx="895082" cy="1609593"/>
          </a:xfrm>
          <a:prstGeom prst="rect">
            <a:avLst/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프리젠테이션 3 Light" pitchFamily="2" charset="-127"/>
                <a:ea typeface="프리젠테이션 3 Light" pitchFamily="2" charset="-127"/>
              </a:rPr>
              <a:t>텍스트 작성 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8A81F82-FE8D-AD7C-717A-795056F62FD7}"/>
              </a:ext>
            </a:extLst>
          </p:cNvPr>
          <p:cNvSpPr/>
          <p:nvPr userDrawn="1"/>
        </p:nvSpPr>
        <p:spPr>
          <a:xfrm>
            <a:off x="-1022082" y="2136531"/>
            <a:ext cx="895082" cy="4172194"/>
          </a:xfrm>
          <a:prstGeom prst="rect">
            <a:avLst/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프리젠테이션 3 Light" pitchFamily="2" charset="-127"/>
                <a:ea typeface="프리젠테이션 3 Light" pitchFamily="2" charset="-127"/>
              </a:rPr>
              <a:t>발표</a:t>
            </a:r>
            <a:endParaRPr lang="en-US" altLang="ko-KR">
              <a:latin typeface="프리젠테이션 3 Light" pitchFamily="2" charset="-127"/>
              <a:ea typeface="프리젠테이션 3 Light" pitchFamily="2" charset="-127"/>
            </a:endParaRPr>
          </a:p>
          <a:p>
            <a:pPr algn="ctr"/>
            <a:r>
              <a:rPr lang="ko-KR" altLang="en-US">
                <a:latin typeface="프리젠테이션 3 Light" pitchFamily="2" charset="-127"/>
                <a:ea typeface="프리젠테이션 3 Light" pitchFamily="2" charset="-127"/>
              </a:rPr>
              <a:t>자료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F7292C6-8BE6-725C-6D13-24B25DB3A261}"/>
              </a:ext>
            </a:extLst>
          </p:cNvPr>
          <p:cNvSpPr/>
          <p:nvPr userDrawn="1"/>
        </p:nvSpPr>
        <p:spPr>
          <a:xfrm>
            <a:off x="-1022082" y="6431280"/>
            <a:ext cx="895082" cy="426721"/>
          </a:xfrm>
          <a:prstGeom prst="rect">
            <a:avLst/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프리젠테이션 3 Light" pitchFamily="2" charset="-127"/>
                <a:ea typeface="프리젠테이션 3 Light" pitchFamily="2" charset="-127"/>
              </a:rPr>
              <a:t>바닥글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9E65ADD2-0368-556A-279C-11D3036756DD}"/>
              </a:ext>
            </a:extLst>
          </p:cNvPr>
          <p:cNvGrpSpPr/>
          <p:nvPr userDrawn="1"/>
        </p:nvGrpSpPr>
        <p:grpSpPr>
          <a:xfrm>
            <a:off x="628647" y="2091829"/>
            <a:ext cx="10937881" cy="436789"/>
            <a:chOff x="628647" y="2414585"/>
            <a:chExt cx="10937881" cy="436789"/>
          </a:xfrm>
        </p:grpSpPr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510F8BA3-5876-DB31-693B-4D0658BE1562}"/>
                </a:ext>
              </a:extLst>
            </p:cNvPr>
            <p:cNvGrpSpPr/>
            <p:nvPr userDrawn="1"/>
          </p:nvGrpSpPr>
          <p:grpSpPr>
            <a:xfrm>
              <a:off x="628647" y="2414585"/>
              <a:ext cx="436789" cy="436789"/>
              <a:chOff x="628647" y="2414585"/>
              <a:chExt cx="436789" cy="436789"/>
            </a:xfrm>
          </p:grpSpPr>
          <p:cxnSp>
            <p:nvCxnSpPr>
              <p:cNvPr id="14" name="직선 연결선 13">
                <a:extLst>
                  <a:ext uri="{FF2B5EF4-FFF2-40B4-BE49-F238E27FC236}">
                    <a16:creationId xmlns:a16="http://schemas.microsoft.com/office/drawing/2014/main" id="{3623DC96-2548-283B-4268-73440AC32195}"/>
                  </a:ext>
                </a:extLst>
              </p:cNvPr>
              <p:cNvCxnSpPr/>
              <p:nvPr userDrawn="1"/>
            </p:nvCxnSpPr>
            <p:spPr>
              <a:xfrm>
                <a:off x="628647" y="2457450"/>
                <a:ext cx="43678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직선 연결선 14">
                <a:extLst>
                  <a:ext uri="{FF2B5EF4-FFF2-40B4-BE49-F238E27FC236}">
                    <a16:creationId xmlns:a16="http://schemas.microsoft.com/office/drawing/2014/main" id="{7AC17F7A-43EE-0739-0805-2F0F3D00AAF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5400000">
                <a:off x="476930" y="2632980"/>
                <a:ext cx="43678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A94B4D3D-94C3-966F-6C82-3C77AD8D9E60}"/>
                </a:ext>
              </a:extLst>
            </p:cNvPr>
            <p:cNvGrpSpPr/>
            <p:nvPr userDrawn="1"/>
          </p:nvGrpSpPr>
          <p:grpSpPr>
            <a:xfrm flipH="1">
              <a:off x="11129739" y="2414585"/>
              <a:ext cx="436789" cy="436789"/>
              <a:chOff x="628647" y="2414585"/>
              <a:chExt cx="436789" cy="436789"/>
            </a:xfrm>
          </p:grpSpPr>
          <p:cxnSp>
            <p:nvCxnSpPr>
              <p:cNvPr id="18" name="직선 연결선 17">
                <a:extLst>
                  <a:ext uri="{FF2B5EF4-FFF2-40B4-BE49-F238E27FC236}">
                    <a16:creationId xmlns:a16="http://schemas.microsoft.com/office/drawing/2014/main" id="{FD533691-ADCE-4B40-3725-C382D15F8044}"/>
                  </a:ext>
                </a:extLst>
              </p:cNvPr>
              <p:cNvCxnSpPr/>
              <p:nvPr userDrawn="1"/>
            </p:nvCxnSpPr>
            <p:spPr>
              <a:xfrm>
                <a:off x="628647" y="2457450"/>
                <a:ext cx="43678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직선 연결선 18">
                <a:extLst>
                  <a:ext uri="{FF2B5EF4-FFF2-40B4-BE49-F238E27FC236}">
                    <a16:creationId xmlns:a16="http://schemas.microsoft.com/office/drawing/2014/main" id="{693D40D8-F538-6E7F-5E26-D940ADD0FCA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5400000">
                <a:off x="476930" y="2632980"/>
                <a:ext cx="43678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0AA2AC65-7F5F-0DAF-906F-F6FCEFF9AD3B}"/>
              </a:ext>
            </a:extLst>
          </p:cNvPr>
          <p:cNvGrpSpPr/>
          <p:nvPr userDrawn="1"/>
        </p:nvGrpSpPr>
        <p:grpSpPr>
          <a:xfrm flipV="1">
            <a:off x="628647" y="5923127"/>
            <a:ext cx="10937881" cy="436789"/>
            <a:chOff x="628647" y="2414585"/>
            <a:chExt cx="10937881" cy="436789"/>
          </a:xfrm>
        </p:grpSpPr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8276ACE0-8962-1227-14BE-DB918A310094}"/>
                </a:ext>
              </a:extLst>
            </p:cNvPr>
            <p:cNvGrpSpPr/>
            <p:nvPr userDrawn="1"/>
          </p:nvGrpSpPr>
          <p:grpSpPr>
            <a:xfrm>
              <a:off x="628647" y="2414585"/>
              <a:ext cx="436789" cy="436789"/>
              <a:chOff x="628647" y="2414585"/>
              <a:chExt cx="436789" cy="436789"/>
            </a:xfrm>
          </p:grpSpPr>
          <p:cxnSp>
            <p:nvCxnSpPr>
              <p:cNvPr id="26" name="직선 연결선 25">
                <a:extLst>
                  <a:ext uri="{FF2B5EF4-FFF2-40B4-BE49-F238E27FC236}">
                    <a16:creationId xmlns:a16="http://schemas.microsoft.com/office/drawing/2014/main" id="{7C1664B0-532E-7B8C-35D5-3D85E8BEA058}"/>
                  </a:ext>
                </a:extLst>
              </p:cNvPr>
              <p:cNvCxnSpPr/>
              <p:nvPr userDrawn="1"/>
            </p:nvCxnSpPr>
            <p:spPr>
              <a:xfrm>
                <a:off x="628647" y="2457450"/>
                <a:ext cx="43678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직선 연결선 26">
                <a:extLst>
                  <a:ext uri="{FF2B5EF4-FFF2-40B4-BE49-F238E27FC236}">
                    <a16:creationId xmlns:a16="http://schemas.microsoft.com/office/drawing/2014/main" id="{D575CBD2-648A-7C79-E121-439CD3E1478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5400000">
                <a:off x="476930" y="2632980"/>
                <a:ext cx="43678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C698F1E3-C14A-DC78-8DBD-D71197052BB4}"/>
                </a:ext>
              </a:extLst>
            </p:cNvPr>
            <p:cNvGrpSpPr/>
            <p:nvPr userDrawn="1"/>
          </p:nvGrpSpPr>
          <p:grpSpPr>
            <a:xfrm flipH="1">
              <a:off x="11129739" y="2414585"/>
              <a:ext cx="436789" cy="436789"/>
              <a:chOff x="628647" y="2414585"/>
              <a:chExt cx="436789" cy="436789"/>
            </a:xfrm>
          </p:grpSpPr>
          <p:cxnSp>
            <p:nvCxnSpPr>
              <p:cNvPr id="24" name="직선 연결선 23">
                <a:extLst>
                  <a:ext uri="{FF2B5EF4-FFF2-40B4-BE49-F238E27FC236}">
                    <a16:creationId xmlns:a16="http://schemas.microsoft.com/office/drawing/2014/main" id="{5AC2761A-5221-E381-8346-2AF035155727}"/>
                  </a:ext>
                </a:extLst>
              </p:cNvPr>
              <p:cNvCxnSpPr/>
              <p:nvPr userDrawn="1"/>
            </p:nvCxnSpPr>
            <p:spPr>
              <a:xfrm>
                <a:off x="628647" y="2457450"/>
                <a:ext cx="43678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직선 연결선 24">
                <a:extLst>
                  <a:ext uri="{FF2B5EF4-FFF2-40B4-BE49-F238E27FC236}">
                    <a16:creationId xmlns:a16="http://schemas.microsoft.com/office/drawing/2014/main" id="{36CDF99A-2EC8-9B6E-EDBB-6C231C96406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5400000">
                <a:off x="476930" y="2632980"/>
                <a:ext cx="43678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1856537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4042" userDrawn="1">
          <p15:clr>
            <a:srgbClr val="FBAE40"/>
          </p15:clr>
        </p15:guide>
        <p15:guide id="4" orient="horz" pos="1344" userDrawn="1">
          <p15:clr>
            <a:srgbClr val="FBAE40"/>
          </p15:clr>
        </p15:guide>
        <p15:guide id="5" orient="horz" pos="3974" userDrawn="1">
          <p15:clr>
            <a:srgbClr val="FBAE40"/>
          </p15:clr>
        </p15:guide>
        <p15:guide id="6" pos="438" userDrawn="1">
          <p15:clr>
            <a:srgbClr val="FBAE40"/>
          </p15:clr>
        </p15:guide>
        <p15:guide id="7" pos="724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4761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B368D3-7764-6B79-55D7-D1FA47403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9AEDD8-C1B8-FE03-0E6E-E5A5748EBB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09B1C3A-72B0-E26F-80A5-6E522DC373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53704F6-FEE2-21F3-10B8-5A2CCE3B1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EE347C-6BE3-6416-60B0-862C6E89D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5DE7ACF-30D8-3310-6267-3791E6779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1566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EE2BCB-6648-5FA0-2A38-7D0F6DAF7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C8D0779-6E0D-99A2-7CC0-1D877E7BE1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D6717A2-06FC-3F01-17AF-281F70FB25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F903637-105D-1DF3-2894-1515D9605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56C2BBB-8B3B-A760-80A5-A54B71D85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52E9ED9-B322-0DFD-ACF2-4C2E36435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3785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B6D179-3ED2-D863-776B-E37098C7E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229B8B3-2FED-1723-0E05-3081F7A058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922F30-C83B-A4FC-144D-85D04B2A1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CA2F5EF-1562-64BF-D056-F70CD1626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B03B3D-1A1C-E08E-3CFA-52F06DBE7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36816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F68C8B7-2913-66DC-95E9-BD5BB94C44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F13C645-95A8-D0D9-93D8-CCB6C892BC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9E8799-22BB-B844-CB9C-DF7B26030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A61B75-4D6D-9F9B-E82E-60869235A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2D8D82-979A-6259-1E06-FB6860D0A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8223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321CBF4-560D-AB8F-20D8-00D45D8C6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2EEFF6E-E673-ABCA-3996-D9C54AF1D9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DAB686-7008-EB9C-1138-487EC21768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프리젠테이션 8 ExtraBold" pitchFamily="2" charset="-127"/>
                <a:ea typeface="프리젠테이션 8 ExtraBold" pitchFamily="2" charset="-127"/>
              </a:defRPr>
            </a:lvl1pPr>
          </a:lstStyle>
          <a:p>
            <a:fld id="{210D62CC-E718-4152-8D68-1EE32F5BAE19}" type="datetimeFigureOut">
              <a:rPr lang="ko-KR" altLang="en-US" smtClean="0"/>
              <a:pPr/>
              <a:t>2025-08-25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189745-30BD-A560-33E1-0BB662D14A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프리젠테이션 8 ExtraBold" pitchFamily="2" charset="-127"/>
                <a:ea typeface="프리젠테이션 8 ExtraBold" pitchFamily="2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6BE543-E661-D95D-FAEA-F0FA23D61E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프리젠테이션 8 ExtraBold" pitchFamily="2" charset="-127"/>
                <a:ea typeface="프리젠테이션 8 ExtraBold" pitchFamily="2" charset="-127"/>
              </a:defRPr>
            </a:lvl1pPr>
          </a:lstStyle>
          <a:p>
            <a:fld id="{8526D350-78AC-4827-8F7A-59C1B6A45AC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5187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프리젠테이션 8 ExtraBold" pitchFamily="2" charset="-127"/>
          <a:ea typeface="프리젠테이션 8 ExtraBold" pitchFamily="2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프리젠테이션 8 ExtraBold" pitchFamily="2" charset="-127"/>
          <a:ea typeface="프리젠테이션 8 ExtraBold" pitchFamily="2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프리젠테이션 8 ExtraBold" pitchFamily="2" charset="-127"/>
          <a:ea typeface="프리젠테이션 8 ExtraBold" pitchFamily="2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프리젠테이션 8 ExtraBold" pitchFamily="2" charset="-127"/>
          <a:ea typeface="프리젠테이션 8 ExtraBold" pitchFamily="2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프리젠테이션 8 ExtraBold" pitchFamily="2" charset="-127"/>
          <a:ea typeface="프리젠테이션 8 ExtraBold" pitchFamily="2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프리젠테이션 8 ExtraBold" pitchFamily="2" charset="-127"/>
          <a:ea typeface="프리젠테이션 8 ExtraBold" pitchFamily="2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microsoft.com/office/2007/relationships/hdphoto" Target="../media/hdphoto2.wd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DD2E8DDB-A319-D8DC-1622-6EB92F3010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4756524"/>
              </p:ext>
            </p:extLst>
          </p:nvPr>
        </p:nvGraphicFramePr>
        <p:xfrm>
          <a:off x="1075929" y="685649"/>
          <a:ext cx="10515600" cy="2194560"/>
        </p:xfrm>
        <a:graphic>
          <a:graphicData uri="http://schemas.openxmlformats.org/drawingml/2006/table">
            <a:tbl>
              <a:tblPr/>
              <a:tblGrid>
                <a:gridCol w="1768871">
                  <a:extLst>
                    <a:ext uri="{9D8B030D-6E8A-4147-A177-3AD203B41FA5}">
                      <a16:colId xmlns:a16="http://schemas.microsoft.com/office/drawing/2014/main" val="3658450021"/>
                    </a:ext>
                  </a:extLst>
                </a:gridCol>
                <a:gridCol w="2336800">
                  <a:extLst>
                    <a:ext uri="{9D8B030D-6E8A-4147-A177-3AD203B41FA5}">
                      <a16:colId xmlns:a16="http://schemas.microsoft.com/office/drawing/2014/main" val="2858557910"/>
                    </a:ext>
                  </a:extLst>
                </a:gridCol>
                <a:gridCol w="6409929">
                  <a:extLst>
                    <a:ext uri="{9D8B030D-6E8A-4147-A177-3AD203B41FA5}">
                      <a16:colId xmlns:a16="http://schemas.microsoft.com/office/drawing/2014/main" val="33363002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역할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색상 이름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RGB </a:t>
                      </a:r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코드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76799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주색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바이올렛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#6A4C93 → rgb(106, 76, 147)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54884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보조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라벤더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#D8B4E2 → rgb(216, 180, 226)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18962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보조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실버 그레이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#D3D3D3 → </a:t>
                      </a:r>
                      <a:r>
                        <a:rPr lang="en-US" dirty="0" err="1">
                          <a:latin typeface="프리젠테이션 5 Medium" pitchFamily="2" charset="-127"/>
                          <a:ea typeface="프리젠테이션 5 Medium" pitchFamily="2" charset="-127"/>
                        </a:rPr>
                        <a:t>rgb</a:t>
                      </a:r>
                      <a:r>
                        <a:rPr 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(211, 211, 211)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10007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포인트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 err="1">
                          <a:latin typeface="프리젠테이션 5 Medium" pitchFamily="2" charset="-127"/>
                          <a:ea typeface="프리젠테이션 5 Medium" pitchFamily="2" charset="-127"/>
                        </a:rPr>
                        <a:t>레드와인</a:t>
                      </a:r>
                      <a:endParaRPr lang="ko-KR" altLang="en-US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#B00020 → </a:t>
                      </a:r>
                      <a:r>
                        <a:rPr lang="en-US" dirty="0" err="1">
                          <a:latin typeface="프리젠테이션 5 Medium" pitchFamily="2" charset="-127"/>
                          <a:ea typeface="프리젠테이션 5 Medium" pitchFamily="2" charset="-127"/>
                        </a:rPr>
                        <a:t>rgb</a:t>
                      </a:r>
                      <a:r>
                        <a:rPr 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(176, 0, 32)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28260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텍스트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딥 네이비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#2D3142 → </a:t>
                      </a:r>
                      <a:r>
                        <a:rPr lang="en-US" dirty="0" err="1">
                          <a:latin typeface="프리젠테이션 5 Medium" pitchFamily="2" charset="-127"/>
                          <a:ea typeface="프리젠테이션 5 Medium" pitchFamily="2" charset="-127"/>
                        </a:rPr>
                        <a:t>rgb</a:t>
                      </a:r>
                      <a:r>
                        <a:rPr 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(45, 49, 66)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5133183"/>
                  </a:ext>
                </a:extLst>
              </a:tr>
            </a:tbl>
          </a:graphicData>
        </a:graphic>
      </p:graphicFrame>
      <p:grpSp>
        <p:nvGrpSpPr>
          <p:cNvPr id="25" name="그룹 24">
            <a:extLst>
              <a:ext uri="{FF2B5EF4-FFF2-40B4-BE49-F238E27FC236}">
                <a16:creationId xmlns:a16="http://schemas.microsoft.com/office/drawing/2014/main" id="{8D0E4803-7BE7-A1E2-FC4A-9BF8E4B2B922}"/>
              </a:ext>
            </a:extLst>
          </p:cNvPr>
          <p:cNvGrpSpPr/>
          <p:nvPr/>
        </p:nvGrpSpPr>
        <p:grpSpPr>
          <a:xfrm>
            <a:off x="1075929" y="3135963"/>
            <a:ext cx="9781871" cy="1683657"/>
            <a:chOff x="1075929" y="3135963"/>
            <a:chExt cx="9781871" cy="1683657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3D099048-C127-3BB1-95AB-614B68195050}"/>
                </a:ext>
              </a:extLst>
            </p:cNvPr>
            <p:cNvSpPr/>
            <p:nvPr/>
          </p:nvSpPr>
          <p:spPr>
            <a:xfrm>
              <a:off x="3100482" y="3135963"/>
              <a:ext cx="1683657" cy="1683657"/>
            </a:xfrm>
            <a:prstGeom prst="rect">
              <a:avLst/>
            </a:prstGeom>
            <a:solidFill>
              <a:srgbClr val="D8B4E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BED3CEE0-DEAA-D270-D017-2944D6B57183}"/>
                </a:ext>
              </a:extLst>
            </p:cNvPr>
            <p:cNvSpPr/>
            <p:nvPr/>
          </p:nvSpPr>
          <p:spPr>
            <a:xfrm>
              <a:off x="1075929" y="3135963"/>
              <a:ext cx="1683657" cy="1683657"/>
            </a:xfrm>
            <a:prstGeom prst="rect">
              <a:avLst/>
            </a:prstGeom>
            <a:solidFill>
              <a:srgbClr val="6A4C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B584B450-B335-3617-223D-E62D30BD72DB}"/>
                </a:ext>
              </a:extLst>
            </p:cNvPr>
            <p:cNvSpPr/>
            <p:nvPr/>
          </p:nvSpPr>
          <p:spPr>
            <a:xfrm>
              <a:off x="7149588" y="3135963"/>
              <a:ext cx="1683657" cy="1683657"/>
            </a:xfrm>
            <a:prstGeom prst="rect">
              <a:avLst/>
            </a:prstGeom>
            <a:solidFill>
              <a:srgbClr val="B000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75EA6DF2-6CD0-D42A-5B2A-AE90DD6EBF09}"/>
                </a:ext>
              </a:extLst>
            </p:cNvPr>
            <p:cNvSpPr/>
            <p:nvPr/>
          </p:nvSpPr>
          <p:spPr>
            <a:xfrm>
              <a:off x="5125035" y="3135963"/>
              <a:ext cx="1683657" cy="1683657"/>
            </a:xfrm>
            <a:prstGeom prst="rect">
              <a:avLst/>
            </a:prstGeom>
            <a:solidFill>
              <a:srgbClr val="D3D3D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80D711E8-74DB-3DAF-AAC3-D3DDC400EB83}"/>
                </a:ext>
              </a:extLst>
            </p:cNvPr>
            <p:cNvSpPr/>
            <p:nvPr/>
          </p:nvSpPr>
          <p:spPr>
            <a:xfrm>
              <a:off x="9174143" y="3135963"/>
              <a:ext cx="1683657" cy="1683657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</p:grp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4B96B35B-07FF-6675-ECD5-1033D1F1B1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3011626"/>
              </p:ext>
            </p:extLst>
          </p:nvPr>
        </p:nvGraphicFramePr>
        <p:xfrm>
          <a:off x="1075929" y="5075071"/>
          <a:ext cx="4410471" cy="1463040"/>
        </p:xfrm>
        <a:graphic>
          <a:graphicData uri="http://schemas.openxmlformats.org/drawingml/2006/table">
            <a:tbl>
              <a:tblPr/>
              <a:tblGrid>
                <a:gridCol w="1900190">
                  <a:extLst>
                    <a:ext uri="{9D8B030D-6E8A-4147-A177-3AD203B41FA5}">
                      <a16:colId xmlns:a16="http://schemas.microsoft.com/office/drawing/2014/main" val="3658450021"/>
                    </a:ext>
                  </a:extLst>
                </a:gridCol>
                <a:gridCol w="2510281">
                  <a:extLst>
                    <a:ext uri="{9D8B030D-6E8A-4147-A177-3AD203B41FA5}">
                      <a16:colId xmlns:a16="http://schemas.microsoft.com/office/drawing/2014/main" val="2858557910"/>
                    </a:ext>
                  </a:extLst>
                </a:gridCol>
              </a:tblGrid>
              <a:tr h="240307"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폰트 </a:t>
                      </a:r>
                      <a:endParaRPr lang="ko-KR" altLang="en-US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 err="1">
                          <a:latin typeface="프리젠테이션 5 Medium" pitchFamily="2" charset="-127"/>
                          <a:ea typeface="프리젠테이션 5 Medium" pitchFamily="2" charset="-127"/>
                        </a:rPr>
                        <a:t>프리젠테이션</a:t>
                      </a:r>
                      <a:r>
                        <a:rPr lang="ko-KR" alt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lang="en-US" altLang="ko-KR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5 Medium</a:t>
                      </a:r>
                      <a:endParaRPr lang="ko-KR" altLang="en-US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7679946"/>
                  </a:ext>
                </a:extLst>
              </a:tr>
              <a:tr h="240307">
                <a:tc>
                  <a:txBody>
                    <a:bodyPr/>
                    <a:lstStyle/>
                    <a:p>
                      <a:endParaRPr lang="ko-KR" altLang="en-US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err="1">
                          <a:latin typeface="프리젠테이션 8 ExtraBold" pitchFamily="2" charset="-127"/>
                          <a:ea typeface="프리젠테이션 8 ExtraBold" pitchFamily="2" charset="-127"/>
                        </a:rPr>
                        <a:t>프리젠테이션</a:t>
                      </a:r>
                      <a:r>
                        <a:rPr lang="ko-KR" altLang="en-US" dirty="0">
                          <a:latin typeface="프리젠테이션 8 ExtraBold" pitchFamily="2" charset="-127"/>
                          <a:ea typeface="프리젠테이션 8 ExtraBold" pitchFamily="2" charset="-127"/>
                        </a:rPr>
                        <a:t> </a:t>
                      </a:r>
                      <a:r>
                        <a:rPr lang="en-US" altLang="ko-KR" dirty="0">
                          <a:latin typeface="프리젠테이션 8 ExtraBold" pitchFamily="2" charset="-127"/>
                          <a:ea typeface="프리젠테이션 8 ExtraBold" pitchFamily="2" charset="-127"/>
                        </a:rPr>
                        <a:t>8 </a:t>
                      </a:r>
                      <a:r>
                        <a:rPr lang="en-US" altLang="ko-KR" dirty="0" err="1">
                          <a:latin typeface="프리젠테이션 8 ExtraBold" pitchFamily="2" charset="-127"/>
                          <a:ea typeface="프리젠테이션 8 ExtraBold" pitchFamily="2" charset="-127"/>
                        </a:rPr>
                        <a:t>ExtraBold</a:t>
                      </a:r>
                      <a:endParaRPr lang="ko-KR" altLang="en-US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5488451"/>
                  </a:ext>
                </a:extLst>
              </a:tr>
              <a:tr h="240307">
                <a:tc>
                  <a:txBody>
                    <a:bodyPr/>
                    <a:lstStyle/>
                    <a:p>
                      <a:r>
                        <a:rPr lang="ko-KR" alt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강조 폰트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 err="1">
                          <a:latin typeface="프리젠테이션 5 Medium" pitchFamily="2" charset="-127"/>
                          <a:ea typeface="프리젠테이션 5 Medium" pitchFamily="2" charset="-127"/>
                        </a:rPr>
                        <a:t>테스트중</a:t>
                      </a:r>
                      <a:r>
                        <a:rPr lang="ko-KR" alt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1896204"/>
                  </a:ext>
                </a:extLst>
              </a:tr>
              <a:tr h="240307">
                <a:tc>
                  <a:txBody>
                    <a:bodyPr/>
                    <a:lstStyle/>
                    <a:p>
                      <a:endParaRPr lang="ko-KR" altLang="en-US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1000700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EBBD85EE-26ED-0472-71EC-CB982645E9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43" t="46686" r="42044" b="22856"/>
          <a:stretch>
            <a:fillRect/>
          </a:stretch>
        </p:blipFill>
        <p:spPr>
          <a:xfrm>
            <a:off x="8369003" y="5075071"/>
            <a:ext cx="2488797" cy="1683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126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CF88641C-1555-7AFD-B338-30AD62781A16}"/>
              </a:ext>
            </a:extLst>
          </p:cNvPr>
          <p:cNvSpPr/>
          <p:nvPr/>
        </p:nvSpPr>
        <p:spPr>
          <a:xfrm>
            <a:off x="0" y="-11061"/>
            <a:ext cx="12192000" cy="6858000"/>
          </a:xfrm>
          <a:prstGeom prst="rect">
            <a:avLst/>
          </a:prstGeom>
          <a:gradFill flip="none" rotWithShape="1">
            <a:gsLst>
              <a:gs pos="22000">
                <a:srgbClr val="2D3142"/>
              </a:gs>
              <a:gs pos="100000">
                <a:srgbClr val="6A4C93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AE59F3EE-3857-85D8-C793-CE09E8C8FBC0}"/>
              </a:ext>
            </a:extLst>
          </p:cNvPr>
          <p:cNvGrpSpPr/>
          <p:nvPr/>
        </p:nvGrpSpPr>
        <p:grpSpPr>
          <a:xfrm>
            <a:off x="4476139" y="475222"/>
            <a:ext cx="10199322" cy="10199322"/>
            <a:chOff x="2675723" y="217245"/>
            <a:chExt cx="7353300" cy="7353300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6F330D57-5D0A-5EA8-2FC1-43E175550F2E}"/>
                </a:ext>
              </a:extLst>
            </p:cNvPr>
            <p:cNvSpPr/>
            <p:nvPr/>
          </p:nvSpPr>
          <p:spPr>
            <a:xfrm>
              <a:off x="2675723" y="217245"/>
              <a:ext cx="7353300" cy="7353300"/>
            </a:xfrm>
            <a:prstGeom prst="ellipse">
              <a:avLst/>
            </a:prstGeom>
            <a:gradFill flip="none" rotWithShape="1">
              <a:gsLst>
                <a:gs pos="100000">
                  <a:srgbClr val="B00020"/>
                </a:gs>
                <a:gs pos="0">
                  <a:srgbClr val="6A4C93"/>
                </a:gs>
              </a:gsLst>
              <a:lin ang="2700000" scaled="1"/>
              <a:tileRect/>
            </a:gra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pic>
          <p:nvPicPr>
            <p:cNvPr id="6" name="그림 5" descr="바퀴, 차량, 육상 차량, 자동차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C23D8A20-71EA-B1D0-937C-B7B9FCDE26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52850" y="799705"/>
              <a:ext cx="4762500" cy="4762500"/>
            </a:xfrm>
            <a:prstGeom prst="rect">
              <a:avLst/>
            </a:prstGeom>
          </p:spPr>
        </p:pic>
      </p:grpSp>
      <p:sp>
        <p:nvSpPr>
          <p:cNvPr id="5" name="평행 사변형 4">
            <a:extLst>
              <a:ext uri="{FF2B5EF4-FFF2-40B4-BE49-F238E27FC236}">
                <a16:creationId xmlns:a16="http://schemas.microsoft.com/office/drawing/2014/main" id="{0AB9BD87-5BB2-4535-33FD-0B244E10BAE7}"/>
              </a:ext>
            </a:extLst>
          </p:cNvPr>
          <p:cNvSpPr/>
          <p:nvPr/>
        </p:nvSpPr>
        <p:spPr>
          <a:xfrm>
            <a:off x="6096000" y="1943101"/>
            <a:ext cx="4937760" cy="664978"/>
          </a:xfrm>
          <a:prstGeom prst="parallelogram">
            <a:avLst>
              <a:gd name="adj" fmla="val 29332"/>
            </a:avLst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4D7449D-AE6D-F902-1AB0-019E73456060}"/>
              </a:ext>
            </a:extLst>
          </p:cNvPr>
          <p:cNvSpPr/>
          <p:nvPr/>
        </p:nvSpPr>
        <p:spPr>
          <a:xfrm>
            <a:off x="914400" y="3849005"/>
            <a:ext cx="1946787" cy="2662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ko-KR" altLang="en-US" sz="2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코딩싹</a:t>
            </a:r>
            <a:endParaRPr lang="ko-KR" altLang="en-US" sz="2000" dirty="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D1F52FD-6151-25FA-84BE-591AA5B48495}"/>
              </a:ext>
            </a:extLst>
          </p:cNvPr>
          <p:cNvSpPr/>
          <p:nvPr/>
        </p:nvSpPr>
        <p:spPr>
          <a:xfrm>
            <a:off x="914400" y="1118095"/>
            <a:ext cx="4972050" cy="2662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ko-KR" altLang="en-US" sz="140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기업맞춤형 </a:t>
            </a:r>
            <a:r>
              <a:rPr lang="en-US" altLang="ko-KR" sz="140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AI-X </a:t>
            </a:r>
            <a:r>
              <a:rPr lang="ko-KR" altLang="en-US" sz="140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융복합 인재 양성 교육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7B455D2-1CD2-DD07-1C27-766D8C735D00}"/>
              </a:ext>
            </a:extLst>
          </p:cNvPr>
          <p:cNvSpPr/>
          <p:nvPr/>
        </p:nvSpPr>
        <p:spPr>
          <a:xfrm>
            <a:off x="914400" y="1785527"/>
            <a:ext cx="10199322" cy="9710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n-US" altLang="ko-KR" sz="4400">
                <a:solidFill>
                  <a:schemeClr val="bg1"/>
                </a:solidFill>
                <a:effectLst/>
                <a:latin typeface="프리젠테이션 5 Medium" pitchFamily="2" charset="-127"/>
                <a:ea typeface="프리젠테이션 5 Medium" pitchFamily="2" charset="-127"/>
              </a:rPr>
              <a:t>LLM-RAG </a:t>
            </a:r>
            <a:r>
              <a:rPr lang="ko-KR" altLang="en-US" sz="4400">
                <a:solidFill>
                  <a:schemeClr val="bg1"/>
                </a:solidFill>
                <a:effectLst/>
                <a:latin typeface="프리젠테이션 5 Medium" pitchFamily="2" charset="-127"/>
                <a:ea typeface="프리젠테이션 5 Medium" pitchFamily="2" charset="-127"/>
              </a:rPr>
              <a:t>기반 </a:t>
            </a:r>
            <a:r>
              <a:rPr lang="en-US" altLang="ko-KR" sz="4400">
                <a:solidFill>
                  <a:schemeClr val="bg1"/>
                </a:solidFill>
                <a:effectLst/>
                <a:latin typeface="프리젠테이션 5 Medium" pitchFamily="2" charset="-127"/>
                <a:ea typeface="프리젠테이션 5 Medium" pitchFamily="2" charset="-127"/>
              </a:rPr>
              <a:t>Django   </a:t>
            </a:r>
            <a:r>
              <a:rPr lang="ko-KR" altLang="en-US" sz="4400">
                <a:solidFill>
                  <a:schemeClr val="bg1"/>
                </a:solidFill>
                <a:effectLst/>
                <a:latin typeface="프리젠테이션 5 Medium" pitchFamily="2" charset="-127"/>
                <a:ea typeface="프리젠테이션 5 Medium" pitchFamily="2" charset="-127"/>
              </a:rPr>
              <a:t>자동차보험 추천 플랫폼</a:t>
            </a:r>
            <a:endParaRPr lang="ko-KR" altLang="en-US" sz="4400" dirty="0">
              <a:solidFill>
                <a:schemeClr val="bg1"/>
              </a:solidFill>
              <a:effectLst/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B65FF0C-3CF9-CAE3-0A3F-9728BD673737}"/>
              </a:ext>
            </a:extLst>
          </p:cNvPr>
          <p:cNvSpPr/>
          <p:nvPr/>
        </p:nvSpPr>
        <p:spPr>
          <a:xfrm>
            <a:off x="914399" y="2719849"/>
            <a:ext cx="4848225" cy="2662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n-US" altLang="ko-KR" sz="140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AI </a:t>
            </a:r>
            <a:r>
              <a:rPr lang="ko-KR" altLang="en-US" sz="140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기술과 실무 비즈니스 요구사항을 결합한 실용적인 서비스 개발 </a:t>
            </a:r>
            <a:endParaRPr lang="ko-KR" altLang="en-US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DF81A3C-301B-C97F-43C5-283DF3DC2105}"/>
              </a:ext>
            </a:extLst>
          </p:cNvPr>
          <p:cNvSpPr/>
          <p:nvPr/>
        </p:nvSpPr>
        <p:spPr>
          <a:xfrm>
            <a:off x="914400" y="4115295"/>
            <a:ext cx="6050280" cy="5100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defRPr/>
            </a:pPr>
            <a:r>
              <a:rPr lang="ko-KR" altLang="en-US" sz="2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김진경  </a:t>
            </a:r>
            <a:r>
              <a:rPr lang="en-US" altLang="ko-KR" sz="2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/ </a:t>
            </a:r>
            <a:r>
              <a:rPr lang="ko-KR" altLang="en-US" sz="2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김민준 </a:t>
            </a:r>
            <a:r>
              <a:rPr lang="en-US" altLang="ko-KR" sz="2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/ </a:t>
            </a:r>
            <a:r>
              <a:rPr lang="ko-KR" altLang="en-US" sz="2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장선호 </a:t>
            </a:r>
            <a:r>
              <a:rPr lang="en-US" altLang="ko-KR" sz="2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/ </a:t>
            </a:r>
            <a:r>
              <a:rPr lang="ko-KR" altLang="en-US" sz="2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한창희 </a:t>
            </a:r>
            <a:r>
              <a:rPr lang="en-US" altLang="ko-KR" sz="2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/ </a:t>
            </a:r>
            <a:r>
              <a:rPr lang="ko-KR" altLang="en-US" sz="2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유성미</a:t>
            </a:r>
            <a:endParaRPr lang="en-US" altLang="ko-KR" sz="200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EF6650B-A405-A157-0415-FDD9DFB32788}"/>
              </a:ext>
            </a:extLst>
          </p:cNvPr>
          <p:cNvSpPr/>
          <p:nvPr/>
        </p:nvSpPr>
        <p:spPr>
          <a:xfrm>
            <a:off x="914400" y="1355191"/>
            <a:ext cx="4972050" cy="2662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n-US" altLang="ko-KR" sz="140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2</a:t>
            </a:r>
            <a:r>
              <a:rPr lang="ko-KR" altLang="en-US" sz="140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차 프로젝트 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F3FF1F8C-9589-1A38-C41B-9CAE552C56E3}"/>
              </a:ext>
            </a:extLst>
          </p:cNvPr>
          <p:cNvSpPr/>
          <p:nvPr/>
        </p:nvSpPr>
        <p:spPr>
          <a:xfrm>
            <a:off x="9083385" y="500478"/>
            <a:ext cx="2002787" cy="45919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프리젠테이션 8 ExtraBold" pitchFamily="2" charset="-127"/>
                <a:ea typeface="프리젠테이션 8 ExtraBold" pitchFamily="2" charset="-127"/>
              </a:rPr>
              <a:t>수정 필요</a:t>
            </a:r>
          </a:p>
        </p:txBody>
      </p:sp>
    </p:spTree>
    <p:extLst>
      <p:ext uri="{BB962C8B-B14F-4D97-AF65-F5344CB8AC3E}">
        <p14:creationId xmlns:p14="http://schemas.microsoft.com/office/powerpoint/2010/main" val="3431064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언도상씨의 VIP를 위한 운전 스킬">
            <a:extLst>
              <a:ext uri="{FF2B5EF4-FFF2-40B4-BE49-F238E27FC236}">
                <a16:creationId xmlns:a16="http://schemas.microsoft.com/office/drawing/2014/main" id="{5F7D0787-D9F2-0307-889C-BF3BD063E6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02917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D5ABC6DC-97D7-E4E1-DA01-7E6D79682F25}"/>
              </a:ext>
            </a:extLst>
          </p:cNvPr>
          <p:cNvSpPr/>
          <p:nvPr/>
        </p:nvSpPr>
        <p:spPr>
          <a:xfrm>
            <a:off x="-16112" y="0"/>
            <a:ext cx="12208111" cy="6858000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25688">
                <a:schemeClr val="tx1"/>
              </a:gs>
              <a:gs pos="64000">
                <a:schemeClr val="tx1">
                  <a:alpha val="76000"/>
                </a:schemeClr>
              </a:gs>
              <a:gs pos="100000">
                <a:schemeClr val="tx1">
                  <a:alpha val="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9291CC00-6089-A2F5-FFD6-7663277E055B}"/>
              </a:ext>
            </a:extLst>
          </p:cNvPr>
          <p:cNvGrpSpPr/>
          <p:nvPr/>
        </p:nvGrpSpPr>
        <p:grpSpPr>
          <a:xfrm>
            <a:off x="463427" y="387350"/>
            <a:ext cx="1514268" cy="243278"/>
            <a:chOff x="1208851" y="2444967"/>
            <a:chExt cx="1514268" cy="243278"/>
          </a:xfrm>
        </p:grpSpPr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E2F2F1FA-E836-8BB3-0436-9C7B77F2860F}"/>
                </a:ext>
              </a:extLst>
            </p:cNvPr>
            <p:cNvSpPr/>
            <p:nvPr/>
          </p:nvSpPr>
          <p:spPr>
            <a:xfrm>
              <a:off x="1345813" y="2444967"/>
              <a:ext cx="1240344" cy="243278"/>
            </a:xfrm>
            <a:prstGeom prst="roundRect">
              <a:avLst>
                <a:gd name="adj" fmla="val 45679"/>
              </a:avLst>
            </a:pr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690C85C4-FFD7-A7B2-D16E-FA023A682DE7}"/>
                </a:ext>
              </a:extLst>
            </p:cNvPr>
            <p:cNvSpPr/>
            <p:nvPr/>
          </p:nvSpPr>
          <p:spPr>
            <a:xfrm>
              <a:off x="1208851" y="2469231"/>
              <a:ext cx="1514268" cy="1947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spc="-80">
                  <a:solidFill>
                    <a:srgbClr val="2D3142"/>
                  </a:solidFill>
                  <a:latin typeface="+mj-ea"/>
                  <a:ea typeface="+mj-ea"/>
                </a:rPr>
                <a:t>Prologue</a:t>
              </a:r>
              <a:endParaRPr lang="ko-KR" altLang="en-US" sz="1600" spc="-80">
                <a:solidFill>
                  <a:srgbClr val="2D3142"/>
                </a:solidFill>
                <a:latin typeface="+mj-ea"/>
                <a:ea typeface="+mj-ea"/>
              </a:endParaRPr>
            </a:p>
          </p:txBody>
        </p:sp>
      </p:grp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722D4B92-6F03-77FE-0394-A671FB00E8A4}"/>
              </a:ext>
            </a:extLst>
          </p:cNvPr>
          <p:cNvCxnSpPr>
            <a:cxnSpLocks/>
          </p:cNvCxnSpPr>
          <p:nvPr/>
        </p:nvCxnSpPr>
        <p:spPr>
          <a:xfrm>
            <a:off x="14418756" y="1314450"/>
            <a:ext cx="36195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ADD5ADDF-2003-ADB2-A3B0-B2DF0864F5B1}"/>
              </a:ext>
            </a:extLst>
          </p:cNvPr>
          <p:cNvGrpSpPr/>
          <p:nvPr/>
        </p:nvGrpSpPr>
        <p:grpSpPr>
          <a:xfrm>
            <a:off x="6429830" y="2957590"/>
            <a:ext cx="5470822" cy="1089027"/>
            <a:chOff x="6429830" y="2957590"/>
            <a:chExt cx="5470822" cy="1089027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4D4C4ED6-811B-36F9-8A70-C66683D0A49C}"/>
                </a:ext>
              </a:extLst>
            </p:cNvPr>
            <p:cNvSpPr/>
            <p:nvPr/>
          </p:nvSpPr>
          <p:spPr>
            <a:xfrm>
              <a:off x="6429830" y="2957590"/>
              <a:ext cx="5470822" cy="3111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>
                  <a:latin typeface="ONE 모바일고딕 Title" panose="00000500000000000000" pitchFamily="2" charset="-127"/>
                  <a:ea typeface="ONE 모바일고딕 Title" panose="00000500000000000000" pitchFamily="2" charset="-127"/>
                </a:rPr>
                <a:t>자동차가 달리는 모든 순간이 아름다운 추억이 되도록</a:t>
              </a:r>
              <a:endParaRPr lang="en-US" altLang="ko-KR">
                <a:latin typeface="ONE 모바일고딕 Title" panose="00000500000000000000" pitchFamily="2" charset="-127"/>
                <a:ea typeface="ONE 모바일고딕 Title" panose="00000500000000000000" pitchFamily="2" charset="-127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6D0A5F94-00D4-840C-62CA-57B95085DE5D}"/>
                </a:ext>
              </a:extLst>
            </p:cNvPr>
            <p:cNvSpPr/>
            <p:nvPr/>
          </p:nvSpPr>
          <p:spPr>
            <a:xfrm>
              <a:off x="6429830" y="3346528"/>
              <a:ext cx="5470822" cy="3111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>
                  <a:latin typeface="ONE 모바일고딕 Title" panose="00000500000000000000" pitchFamily="2" charset="-127"/>
                  <a:ea typeface="ONE 모바일고딕 Title" panose="00000500000000000000" pitchFamily="2" charset="-127"/>
                </a:rPr>
                <a:t>나와 우리가 함께하는 이 길이 안전할 수 있도록</a:t>
              </a:r>
              <a:endParaRPr lang="en-US" altLang="ko-KR">
                <a:latin typeface="ONE 모바일고딕 Title" panose="00000500000000000000" pitchFamily="2" charset="-127"/>
                <a:ea typeface="ONE 모바일고딕 Title" panose="00000500000000000000" pitchFamily="2" charset="-127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851C602E-2553-75BF-9C38-0F24944BCCC6}"/>
                </a:ext>
              </a:extLst>
            </p:cNvPr>
            <p:cNvSpPr/>
            <p:nvPr/>
          </p:nvSpPr>
          <p:spPr>
            <a:xfrm>
              <a:off x="6429830" y="3735467"/>
              <a:ext cx="5470822" cy="3111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>
                  <a:latin typeface="ONE 모바일고딕 Title" panose="00000500000000000000" pitchFamily="2" charset="-127"/>
                  <a:ea typeface="ONE 모바일고딕 Title" panose="00000500000000000000" pitchFamily="2" charset="-127"/>
                </a:rPr>
                <a:t>마음과 마음이 이어지는 조용한 약속</a:t>
              </a:r>
              <a:endParaRPr lang="en-US" altLang="ko-KR">
                <a:latin typeface="ONE 모바일고딕 Title" panose="00000500000000000000" pitchFamily="2" charset="-127"/>
                <a:ea typeface="ONE 모바일고딕 Title" panose="00000500000000000000" pitchFamily="2" charset="-127"/>
              </a:endParaRPr>
            </a:p>
          </p:txBody>
        </p:sp>
      </p:grp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BD5E6F11-AA82-48B3-51A9-DD34DED28258}"/>
              </a:ext>
            </a:extLst>
          </p:cNvPr>
          <p:cNvGrpSpPr/>
          <p:nvPr/>
        </p:nvGrpSpPr>
        <p:grpSpPr>
          <a:xfrm>
            <a:off x="6786129" y="4157343"/>
            <a:ext cx="4758224" cy="1034177"/>
            <a:chOff x="6429830" y="4331481"/>
            <a:chExt cx="4758224" cy="1034177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F7D0A8DA-64A4-6010-CB07-67D0EC36ED68}"/>
                </a:ext>
              </a:extLst>
            </p:cNvPr>
            <p:cNvSpPr/>
            <p:nvPr/>
          </p:nvSpPr>
          <p:spPr>
            <a:xfrm>
              <a:off x="7571274" y="4331481"/>
              <a:ext cx="3616780" cy="10341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4400">
                  <a:latin typeface="ONE 모바일고딕 Title" panose="00000500000000000000" pitchFamily="2" charset="-127"/>
                  <a:ea typeface="ONE 모바일고딕 Title" panose="00000500000000000000" pitchFamily="2" charset="-127"/>
                </a:rPr>
                <a:t>자동차 보험</a:t>
              </a:r>
              <a:endParaRPr lang="en-US" altLang="ko-KR" sz="4400">
                <a:latin typeface="ONE 모바일고딕 Title" panose="00000500000000000000" pitchFamily="2" charset="-127"/>
                <a:ea typeface="ONE 모바일고딕 Title" panose="00000500000000000000" pitchFamily="2" charset="-127"/>
              </a:endParaRPr>
            </a:p>
          </p:txBody>
        </p:sp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004A414A-FBA0-7A20-13BA-F89A242697D8}"/>
                </a:ext>
              </a:extLst>
            </p:cNvPr>
            <p:cNvCxnSpPr>
              <a:cxnSpLocks/>
            </p:cNvCxnSpPr>
            <p:nvPr/>
          </p:nvCxnSpPr>
          <p:spPr>
            <a:xfrm>
              <a:off x="6429830" y="5238749"/>
              <a:ext cx="4161970" cy="0"/>
            </a:xfrm>
            <a:prstGeom prst="line">
              <a:avLst/>
            </a:prstGeom>
            <a:ln w="698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9" name="그림 58">
              <a:extLst>
                <a:ext uri="{FF2B5EF4-FFF2-40B4-BE49-F238E27FC236}">
                  <a16:creationId xmlns:a16="http://schemas.microsoft.com/office/drawing/2014/main" id="{47CA9256-8C3A-0D25-ADB7-8C14934F334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100000" contras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67330" y="4451631"/>
              <a:ext cx="886870" cy="886870"/>
            </a:xfrm>
            <a:prstGeom prst="rect">
              <a:avLst/>
            </a:prstGeom>
          </p:spPr>
        </p:pic>
      </p:grpSp>
      <p:pic>
        <p:nvPicPr>
          <p:cNvPr id="63" name="그림 62">
            <a:extLst>
              <a:ext uri="{FF2B5EF4-FFF2-40B4-BE49-F238E27FC236}">
                <a16:creationId xmlns:a16="http://schemas.microsoft.com/office/drawing/2014/main" id="{BF1A783A-D016-06EF-3629-75A272FB5FE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 flipH="1" flipV="1">
            <a:off x="6164900" y="2872116"/>
            <a:ext cx="280464" cy="280464"/>
          </a:xfrm>
          <a:prstGeom prst="rect">
            <a:avLst/>
          </a:prstGeom>
        </p:spPr>
      </p:pic>
      <p:pic>
        <p:nvPicPr>
          <p:cNvPr id="5121" name="그림 5120">
            <a:extLst>
              <a:ext uri="{FF2B5EF4-FFF2-40B4-BE49-F238E27FC236}">
                <a16:creationId xmlns:a16="http://schemas.microsoft.com/office/drawing/2014/main" id="{A991E866-9564-F666-0A8B-ECCF67AA2C5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800000">
            <a:off x="10777657" y="4158728"/>
            <a:ext cx="280800" cy="28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5948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07A74049-A571-5BD9-6C62-73B0F564522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A4C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25" name="자유형: 도형 24">
            <a:extLst>
              <a:ext uri="{FF2B5EF4-FFF2-40B4-BE49-F238E27FC236}">
                <a16:creationId xmlns:a16="http://schemas.microsoft.com/office/drawing/2014/main" id="{EAE0788F-1AD5-F07A-F432-FB731B7ED8B2}"/>
              </a:ext>
            </a:extLst>
          </p:cNvPr>
          <p:cNvSpPr/>
          <p:nvPr/>
        </p:nvSpPr>
        <p:spPr>
          <a:xfrm>
            <a:off x="-1" y="1"/>
            <a:ext cx="6558401" cy="7083965"/>
          </a:xfrm>
          <a:custGeom>
            <a:avLst/>
            <a:gdLst>
              <a:gd name="connsiteX0" fmla="*/ 0 w 6349200"/>
              <a:gd name="connsiteY0" fmla="*/ 0 h 6857999"/>
              <a:gd name="connsiteX1" fmla="*/ 3496203 w 6349200"/>
              <a:gd name="connsiteY1" fmla="*/ 0 h 6857999"/>
              <a:gd name="connsiteX2" fmla="*/ 3661532 w 6349200"/>
              <a:gd name="connsiteY2" fmla="*/ 105990 h 6857999"/>
              <a:gd name="connsiteX3" fmla="*/ 6349200 w 6349200"/>
              <a:gd name="connsiteY3" fmla="*/ 5160889 h 6857999"/>
              <a:gd name="connsiteX4" fmla="*/ 6157282 w 6349200"/>
              <a:gd name="connsiteY4" fmla="*/ 6684375 h 6857999"/>
              <a:gd name="connsiteX5" fmla="*/ 6107978 w 6349200"/>
              <a:gd name="connsiteY5" fmla="*/ 6857999 h 6857999"/>
              <a:gd name="connsiteX6" fmla="*/ 0 w 6349200"/>
              <a:gd name="connsiteY6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49200" h="6857999">
                <a:moveTo>
                  <a:pt x="0" y="0"/>
                </a:moveTo>
                <a:lnTo>
                  <a:pt x="3496203" y="0"/>
                </a:lnTo>
                <a:lnTo>
                  <a:pt x="3661532" y="105990"/>
                </a:lnTo>
                <a:cubicBezTo>
                  <a:pt x="5283078" y="1201486"/>
                  <a:pt x="6349200" y="3056684"/>
                  <a:pt x="6349200" y="5160889"/>
                </a:cubicBezTo>
                <a:cubicBezTo>
                  <a:pt x="6349200" y="5686941"/>
                  <a:pt x="6282568" y="6197429"/>
                  <a:pt x="6157282" y="6684375"/>
                </a:cubicBezTo>
                <a:lnTo>
                  <a:pt x="6107978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18B12A02-C458-874D-7883-D2AF5DAB114D}"/>
              </a:ext>
            </a:extLst>
          </p:cNvPr>
          <p:cNvGrpSpPr/>
          <p:nvPr/>
        </p:nvGrpSpPr>
        <p:grpSpPr>
          <a:xfrm rot="5400000">
            <a:off x="1075638" y="2784017"/>
            <a:ext cx="4327510" cy="6068813"/>
            <a:chOff x="530863" y="2288086"/>
            <a:chExt cx="3134553" cy="4395834"/>
          </a:xfrm>
        </p:grpSpPr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D4B2E808-D75A-A494-D959-181D543402AB}"/>
                </a:ext>
              </a:extLst>
            </p:cNvPr>
            <p:cNvSpPr/>
            <p:nvPr/>
          </p:nvSpPr>
          <p:spPr>
            <a:xfrm>
              <a:off x="909569" y="3222326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ABA439E1-65E5-9BEF-E7BF-1BB9176FA75A}"/>
                </a:ext>
              </a:extLst>
            </p:cNvPr>
            <p:cNvSpPr/>
            <p:nvPr/>
          </p:nvSpPr>
          <p:spPr>
            <a:xfrm>
              <a:off x="2403380" y="5371021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solidFill>
                <a:srgbClr val="D3D3D3">
                  <a:alpha val="3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EC496A0D-CEB0-B55A-9FC6-B9844A0FC0FB}"/>
                </a:ext>
              </a:extLst>
            </p:cNvPr>
            <p:cNvSpPr/>
            <p:nvPr/>
          </p:nvSpPr>
          <p:spPr>
            <a:xfrm>
              <a:off x="3548300" y="4226375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solidFill>
                <a:srgbClr val="D3D3D3">
                  <a:alpha val="3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DEFB173F-7DCC-5D89-678B-0D49C4C354E3}"/>
                </a:ext>
              </a:extLst>
            </p:cNvPr>
            <p:cNvSpPr/>
            <p:nvPr/>
          </p:nvSpPr>
          <p:spPr>
            <a:xfrm>
              <a:off x="2014998" y="3049294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F9C73AF8-C41B-136E-53A9-6986D22867E0}"/>
                </a:ext>
              </a:extLst>
            </p:cNvPr>
            <p:cNvSpPr/>
            <p:nvPr/>
          </p:nvSpPr>
          <p:spPr>
            <a:xfrm>
              <a:off x="1515334" y="2803902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7FEE3C09-30BD-72B8-F369-DEFF56E4DEF3}"/>
                </a:ext>
              </a:extLst>
            </p:cNvPr>
            <p:cNvSpPr/>
            <p:nvPr/>
          </p:nvSpPr>
          <p:spPr>
            <a:xfrm>
              <a:off x="627361" y="2686786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812665CA-E547-EC3C-B484-CE3F9F47247D}"/>
                </a:ext>
              </a:extLst>
            </p:cNvPr>
            <p:cNvSpPr/>
            <p:nvPr/>
          </p:nvSpPr>
          <p:spPr>
            <a:xfrm>
              <a:off x="530863" y="3559834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5F3DFE88-1426-A365-A30D-672992EC63E7}"/>
                </a:ext>
              </a:extLst>
            </p:cNvPr>
            <p:cNvSpPr/>
            <p:nvPr/>
          </p:nvSpPr>
          <p:spPr>
            <a:xfrm>
              <a:off x="3132831" y="3569060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50EA318D-8D58-6D9E-EB8E-F4EDFC151F93}"/>
                </a:ext>
              </a:extLst>
            </p:cNvPr>
            <p:cNvSpPr/>
            <p:nvPr/>
          </p:nvSpPr>
          <p:spPr>
            <a:xfrm>
              <a:off x="1595279" y="3049294"/>
              <a:ext cx="74340" cy="74340"/>
            </a:xfrm>
            <a:prstGeom prst="ellipse">
              <a:avLst/>
            </a:prstGeom>
            <a:solidFill>
              <a:srgbClr val="2D3142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D5A6432D-9E88-474A-AE08-592F8BFECFFC}"/>
                </a:ext>
              </a:extLst>
            </p:cNvPr>
            <p:cNvSpPr/>
            <p:nvPr/>
          </p:nvSpPr>
          <p:spPr>
            <a:xfrm>
              <a:off x="2360287" y="2454653"/>
              <a:ext cx="232133" cy="232133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9F78B836-35B2-0421-83C2-36EE168BBC54}"/>
                </a:ext>
              </a:extLst>
            </p:cNvPr>
            <p:cNvSpPr/>
            <p:nvPr/>
          </p:nvSpPr>
          <p:spPr>
            <a:xfrm>
              <a:off x="1322562" y="3172262"/>
              <a:ext cx="336459" cy="336459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D30E29B5-E546-C1AE-46DF-04868B2D3955}"/>
                </a:ext>
              </a:extLst>
            </p:cNvPr>
            <p:cNvSpPr/>
            <p:nvPr/>
          </p:nvSpPr>
          <p:spPr>
            <a:xfrm>
              <a:off x="2243171" y="4090231"/>
              <a:ext cx="232133" cy="232133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36FB62AC-50B9-5C92-0AF4-181B4493442D}"/>
                </a:ext>
              </a:extLst>
            </p:cNvPr>
            <p:cNvSpPr/>
            <p:nvPr/>
          </p:nvSpPr>
          <p:spPr>
            <a:xfrm>
              <a:off x="872398" y="2288086"/>
              <a:ext cx="74340" cy="74340"/>
            </a:xfrm>
            <a:prstGeom prst="ellipse">
              <a:avLst/>
            </a:prstGeom>
            <a:solidFill>
              <a:srgbClr val="2D3142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타원 54">
              <a:extLst>
                <a:ext uri="{FF2B5EF4-FFF2-40B4-BE49-F238E27FC236}">
                  <a16:creationId xmlns:a16="http://schemas.microsoft.com/office/drawing/2014/main" id="{B76A5147-D4DF-9F5E-7143-E6AF03612300}"/>
                </a:ext>
              </a:extLst>
            </p:cNvPr>
            <p:cNvSpPr/>
            <p:nvPr/>
          </p:nvSpPr>
          <p:spPr>
            <a:xfrm>
              <a:off x="909311" y="4942434"/>
              <a:ext cx="74340" cy="74340"/>
            </a:xfrm>
            <a:prstGeom prst="ellipse">
              <a:avLst/>
            </a:prstGeom>
            <a:solidFill>
              <a:srgbClr val="2D3142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6" name="직선 화살표 연결선 55">
              <a:extLst>
                <a:ext uri="{FF2B5EF4-FFF2-40B4-BE49-F238E27FC236}">
                  <a16:creationId xmlns:a16="http://schemas.microsoft.com/office/drawing/2014/main" id="{2FEE7E43-C75C-1C37-89E0-40F86AF79464}"/>
                </a:ext>
              </a:extLst>
            </p:cNvPr>
            <p:cNvCxnSpPr>
              <a:cxnSpLocks/>
            </p:cNvCxnSpPr>
            <p:nvPr/>
          </p:nvCxnSpPr>
          <p:spPr>
            <a:xfrm>
              <a:off x="744477" y="2745344"/>
              <a:ext cx="770857" cy="106332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직선 화살표 연결선 56">
              <a:extLst>
                <a:ext uri="{FF2B5EF4-FFF2-40B4-BE49-F238E27FC236}">
                  <a16:creationId xmlns:a16="http://schemas.microsoft.com/office/drawing/2014/main" id="{207AFC21-A57B-D2B7-4DB3-34DD4C0D992A}"/>
                </a:ext>
              </a:extLst>
            </p:cNvPr>
            <p:cNvCxnSpPr>
              <a:cxnSpLocks/>
              <a:endCxn id="50" idx="1"/>
            </p:cNvCxnSpPr>
            <p:nvPr/>
          </p:nvCxnSpPr>
          <p:spPr>
            <a:xfrm>
              <a:off x="931748" y="2341742"/>
              <a:ext cx="674417" cy="718439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직선 화살표 연결선 57">
              <a:extLst>
                <a:ext uri="{FF2B5EF4-FFF2-40B4-BE49-F238E27FC236}">
                  <a16:creationId xmlns:a16="http://schemas.microsoft.com/office/drawing/2014/main" id="{BD8A2315-33BD-F3D9-BD7E-62FD88A25E3D}"/>
                </a:ext>
              </a:extLst>
            </p:cNvPr>
            <p:cNvCxnSpPr>
              <a:cxnSpLocks/>
              <a:stCxn id="42" idx="5"/>
              <a:endCxn id="43" idx="1"/>
            </p:cNvCxnSpPr>
            <p:nvPr/>
          </p:nvCxnSpPr>
          <p:spPr>
            <a:xfrm>
              <a:off x="1009534" y="3322291"/>
              <a:ext cx="1410997" cy="2065881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직선 화살표 연결선 58">
              <a:extLst>
                <a:ext uri="{FF2B5EF4-FFF2-40B4-BE49-F238E27FC236}">
                  <a16:creationId xmlns:a16="http://schemas.microsoft.com/office/drawing/2014/main" id="{7DC35DCF-1DD3-1F6D-DA81-8683BD35334C}"/>
                </a:ext>
              </a:extLst>
            </p:cNvPr>
            <p:cNvCxnSpPr>
              <a:cxnSpLocks/>
              <a:stCxn id="48" idx="7"/>
              <a:endCxn id="52" idx="2"/>
            </p:cNvCxnSpPr>
            <p:nvPr/>
          </p:nvCxnSpPr>
          <p:spPr>
            <a:xfrm flipV="1">
              <a:off x="630828" y="3340493"/>
              <a:ext cx="691734" cy="236493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직선 화살표 연결선 59">
              <a:extLst>
                <a:ext uri="{FF2B5EF4-FFF2-40B4-BE49-F238E27FC236}">
                  <a16:creationId xmlns:a16="http://schemas.microsoft.com/office/drawing/2014/main" id="{E541D6F5-0EDE-FB0D-0D3A-8769538E5DC5}"/>
                </a:ext>
              </a:extLst>
            </p:cNvPr>
            <p:cNvCxnSpPr>
              <a:cxnSpLocks/>
              <a:stCxn id="42" idx="4"/>
              <a:endCxn id="62" idx="1"/>
            </p:cNvCxnSpPr>
            <p:nvPr/>
          </p:nvCxnSpPr>
          <p:spPr>
            <a:xfrm>
              <a:off x="968128" y="3339442"/>
              <a:ext cx="1408262" cy="3244513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타원 61">
              <a:extLst>
                <a:ext uri="{FF2B5EF4-FFF2-40B4-BE49-F238E27FC236}">
                  <a16:creationId xmlns:a16="http://schemas.microsoft.com/office/drawing/2014/main" id="{EEC735F6-B1F0-3143-93E0-48DBDC129AF5}"/>
                </a:ext>
              </a:extLst>
            </p:cNvPr>
            <p:cNvSpPr/>
            <p:nvPr/>
          </p:nvSpPr>
          <p:spPr>
            <a:xfrm>
              <a:off x="2359239" y="6566804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solidFill>
                <a:srgbClr val="D3D3D3">
                  <a:alpha val="3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3" name="직선 화살표 연결선 62">
              <a:extLst>
                <a:ext uri="{FF2B5EF4-FFF2-40B4-BE49-F238E27FC236}">
                  <a16:creationId xmlns:a16="http://schemas.microsoft.com/office/drawing/2014/main" id="{A7F76453-B268-679A-DA6A-3A9ED477865B}"/>
                </a:ext>
              </a:extLst>
            </p:cNvPr>
            <p:cNvCxnSpPr>
              <a:cxnSpLocks/>
              <a:stCxn id="48" idx="6"/>
              <a:endCxn id="49" idx="2"/>
            </p:cNvCxnSpPr>
            <p:nvPr/>
          </p:nvCxnSpPr>
          <p:spPr>
            <a:xfrm>
              <a:off x="647979" y="3618392"/>
              <a:ext cx="2484851" cy="9226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직선 화살표 연결선 64">
              <a:extLst>
                <a:ext uri="{FF2B5EF4-FFF2-40B4-BE49-F238E27FC236}">
                  <a16:creationId xmlns:a16="http://schemas.microsoft.com/office/drawing/2014/main" id="{2E6921FD-3D14-D34D-F7C3-A6B4D4DBE77D}"/>
                </a:ext>
              </a:extLst>
            </p:cNvPr>
            <p:cNvCxnSpPr>
              <a:cxnSpLocks/>
              <a:stCxn id="52" idx="7"/>
              <a:endCxn id="45" idx="3"/>
            </p:cNvCxnSpPr>
            <p:nvPr/>
          </p:nvCxnSpPr>
          <p:spPr>
            <a:xfrm flipV="1">
              <a:off x="1609748" y="3149259"/>
              <a:ext cx="422401" cy="72277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타원 67">
              <a:extLst>
                <a:ext uri="{FF2B5EF4-FFF2-40B4-BE49-F238E27FC236}">
                  <a16:creationId xmlns:a16="http://schemas.microsoft.com/office/drawing/2014/main" id="{86E789F9-9BDD-AD50-72EA-65FAECED3FEB}"/>
                </a:ext>
              </a:extLst>
            </p:cNvPr>
            <p:cNvSpPr/>
            <p:nvPr/>
          </p:nvSpPr>
          <p:spPr>
            <a:xfrm>
              <a:off x="1026686" y="3839096"/>
              <a:ext cx="166591" cy="166591"/>
            </a:xfrm>
            <a:prstGeom prst="ellipse">
              <a:avLst/>
            </a:prstGeom>
            <a:solidFill>
              <a:srgbClr val="2D3142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70" name="직선 화살표 연결선 69">
              <a:extLst>
                <a:ext uri="{FF2B5EF4-FFF2-40B4-BE49-F238E27FC236}">
                  <a16:creationId xmlns:a16="http://schemas.microsoft.com/office/drawing/2014/main" id="{546707DD-E63D-21F2-6B36-F1972313E0BF}"/>
                </a:ext>
              </a:extLst>
            </p:cNvPr>
            <p:cNvCxnSpPr>
              <a:cxnSpLocks/>
              <a:stCxn id="42" idx="7"/>
              <a:endCxn id="51" idx="3"/>
            </p:cNvCxnSpPr>
            <p:nvPr/>
          </p:nvCxnSpPr>
          <p:spPr>
            <a:xfrm flipV="1">
              <a:off x="1009534" y="2652791"/>
              <a:ext cx="1384749" cy="586687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직선 화살표 연결선 70">
              <a:extLst>
                <a:ext uri="{FF2B5EF4-FFF2-40B4-BE49-F238E27FC236}">
                  <a16:creationId xmlns:a16="http://schemas.microsoft.com/office/drawing/2014/main" id="{94EDE145-1395-43A3-22DF-8A3C92092ADD}"/>
                </a:ext>
              </a:extLst>
            </p:cNvPr>
            <p:cNvCxnSpPr>
              <a:cxnSpLocks/>
              <a:stCxn id="54" idx="3"/>
              <a:endCxn id="47" idx="0"/>
            </p:cNvCxnSpPr>
            <p:nvPr/>
          </p:nvCxnSpPr>
          <p:spPr>
            <a:xfrm flipH="1">
              <a:off x="685919" y="2351540"/>
              <a:ext cx="197365" cy="335246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직선 화살표 연결선 71">
              <a:extLst>
                <a:ext uri="{FF2B5EF4-FFF2-40B4-BE49-F238E27FC236}">
                  <a16:creationId xmlns:a16="http://schemas.microsoft.com/office/drawing/2014/main" id="{EAE14C52-F0EC-C67C-5296-CAD384760642}"/>
                </a:ext>
              </a:extLst>
            </p:cNvPr>
            <p:cNvCxnSpPr>
              <a:cxnSpLocks/>
              <a:stCxn id="53" idx="0"/>
              <a:endCxn id="51" idx="3"/>
            </p:cNvCxnSpPr>
            <p:nvPr/>
          </p:nvCxnSpPr>
          <p:spPr>
            <a:xfrm flipV="1">
              <a:off x="2359239" y="2652791"/>
              <a:ext cx="35044" cy="1437440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직선 화살표 연결선 72">
              <a:extLst>
                <a:ext uri="{FF2B5EF4-FFF2-40B4-BE49-F238E27FC236}">
                  <a16:creationId xmlns:a16="http://schemas.microsoft.com/office/drawing/2014/main" id="{9446A184-928C-6E6B-81D2-C96D72FC0BCD}"/>
                </a:ext>
              </a:extLst>
            </p:cNvPr>
            <p:cNvCxnSpPr>
              <a:cxnSpLocks/>
              <a:stCxn id="53" idx="0"/>
              <a:endCxn id="45" idx="4"/>
            </p:cNvCxnSpPr>
            <p:nvPr/>
          </p:nvCxnSpPr>
          <p:spPr>
            <a:xfrm flipH="1" flipV="1">
              <a:off x="2073556" y="3166410"/>
              <a:ext cx="285683" cy="923820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직선 화살표 연결선 73">
              <a:extLst>
                <a:ext uri="{FF2B5EF4-FFF2-40B4-BE49-F238E27FC236}">
                  <a16:creationId xmlns:a16="http://schemas.microsoft.com/office/drawing/2014/main" id="{4DE48385-953B-0E73-644D-14B45FF14AAA}"/>
                </a:ext>
              </a:extLst>
            </p:cNvPr>
            <p:cNvCxnSpPr>
              <a:cxnSpLocks/>
              <a:stCxn id="49" idx="1"/>
              <a:endCxn id="51" idx="4"/>
            </p:cNvCxnSpPr>
            <p:nvPr/>
          </p:nvCxnSpPr>
          <p:spPr>
            <a:xfrm flipH="1" flipV="1">
              <a:off x="2476355" y="2686786"/>
              <a:ext cx="673627" cy="899425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직선 화살표 연결선 74">
              <a:extLst>
                <a:ext uri="{FF2B5EF4-FFF2-40B4-BE49-F238E27FC236}">
                  <a16:creationId xmlns:a16="http://schemas.microsoft.com/office/drawing/2014/main" id="{17534C8B-E9EB-73F7-7311-2161B10BCD69}"/>
                </a:ext>
              </a:extLst>
            </p:cNvPr>
            <p:cNvCxnSpPr>
              <a:cxnSpLocks/>
              <a:stCxn id="68" idx="6"/>
              <a:endCxn id="49" idx="2"/>
            </p:cNvCxnSpPr>
            <p:nvPr/>
          </p:nvCxnSpPr>
          <p:spPr>
            <a:xfrm flipV="1">
              <a:off x="1193277" y="3627618"/>
              <a:ext cx="1939554" cy="294774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직선 화살표 연결선 75">
              <a:extLst>
                <a:ext uri="{FF2B5EF4-FFF2-40B4-BE49-F238E27FC236}">
                  <a16:creationId xmlns:a16="http://schemas.microsoft.com/office/drawing/2014/main" id="{560052B0-05C8-6284-138C-4B43F4242A3F}"/>
                </a:ext>
              </a:extLst>
            </p:cNvPr>
            <p:cNvCxnSpPr>
              <a:cxnSpLocks/>
              <a:stCxn id="53" idx="1"/>
              <a:endCxn id="68" idx="6"/>
            </p:cNvCxnSpPr>
            <p:nvPr/>
          </p:nvCxnSpPr>
          <p:spPr>
            <a:xfrm flipH="1" flipV="1">
              <a:off x="1193277" y="3922392"/>
              <a:ext cx="1083890" cy="201834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직선 화살표 연결선 76">
              <a:extLst>
                <a:ext uri="{FF2B5EF4-FFF2-40B4-BE49-F238E27FC236}">
                  <a16:creationId xmlns:a16="http://schemas.microsoft.com/office/drawing/2014/main" id="{0E2398E2-734B-F872-08AE-5A3A9D6A9081}"/>
                </a:ext>
              </a:extLst>
            </p:cNvPr>
            <p:cNvCxnSpPr>
              <a:cxnSpLocks/>
              <a:stCxn id="55" idx="5"/>
              <a:endCxn id="43" idx="3"/>
            </p:cNvCxnSpPr>
            <p:nvPr/>
          </p:nvCxnSpPr>
          <p:spPr>
            <a:xfrm>
              <a:off x="972765" y="5005888"/>
              <a:ext cx="1447767" cy="465097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직선 화살표 연결선 77">
              <a:extLst>
                <a:ext uri="{FF2B5EF4-FFF2-40B4-BE49-F238E27FC236}">
                  <a16:creationId xmlns:a16="http://schemas.microsoft.com/office/drawing/2014/main" id="{4A600929-92D8-B948-5129-4CE864BDE4C8}"/>
                </a:ext>
              </a:extLst>
            </p:cNvPr>
            <p:cNvCxnSpPr>
              <a:cxnSpLocks/>
              <a:stCxn id="55" idx="6"/>
              <a:endCxn id="44" idx="2"/>
            </p:cNvCxnSpPr>
            <p:nvPr/>
          </p:nvCxnSpPr>
          <p:spPr>
            <a:xfrm flipV="1">
              <a:off x="983651" y="4284933"/>
              <a:ext cx="2564649" cy="694673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직선 화살표 연결선 78">
              <a:extLst>
                <a:ext uri="{FF2B5EF4-FFF2-40B4-BE49-F238E27FC236}">
                  <a16:creationId xmlns:a16="http://schemas.microsoft.com/office/drawing/2014/main" id="{02372AAE-7098-0644-62FF-4D25CE45CCC4}"/>
                </a:ext>
              </a:extLst>
            </p:cNvPr>
            <p:cNvCxnSpPr>
              <a:cxnSpLocks/>
              <a:stCxn id="44" idx="4"/>
              <a:endCxn id="62" idx="1"/>
            </p:cNvCxnSpPr>
            <p:nvPr/>
          </p:nvCxnSpPr>
          <p:spPr>
            <a:xfrm flipH="1">
              <a:off x="2376390" y="4343491"/>
              <a:ext cx="1230468" cy="2240464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F0EE5A3A-786A-EF3F-C8DB-5E0AE48F641C}"/>
              </a:ext>
            </a:extLst>
          </p:cNvPr>
          <p:cNvGrpSpPr/>
          <p:nvPr/>
        </p:nvGrpSpPr>
        <p:grpSpPr>
          <a:xfrm>
            <a:off x="1055688" y="2659667"/>
            <a:ext cx="3628231" cy="348783"/>
            <a:chOff x="1055688" y="2659667"/>
            <a:chExt cx="3628231" cy="348783"/>
          </a:xfrm>
        </p:grpSpPr>
        <p:cxnSp>
          <p:nvCxnSpPr>
            <p:cNvPr id="61" name="직선 연결선 60">
              <a:extLst>
                <a:ext uri="{FF2B5EF4-FFF2-40B4-BE49-F238E27FC236}">
                  <a16:creationId xmlns:a16="http://schemas.microsoft.com/office/drawing/2014/main" id="{87524185-35A1-9314-C7B8-1ABE2899F04C}"/>
                </a:ext>
              </a:extLst>
            </p:cNvPr>
            <p:cNvCxnSpPr>
              <a:cxnSpLocks/>
            </p:cNvCxnSpPr>
            <p:nvPr/>
          </p:nvCxnSpPr>
          <p:spPr>
            <a:xfrm>
              <a:off x="1055688" y="3008450"/>
              <a:ext cx="3628231" cy="0"/>
            </a:xfrm>
            <a:prstGeom prst="line">
              <a:avLst/>
            </a:prstGeom>
            <a:ln w="60325">
              <a:gradFill flip="none" rotWithShape="1">
                <a:gsLst>
                  <a:gs pos="0">
                    <a:srgbClr val="6A4C93"/>
                  </a:gs>
                  <a:gs pos="100000">
                    <a:srgbClr val="B00020"/>
                  </a:gs>
                </a:gsLst>
                <a:lin ang="108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사각형: 둥근 위쪽 모서리 63">
              <a:extLst>
                <a:ext uri="{FF2B5EF4-FFF2-40B4-BE49-F238E27FC236}">
                  <a16:creationId xmlns:a16="http://schemas.microsoft.com/office/drawing/2014/main" id="{F6D55285-3456-51B9-4B61-1D49495EBDD8}"/>
                </a:ext>
              </a:extLst>
            </p:cNvPr>
            <p:cNvSpPr/>
            <p:nvPr/>
          </p:nvSpPr>
          <p:spPr>
            <a:xfrm>
              <a:off x="3770658" y="2659667"/>
              <a:ext cx="365710" cy="320207"/>
            </a:xfrm>
            <a:prstGeom prst="round2SameRect">
              <a:avLst>
                <a:gd name="adj1" fmla="val 49834"/>
                <a:gd name="adj2" fmla="val 0"/>
              </a:avLst>
            </a:prstGeom>
            <a:gradFill flip="none" rotWithShape="1">
              <a:gsLst>
                <a:gs pos="0">
                  <a:srgbClr val="7A4A91"/>
                </a:gs>
                <a:gs pos="100000">
                  <a:srgbClr val="6A4C93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220EE2D0-6B80-DA45-7851-B6C4B8231F5F}"/>
              </a:ext>
            </a:extLst>
          </p:cNvPr>
          <p:cNvSpPr/>
          <p:nvPr/>
        </p:nvSpPr>
        <p:spPr>
          <a:xfrm>
            <a:off x="2836191" y="2644691"/>
            <a:ext cx="2780795" cy="372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 spc="-80">
                <a:solidFill>
                  <a:srgbClr val="6A4C93"/>
                </a:solidFill>
                <a:latin typeface="프리젠테이션 5 Medium" pitchFamily="2" charset="-127"/>
                <a:ea typeface="프리젠테이션 5 Medium" pitchFamily="2" charset="-127"/>
              </a:rPr>
              <a:t>Chapter   </a:t>
            </a:r>
            <a:r>
              <a:rPr lang="en-US" altLang="ko-KR" sz="20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01</a:t>
            </a:r>
            <a:endParaRPr lang="ko-KR" altLang="en-US" sz="2000" spc="-8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140D25F-D924-73FC-4275-F1E489ABDF99}"/>
              </a:ext>
            </a:extLst>
          </p:cNvPr>
          <p:cNvSpPr/>
          <p:nvPr/>
        </p:nvSpPr>
        <p:spPr>
          <a:xfrm>
            <a:off x="1060216" y="3745249"/>
            <a:ext cx="3248294" cy="372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Project Overview</a:t>
            </a:r>
            <a:endParaRPr lang="ko-KR" altLang="en-US" sz="2400" spc="-80">
              <a:solidFill>
                <a:srgbClr val="2D3142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8413B35-9AAE-2D1B-0490-219567273FA6}"/>
              </a:ext>
            </a:extLst>
          </p:cNvPr>
          <p:cNvSpPr/>
          <p:nvPr/>
        </p:nvSpPr>
        <p:spPr>
          <a:xfrm>
            <a:off x="1306778" y="4271251"/>
            <a:ext cx="2988997" cy="19673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01. </a:t>
            </a:r>
            <a:r>
              <a:rPr lang="ko-KR" altLang="en-US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주제 선정 및 배경</a:t>
            </a:r>
            <a:endParaRPr lang="en-US" altLang="ko-KR" sz="16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02. </a:t>
            </a:r>
            <a:r>
              <a:rPr lang="ko-KR" altLang="en-US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데이터 수집 </a:t>
            </a:r>
            <a:endParaRPr lang="en-US" altLang="ko-KR" sz="16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03. </a:t>
            </a:r>
            <a:r>
              <a:rPr lang="ko-KR" altLang="en-US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업무분장</a:t>
            </a:r>
            <a:endParaRPr lang="en-US" altLang="ko-KR" sz="16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04. </a:t>
            </a:r>
            <a:r>
              <a:rPr lang="ko-KR" altLang="en-US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추진일정표</a:t>
            </a:r>
            <a:endParaRPr lang="en-US" altLang="ko-KR" sz="16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05. </a:t>
            </a:r>
            <a:r>
              <a:rPr lang="ko-KR" altLang="en-US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개발환경</a:t>
            </a:r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endParaRPr lang="ko-KR" altLang="en-US" sz="16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2BC2B20C-9E4C-7F07-2629-19F710DD8616}"/>
              </a:ext>
            </a:extLst>
          </p:cNvPr>
          <p:cNvSpPr/>
          <p:nvPr/>
        </p:nvSpPr>
        <p:spPr>
          <a:xfrm>
            <a:off x="1060216" y="3186167"/>
            <a:ext cx="3248294" cy="6089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600" spc="-80">
                <a:solidFill>
                  <a:srgbClr val="B00020"/>
                </a:solidFill>
                <a:latin typeface="프리젠테이션 8 ExtraBold" pitchFamily="2" charset="-127"/>
                <a:ea typeface="프리젠테이션 8 ExtraBold" pitchFamily="2" charset="-127"/>
              </a:rPr>
              <a:t>프로젝트 소개</a:t>
            </a:r>
          </a:p>
        </p:txBody>
      </p:sp>
      <p:pic>
        <p:nvPicPr>
          <p:cNvPr id="80" name="그림 79">
            <a:extLst>
              <a:ext uri="{FF2B5EF4-FFF2-40B4-BE49-F238E27FC236}">
                <a16:creationId xmlns:a16="http://schemas.microsoft.com/office/drawing/2014/main" id="{0056AD3B-EE54-286F-5E39-84F82C9BE7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43" t="47517" r="42044" b="22856"/>
          <a:stretch>
            <a:fillRect/>
          </a:stretch>
        </p:blipFill>
        <p:spPr>
          <a:xfrm>
            <a:off x="3373963" y="2129533"/>
            <a:ext cx="1472031" cy="968671"/>
          </a:xfrm>
          <a:prstGeom prst="rect">
            <a:avLst/>
          </a:prstGeom>
        </p:spPr>
      </p:pic>
      <p:sp>
        <p:nvSpPr>
          <p:cNvPr id="83" name="직사각형 82">
            <a:extLst>
              <a:ext uri="{FF2B5EF4-FFF2-40B4-BE49-F238E27FC236}">
                <a16:creationId xmlns:a16="http://schemas.microsoft.com/office/drawing/2014/main" id="{EB9E5E9D-A780-21F4-403C-208A64875E8E}"/>
              </a:ext>
            </a:extLst>
          </p:cNvPr>
          <p:cNvSpPr/>
          <p:nvPr/>
        </p:nvSpPr>
        <p:spPr>
          <a:xfrm>
            <a:off x="1055687" y="2644691"/>
            <a:ext cx="1780503" cy="372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[</a:t>
            </a:r>
            <a:r>
              <a:rPr lang="ko-KR" altLang="en-US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어플 이름</a:t>
            </a:r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]</a:t>
            </a:r>
            <a:endParaRPr lang="ko-KR" altLang="en-US" sz="16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422909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36F0B-0839-7411-C5D4-6C4C6D408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3" descr="카드고릴라 : 신용카드로 보험료 내는 꿀팁 – 자동차보험">
            <a:extLst>
              <a:ext uri="{FF2B5EF4-FFF2-40B4-BE49-F238E27FC236}">
                <a16:creationId xmlns:a16="http://schemas.microsoft.com/office/drawing/2014/main" id="{163CE6F8-482E-010E-D248-0CDB73306B4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750"/>
          <a:stretch>
            <a:fillRect/>
          </a:stretch>
        </p:blipFill>
        <p:spPr bwMode="auto">
          <a:xfrm>
            <a:off x="-1" y="879365"/>
            <a:ext cx="12191999" cy="5969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82AFF924-6725-314E-0C54-4FE2E06840C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25688">
                <a:schemeClr val="tx1"/>
              </a:gs>
              <a:gs pos="41000">
                <a:schemeClr val="tx1"/>
              </a:gs>
              <a:gs pos="100000">
                <a:schemeClr val="tx1">
                  <a:alpha val="47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25" name="자유형: 도형 24">
            <a:extLst>
              <a:ext uri="{FF2B5EF4-FFF2-40B4-BE49-F238E27FC236}">
                <a16:creationId xmlns:a16="http://schemas.microsoft.com/office/drawing/2014/main" id="{960D86C4-04A7-99EE-D99D-7E7FA5EF9449}"/>
              </a:ext>
            </a:extLst>
          </p:cNvPr>
          <p:cNvSpPr/>
          <p:nvPr/>
        </p:nvSpPr>
        <p:spPr>
          <a:xfrm>
            <a:off x="746124" y="362084"/>
            <a:ext cx="590282" cy="587176"/>
          </a:xfrm>
          <a:custGeom>
            <a:avLst/>
            <a:gdLst>
              <a:gd name="connsiteX0" fmla="*/ 317456 w 590282"/>
              <a:gd name="connsiteY0" fmla="*/ 0 h 587176"/>
              <a:gd name="connsiteX1" fmla="*/ 386647 w 590282"/>
              <a:gd name="connsiteY1" fmla="*/ 13969 h 587176"/>
              <a:gd name="connsiteX2" fmla="*/ 410713 w 590282"/>
              <a:gd name="connsiteY2" fmla="*/ 30195 h 587176"/>
              <a:gd name="connsiteX3" fmla="*/ 424702 w 590282"/>
              <a:gd name="connsiteY3" fmla="*/ 33019 h 587176"/>
              <a:gd name="connsiteX4" fmla="*/ 502909 w 590282"/>
              <a:gd name="connsiteY4" fmla="*/ 97421 h 587176"/>
              <a:gd name="connsiteX5" fmla="*/ 516852 w 590282"/>
              <a:gd name="connsiteY5" fmla="*/ 126425 h 587176"/>
              <a:gd name="connsiteX6" fmla="*/ 538219 w 590282"/>
              <a:gd name="connsiteY6" fmla="*/ 140831 h 587176"/>
              <a:gd name="connsiteX7" fmla="*/ 590282 w 590282"/>
              <a:gd name="connsiteY7" fmla="*/ 266523 h 587176"/>
              <a:gd name="connsiteX8" fmla="*/ 581721 w 590282"/>
              <a:gd name="connsiteY8" fmla="*/ 308929 h 587176"/>
              <a:gd name="connsiteX9" fmla="*/ 587243 w 590282"/>
              <a:gd name="connsiteY9" fmla="*/ 336283 h 587176"/>
              <a:gd name="connsiteX10" fmla="*/ 573274 w 590282"/>
              <a:gd name="connsiteY10" fmla="*/ 405474 h 587176"/>
              <a:gd name="connsiteX11" fmla="*/ 573035 w 590282"/>
              <a:gd name="connsiteY11" fmla="*/ 405829 h 587176"/>
              <a:gd name="connsiteX12" fmla="*/ 569771 w 590282"/>
              <a:gd name="connsiteY12" fmla="*/ 427420 h 587176"/>
              <a:gd name="connsiteX13" fmla="*/ 469197 w 590282"/>
              <a:gd name="connsiteY13" fmla="*/ 538348 h 587176"/>
              <a:gd name="connsiteX14" fmla="*/ 454557 w 590282"/>
              <a:gd name="connsiteY14" fmla="*/ 541304 h 587176"/>
              <a:gd name="connsiteX15" fmla="*/ 412047 w 590282"/>
              <a:gd name="connsiteY15" fmla="*/ 569965 h 587176"/>
              <a:gd name="connsiteX16" fmla="*/ 342856 w 590282"/>
              <a:gd name="connsiteY16" fmla="*/ 583934 h 587176"/>
              <a:gd name="connsiteX17" fmla="*/ 322378 w 590282"/>
              <a:gd name="connsiteY17" fmla="*/ 579800 h 587176"/>
              <a:gd name="connsiteX18" fmla="*/ 285841 w 590282"/>
              <a:gd name="connsiteY18" fmla="*/ 587176 h 587176"/>
              <a:gd name="connsiteX19" fmla="*/ 216650 w 590282"/>
              <a:gd name="connsiteY19" fmla="*/ 573207 h 587176"/>
              <a:gd name="connsiteX20" fmla="*/ 205115 w 590282"/>
              <a:gd name="connsiteY20" fmla="*/ 565430 h 587176"/>
              <a:gd name="connsiteX21" fmla="*/ 191528 w 590282"/>
              <a:gd name="connsiteY21" fmla="*/ 563376 h 587176"/>
              <a:gd name="connsiteX22" fmla="*/ 80600 w 590282"/>
              <a:gd name="connsiteY22" fmla="*/ 462802 h 587176"/>
              <a:gd name="connsiteX23" fmla="*/ 80462 w 590282"/>
              <a:gd name="connsiteY23" fmla="*/ 462117 h 587176"/>
              <a:gd name="connsiteX24" fmla="*/ 52064 w 590282"/>
              <a:gd name="connsiteY24" fmla="*/ 442971 h 587176"/>
              <a:gd name="connsiteX25" fmla="*/ 0 w 590282"/>
              <a:gd name="connsiteY25" fmla="*/ 317278 h 587176"/>
              <a:gd name="connsiteX26" fmla="*/ 13969 w 590282"/>
              <a:gd name="connsiteY26" fmla="*/ 248087 h 587176"/>
              <a:gd name="connsiteX27" fmla="*/ 23115 w 590282"/>
              <a:gd name="connsiteY27" fmla="*/ 234522 h 587176"/>
              <a:gd name="connsiteX28" fmla="*/ 26715 w 590282"/>
              <a:gd name="connsiteY28" fmla="*/ 216691 h 587176"/>
              <a:gd name="connsiteX29" fmla="*/ 53337 w 590282"/>
              <a:gd name="connsiteY29" fmla="*/ 172813 h 587176"/>
              <a:gd name="connsiteX30" fmla="*/ 68649 w 590282"/>
              <a:gd name="connsiteY30" fmla="*/ 158899 h 587176"/>
              <a:gd name="connsiteX31" fmla="*/ 71119 w 590282"/>
              <a:gd name="connsiteY31" fmla="*/ 146665 h 587176"/>
              <a:gd name="connsiteX32" fmla="*/ 182047 w 590282"/>
              <a:gd name="connsiteY32" fmla="*/ 46092 h 587176"/>
              <a:gd name="connsiteX33" fmla="*/ 205990 w 590282"/>
              <a:gd name="connsiteY33" fmla="*/ 42472 h 587176"/>
              <a:gd name="connsiteX34" fmla="*/ 248265 w 590282"/>
              <a:gd name="connsiteY34" fmla="*/ 13969 h 587176"/>
              <a:gd name="connsiteX35" fmla="*/ 317456 w 590282"/>
              <a:gd name="connsiteY35" fmla="*/ 0 h 587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90282" h="587176">
                <a:moveTo>
                  <a:pt x="317456" y="0"/>
                </a:moveTo>
                <a:cubicBezTo>
                  <a:pt x="341999" y="0"/>
                  <a:pt x="365380" y="4974"/>
                  <a:pt x="386647" y="13969"/>
                </a:cubicBezTo>
                <a:lnTo>
                  <a:pt x="410713" y="30195"/>
                </a:lnTo>
                <a:lnTo>
                  <a:pt x="424702" y="33019"/>
                </a:lnTo>
                <a:cubicBezTo>
                  <a:pt x="456601" y="46511"/>
                  <a:pt x="483743" y="69051"/>
                  <a:pt x="502909" y="97421"/>
                </a:cubicBezTo>
                <a:lnTo>
                  <a:pt x="516852" y="126425"/>
                </a:lnTo>
                <a:lnTo>
                  <a:pt x="538219" y="140831"/>
                </a:lnTo>
                <a:cubicBezTo>
                  <a:pt x="570386" y="172998"/>
                  <a:pt x="590282" y="217437"/>
                  <a:pt x="590282" y="266523"/>
                </a:cubicBezTo>
                <a:lnTo>
                  <a:pt x="581721" y="308929"/>
                </a:lnTo>
                <a:lnTo>
                  <a:pt x="587243" y="336283"/>
                </a:lnTo>
                <a:cubicBezTo>
                  <a:pt x="587243" y="360826"/>
                  <a:pt x="582269" y="384207"/>
                  <a:pt x="573274" y="405474"/>
                </a:cubicBezTo>
                <a:lnTo>
                  <a:pt x="573035" y="405829"/>
                </a:lnTo>
                <a:lnTo>
                  <a:pt x="569771" y="427420"/>
                </a:lnTo>
                <a:cubicBezTo>
                  <a:pt x="554189" y="477515"/>
                  <a:pt x="517046" y="518110"/>
                  <a:pt x="469197" y="538348"/>
                </a:cubicBezTo>
                <a:lnTo>
                  <a:pt x="454557" y="541304"/>
                </a:lnTo>
                <a:lnTo>
                  <a:pt x="412047" y="569965"/>
                </a:lnTo>
                <a:cubicBezTo>
                  <a:pt x="390780" y="578960"/>
                  <a:pt x="367399" y="583934"/>
                  <a:pt x="342856" y="583934"/>
                </a:cubicBezTo>
                <a:lnTo>
                  <a:pt x="322378" y="579800"/>
                </a:lnTo>
                <a:lnTo>
                  <a:pt x="285841" y="587176"/>
                </a:lnTo>
                <a:cubicBezTo>
                  <a:pt x="261298" y="587176"/>
                  <a:pt x="237917" y="582202"/>
                  <a:pt x="216650" y="573207"/>
                </a:cubicBezTo>
                <a:lnTo>
                  <a:pt x="205115" y="565430"/>
                </a:lnTo>
                <a:lnTo>
                  <a:pt x="191528" y="563376"/>
                </a:lnTo>
                <a:cubicBezTo>
                  <a:pt x="141433" y="547794"/>
                  <a:pt x="100839" y="510651"/>
                  <a:pt x="80600" y="462802"/>
                </a:cubicBezTo>
                <a:lnTo>
                  <a:pt x="80462" y="462117"/>
                </a:lnTo>
                <a:lnTo>
                  <a:pt x="52064" y="442971"/>
                </a:lnTo>
                <a:cubicBezTo>
                  <a:pt x="19896" y="410803"/>
                  <a:pt x="0" y="366364"/>
                  <a:pt x="0" y="317278"/>
                </a:cubicBezTo>
                <a:cubicBezTo>
                  <a:pt x="0" y="292735"/>
                  <a:pt x="4974" y="269354"/>
                  <a:pt x="13969" y="248087"/>
                </a:cubicBezTo>
                <a:lnTo>
                  <a:pt x="23115" y="234522"/>
                </a:lnTo>
                <a:lnTo>
                  <a:pt x="26715" y="216691"/>
                </a:lnTo>
                <a:cubicBezTo>
                  <a:pt x="33461" y="200742"/>
                  <a:pt x="42469" y="185981"/>
                  <a:pt x="53337" y="172813"/>
                </a:cubicBezTo>
                <a:lnTo>
                  <a:pt x="68649" y="158899"/>
                </a:lnTo>
                <a:lnTo>
                  <a:pt x="71119" y="146665"/>
                </a:lnTo>
                <a:cubicBezTo>
                  <a:pt x="91358" y="98816"/>
                  <a:pt x="131952" y="61673"/>
                  <a:pt x="182047" y="46092"/>
                </a:cubicBezTo>
                <a:lnTo>
                  <a:pt x="205990" y="42472"/>
                </a:lnTo>
                <a:lnTo>
                  <a:pt x="248265" y="13969"/>
                </a:lnTo>
                <a:cubicBezTo>
                  <a:pt x="269532" y="4974"/>
                  <a:pt x="292913" y="0"/>
                  <a:pt x="317456" y="0"/>
                </a:cubicBezTo>
                <a:close/>
              </a:path>
            </a:pathLst>
          </a:custGeom>
          <a:solidFill>
            <a:srgbClr val="6A4C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D08D23C4-5641-1004-11B9-30916124BB7B}"/>
              </a:ext>
            </a:extLst>
          </p:cNvPr>
          <p:cNvSpPr/>
          <p:nvPr/>
        </p:nvSpPr>
        <p:spPr>
          <a:xfrm>
            <a:off x="6804709" y="1537335"/>
            <a:ext cx="1801129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0" name="평행 사변형 9">
            <a:extLst>
              <a:ext uri="{FF2B5EF4-FFF2-40B4-BE49-F238E27FC236}">
                <a16:creationId xmlns:a16="http://schemas.microsoft.com/office/drawing/2014/main" id="{4B7EFCDC-9CD1-884F-2D01-45E351A2E09C}"/>
              </a:ext>
            </a:extLst>
          </p:cNvPr>
          <p:cNvSpPr/>
          <p:nvPr/>
        </p:nvSpPr>
        <p:spPr>
          <a:xfrm>
            <a:off x="1393556" y="1537335"/>
            <a:ext cx="2002787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1" name="평행 사변형 10">
            <a:extLst>
              <a:ext uri="{FF2B5EF4-FFF2-40B4-BE49-F238E27FC236}">
                <a16:creationId xmlns:a16="http://schemas.microsoft.com/office/drawing/2014/main" id="{82CEAA6A-E904-D50A-357B-3AC04A897A71}"/>
              </a:ext>
            </a:extLst>
          </p:cNvPr>
          <p:cNvSpPr/>
          <p:nvPr/>
        </p:nvSpPr>
        <p:spPr>
          <a:xfrm>
            <a:off x="3659509" y="1537335"/>
            <a:ext cx="1245869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850F92C-B8B6-37F0-3BA7-EFEB26F61E4E}"/>
              </a:ext>
            </a:extLst>
          </p:cNvPr>
          <p:cNvSpPr/>
          <p:nvPr/>
        </p:nvSpPr>
        <p:spPr>
          <a:xfrm>
            <a:off x="746124" y="411164"/>
            <a:ext cx="590282" cy="489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altLang="ko-KR" sz="2400" spc="-9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01</a:t>
            </a:r>
            <a:endParaRPr lang="ko-KR" altLang="en-US" sz="2400" spc="-9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AB67C75-DC8B-C223-A1BE-944A84953C89}"/>
              </a:ext>
            </a:extLst>
          </p:cNvPr>
          <p:cNvSpPr/>
          <p:nvPr/>
        </p:nvSpPr>
        <p:spPr>
          <a:xfrm>
            <a:off x="1393556" y="626256"/>
            <a:ext cx="3248294" cy="372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주제 선정 및 배경 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B2458AB-6A96-F1C2-D29C-FF7130928602}"/>
              </a:ext>
            </a:extLst>
          </p:cNvPr>
          <p:cNvSpPr/>
          <p:nvPr/>
        </p:nvSpPr>
        <p:spPr>
          <a:xfrm>
            <a:off x="1393556" y="411164"/>
            <a:ext cx="3248294" cy="2445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spc="-80">
                <a:solidFill>
                  <a:schemeClr val="bg1"/>
                </a:solidFill>
                <a:latin typeface="프리젠테이션 3 Light" pitchFamily="2" charset="-127"/>
                <a:ea typeface="프리젠테이션 3 Light" pitchFamily="2" charset="-127"/>
              </a:rPr>
              <a:t>Chapter 01 </a:t>
            </a:r>
            <a:r>
              <a:rPr lang="ko-KR" altLang="en-US" sz="1600" spc="-80">
                <a:solidFill>
                  <a:schemeClr val="bg1"/>
                </a:solidFill>
                <a:latin typeface="프리젠테이션 3 Light" pitchFamily="2" charset="-127"/>
                <a:ea typeface="프리젠테이션 3 Light" pitchFamily="2" charset="-127"/>
              </a:rPr>
              <a:t> 프로젝트 소개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F3178B5-3FB3-6D29-ACFA-C99CA7A70233}"/>
              </a:ext>
            </a:extLst>
          </p:cNvPr>
          <p:cNvSpPr/>
          <p:nvPr/>
        </p:nvSpPr>
        <p:spPr>
          <a:xfrm>
            <a:off x="1393556" y="1034243"/>
            <a:ext cx="9744344" cy="9103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defTabSz="720000"/>
            <a:r>
              <a:rPr lang="ko-KR" altLang="en-US" sz="28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운전자라면 누구나 겪는 </a:t>
            </a:r>
            <a:r>
              <a:rPr lang="en-US" altLang="ko-KR" sz="28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Pain Point</a:t>
            </a:r>
            <a:endParaRPr lang="en-US" altLang="ko-KR" sz="2400" spc="-8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defTabSz="720000"/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넘쳐나는 보험 상품 과</a:t>
            </a:r>
            <a:r>
              <a:rPr lang="ko-KR" altLang="en-US" sz="2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  </a:t>
            </a:r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복잡한 약관 에 지친 소비자들의  정보 과부하 시대</a:t>
            </a:r>
            <a:r>
              <a:rPr lang="en-US" altLang="ko-KR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!</a:t>
            </a:r>
            <a:endParaRPr lang="ko-KR" altLang="en-US" sz="2800" spc="-8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32F2A350-3D2B-EB39-2CDD-28F3B0F29558}"/>
              </a:ext>
            </a:extLst>
          </p:cNvPr>
          <p:cNvGrpSpPr/>
          <p:nvPr/>
        </p:nvGrpSpPr>
        <p:grpSpPr>
          <a:xfrm>
            <a:off x="1425544" y="3096008"/>
            <a:ext cx="3776266" cy="2931461"/>
            <a:chOff x="1582180" y="2778156"/>
            <a:chExt cx="2402782" cy="1865245"/>
          </a:xfrm>
        </p:grpSpPr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5C8CE47E-C622-6D68-49A9-58BD89444AB8}"/>
                </a:ext>
              </a:extLst>
            </p:cNvPr>
            <p:cNvGrpSpPr/>
            <p:nvPr/>
          </p:nvGrpSpPr>
          <p:grpSpPr>
            <a:xfrm>
              <a:off x="1582180" y="2778156"/>
              <a:ext cx="2402781" cy="1588102"/>
              <a:chOff x="1411619" y="3330248"/>
              <a:chExt cx="2402781" cy="1588102"/>
            </a:xfrm>
          </p:grpSpPr>
          <p:grpSp>
            <p:nvGrpSpPr>
              <p:cNvPr id="36" name="그룹 35">
                <a:extLst>
                  <a:ext uri="{FF2B5EF4-FFF2-40B4-BE49-F238E27FC236}">
                    <a16:creationId xmlns:a16="http://schemas.microsoft.com/office/drawing/2014/main" id="{3BFD78BF-35C4-EAE3-E18A-30632E18F6AA}"/>
                  </a:ext>
                </a:extLst>
              </p:cNvPr>
              <p:cNvGrpSpPr/>
              <p:nvPr/>
            </p:nvGrpSpPr>
            <p:grpSpPr>
              <a:xfrm>
                <a:off x="1411619" y="4279598"/>
                <a:ext cx="720000" cy="638752"/>
                <a:chOff x="1411619" y="4279598"/>
                <a:chExt cx="720000" cy="638752"/>
              </a:xfrm>
            </p:grpSpPr>
            <p:sp>
              <p:nvSpPr>
                <p:cNvPr id="31" name="직사각형 30">
                  <a:extLst>
                    <a:ext uri="{FF2B5EF4-FFF2-40B4-BE49-F238E27FC236}">
                      <a16:creationId xmlns:a16="http://schemas.microsoft.com/office/drawing/2014/main" id="{6F22C49E-A301-1389-452D-CDE6F7A6B37F}"/>
                    </a:ext>
                  </a:extLst>
                </p:cNvPr>
                <p:cNvSpPr/>
                <p:nvPr/>
              </p:nvSpPr>
              <p:spPr>
                <a:xfrm>
                  <a:off x="1411619" y="4378350"/>
                  <a:ext cx="720000" cy="540000"/>
                </a:xfrm>
                <a:prstGeom prst="rect">
                  <a:avLst/>
                </a:prstGeom>
                <a:solidFill>
                  <a:srgbClr val="6A4C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4" name="타원 33">
                  <a:extLst>
                    <a:ext uri="{FF2B5EF4-FFF2-40B4-BE49-F238E27FC236}">
                      <a16:creationId xmlns:a16="http://schemas.microsoft.com/office/drawing/2014/main" id="{AE684C6F-CCC4-1B44-16E3-4EAF8F4AE276}"/>
                    </a:ext>
                  </a:extLst>
                </p:cNvPr>
                <p:cNvSpPr/>
                <p:nvPr/>
              </p:nvSpPr>
              <p:spPr>
                <a:xfrm>
                  <a:off x="1411619" y="4279598"/>
                  <a:ext cx="720000" cy="19750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37" name="그룹 36">
                <a:extLst>
                  <a:ext uri="{FF2B5EF4-FFF2-40B4-BE49-F238E27FC236}">
                    <a16:creationId xmlns:a16="http://schemas.microsoft.com/office/drawing/2014/main" id="{06654918-A439-A6E7-1A20-127E47B1D5DA}"/>
                  </a:ext>
                </a:extLst>
              </p:cNvPr>
              <p:cNvGrpSpPr/>
              <p:nvPr/>
            </p:nvGrpSpPr>
            <p:grpSpPr>
              <a:xfrm>
                <a:off x="3094400" y="3330248"/>
                <a:ext cx="720000" cy="1588102"/>
                <a:chOff x="2306784" y="3330248"/>
                <a:chExt cx="720000" cy="1588102"/>
              </a:xfrm>
            </p:grpSpPr>
            <p:sp>
              <p:nvSpPr>
                <p:cNvPr id="32" name="직사각형 31">
                  <a:extLst>
                    <a:ext uri="{FF2B5EF4-FFF2-40B4-BE49-F238E27FC236}">
                      <a16:creationId xmlns:a16="http://schemas.microsoft.com/office/drawing/2014/main" id="{986637F7-E7DE-5818-8F7C-ABC36135BD1C}"/>
                    </a:ext>
                  </a:extLst>
                </p:cNvPr>
                <p:cNvSpPr/>
                <p:nvPr/>
              </p:nvSpPr>
              <p:spPr>
                <a:xfrm>
                  <a:off x="2306784" y="3429000"/>
                  <a:ext cx="720000" cy="1489350"/>
                </a:xfrm>
                <a:prstGeom prst="rect">
                  <a:avLst/>
                </a:prstGeom>
                <a:solidFill>
                  <a:srgbClr val="B0002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5" name="타원 34">
                  <a:extLst>
                    <a:ext uri="{FF2B5EF4-FFF2-40B4-BE49-F238E27FC236}">
                      <a16:creationId xmlns:a16="http://schemas.microsoft.com/office/drawing/2014/main" id="{12947231-943C-8803-4596-29763D07B54D}"/>
                    </a:ext>
                  </a:extLst>
                </p:cNvPr>
                <p:cNvSpPr/>
                <p:nvPr/>
              </p:nvSpPr>
              <p:spPr>
                <a:xfrm>
                  <a:off x="2306784" y="3330248"/>
                  <a:ext cx="720000" cy="19750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cxnSp>
            <p:nvCxnSpPr>
              <p:cNvPr id="39" name="직선 연결선 38">
                <a:extLst>
                  <a:ext uri="{FF2B5EF4-FFF2-40B4-BE49-F238E27FC236}">
                    <a16:creationId xmlns:a16="http://schemas.microsoft.com/office/drawing/2014/main" id="{23B3166E-A73E-FB1A-BD6A-5EB75A0DC8D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25650" y="3571955"/>
                <a:ext cx="1182370" cy="1076395"/>
              </a:xfrm>
              <a:prstGeom prst="line">
                <a:avLst/>
              </a:prstGeom>
              <a:ln w="60325">
                <a:gradFill flip="none" rotWithShape="1">
                  <a:gsLst>
                    <a:gs pos="88000">
                      <a:srgbClr val="6A4C93"/>
                    </a:gs>
                    <a:gs pos="17000">
                      <a:srgbClr val="B00020"/>
                    </a:gs>
                    <a:gs pos="100000">
                      <a:srgbClr val="6A4C93"/>
                    </a:gs>
                    <a:gs pos="0">
                      <a:srgbClr val="B00020"/>
                    </a:gs>
                  </a:gsLst>
                  <a:lin ang="1080000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직각 삼각형 46">
                <a:extLst>
                  <a:ext uri="{FF2B5EF4-FFF2-40B4-BE49-F238E27FC236}">
                    <a16:creationId xmlns:a16="http://schemas.microsoft.com/office/drawing/2014/main" id="{C15B9594-BD06-4B74-011B-ABD73285172B}"/>
                  </a:ext>
                </a:extLst>
              </p:cNvPr>
              <p:cNvSpPr/>
              <p:nvPr/>
            </p:nvSpPr>
            <p:spPr>
              <a:xfrm flipH="1">
                <a:off x="1693516" y="3571955"/>
                <a:ext cx="1514504" cy="1346395"/>
              </a:xfrm>
              <a:prstGeom prst="rtTriangle">
                <a:avLst/>
              </a:prstGeom>
              <a:gradFill>
                <a:gsLst>
                  <a:gs pos="0">
                    <a:srgbClr val="6A4C93">
                      <a:alpha val="20000"/>
                    </a:srgbClr>
                  </a:gs>
                  <a:gs pos="100000">
                    <a:srgbClr val="B00020">
                      <a:alpha val="55000"/>
                    </a:srgbClr>
                  </a:gs>
                </a:gsLst>
                <a:lin ang="1080000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50FAA6A8-CA8A-34D1-5F8E-D807C4BB06AB}"/>
                </a:ext>
              </a:extLst>
            </p:cNvPr>
            <p:cNvSpPr/>
            <p:nvPr/>
          </p:nvSpPr>
          <p:spPr>
            <a:xfrm>
              <a:off x="1582180" y="4119901"/>
              <a:ext cx="720000" cy="24450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pc="-80">
                  <a:solidFill>
                    <a:schemeClr val="bg1"/>
                  </a:solidFill>
                  <a:latin typeface="프리젠테이션 3 Light" pitchFamily="2" charset="-127"/>
                  <a:ea typeface="프리젠테이션 3 Light" pitchFamily="2" charset="-127"/>
                </a:rPr>
                <a:t>2014</a:t>
              </a:r>
              <a:r>
                <a:rPr lang="ko-KR" altLang="en-US" spc="-80">
                  <a:solidFill>
                    <a:schemeClr val="bg1"/>
                  </a:solidFill>
                  <a:latin typeface="프리젠테이션 3 Light" pitchFamily="2" charset="-127"/>
                  <a:ea typeface="프리젠테이션 3 Light" pitchFamily="2" charset="-127"/>
                </a:rPr>
                <a:t>년</a:t>
              </a:r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FD3D00F7-72A3-F825-FEE4-B3CA4133751E}"/>
                </a:ext>
              </a:extLst>
            </p:cNvPr>
            <p:cNvSpPr/>
            <p:nvPr/>
          </p:nvSpPr>
          <p:spPr>
            <a:xfrm>
              <a:off x="3264961" y="4119901"/>
              <a:ext cx="720000" cy="24450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pc="-80">
                  <a:solidFill>
                    <a:schemeClr val="bg1"/>
                  </a:solidFill>
                  <a:latin typeface="프리젠테이션 3 Light" pitchFamily="2" charset="-127"/>
                  <a:ea typeface="프리젠테이션 3 Light" pitchFamily="2" charset="-127"/>
                </a:rPr>
                <a:t>2024</a:t>
              </a:r>
              <a:r>
                <a:rPr lang="ko-KR" altLang="en-US" spc="-80">
                  <a:solidFill>
                    <a:schemeClr val="bg1"/>
                  </a:solidFill>
                  <a:latin typeface="프리젠테이션 3 Light" pitchFamily="2" charset="-127"/>
                  <a:ea typeface="프리젠테이션 3 Light" pitchFamily="2" charset="-127"/>
                </a:rPr>
                <a:t>년</a:t>
              </a:r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4ECBC70B-4B8A-4028-F462-9417C52788D7}"/>
                </a:ext>
              </a:extLst>
            </p:cNvPr>
            <p:cNvSpPr/>
            <p:nvPr/>
          </p:nvSpPr>
          <p:spPr>
            <a:xfrm rot="18900000">
              <a:off x="2161507" y="3281610"/>
              <a:ext cx="1129598" cy="24450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2800" spc="-80">
                  <a:ln w="0">
                    <a:solidFill>
                      <a:schemeClr val="bg1"/>
                    </a:solidFill>
                  </a:ln>
                  <a:gradFill>
                    <a:gsLst>
                      <a:gs pos="0">
                        <a:srgbClr val="B00020"/>
                      </a:gs>
                      <a:gs pos="100000">
                        <a:srgbClr val="C00000"/>
                      </a:gs>
                    </a:gsLst>
                    <a:lin ang="5400000" scaled="1"/>
                  </a:gradFill>
                  <a:latin typeface="프리젠테이션 8 ExtraBold" pitchFamily="2" charset="-127"/>
                  <a:ea typeface="프리젠테이션 8 ExtraBold" pitchFamily="2" charset="-127"/>
                </a:rPr>
                <a:t>35.6% </a:t>
              </a:r>
              <a:r>
                <a:rPr lang="ko-KR" altLang="en-US" sz="2800" spc="-80">
                  <a:ln w="0">
                    <a:solidFill>
                      <a:schemeClr val="bg1"/>
                    </a:solidFill>
                  </a:ln>
                  <a:gradFill>
                    <a:gsLst>
                      <a:gs pos="0">
                        <a:srgbClr val="B00020"/>
                      </a:gs>
                      <a:gs pos="100000">
                        <a:srgbClr val="C00000"/>
                      </a:gs>
                    </a:gsLst>
                    <a:lin ang="5400000" scaled="1"/>
                  </a:gradFill>
                  <a:latin typeface="프리젠테이션 8 ExtraBold" pitchFamily="2" charset="-127"/>
                  <a:ea typeface="프리젠테이션 8 ExtraBold" pitchFamily="2" charset="-127"/>
                </a:rPr>
                <a:t>증가</a:t>
              </a:r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E095E96C-057F-9D31-11EA-B326C2640B7E}"/>
                </a:ext>
              </a:extLst>
            </p:cNvPr>
            <p:cNvSpPr/>
            <p:nvPr/>
          </p:nvSpPr>
          <p:spPr>
            <a:xfrm>
              <a:off x="1582181" y="4398893"/>
              <a:ext cx="2402781" cy="244508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r>
                <a:rPr lang="ko-KR" altLang="en-US" spc="-80">
                  <a:solidFill>
                    <a:schemeClr val="bg1"/>
                  </a:solidFill>
                  <a:latin typeface="프리젠테이션 3 Light" pitchFamily="2" charset="-127"/>
                  <a:ea typeface="프리젠테이션 3 Light" pitchFamily="2" charset="-127"/>
                </a:rPr>
                <a:t>출저 </a:t>
              </a:r>
              <a:r>
                <a:rPr lang="en-US" altLang="ko-KR" spc="-80">
                  <a:solidFill>
                    <a:schemeClr val="bg1"/>
                  </a:solidFill>
                  <a:latin typeface="프리젠테이션 3 Light" pitchFamily="2" charset="-127"/>
                  <a:ea typeface="프리젠테이션 3 Light" pitchFamily="2" charset="-127"/>
                </a:rPr>
                <a:t>:</a:t>
              </a:r>
              <a:r>
                <a:rPr lang="ko-KR" altLang="en-US" spc="-80">
                  <a:solidFill>
                    <a:schemeClr val="bg1"/>
                  </a:solidFill>
                  <a:latin typeface="프리젠테이션 3 Light" pitchFamily="2" charset="-127"/>
                  <a:ea typeface="프리젠테이션 3 Light" pitchFamily="2" charset="-127"/>
                </a:rPr>
                <a:t>국토교통통계누리 </a:t>
              </a:r>
              <a:r>
                <a:rPr lang="en-US" altLang="ko-KR" spc="-80">
                  <a:solidFill>
                    <a:schemeClr val="bg1"/>
                  </a:solidFill>
                  <a:latin typeface="프리젠테이션 3 Light" pitchFamily="2" charset="-127"/>
                  <a:ea typeface="프리젠테이션 3 Light" pitchFamily="2" charset="-127"/>
                </a:rPr>
                <a:t>– </a:t>
              </a:r>
              <a:r>
                <a:rPr lang="ko-KR" altLang="en-US" spc="-80">
                  <a:solidFill>
                    <a:schemeClr val="bg1"/>
                  </a:solidFill>
                  <a:latin typeface="프리젠테이션 3 Light" pitchFamily="2" charset="-127"/>
                  <a:ea typeface="프리젠테이션 3 Light" pitchFamily="2" charset="-127"/>
                </a:rPr>
                <a:t>자동차등록현황보고</a:t>
              </a:r>
            </a:p>
          </p:txBody>
        </p: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6C69529F-A80E-027E-F7A9-3F301AF94143}"/>
              </a:ext>
            </a:extLst>
          </p:cNvPr>
          <p:cNvGrpSpPr/>
          <p:nvPr/>
        </p:nvGrpSpPr>
        <p:grpSpPr>
          <a:xfrm>
            <a:off x="1208851" y="2335449"/>
            <a:ext cx="1514268" cy="243278"/>
            <a:chOff x="1208851" y="2444967"/>
            <a:chExt cx="1514268" cy="243278"/>
          </a:xfrm>
        </p:grpSpPr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id="{4D834C6E-87E0-22CE-A552-57C0A471941E}"/>
                </a:ext>
              </a:extLst>
            </p:cNvPr>
            <p:cNvSpPr/>
            <p:nvPr/>
          </p:nvSpPr>
          <p:spPr>
            <a:xfrm>
              <a:off x="1345813" y="2444967"/>
              <a:ext cx="1240344" cy="243278"/>
            </a:xfrm>
            <a:prstGeom prst="roundRect">
              <a:avLst>
                <a:gd name="adj" fmla="val 45679"/>
              </a:avLst>
            </a:pr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69F2E6F5-6130-8F99-DA45-CDCE2CF44957}"/>
                </a:ext>
              </a:extLst>
            </p:cNvPr>
            <p:cNvSpPr/>
            <p:nvPr/>
          </p:nvSpPr>
          <p:spPr>
            <a:xfrm>
              <a:off x="1208851" y="2469231"/>
              <a:ext cx="1514268" cy="1947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spc="-80">
                  <a:solidFill>
                    <a:srgbClr val="2D3142"/>
                  </a:solidFill>
                </a:rPr>
                <a:t>자동차 등록 현황 </a:t>
              </a:r>
            </a:p>
          </p:txBody>
        </p:sp>
      </p:grp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6FDE0991-21E7-18CB-4121-3707A9C0F9BD}"/>
              </a:ext>
            </a:extLst>
          </p:cNvPr>
          <p:cNvSpPr/>
          <p:nvPr/>
        </p:nvSpPr>
        <p:spPr>
          <a:xfrm>
            <a:off x="6095998" y="3475880"/>
            <a:ext cx="5257802" cy="69958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8C52B3C9-B160-9EC3-1D8D-DDB358CC5ADC}"/>
              </a:ext>
            </a:extLst>
          </p:cNvPr>
          <p:cNvSpPr/>
          <p:nvPr/>
        </p:nvSpPr>
        <p:spPr>
          <a:xfrm>
            <a:off x="6095998" y="4426817"/>
            <a:ext cx="5257802" cy="69958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1186AE7F-ABD5-EDCC-DE5E-617155688767}"/>
              </a:ext>
            </a:extLst>
          </p:cNvPr>
          <p:cNvSpPr/>
          <p:nvPr/>
        </p:nvSpPr>
        <p:spPr>
          <a:xfrm>
            <a:off x="6095998" y="5377754"/>
            <a:ext cx="5257802" cy="69958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AF0BBC0F-10C7-D825-4553-64C9712393A6}"/>
              </a:ext>
            </a:extLst>
          </p:cNvPr>
          <p:cNvSpPr/>
          <p:nvPr/>
        </p:nvSpPr>
        <p:spPr>
          <a:xfrm>
            <a:off x="6034123" y="2864479"/>
            <a:ext cx="2233965" cy="4271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그러나 보험시장은</a:t>
            </a:r>
            <a:r>
              <a:rPr lang="en-US" altLang="ko-KR"/>
              <a:t>? </a:t>
            </a:r>
            <a:endParaRPr lang="ko-KR" altLang="en-US"/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1FA7B704-7239-9C1C-4399-7FE7B47C2E7F}"/>
              </a:ext>
            </a:extLst>
          </p:cNvPr>
          <p:cNvSpPr/>
          <p:nvPr/>
        </p:nvSpPr>
        <p:spPr>
          <a:xfrm>
            <a:off x="8605838" y="3475880"/>
            <a:ext cx="2747961" cy="699582"/>
          </a:xfrm>
          <a:prstGeom prst="roundRect">
            <a:avLst>
              <a:gd name="adj" fmla="val 50000"/>
            </a:avLst>
          </a:prstGeom>
          <a:solidFill>
            <a:srgbClr val="6A4C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A22A9EDC-3249-CCAF-9AC1-9E13D83EAF23}"/>
              </a:ext>
            </a:extLst>
          </p:cNvPr>
          <p:cNvGrpSpPr/>
          <p:nvPr/>
        </p:nvGrpSpPr>
        <p:grpSpPr>
          <a:xfrm>
            <a:off x="6200812" y="3548720"/>
            <a:ext cx="2405024" cy="553903"/>
            <a:chOff x="6200812" y="3532301"/>
            <a:chExt cx="2405024" cy="553903"/>
          </a:xfrm>
        </p:grpSpPr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C9854BF3-B73F-782E-E1E1-F596860A0AB3}"/>
                </a:ext>
              </a:extLst>
            </p:cNvPr>
            <p:cNvSpPr/>
            <p:nvPr/>
          </p:nvSpPr>
          <p:spPr>
            <a:xfrm>
              <a:off x="6513548" y="3532301"/>
              <a:ext cx="1779552" cy="1947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spc="-80">
                  <a:solidFill>
                    <a:srgbClr val="2D3142"/>
                  </a:solidFill>
                </a:rPr>
                <a:t> </a:t>
              </a:r>
              <a:r>
                <a:rPr lang="en-US" altLang="ko-KR" sz="1400" spc="-80">
                  <a:solidFill>
                    <a:srgbClr val="2D3142"/>
                  </a:solidFill>
                </a:rPr>
                <a:t>- </a:t>
              </a:r>
              <a:r>
                <a:rPr lang="ko-KR" altLang="en-US" sz="1400" spc="-80">
                  <a:solidFill>
                    <a:srgbClr val="2D3142"/>
                  </a:solidFill>
                </a:rPr>
                <a:t>자동차 보험 시장 규모</a:t>
              </a:r>
              <a:r>
                <a:rPr lang="en-US" altLang="ko-KR" sz="1400" spc="-80">
                  <a:solidFill>
                    <a:srgbClr val="2D3142"/>
                  </a:solidFill>
                </a:rPr>
                <a:t>-</a:t>
              </a:r>
              <a:endParaRPr lang="ko-KR" altLang="en-US" sz="1400" spc="-80">
                <a:solidFill>
                  <a:srgbClr val="2D3142"/>
                </a:solidFill>
              </a:endParaRPr>
            </a:p>
          </p:txBody>
        </p:sp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75DEC43E-643F-354F-D64C-06F27B4F554D}"/>
                </a:ext>
              </a:extLst>
            </p:cNvPr>
            <p:cNvSpPr/>
            <p:nvPr/>
          </p:nvSpPr>
          <p:spPr>
            <a:xfrm>
              <a:off x="6200812" y="3727051"/>
              <a:ext cx="2405024" cy="35915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pc="-80">
                  <a:solidFill>
                    <a:srgbClr val="2D3142"/>
                  </a:solidFill>
                  <a:latin typeface="+mj-ea"/>
                  <a:ea typeface="+mj-ea"/>
                </a:rPr>
                <a:t>20</a:t>
              </a:r>
              <a:r>
                <a:rPr lang="ko-KR" altLang="en-US" spc="-80">
                  <a:solidFill>
                    <a:srgbClr val="2D3142"/>
                  </a:solidFill>
                  <a:latin typeface="+mj-ea"/>
                  <a:ea typeface="+mj-ea"/>
                </a:rPr>
                <a:t>조원 규모  </a:t>
              </a:r>
              <a:r>
                <a:rPr lang="en-US" altLang="ko-KR" spc="-80">
                  <a:solidFill>
                    <a:srgbClr val="2D3142"/>
                  </a:solidFill>
                  <a:latin typeface="+mj-ea"/>
                  <a:ea typeface="+mj-ea"/>
                </a:rPr>
                <a:t>(24</a:t>
              </a:r>
              <a:r>
                <a:rPr lang="ko-KR" altLang="en-US" spc="-80">
                  <a:solidFill>
                    <a:srgbClr val="2D3142"/>
                  </a:solidFill>
                  <a:latin typeface="+mj-ea"/>
                  <a:ea typeface="+mj-ea"/>
                </a:rPr>
                <a:t>년</a:t>
              </a:r>
              <a:r>
                <a:rPr lang="en-US" altLang="ko-KR" spc="-80">
                  <a:solidFill>
                    <a:srgbClr val="2D3142"/>
                  </a:solidFill>
                  <a:latin typeface="+mj-ea"/>
                  <a:ea typeface="+mj-ea"/>
                </a:rPr>
                <a:t> </a:t>
              </a:r>
              <a:r>
                <a:rPr lang="ko-KR" altLang="en-US" spc="-80">
                  <a:solidFill>
                    <a:srgbClr val="2D3142"/>
                  </a:solidFill>
                  <a:latin typeface="+mj-ea"/>
                  <a:ea typeface="+mj-ea"/>
                </a:rPr>
                <a:t>기준</a:t>
              </a:r>
              <a:r>
                <a:rPr lang="en-US" altLang="ko-KR" spc="-80">
                  <a:solidFill>
                    <a:srgbClr val="2D3142"/>
                  </a:solidFill>
                  <a:latin typeface="+mj-ea"/>
                  <a:ea typeface="+mj-ea"/>
                </a:rPr>
                <a:t>)</a:t>
              </a:r>
              <a:endParaRPr lang="ko-KR" altLang="en-US" spc="-80">
                <a:solidFill>
                  <a:srgbClr val="2D3142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F494B781-4744-7122-6DB2-4888EC28AFBF}"/>
              </a:ext>
            </a:extLst>
          </p:cNvPr>
          <p:cNvGrpSpPr/>
          <p:nvPr/>
        </p:nvGrpSpPr>
        <p:grpSpPr>
          <a:xfrm>
            <a:off x="6200812" y="4426817"/>
            <a:ext cx="5152987" cy="699582"/>
            <a:chOff x="6200812" y="3475880"/>
            <a:chExt cx="5152987" cy="699582"/>
          </a:xfrm>
        </p:grpSpPr>
        <p:sp>
          <p:nvSpPr>
            <p:cNvPr id="82" name="사각형: 둥근 모서리 81">
              <a:extLst>
                <a:ext uri="{FF2B5EF4-FFF2-40B4-BE49-F238E27FC236}">
                  <a16:creationId xmlns:a16="http://schemas.microsoft.com/office/drawing/2014/main" id="{ADF348A7-1F2A-0472-61A5-439A9C6E3957}"/>
                </a:ext>
              </a:extLst>
            </p:cNvPr>
            <p:cNvSpPr/>
            <p:nvPr/>
          </p:nvSpPr>
          <p:spPr>
            <a:xfrm>
              <a:off x="8605838" y="3475880"/>
              <a:ext cx="2747961" cy="699582"/>
            </a:xfrm>
            <a:prstGeom prst="roundRect">
              <a:avLst>
                <a:gd name="adj" fmla="val 50000"/>
              </a:avLst>
            </a:prstGeom>
            <a:solidFill>
              <a:srgbClr val="6A4C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grpSp>
          <p:nvGrpSpPr>
            <p:cNvPr id="83" name="그룹 82">
              <a:extLst>
                <a:ext uri="{FF2B5EF4-FFF2-40B4-BE49-F238E27FC236}">
                  <a16:creationId xmlns:a16="http://schemas.microsoft.com/office/drawing/2014/main" id="{BA93CD63-1ED2-DD9D-E778-6EE28934CF88}"/>
                </a:ext>
              </a:extLst>
            </p:cNvPr>
            <p:cNvGrpSpPr/>
            <p:nvPr/>
          </p:nvGrpSpPr>
          <p:grpSpPr>
            <a:xfrm>
              <a:off x="6200812" y="3548720"/>
              <a:ext cx="2405024" cy="553903"/>
              <a:chOff x="6200812" y="3532301"/>
              <a:chExt cx="2405024" cy="553903"/>
            </a:xfrm>
          </p:grpSpPr>
          <p:sp>
            <p:nvSpPr>
              <p:cNvPr id="84" name="직사각형 83">
                <a:extLst>
                  <a:ext uri="{FF2B5EF4-FFF2-40B4-BE49-F238E27FC236}">
                    <a16:creationId xmlns:a16="http://schemas.microsoft.com/office/drawing/2014/main" id="{A6804EE5-E591-EB7E-6174-D1EB630197EB}"/>
                  </a:ext>
                </a:extLst>
              </p:cNvPr>
              <p:cNvSpPr/>
              <p:nvPr/>
            </p:nvSpPr>
            <p:spPr>
              <a:xfrm>
                <a:off x="6513548" y="3532301"/>
                <a:ext cx="1779552" cy="19475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spc="-80">
                    <a:solidFill>
                      <a:srgbClr val="2D3142"/>
                    </a:solidFill>
                  </a:rPr>
                  <a:t> </a:t>
                </a:r>
                <a:r>
                  <a:rPr lang="en-US" altLang="ko-KR" sz="1400" spc="-80">
                    <a:solidFill>
                      <a:srgbClr val="2D3142"/>
                    </a:solidFill>
                  </a:rPr>
                  <a:t>- </a:t>
                </a:r>
                <a:r>
                  <a:rPr lang="ko-KR" altLang="en-US" sz="1400" spc="-80">
                    <a:solidFill>
                      <a:srgbClr val="2D3142"/>
                    </a:solidFill>
                  </a:rPr>
                  <a:t>보험 수익성 활성화</a:t>
                </a:r>
                <a:r>
                  <a:rPr lang="en-US" altLang="ko-KR" sz="1400" spc="-80">
                    <a:solidFill>
                      <a:srgbClr val="2D3142"/>
                    </a:solidFill>
                  </a:rPr>
                  <a:t>-</a:t>
                </a:r>
                <a:endParaRPr lang="ko-KR" altLang="en-US" sz="1400" spc="-80">
                  <a:solidFill>
                    <a:srgbClr val="2D3142"/>
                  </a:solidFill>
                </a:endParaRPr>
              </a:p>
            </p:txBody>
          </p:sp>
          <p:sp>
            <p:nvSpPr>
              <p:cNvPr id="85" name="직사각형 84">
                <a:extLst>
                  <a:ext uri="{FF2B5EF4-FFF2-40B4-BE49-F238E27FC236}">
                    <a16:creationId xmlns:a16="http://schemas.microsoft.com/office/drawing/2014/main" id="{AFF98262-8BB3-82A5-8998-2CFFDE6F13C6}"/>
                  </a:ext>
                </a:extLst>
              </p:cNvPr>
              <p:cNvSpPr/>
              <p:nvPr/>
            </p:nvSpPr>
            <p:spPr>
              <a:xfrm>
                <a:off x="6200812" y="3727051"/>
                <a:ext cx="2405024" cy="35915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pc="-80">
                    <a:solidFill>
                      <a:srgbClr val="2D3142"/>
                    </a:solidFill>
                    <a:latin typeface="+mj-ea"/>
                    <a:ea typeface="+mj-ea"/>
                  </a:rPr>
                  <a:t>다양한 보험 서비스 제공</a:t>
                </a:r>
              </a:p>
            </p:txBody>
          </p:sp>
        </p:grpSp>
      </p:grp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F0CB5BDE-6DC6-9F73-8574-FE6912D5202E}"/>
              </a:ext>
            </a:extLst>
          </p:cNvPr>
          <p:cNvGrpSpPr/>
          <p:nvPr/>
        </p:nvGrpSpPr>
        <p:grpSpPr>
          <a:xfrm>
            <a:off x="6200812" y="5377754"/>
            <a:ext cx="5152987" cy="699582"/>
            <a:chOff x="6200812" y="3475880"/>
            <a:chExt cx="5152987" cy="699582"/>
          </a:xfrm>
        </p:grpSpPr>
        <p:sp>
          <p:nvSpPr>
            <p:cNvPr id="87" name="사각형: 둥근 모서리 86">
              <a:extLst>
                <a:ext uri="{FF2B5EF4-FFF2-40B4-BE49-F238E27FC236}">
                  <a16:creationId xmlns:a16="http://schemas.microsoft.com/office/drawing/2014/main" id="{6E2AE1F1-40B7-0F26-771D-23DBD27B0E17}"/>
                </a:ext>
              </a:extLst>
            </p:cNvPr>
            <p:cNvSpPr/>
            <p:nvPr/>
          </p:nvSpPr>
          <p:spPr>
            <a:xfrm>
              <a:off x="8605838" y="3475880"/>
              <a:ext cx="2747961" cy="699582"/>
            </a:xfrm>
            <a:prstGeom prst="roundRect">
              <a:avLst>
                <a:gd name="adj" fmla="val 50000"/>
              </a:avLst>
            </a:prstGeom>
            <a:solidFill>
              <a:srgbClr val="6A4C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grpSp>
          <p:nvGrpSpPr>
            <p:cNvPr id="88" name="그룹 87">
              <a:extLst>
                <a:ext uri="{FF2B5EF4-FFF2-40B4-BE49-F238E27FC236}">
                  <a16:creationId xmlns:a16="http://schemas.microsoft.com/office/drawing/2014/main" id="{21A95C13-EB0F-7548-56DD-8890843268AE}"/>
                </a:ext>
              </a:extLst>
            </p:cNvPr>
            <p:cNvGrpSpPr/>
            <p:nvPr/>
          </p:nvGrpSpPr>
          <p:grpSpPr>
            <a:xfrm>
              <a:off x="6200812" y="3548720"/>
              <a:ext cx="2405024" cy="553903"/>
              <a:chOff x="6200812" y="3532301"/>
              <a:chExt cx="2405024" cy="553903"/>
            </a:xfrm>
          </p:grpSpPr>
          <p:sp>
            <p:nvSpPr>
              <p:cNvPr id="89" name="직사각형 88">
                <a:extLst>
                  <a:ext uri="{FF2B5EF4-FFF2-40B4-BE49-F238E27FC236}">
                    <a16:creationId xmlns:a16="http://schemas.microsoft.com/office/drawing/2014/main" id="{D223B498-DEFF-42A9-300E-411281106DDF}"/>
                  </a:ext>
                </a:extLst>
              </p:cNvPr>
              <p:cNvSpPr/>
              <p:nvPr/>
            </p:nvSpPr>
            <p:spPr>
              <a:xfrm>
                <a:off x="6513548" y="3532301"/>
                <a:ext cx="1779552" cy="19475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spc="-80">
                    <a:solidFill>
                      <a:srgbClr val="2D3142"/>
                    </a:solidFill>
                  </a:rPr>
                  <a:t> </a:t>
                </a:r>
                <a:r>
                  <a:rPr lang="en-US" altLang="ko-KR" sz="1400" spc="-80">
                    <a:solidFill>
                      <a:srgbClr val="2D3142"/>
                    </a:solidFill>
                  </a:rPr>
                  <a:t>- </a:t>
                </a:r>
                <a:r>
                  <a:rPr lang="ko-KR" altLang="en-US" sz="1400" spc="-80">
                    <a:solidFill>
                      <a:srgbClr val="2D3142"/>
                    </a:solidFill>
                  </a:rPr>
                  <a:t>가입 방식 변화</a:t>
                </a:r>
                <a:r>
                  <a:rPr lang="en-US" altLang="ko-KR" sz="1400" spc="-80">
                    <a:solidFill>
                      <a:srgbClr val="2D3142"/>
                    </a:solidFill>
                  </a:rPr>
                  <a:t>-</a:t>
                </a:r>
                <a:endParaRPr lang="ko-KR" altLang="en-US" sz="1400" spc="-80">
                  <a:solidFill>
                    <a:srgbClr val="2D3142"/>
                  </a:solidFill>
                </a:endParaRPr>
              </a:p>
            </p:txBody>
          </p:sp>
          <p:sp>
            <p:nvSpPr>
              <p:cNvPr id="90" name="직사각형 89">
                <a:extLst>
                  <a:ext uri="{FF2B5EF4-FFF2-40B4-BE49-F238E27FC236}">
                    <a16:creationId xmlns:a16="http://schemas.microsoft.com/office/drawing/2014/main" id="{31164CDB-2C89-8538-AE27-004025F974B4}"/>
                  </a:ext>
                </a:extLst>
              </p:cNvPr>
              <p:cNvSpPr/>
              <p:nvPr/>
            </p:nvSpPr>
            <p:spPr>
              <a:xfrm>
                <a:off x="6200812" y="3727051"/>
                <a:ext cx="2405024" cy="35915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pc="-80">
                    <a:solidFill>
                      <a:srgbClr val="2D3142"/>
                    </a:solidFill>
                    <a:latin typeface="+mj-ea"/>
                    <a:ea typeface="+mj-ea"/>
                  </a:rPr>
                  <a:t>온라인</a:t>
                </a:r>
                <a:r>
                  <a:rPr lang="en-US" altLang="ko-KR" spc="-80">
                    <a:solidFill>
                      <a:srgbClr val="2D3142"/>
                    </a:solidFill>
                    <a:latin typeface="+mj-ea"/>
                    <a:ea typeface="+mj-ea"/>
                  </a:rPr>
                  <a:t>/</a:t>
                </a:r>
                <a:r>
                  <a:rPr lang="ko-KR" altLang="en-US" spc="-80">
                    <a:solidFill>
                      <a:srgbClr val="2D3142"/>
                    </a:solidFill>
                    <a:latin typeface="+mj-ea"/>
                    <a:ea typeface="+mj-ea"/>
                  </a:rPr>
                  <a:t>비대면 가입 증가</a:t>
                </a:r>
              </a:p>
            </p:txBody>
          </p:sp>
        </p:grpSp>
      </p:grp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1288A3D7-58D3-63BB-79E2-5B370391C5FF}"/>
              </a:ext>
            </a:extLst>
          </p:cNvPr>
          <p:cNvSpPr/>
          <p:nvPr/>
        </p:nvSpPr>
        <p:spPr>
          <a:xfrm>
            <a:off x="8832581" y="3493867"/>
            <a:ext cx="2405024" cy="6758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spc="-80">
                <a:solidFill>
                  <a:schemeClr val="bg1"/>
                </a:solidFill>
                <a:latin typeface="+mj-ea"/>
                <a:ea typeface="+mj-ea"/>
              </a:rPr>
              <a:t>대규모 어쩌고 저쩌고</a:t>
            </a: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2F8B4D84-A7E6-9677-B2A5-27E91542734D}"/>
              </a:ext>
            </a:extLst>
          </p:cNvPr>
          <p:cNvSpPr/>
          <p:nvPr/>
        </p:nvSpPr>
        <p:spPr>
          <a:xfrm>
            <a:off x="8832581" y="4428867"/>
            <a:ext cx="2405024" cy="6758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spc="-80">
                <a:solidFill>
                  <a:schemeClr val="bg1"/>
                </a:solidFill>
                <a:latin typeface="+mj-ea"/>
                <a:ea typeface="+mj-ea"/>
              </a:rPr>
              <a:t>소비자 선택지  다양화 </a:t>
            </a: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7C94BADE-2EE1-C193-A581-F1321621D18A}"/>
              </a:ext>
            </a:extLst>
          </p:cNvPr>
          <p:cNvSpPr/>
          <p:nvPr/>
        </p:nvSpPr>
        <p:spPr>
          <a:xfrm>
            <a:off x="8832581" y="5377754"/>
            <a:ext cx="2405024" cy="6758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spc="-80">
                <a:solidFill>
                  <a:schemeClr val="bg1"/>
                </a:solidFill>
                <a:latin typeface="+mj-ea"/>
                <a:ea typeface="+mj-ea"/>
              </a:rPr>
              <a:t>가입 채널의 디지털 전환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6AD17F9B-432E-7950-707A-B2FF795CF2EA}"/>
              </a:ext>
            </a:extLst>
          </p:cNvPr>
          <p:cNvGrpSpPr/>
          <p:nvPr/>
        </p:nvGrpSpPr>
        <p:grpSpPr>
          <a:xfrm>
            <a:off x="5965256" y="2335449"/>
            <a:ext cx="1514268" cy="243278"/>
            <a:chOff x="1208851" y="2444967"/>
            <a:chExt cx="1514268" cy="243278"/>
          </a:xfrm>
        </p:grpSpPr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6CF972C8-5BB1-4CDB-1742-F462994C817C}"/>
                </a:ext>
              </a:extLst>
            </p:cNvPr>
            <p:cNvSpPr/>
            <p:nvPr/>
          </p:nvSpPr>
          <p:spPr>
            <a:xfrm>
              <a:off x="1345813" y="2444967"/>
              <a:ext cx="1240344" cy="243278"/>
            </a:xfrm>
            <a:prstGeom prst="roundRect">
              <a:avLst>
                <a:gd name="adj" fmla="val 45679"/>
              </a:avLst>
            </a:pr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293BA294-4761-203B-7768-0055502DAA29}"/>
                </a:ext>
              </a:extLst>
            </p:cNvPr>
            <p:cNvSpPr/>
            <p:nvPr/>
          </p:nvSpPr>
          <p:spPr>
            <a:xfrm>
              <a:off x="1208851" y="2469231"/>
              <a:ext cx="1514268" cy="1947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spc="-80">
                  <a:solidFill>
                    <a:srgbClr val="2D3142"/>
                  </a:solidFill>
                </a:rPr>
                <a:t>자동차 보험 현황 </a:t>
              </a: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8655AB0-17E6-3309-7223-839F2708773F}"/>
              </a:ext>
            </a:extLst>
          </p:cNvPr>
          <p:cNvSpPr/>
          <p:nvPr/>
        </p:nvSpPr>
        <p:spPr>
          <a:xfrm>
            <a:off x="9083385" y="500478"/>
            <a:ext cx="2002787" cy="45919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프리젠테이션 8 ExtraBold" pitchFamily="2" charset="-127"/>
                <a:ea typeface="프리젠테이션 8 ExtraBold" pitchFamily="2" charset="-127"/>
              </a:rPr>
              <a:t>시장 현황</a:t>
            </a:r>
          </a:p>
        </p:txBody>
      </p:sp>
    </p:spTree>
    <p:extLst>
      <p:ext uri="{BB962C8B-B14F-4D97-AF65-F5344CB8AC3E}">
        <p14:creationId xmlns:p14="http://schemas.microsoft.com/office/powerpoint/2010/main" val="15169913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1D37F-3F55-20C2-B1C5-534BF8B3E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E691F241-2B63-CFA5-CA85-285A0DF9E14E}"/>
              </a:ext>
            </a:extLst>
          </p:cNvPr>
          <p:cNvSpPr/>
          <p:nvPr/>
        </p:nvSpPr>
        <p:spPr>
          <a:xfrm>
            <a:off x="6804709" y="1537335"/>
            <a:ext cx="1801129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0" name="평행 사변형 9">
            <a:extLst>
              <a:ext uri="{FF2B5EF4-FFF2-40B4-BE49-F238E27FC236}">
                <a16:creationId xmlns:a16="http://schemas.microsoft.com/office/drawing/2014/main" id="{6B67B1DD-603F-F288-76A6-D708E476D25F}"/>
              </a:ext>
            </a:extLst>
          </p:cNvPr>
          <p:cNvSpPr/>
          <p:nvPr/>
        </p:nvSpPr>
        <p:spPr>
          <a:xfrm>
            <a:off x="1393556" y="1537335"/>
            <a:ext cx="2002787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1" name="평행 사변형 10">
            <a:extLst>
              <a:ext uri="{FF2B5EF4-FFF2-40B4-BE49-F238E27FC236}">
                <a16:creationId xmlns:a16="http://schemas.microsoft.com/office/drawing/2014/main" id="{F4AF6593-1C4A-2DE3-85EC-6D7FD2420930}"/>
              </a:ext>
            </a:extLst>
          </p:cNvPr>
          <p:cNvSpPr/>
          <p:nvPr/>
        </p:nvSpPr>
        <p:spPr>
          <a:xfrm>
            <a:off x="3659509" y="1537335"/>
            <a:ext cx="1245869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E29ABBE-9D09-7894-D526-B7F6DE060FF8}"/>
              </a:ext>
            </a:extLst>
          </p:cNvPr>
          <p:cNvSpPr/>
          <p:nvPr/>
        </p:nvSpPr>
        <p:spPr>
          <a:xfrm>
            <a:off x="746124" y="411164"/>
            <a:ext cx="590282" cy="489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altLang="ko-KR" sz="2400" spc="-9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01</a:t>
            </a:r>
            <a:endParaRPr lang="ko-KR" altLang="en-US" sz="2400" spc="-9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60A9A2B-A2E2-2154-E001-07A97053377A}"/>
              </a:ext>
            </a:extLst>
          </p:cNvPr>
          <p:cNvSpPr/>
          <p:nvPr/>
        </p:nvSpPr>
        <p:spPr>
          <a:xfrm>
            <a:off x="1393556" y="626256"/>
            <a:ext cx="3248294" cy="372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spc="-80">
                <a:solidFill>
                  <a:srgbClr val="6A4C93"/>
                </a:solidFill>
                <a:latin typeface="프리젠테이션 5 Medium" pitchFamily="2" charset="-127"/>
                <a:ea typeface="프리젠테이션 5 Medium" pitchFamily="2" charset="-127"/>
              </a:rPr>
              <a:t>주제 선정 및 배경 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D788080-128B-7370-9FF1-47C15D8EA328}"/>
              </a:ext>
            </a:extLst>
          </p:cNvPr>
          <p:cNvSpPr/>
          <p:nvPr/>
        </p:nvSpPr>
        <p:spPr>
          <a:xfrm>
            <a:off x="1393556" y="411164"/>
            <a:ext cx="3248294" cy="2445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spc="-80">
                <a:solidFill>
                  <a:srgbClr val="262122"/>
                </a:solidFill>
                <a:latin typeface="프리젠테이션 3 Light" pitchFamily="2" charset="-127"/>
                <a:ea typeface="프리젠테이션 3 Light" pitchFamily="2" charset="-127"/>
              </a:rPr>
              <a:t>Chapter 01 </a:t>
            </a:r>
            <a:r>
              <a:rPr lang="ko-KR" altLang="en-US" sz="1600" spc="-80">
                <a:solidFill>
                  <a:srgbClr val="262122"/>
                </a:solidFill>
                <a:latin typeface="프리젠테이션 3 Light" pitchFamily="2" charset="-127"/>
                <a:ea typeface="프리젠테이션 3 Light" pitchFamily="2" charset="-127"/>
              </a:rPr>
              <a:t> 프로젝트 소개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246E669-79DD-E4E2-68A5-1EE314880C18}"/>
              </a:ext>
            </a:extLst>
          </p:cNvPr>
          <p:cNvSpPr/>
          <p:nvPr/>
        </p:nvSpPr>
        <p:spPr>
          <a:xfrm>
            <a:off x="1393556" y="1034243"/>
            <a:ext cx="9744344" cy="9103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defTabSz="720000"/>
            <a:r>
              <a:rPr lang="ko-KR" altLang="en-US" sz="28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운전자라면 누구나 겪는 </a:t>
            </a:r>
            <a:r>
              <a:rPr lang="en-US" altLang="ko-KR" sz="28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Pain Point</a:t>
            </a:r>
            <a:endParaRPr lang="en-US" altLang="ko-KR" sz="24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defTabSz="720000"/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넘쳐나는 보험 상품 </a:t>
            </a:r>
            <a:r>
              <a:rPr lang="ko-KR" altLang="en-US" sz="2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과  </a:t>
            </a:r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복잡한 약관 </a:t>
            </a:r>
            <a:r>
              <a:rPr lang="ko-KR" altLang="en-US" sz="2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에 지친 소비자들의  </a:t>
            </a:r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정보 과부하 시대</a:t>
            </a:r>
            <a:r>
              <a:rPr lang="en-US" altLang="ko-KR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!</a:t>
            </a:r>
            <a:endParaRPr lang="ko-KR" altLang="en-US" sz="2800" spc="-8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33F4088-42FF-2CE3-85A7-D4A61DFAC6AA}"/>
              </a:ext>
            </a:extLst>
          </p:cNvPr>
          <p:cNvSpPr/>
          <p:nvPr/>
        </p:nvSpPr>
        <p:spPr>
          <a:xfrm>
            <a:off x="9083385" y="1034243"/>
            <a:ext cx="2002787" cy="918382"/>
          </a:xfrm>
          <a:prstGeom prst="rect">
            <a:avLst/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프리젠테이션 8 ExtraBold" pitchFamily="2" charset="-127"/>
                <a:ea typeface="프리젠테이션 8 ExtraBold" pitchFamily="2" charset="-127"/>
              </a:rPr>
              <a:t>왼쪽 주요 문장 </a:t>
            </a:r>
            <a:endParaRPr lang="en-US" altLang="ko-KR">
              <a:latin typeface="프리젠테이션 8 ExtraBold" pitchFamily="2" charset="-127"/>
              <a:ea typeface="프리젠테이션 8 ExtraBold" pitchFamily="2" charset="-127"/>
            </a:endParaRPr>
          </a:p>
          <a:p>
            <a:pPr algn="ctr"/>
            <a:r>
              <a:rPr lang="ko-KR" altLang="en-US">
                <a:latin typeface="프리젠테이션 8 ExtraBold" pitchFamily="2" charset="-127"/>
                <a:ea typeface="프리젠테이션 8 ExtraBold" pitchFamily="2" charset="-127"/>
              </a:rPr>
              <a:t>다시 정리 필요</a:t>
            </a:r>
          </a:p>
        </p:txBody>
      </p:sp>
      <p:grpSp>
        <p:nvGrpSpPr>
          <p:cNvPr id="1056" name="그룹 1055">
            <a:extLst>
              <a:ext uri="{FF2B5EF4-FFF2-40B4-BE49-F238E27FC236}">
                <a16:creationId xmlns:a16="http://schemas.microsoft.com/office/drawing/2014/main" id="{A72D280F-5D49-FFFF-5F95-A3F9D783CF37}"/>
              </a:ext>
            </a:extLst>
          </p:cNvPr>
          <p:cNvGrpSpPr/>
          <p:nvPr/>
        </p:nvGrpSpPr>
        <p:grpSpPr>
          <a:xfrm>
            <a:off x="1374874" y="4091157"/>
            <a:ext cx="299580" cy="299580"/>
            <a:chOff x="2944586" y="3684757"/>
            <a:chExt cx="299580" cy="299580"/>
          </a:xfrm>
        </p:grpSpPr>
        <p:sp>
          <p:nvSpPr>
            <p:cNvPr id="1042" name="타원 1041">
              <a:extLst>
                <a:ext uri="{FF2B5EF4-FFF2-40B4-BE49-F238E27FC236}">
                  <a16:creationId xmlns:a16="http://schemas.microsoft.com/office/drawing/2014/main" id="{AC1ED66A-3FE8-0948-75CC-4866B233028B}"/>
                </a:ext>
              </a:extLst>
            </p:cNvPr>
            <p:cNvSpPr/>
            <p:nvPr/>
          </p:nvSpPr>
          <p:spPr>
            <a:xfrm>
              <a:off x="2944586" y="3684757"/>
              <a:ext cx="299580" cy="299580"/>
            </a:xfrm>
            <a:prstGeom prst="ellipse">
              <a:avLst/>
            </a:prstGeom>
            <a:solidFill>
              <a:srgbClr val="D3D3D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050" name="그룹 1049">
              <a:extLst>
                <a:ext uri="{FF2B5EF4-FFF2-40B4-BE49-F238E27FC236}">
                  <a16:creationId xmlns:a16="http://schemas.microsoft.com/office/drawing/2014/main" id="{A4E4130B-4CE0-B139-DBE5-C277DDD589D0}"/>
                </a:ext>
              </a:extLst>
            </p:cNvPr>
            <p:cNvGrpSpPr/>
            <p:nvPr/>
          </p:nvGrpSpPr>
          <p:grpSpPr>
            <a:xfrm rot="2700000">
              <a:off x="2984838" y="3725009"/>
              <a:ext cx="219076" cy="219076"/>
              <a:chOff x="3502766" y="3632659"/>
              <a:chExt cx="666292" cy="666292"/>
            </a:xfrm>
            <a:solidFill>
              <a:srgbClr val="2D3142"/>
            </a:solidFill>
          </p:grpSpPr>
          <p:sp>
            <p:nvSpPr>
              <p:cNvPr id="1044" name="사각형: 둥근 모서리 1043">
                <a:extLst>
                  <a:ext uri="{FF2B5EF4-FFF2-40B4-BE49-F238E27FC236}">
                    <a16:creationId xmlns:a16="http://schemas.microsoft.com/office/drawing/2014/main" id="{6AF5177E-2158-8834-5581-508C9BEB3C15}"/>
                  </a:ext>
                </a:extLst>
              </p:cNvPr>
              <p:cNvSpPr/>
              <p:nvPr/>
            </p:nvSpPr>
            <p:spPr>
              <a:xfrm flipH="1">
                <a:off x="3769749" y="3632659"/>
                <a:ext cx="132325" cy="666292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49" name="사각형: 둥근 모서리 1048">
                <a:extLst>
                  <a:ext uri="{FF2B5EF4-FFF2-40B4-BE49-F238E27FC236}">
                    <a16:creationId xmlns:a16="http://schemas.microsoft.com/office/drawing/2014/main" id="{585E2CD1-7C71-D5DD-BB30-BD516171AD63}"/>
                  </a:ext>
                </a:extLst>
              </p:cNvPr>
              <p:cNvSpPr/>
              <p:nvPr/>
            </p:nvSpPr>
            <p:spPr>
              <a:xfrm rot="5400000" flipH="1">
                <a:off x="3769749" y="3632659"/>
                <a:ext cx="132325" cy="666292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1058" name="직사각형 1057">
            <a:extLst>
              <a:ext uri="{FF2B5EF4-FFF2-40B4-BE49-F238E27FC236}">
                <a16:creationId xmlns:a16="http://schemas.microsoft.com/office/drawing/2014/main" id="{B64FC5B5-155A-900D-BE99-90FA72CCF186}"/>
              </a:ext>
            </a:extLst>
          </p:cNvPr>
          <p:cNvSpPr/>
          <p:nvPr/>
        </p:nvSpPr>
        <p:spPr>
          <a:xfrm>
            <a:off x="1668713" y="4091157"/>
            <a:ext cx="2355322" cy="2995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spc="-80">
                <a:solidFill>
                  <a:srgbClr val="2D3142"/>
                </a:solidFill>
                <a:latin typeface="+mj-ea"/>
                <a:ea typeface="+mj-ea"/>
              </a:rPr>
              <a:t>Pain Point</a:t>
            </a:r>
            <a:endParaRPr lang="ko-KR" altLang="en-US" sz="1600" spc="-80">
              <a:solidFill>
                <a:srgbClr val="2D3142"/>
              </a:solidFill>
              <a:latin typeface="+mj-ea"/>
              <a:ea typeface="+mj-ea"/>
            </a:endParaRPr>
          </a:p>
        </p:txBody>
      </p:sp>
      <p:grpSp>
        <p:nvGrpSpPr>
          <p:cNvPr id="1066" name="그룹 1065">
            <a:extLst>
              <a:ext uri="{FF2B5EF4-FFF2-40B4-BE49-F238E27FC236}">
                <a16:creationId xmlns:a16="http://schemas.microsoft.com/office/drawing/2014/main" id="{C370A0C2-E327-B608-FF9B-54F9CE88E610}"/>
              </a:ext>
            </a:extLst>
          </p:cNvPr>
          <p:cNvGrpSpPr/>
          <p:nvPr/>
        </p:nvGrpSpPr>
        <p:grpSpPr>
          <a:xfrm>
            <a:off x="1431825" y="4483100"/>
            <a:ext cx="4251325" cy="299580"/>
            <a:chOff x="2218682" y="4076700"/>
            <a:chExt cx="3877318" cy="299580"/>
          </a:xfrm>
        </p:grpSpPr>
        <p:sp>
          <p:nvSpPr>
            <p:cNvPr id="1061" name="사각형: 둥근 모서리 1060">
              <a:extLst>
                <a:ext uri="{FF2B5EF4-FFF2-40B4-BE49-F238E27FC236}">
                  <a16:creationId xmlns:a16="http://schemas.microsoft.com/office/drawing/2014/main" id="{801B5833-A3E6-A387-115F-64EC692CD3E5}"/>
                </a:ext>
              </a:extLst>
            </p:cNvPr>
            <p:cNvSpPr/>
            <p:nvPr/>
          </p:nvSpPr>
          <p:spPr>
            <a:xfrm>
              <a:off x="2230417" y="4089962"/>
              <a:ext cx="1302905" cy="273056"/>
            </a:xfrm>
            <a:prstGeom prst="roundRect">
              <a:avLst>
                <a:gd name="adj" fmla="val 31193"/>
              </a:avLst>
            </a:prstGeom>
            <a:solidFill>
              <a:srgbClr val="6A4C93">
                <a:alpha val="5000"/>
              </a:srgbClr>
            </a:solidFill>
            <a:ln w="28575">
              <a:solidFill>
                <a:srgbClr val="6A4C9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6A4C93"/>
                </a:solidFill>
              </a:endParaRPr>
            </a:p>
          </p:txBody>
        </p:sp>
        <p:sp>
          <p:nvSpPr>
            <p:cNvPr id="1057" name="직사각형 1056">
              <a:extLst>
                <a:ext uri="{FF2B5EF4-FFF2-40B4-BE49-F238E27FC236}">
                  <a16:creationId xmlns:a16="http://schemas.microsoft.com/office/drawing/2014/main" id="{751CE732-CA36-C9AC-9007-EB7CF0CDAE39}"/>
                </a:ext>
              </a:extLst>
            </p:cNvPr>
            <p:cNvSpPr/>
            <p:nvPr/>
          </p:nvSpPr>
          <p:spPr>
            <a:xfrm>
              <a:off x="2218682" y="4076700"/>
              <a:ext cx="3877318" cy="2995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ko-KR" altLang="en-US" sz="1400">
                  <a:solidFill>
                    <a:srgbClr val="2D3142"/>
                  </a:solidFill>
                  <a:latin typeface="+mn-ea"/>
                </a:rPr>
                <a:t>보험사별 정보 파편화</a:t>
              </a:r>
              <a:r>
                <a:rPr lang="en-US" altLang="ko-KR" sz="1400">
                  <a:solidFill>
                    <a:srgbClr val="2D3142"/>
                  </a:solidFill>
                  <a:latin typeface="+mn-ea"/>
                </a:rPr>
                <a:t>   </a:t>
              </a:r>
              <a:r>
                <a:rPr lang="ko-KR" altLang="en-US" sz="1400">
                  <a:solidFill>
                    <a:srgbClr val="777777"/>
                  </a:solidFill>
                  <a:latin typeface="+mn-ea"/>
                </a:rPr>
                <a:t>흩어진 약관 정보로 인한</a:t>
              </a:r>
              <a:r>
                <a:rPr lang="en-US" altLang="ko-KR" sz="1400">
                  <a:solidFill>
                    <a:srgbClr val="777777"/>
                  </a:solidFill>
                  <a:latin typeface="+mn-ea"/>
                </a:rPr>
                <a:t> </a:t>
              </a:r>
              <a:r>
                <a:rPr lang="ko-KR" altLang="en-US" sz="1400">
                  <a:solidFill>
                    <a:srgbClr val="777777"/>
                  </a:solidFill>
                  <a:latin typeface="+mn-ea"/>
                </a:rPr>
                <a:t>고객 접근성이 낮음</a:t>
              </a:r>
            </a:p>
          </p:txBody>
        </p:sp>
      </p:grpSp>
      <p:grpSp>
        <p:nvGrpSpPr>
          <p:cNvPr id="1078" name="그룹 1077">
            <a:extLst>
              <a:ext uri="{FF2B5EF4-FFF2-40B4-BE49-F238E27FC236}">
                <a16:creationId xmlns:a16="http://schemas.microsoft.com/office/drawing/2014/main" id="{40F8E92B-97EA-36CC-C68F-DD5AB989E1E6}"/>
              </a:ext>
            </a:extLst>
          </p:cNvPr>
          <p:cNvGrpSpPr/>
          <p:nvPr/>
        </p:nvGrpSpPr>
        <p:grpSpPr>
          <a:xfrm>
            <a:off x="1431825" y="4926205"/>
            <a:ext cx="4251325" cy="299580"/>
            <a:chOff x="2218682" y="4076700"/>
            <a:chExt cx="3877318" cy="299580"/>
          </a:xfrm>
        </p:grpSpPr>
        <p:sp>
          <p:nvSpPr>
            <p:cNvPr id="1081" name="사각형: 둥근 모서리 1080">
              <a:extLst>
                <a:ext uri="{FF2B5EF4-FFF2-40B4-BE49-F238E27FC236}">
                  <a16:creationId xmlns:a16="http://schemas.microsoft.com/office/drawing/2014/main" id="{4D687731-42A6-8838-F78E-A7700076F761}"/>
                </a:ext>
              </a:extLst>
            </p:cNvPr>
            <p:cNvSpPr/>
            <p:nvPr/>
          </p:nvSpPr>
          <p:spPr>
            <a:xfrm>
              <a:off x="5083961" y="4089962"/>
              <a:ext cx="768805" cy="273056"/>
            </a:xfrm>
            <a:prstGeom prst="roundRect">
              <a:avLst>
                <a:gd name="adj" fmla="val 31193"/>
              </a:avLst>
            </a:prstGeom>
            <a:solidFill>
              <a:srgbClr val="6A4C93">
                <a:alpha val="5000"/>
              </a:srgbClr>
            </a:solidFill>
            <a:ln w="28575">
              <a:solidFill>
                <a:srgbClr val="6A4C9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6A4C93"/>
                </a:solidFill>
              </a:endParaRPr>
            </a:p>
          </p:txBody>
        </p:sp>
        <p:sp>
          <p:nvSpPr>
            <p:cNvPr id="1079" name="사각형: 둥근 모서리 1078">
              <a:extLst>
                <a:ext uri="{FF2B5EF4-FFF2-40B4-BE49-F238E27FC236}">
                  <a16:creationId xmlns:a16="http://schemas.microsoft.com/office/drawing/2014/main" id="{A8BD8D98-54CE-AE89-4D97-340ED17DE012}"/>
                </a:ext>
              </a:extLst>
            </p:cNvPr>
            <p:cNvSpPr/>
            <p:nvPr/>
          </p:nvSpPr>
          <p:spPr>
            <a:xfrm>
              <a:off x="2230416" y="4089962"/>
              <a:ext cx="1050982" cy="273056"/>
            </a:xfrm>
            <a:prstGeom prst="roundRect">
              <a:avLst>
                <a:gd name="adj" fmla="val 31193"/>
              </a:avLst>
            </a:prstGeom>
            <a:solidFill>
              <a:srgbClr val="6A4C93">
                <a:alpha val="5000"/>
              </a:srgbClr>
            </a:solidFill>
            <a:ln w="28575">
              <a:solidFill>
                <a:srgbClr val="6A4C9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6A4C93"/>
                </a:solidFill>
              </a:endParaRPr>
            </a:p>
          </p:txBody>
        </p:sp>
        <p:sp>
          <p:nvSpPr>
            <p:cNvPr id="1080" name="직사각형 1079">
              <a:extLst>
                <a:ext uri="{FF2B5EF4-FFF2-40B4-BE49-F238E27FC236}">
                  <a16:creationId xmlns:a16="http://schemas.microsoft.com/office/drawing/2014/main" id="{788C1D3A-A463-1A25-1B70-66E5402D91AA}"/>
                </a:ext>
              </a:extLst>
            </p:cNvPr>
            <p:cNvSpPr/>
            <p:nvPr/>
          </p:nvSpPr>
          <p:spPr>
            <a:xfrm>
              <a:off x="2218682" y="4076700"/>
              <a:ext cx="3877318" cy="2995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ko-KR" altLang="en-US" sz="1400">
                  <a:solidFill>
                    <a:srgbClr val="2D3142"/>
                  </a:solidFill>
                  <a:latin typeface="+mn-ea"/>
                </a:rPr>
                <a:t>어려운 전문 용어   </a:t>
              </a:r>
              <a:r>
                <a:rPr lang="ko-KR" altLang="en-US" sz="1400">
                  <a:solidFill>
                    <a:srgbClr val="777777"/>
                  </a:solidFill>
                  <a:latin typeface="+mn-ea"/>
                </a:rPr>
                <a:t>로 작성된 약관</a:t>
              </a:r>
              <a:r>
                <a:rPr lang="en-US" altLang="ko-KR" sz="1400">
                  <a:solidFill>
                    <a:srgbClr val="777777"/>
                  </a:solidFill>
                  <a:latin typeface="+mn-ea"/>
                </a:rPr>
                <a:t>, </a:t>
              </a:r>
              <a:r>
                <a:rPr lang="ko-KR" altLang="en-US" sz="1400">
                  <a:solidFill>
                    <a:srgbClr val="777777"/>
                  </a:solidFill>
                  <a:latin typeface="+mn-ea"/>
                </a:rPr>
                <a:t>비전문가들에게 </a:t>
              </a:r>
              <a:r>
                <a:rPr lang="ko-KR" altLang="en-US" sz="1400">
                  <a:solidFill>
                    <a:srgbClr val="2D3142"/>
                  </a:solidFill>
                  <a:latin typeface="+mn-ea"/>
                </a:rPr>
                <a:t>  이해도 저하 </a:t>
              </a:r>
              <a:endParaRPr lang="ko-KR" altLang="en-US" sz="1400">
                <a:solidFill>
                  <a:srgbClr val="777777"/>
                </a:solidFill>
                <a:latin typeface="+mn-ea"/>
              </a:endParaRPr>
            </a:p>
          </p:txBody>
        </p:sp>
      </p:grpSp>
      <p:grpSp>
        <p:nvGrpSpPr>
          <p:cNvPr id="1082" name="그룹 1081">
            <a:extLst>
              <a:ext uri="{FF2B5EF4-FFF2-40B4-BE49-F238E27FC236}">
                <a16:creationId xmlns:a16="http://schemas.microsoft.com/office/drawing/2014/main" id="{2C6E68DC-7DD1-DEB1-B6A2-52C819C4E61E}"/>
              </a:ext>
            </a:extLst>
          </p:cNvPr>
          <p:cNvGrpSpPr/>
          <p:nvPr/>
        </p:nvGrpSpPr>
        <p:grpSpPr>
          <a:xfrm>
            <a:off x="1431825" y="5369310"/>
            <a:ext cx="4251325" cy="299580"/>
            <a:chOff x="2218682" y="4076700"/>
            <a:chExt cx="3877318" cy="299580"/>
          </a:xfrm>
        </p:grpSpPr>
        <p:sp>
          <p:nvSpPr>
            <p:cNvPr id="1083" name="사각형: 둥근 모서리 1082">
              <a:extLst>
                <a:ext uri="{FF2B5EF4-FFF2-40B4-BE49-F238E27FC236}">
                  <a16:creationId xmlns:a16="http://schemas.microsoft.com/office/drawing/2014/main" id="{337D65E3-1109-AF63-6E90-E8B0FC4804F1}"/>
                </a:ext>
              </a:extLst>
            </p:cNvPr>
            <p:cNvSpPr/>
            <p:nvPr/>
          </p:nvSpPr>
          <p:spPr>
            <a:xfrm>
              <a:off x="5052107" y="4089962"/>
              <a:ext cx="800657" cy="273056"/>
            </a:xfrm>
            <a:prstGeom prst="roundRect">
              <a:avLst>
                <a:gd name="adj" fmla="val 31193"/>
              </a:avLst>
            </a:prstGeom>
            <a:solidFill>
              <a:srgbClr val="6A4C93">
                <a:alpha val="5000"/>
              </a:srgbClr>
            </a:solidFill>
            <a:ln w="28575">
              <a:solidFill>
                <a:srgbClr val="6A4C9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6A4C93"/>
                </a:solidFill>
              </a:endParaRPr>
            </a:p>
          </p:txBody>
        </p:sp>
        <p:sp>
          <p:nvSpPr>
            <p:cNvPr id="1084" name="사각형: 둥근 모서리 1083">
              <a:extLst>
                <a:ext uri="{FF2B5EF4-FFF2-40B4-BE49-F238E27FC236}">
                  <a16:creationId xmlns:a16="http://schemas.microsoft.com/office/drawing/2014/main" id="{FC76003F-C6E9-5EAC-DEA7-0CF790EB43F8}"/>
                </a:ext>
              </a:extLst>
            </p:cNvPr>
            <p:cNvSpPr/>
            <p:nvPr/>
          </p:nvSpPr>
          <p:spPr>
            <a:xfrm>
              <a:off x="2230416" y="4089962"/>
              <a:ext cx="654274" cy="273056"/>
            </a:xfrm>
            <a:prstGeom prst="roundRect">
              <a:avLst>
                <a:gd name="adj" fmla="val 31193"/>
              </a:avLst>
            </a:prstGeom>
            <a:solidFill>
              <a:srgbClr val="6A4C93">
                <a:alpha val="5000"/>
              </a:srgbClr>
            </a:solidFill>
            <a:ln w="28575">
              <a:solidFill>
                <a:srgbClr val="6A4C9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6A4C93"/>
                </a:solidFill>
              </a:endParaRPr>
            </a:p>
          </p:txBody>
        </p:sp>
        <p:sp>
          <p:nvSpPr>
            <p:cNvPr id="1085" name="직사각형 1084">
              <a:extLst>
                <a:ext uri="{FF2B5EF4-FFF2-40B4-BE49-F238E27FC236}">
                  <a16:creationId xmlns:a16="http://schemas.microsoft.com/office/drawing/2014/main" id="{ED686CFB-A5E2-ABEE-1F15-8A7B3A0EC829}"/>
                </a:ext>
              </a:extLst>
            </p:cNvPr>
            <p:cNvSpPr/>
            <p:nvPr/>
          </p:nvSpPr>
          <p:spPr>
            <a:xfrm>
              <a:off x="2218682" y="4076700"/>
              <a:ext cx="3877318" cy="2995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ko-KR" altLang="en-US" sz="1400">
                  <a:solidFill>
                    <a:srgbClr val="2D3142"/>
                  </a:solidFill>
                  <a:latin typeface="+mn-ea"/>
                </a:rPr>
                <a:t>직접 비교   </a:t>
              </a:r>
              <a:r>
                <a:rPr lang="ko-KR" altLang="en-US" sz="1400">
                  <a:solidFill>
                    <a:srgbClr val="777777"/>
                  </a:solidFill>
                  <a:latin typeface="+mn-ea"/>
                </a:rPr>
                <a:t>하며 찾아봐야 하는 선택의 다양성으로    </a:t>
              </a:r>
              <a:r>
                <a:rPr lang="ko-KR" altLang="en-US" sz="1400">
                  <a:solidFill>
                    <a:srgbClr val="2D3142"/>
                  </a:solidFill>
                  <a:latin typeface="+mn-ea"/>
                </a:rPr>
                <a:t>피로도 향상</a:t>
              </a:r>
              <a:endParaRPr lang="ko-KR" altLang="en-US" sz="1400">
                <a:solidFill>
                  <a:srgbClr val="777777"/>
                </a:solidFill>
                <a:latin typeface="+mn-ea"/>
              </a:endParaRP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ACEBCE3A-7C65-6705-B0E5-9AA667163269}"/>
              </a:ext>
            </a:extLst>
          </p:cNvPr>
          <p:cNvGrpSpPr/>
          <p:nvPr/>
        </p:nvGrpSpPr>
        <p:grpSpPr>
          <a:xfrm>
            <a:off x="1431825" y="5812414"/>
            <a:ext cx="4251325" cy="299580"/>
            <a:chOff x="1431825" y="5540908"/>
            <a:chExt cx="4251325" cy="299580"/>
          </a:xfrm>
        </p:grpSpPr>
        <p:sp>
          <p:nvSpPr>
            <p:cNvPr id="1087" name="사각형: 둥근 모서리 1086">
              <a:extLst>
                <a:ext uri="{FF2B5EF4-FFF2-40B4-BE49-F238E27FC236}">
                  <a16:creationId xmlns:a16="http://schemas.microsoft.com/office/drawing/2014/main" id="{514D25DF-A97F-0BE1-8F80-B40997CDDF0A}"/>
                </a:ext>
              </a:extLst>
            </p:cNvPr>
            <p:cNvSpPr/>
            <p:nvPr/>
          </p:nvSpPr>
          <p:spPr>
            <a:xfrm>
              <a:off x="3492222" y="5554170"/>
              <a:ext cx="1124132" cy="273056"/>
            </a:xfrm>
            <a:prstGeom prst="roundRect">
              <a:avLst>
                <a:gd name="adj" fmla="val 31193"/>
              </a:avLst>
            </a:prstGeom>
            <a:solidFill>
              <a:srgbClr val="6A4C93">
                <a:alpha val="5000"/>
              </a:srgbClr>
            </a:solidFill>
            <a:ln w="28575">
              <a:solidFill>
                <a:srgbClr val="6A4C9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6A4C93"/>
                </a:solidFill>
              </a:endParaRPr>
            </a:p>
          </p:txBody>
        </p:sp>
        <p:sp>
          <p:nvSpPr>
            <p:cNvPr id="1088" name="사각형: 둥근 모서리 1087">
              <a:extLst>
                <a:ext uri="{FF2B5EF4-FFF2-40B4-BE49-F238E27FC236}">
                  <a16:creationId xmlns:a16="http://schemas.microsoft.com/office/drawing/2014/main" id="{94E7FD84-0DC3-3BF4-23EE-F980B23EF8DE}"/>
                </a:ext>
              </a:extLst>
            </p:cNvPr>
            <p:cNvSpPr/>
            <p:nvPr/>
          </p:nvSpPr>
          <p:spPr>
            <a:xfrm>
              <a:off x="1444691" y="5554170"/>
              <a:ext cx="853910" cy="273056"/>
            </a:xfrm>
            <a:prstGeom prst="roundRect">
              <a:avLst>
                <a:gd name="adj" fmla="val 31193"/>
              </a:avLst>
            </a:prstGeom>
            <a:solidFill>
              <a:srgbClr val="6A4C93">
                <a:alpha val="5000"/>
              </a:srgbClr>
            </a:solidFill>
            <a:ln w="28575">
              <a:solidFill>
                <a:srgbClr val="6A4C9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6A4C93"/>
                </a:solidFill>
              </a:endParaRPr>
            </a:p>
          </p:txBody>
        </p:sp>
        <p:sp>
          <p:nvSpPr>
            <p:cNvPr id="1089" name="직사각형 1088">
              <a:extLst>
                <a:ext uri="{FF2B5EF4-FFF2-40B4-BE49-F238E27FC236}">
                  <a16:creationId xmlns:a16="http://schemas.microsoft.com/office/drawing/2014/main" id="{26BD8C78-81C1-1044-6576-7E8F0CCAE66B}"/>
                </a:ext>
              </a:extLst>
            </p:cNvPr>
            <p:cNvSpPr/>
            <p:nvPr/>
          </p:nvSpPr>
          <p:spPr>
            <a:xfrm>
              <a:off x="1431825" y="5540908"/>
              <a:ext cx="4251325" cy="2995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ko-KR" altLang="en-US" sz="1400">
                  <a:solidFill>
                    <a:srgbClr val="2D3142"/>
                  </a:solidFill>
                  <a:latin typeface="+mn-ea"/>
                </a:rPr>
                <a:t>단순한 정보   </a:t>
              </a:r>
              <a:r>
                <a:rPr lang="ko-KR" altLang="en-US" sz="1400">
                  <a:solidFill>
                    <a:srgbClr val="777777"/>
                  </a:solidFill>
                  <a:latin typeface="+mn-ea"/>
                </a:rPr>
                <a:t>안내하는 챗봇으로   </a:t>
              </a:r>
              <a:r>
                <a:rPr lang="ko-KR" altLang="en-US" sz="1400">
                  <a:solidFill>
                    <a:srgbClr val="2D3142"/>
                  </a:solidFill>
                  <a:latin typeface="+mn-ea"/>
                </a:rPr>
                <a:t>구체적 답변 부족</a:t>
              </a:r>
              <a:endParaRPr lang="ko-KR" altLang="en-US" sz="1400">
                <a:solidFill>
                  <a:srgbClr val="777777"/>
                </a:solidFill>
                <a:latin typeface="+mn-ea"/>
              </a:endParaRPr>
            </a:p>
          </p:txBody>
        </p:sp>
      </p:grpSp>
      <p:grpSp>
        <p:nvGrpSpPr>
          <p:cNvPr id="1055" name="그룹 1054">
            <a:extLst>
              <a:ext uri="{FF2B5EF4-FFF2-40B4-BE49-F238E27FC236}">
                <a16:creationId xmlns:a16="http://schemas.microsoft.com/office/drawing/2014/main" id="{B5833716-6D3C-0DFE-87B7-24FBAF64F193}"/>
              </a:ext>
            </a:extLst>
          </p:cNvPr>
          <p:cNvGrpSpPr/>
          <p:nvPr/>
        </p:nvGrpSpPr>
        <p:grpSpPr>
          <a:xfrm>
            <a:off x="6365895" y="4091156"/>
            <a:ext cx="299580" cy="299580"/>
            <a:chOff x="6654919" y="3684756"/>
            <a:chExt cx="299580" cy="299580"/>
          </a:xfrm>
        </p:grpSpPr>
        <p:sp>
          <p:nvSpPr>
            <p:cNvPr id="1043" name="타원 1042">
              <a:extLst>
                <a:ext uri="{FF2B5EF4-FFF2-40B4-BE49-F238E27FC236}">
                  <a16:creationId xmlns:a16="http://schemas.microsoft.com/office/drawing/2014/main" id="{B0524A5F-5CD5-A401-F0F8-217552460EC6}"/>
                </a:ext>
              </a:extLst>
            </p:cNvPr>
            <p:cNvSpPr/>
            <p:nvPr/>
          </p:nvSpPr>
          <p:spPr>
            <a:xfrm>
              <a:off x="6654919" y="3684756"/>
              <a:ext cx="299580" cy="299580"/>
            </a:xfrm>
            <a:prstGeom prst="ellipse">
              <a:avLst/>
            </a:prstGeom>
            <a:solidFill>
              <a:srgbClr val="6A4C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052" name="그룹 1051">
              <a:extLst>
                <a:ext uri="{FF2B5EF4-FFF2-40B4-BE49-F238E27FC236}">
                  <a16:creationId xmlns:a16="http://schemas.microsoft.com/office/drawing/2014/main" id="{3CC883BE-16C6-93FA-D673-4F1EFC7007BE}"/>
                </a:ext>
              </a:extLst>
            </p:cNvPr>
            <p:cNvGrpSpPr/>
            <p:nvPr/>
          </p:nvGrpSpPr>
          <p:grpSpPr>
            <a:xfrm rot="2700000">
              <a:off x="6751572" y="3724026"/>
              <a:ext cx="118976" cy="177809"/>
              <a:chOff x="3554289" y="3807676"/>
              <a:chExt cx="337542" cy="504466"/>
            </a:xfrm>
            <a:solidFill>
              <a:schemeClr val="bg1"/>
            </a:solidFill>
          </p:grpSpPr>
          <p:sp>
            <p:nvSpPr>
              <p:cNvPr id="1053" name="사각형: 둥근 모서리 1052">
                <a:extLst>
                  <a:ext uri="{FF2B5EF4-FFF2-40B4-BE49-F238E27FC236}">
                    <a16:creationId xmlns:a16="http://schemas.microsoft.com/office/drawing/2014/main" id="{86F9392B-C351-3DC2-E9E7-324BE62F5A46}"/>
                  </a:ext>
                </a:extLst>
              </p:cNvPr>
              <p:cNvSpPr/>
              <p:nvPr/>
            </p:nvSpPr>
            <p:spPr>
              <a:xfrm flipH="1">
                <a:off x="3759507" y="3807676"/>
                <a:ext cx="132324" cy="500596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54" name="사각형: 둥근 모서리 1053">
                <a:extLst>
                  <a:ext uri="{FF2B5EF4-FFF2-40B4-BE49-F238E27FC236}">
                    <a16:creationId xmlns:a16="http://schemas.microsoft.com/office/drawing/2014/main" id="{29342205-FEEE-59B2-7964-8F131E14FF36}"/>
                  </a:ext>
                </a:extLst>
              </p:cNvPr>
              <p:cNvSpPr/>
              <p:nvPr/>
            </p:nvSpPr>
            <p:spPr>
              <a:xfrm rot="5400000" flipH="1">
                <a:off x="3640177" y="4087203"/>
                <a:ext cx="139051" cy="310828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1059" name="직사각형 1058">
            <a:extLst>
              <a:ext uri="{FF2B5EF4-FFF2-40B4-BE49-F238E27FC236}">
                <a16:creationId xmlns:a16="http://schemas.microsoft.com/office/drawing/2014/main" id="{C684A276-770E-66E6-9D86-E26ED86EC02D}"/>
              </a:ext>
            </a:extLst>
          </p:cNvPr>
          <p:cNvSpPr/>
          <p:nvPr/>
        </p:nvSpPr>
        <p:spPr>
          <a:xfrm>
            <a:off x="6716686" y="4091157"/>
            <a:ext cx="2355322" cy="2995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spc="-80">
                <a:solidFill>
                  <a:srgbClr val="6A4C93"/>
                </a:solidFill>
                <a:latin typeface="+mj-ea"/>
                <a:ea typeface="+mj-ea"/>
              </a:rPr>
              <a:t>Solution</a:t>
            </a:r>
            <a:endParaRPr lang="ko-KR" altLang="en-US" sz="1600" spc="-80">
              <a:solidFill>
                <a:srgbClr val="6A4C93"/>
              </a:solidFill>
              <a:latin typeface="+mj-ea"/>
              <a:ea typeface="+mj-ea"/>
            </a:endParaRPr>
          </a:p>
        </p:txBody>
      </p:sp>
      <p:grpSp>
        <p:nvGrpSpPr>
          <p:cNvPr id="1105" name="그룹 1104">
            <a:extLst>
              <a:ext uri="{FF2B5EF4-FFF2-40B4-BE49-F238E27FC236}">
                <a16:creationId xmlns:a16="http://schemas.microsoft.com/office/drawing/2014/main" id="{1F604A63-7A0E-ACE2-CB17-EFCBA14E2686}"/>
              </a:ext>
            </a:extLst>
          </p:cNvPr>
          <p:cNvGrpSpPr/>
          <p:nvPr/>
        </p:nvGrpSpPr>
        <p:grpSpPr>
          <a:xfrm>
            <a:off x="6422846" y="4483100"/>
            <a:ext cx="4251325" cy="299580"/>
            <a:chOff x="2218682" y="4076700"/>
            <a:chExt cx="3877318" cy="299580"/>
          </a:xfrm>
        </p:grpSpPr>
        <p:sp>
          <p:nvSpPr>
            <p:cNvPr id="1106" name="사각형: 둥근 모서리 1105">
              <a:extLst>
                <a:ext uri="{FF2B5EF4-FFF2-40B4-BE49-F238E27FC236}">
                  <a16:creationId xmlns:a16="http://schemas.microsoft.com/office/drawing/2014/main" id="{98E191BE-B6BF-61F9-8542-2C9AE39D8B96}"/>
                </a:ext>
              </a:extLst>
            </p:cNvPr>
            <p:cNvSpPr/>
            <p:nvPr/>
          </p:nvSpPr>
          <p:spPr>
            <a:xfrm>
              <a:off x="2230416" y="4089962"/>
              <a:ext cx="1329040" cy="273056"/>
            </a:xfrm>
            <a:prstGeom prst="roundRect">
              <a:avLst>
                <a:gd name="adj" fmla="val 31193"/>
              </a:avLst>
            </a:prstGeom>
            <a:solidFill>
              <a:srgbClr val="6A4C93">
                <a:alpha val="84000"/>
              </a:srgbClr>
            </a:solidFill>
            <a:ln w="28575">
              <a:solidFill>
                <a:srgbClr val="6A4C9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6A4C93"/>
                </a:solidFill>
              </a:endParaRPr>
            </a:p>
          </p:txBody>
        </p:sp>
        <p:sp>
          <p:nvSpPr>
            <p:cNvPr id="1107" name="직사각형 1106">
              <a:extLst>
                <a:ext uri="{FF2B5EF4-FFF2-40B4-BE49-F238E27FC236}">
                  <a16:creationId xmlns:a16="http://schemas.microsoft.com/office/drawing/2014/main" id="{2FFA5B38-55DA-43D7-D607-C25446AEFA05}"/>
                </a:ext>
              </a:extLst>
            </p:cNvPr>
            <p:cNvSpPr/>
            <p:nvPr/>
          </p:nvSpPr>
          <p:spPr>
            <a:xfrm>
              <a:off x="2218682" y="4076700"/>
              <a:ext cx="3877318" cy="2995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ko-KR" altLang="en-US" sz="1400">
                  <a:solidFill>
                    <a:schemeClr val="bg1"/>
                  </a:solidFill>
                  <a:latin typeface="+mn-ea"/>
                </a:rPr>
                <a:t>보험사 약관 통합 제공</a:t>
              </a:r>
              <a:r>
                <a:rPr lang="en-US" altLang="ko-KR" sz="1400">
                  <a:solidFill>
                    <a:schemeClr val="bg1"/>
                  </a:solidFill>
                  <a:latin typeface="+mn-ea"/>
                </a:rPr>
                <a:t>   </a:t>
              </a:r>
              <a:r>
                <a:rPr lang="en-US" altLang="ko-KR" sz="1400">
                  <a:solidFill>
                    <a:srgbClr val="777777"/>
                  </a:solidFill>
                  <a:latin typeface="+mn-ea"/>
                </a:rPr>
                <a:t>, </a:t>
              </a:r>
              <a:r>
                <a:rPr lang="ko-KR" altLang="en-US" sz="1400">
                  <a:solidFill>
                    <a:srgbClr val="777777"/>
                  </a:solidFill>
                  <a:latin typeface="+mn-ea"/>
                </a:rPr>
                <a:t>챗봇으로 정보 접근성 극대화</a:t>
              </a:r>
            </a:p>
          </p:txBody>
        </p:sp>
      </p:grpSp>
      <p:grpSp>
        <p:nvGrpSpPr>
          <p:cNvPr id="1108" name="그룹 1107">
            <a:extLst>
              <a:ext uri="{FF2B5EF4-FFF2-40B4-BE49-F238E27FC236}">
                <a16:creationId xmlns:a16="http://schemas.microsoft.com/office/drawing/2014/main" id="{87E72B8E-30C5-F017-FC1F-312B6DF6E382}"/>
              </a:ext>
            </a:extLst>
          </p:cNvPr>
          <p:cNvGrpSpPr/>
          <p:nvPr/>
        </p:nvGrpSpPr>
        <p:grpSpPr>
          <a:xfrm>
            <a:off x="6422846" y="4926928"/>
            <a:ext cx="4251325" cy="299580"/>
            <a:chOff x="2218682" y="4076700"/>
            <a:chExt cx="3877318" cy="299580"/>
          </a:xfrm>
        </p:grpSpPr>
        <p:sp>
          <p:nvSpPr>
            <p:cNvPr id="1117" name="사각형: 둥근 모서리 1116">
              <a:extLst>
                <a:ext uri="{FF2B5EF4-FFF2-40B4-BE49-F238E27FC236}">
                  <a16:creationId xmlns:a16="http://schemas.microsoft.com/office/drawing/2014/main" id="{FA48AECE-4ADF-B67C-77C3-27264AAFB070}"/>
                </a:ext>
              </a:extLst>
            </p:cNvPr>
            <p:cNvSpPr/>
            <p:nvPr/>
          </p:nvSpPr>
          <p:spPr>
            <a:xfrm>
              <a:off x="5227368" y="4089962"/>
              <a:ext cx="764460" cy="273056"/>
            </a:xfrm>
            <a:prstGeom prst="roundRect">
              <a:avLst>
                <a:gd name="adj" fmla="val 31193"/>
              </a:avLst>
            </a:prstGeom>
            <a:solidFill>
              <a:srgbClr val="6A4C93">
                <a:alpha val="84000"/>
              </a:srgbClr>
            </a:solidFill>
            <a:ln w="28575">
              <a:solidFill>
                <a:srgbClr val="6A4C9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6A4C93"/>
                </a:solidFill>
              </a:endParaRPr>
            </a:p>
          </p:txBody>
        </p:sp>
        <p:sp>
          <p:nvSpPr>
            <p:cNvPr id="1109" name="사각형: 둥근 모서리 1108">
              <a:extLst>
                <a:ext uri="{FF2B5EF4-FFF2-40B4-BE49-F238E27FC236}">
                  <a16:creationId xmlns:a16="http://schemas.microsoft.com/office/drawing/2014/main" id="{11B2CF6D-EB0B-BF1A-7F8F-134483656A5C}"/>
                </a:ext>
              </a:extLst>
            </p:cNvPr>
            <p:cNvSpPr/>
            <p:nvPr/>
          </p:nvSpPr>
          <p:spPr>
            <a:xfrm>
              <a:off x="2739977" y="4089962"/>
              <a:ext cx="1293790" cy="273056"/>
            </a:xfrm>
            <a:prstGeom prst="roundRect">
              <a:avLst>
                <a:gd name="adj" fmla="val 31193"/>
              </a:avLst>
            </a:prstGeom>
            <a:solidFill>
              <a:srgbClr val="6A4C93">
                <a:alpha val="84000"/>
              </a:srgbClr>
            </a:solidFill>
            <a:ln w="28575">
              <a:solidFill>
                <a:srgbClr val="6A4C9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6A4C93"/>
                </a:solidFill>
              </a:endParaRPr>
            </a:p>
          </p:txBody>
        </p:sp>
        <p:sp>
          <p:nvSpPr>
            <p:cNvPr id="1110" name="직사각형 1109">
              <a:extLst>
                <a:ext uri="{FF2B5EF4-FFF2-40B4-BE49-F238E27FC236}">
                  <a16:creationId xmlns:a16="http://schemas.microsoft.com/office/drawing/2014/main" id="{36DF917E-9B7C-2C18-3035-AD9F01AE7791}"/>
                </a:ext>
              </a:extLst>
            </p:cNvPr>
            <p:cNvSpPr/>
            <p:nvPr/>
          </p:nvSpPr>
          <p:spPr>
            <a:xfrm>
              <a:off x="2218682" y="4076700"/>
              <a:ext cx="3877318" cy="2995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ko-KR" altLang="en-US" sz="1400">
                  <a:solidFill>
                    <a:srgbClr val="777777"/>
                  </a:solidFill>
                  <a:latin typeface="+mn-ea"/>
                </a:rPr>
                <a:t>약관 내   </a:t>
              </a:r>
              <a:r>
                <a:rPr lang="ko-KR" altLang="en-US" sz="1400">
                  <a:solidFill>
                    <a:schemeClr val="bg1"/>
                  </a:solidFill>
                  <a:latin typeface="+mn-ea"/>
                </a:rPr>
                <a:t>전문 용어들 상세 해설   </a:t>
              </a:r>
              <a:r>
                <a:rPr lang="en-US" altLang="ko-KR" sz="1400">
                  <a:solidFill>
                    <a:srgbClr val="777777"/>
                  </a:solidFill>
                  <a:latin typeface="+mn-ea"/>
                </a:rPr>
                <a:t>,</a:t>
              </a:r>
              <a:r>
                <a:rPr lang="ko-KR" altLang="en-US" sz="1400">
                  <a:solidFill>
                    <a:srgbClr val="777777"/>
                  </a:solidFill>
                  <a:latin typeface="+mn-ea"/>
                </a:rPr>
                <a:t>쉽게 이해할 수 있게   </a:t>
              </a:r>
              <a:r>
                <a:rPr lang="ko-KR" altLang="en-US" sz="1400">
                  <a:solidFill>
                    <a:schemeClr val="bg1"/>
                  </a:solidFill>
                  <a:latin typeface="+mn-ea"/>
                </a:rPr>
                <a:t>명확성 증진 </a:t>
              </a:r>
            </a:p>
          </p:txBody>
        </p:sp>
      </p:grpSp>
      <p:grpSp>
        <p:nvGrpSpPr>
          <p:cNvPr id="1111" name="그룹 1110">
            <a:extLst>
              <a:ext uri="{FF2B5EF4-FFF2-40B4-BE49-F238E27FC236}">
                <a16:creationId xmlns:a16="http://schemas.microsoft.com/office/drawing/2014/main" id="{D29C4650-C41B-48EB-0B0A-DF12B0CF270C}"/>
              </a:ext>
            </a:extLst>
          </p:cNvPr>
          <p:cNvGrpSpPr/>
          <p:nvPr/>
        </p:nvGrpSpPr>
        <p:grpSpPr>
          <a:xfrm>
            <a:off x="6422846" y="5370756"/>
            <a:ext cx="4251325" cy="299580"/>
            <a:chOff x="2218682" y="4076700"/>
            <a:chExt cx="3877318" cy="299580"/>
          </a:xfrm>
        </p:grpSpPr>
        <p:sp>
          <p:nvSpPr>
            <p:cNvPr id="1118" name="사각형: 둥근 모서리 1117">
              <a:extLst>
                <a:ext uri="{FF2B5EF4-FFF2-40B4-BE49-F238E27FC236}">
                  <a16:creationId xmlns:a16="http://schemas.microsoft.com/office/drawing/2014/main" id="{E203A792-1327-0D02-19FF-4573510D5ADA}"/>
                </a:ext>
              </a:extLst>
            </p:cNvPr>
            <p:cNvSpPr/>
            <p:nvPr/>
          </p:nvSpPr>
          <p:spPr>
            <a:xfrm>
              <a:off x="3641981" y="4089962"/>
              <a:ext cx="735240" cy="273056"/>
            </a:xfrm>
            <a:prstGeom prst="roundRect">
              <a:avLst>
                <a:gd name="adj" fmla="val 31193"/>
              </a:avLst>
            </a:prstGeom>
            <a:solidFill>
              <a:srgbClr val="6A4C93">
                <a:alpha val="84000"/>
              </a:srgbClr>
            </a:solidFill>
            <a:ln w="28575">
              <a:solidFill>
                <a:srgbClr val="6A4C9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6A4C93"/>
                </a:solidFill>
              </a:endParaRPr>
            </a:p>
          </p:txBody>
        </p:sp>
        <p:sp>
          <p:nvSpPr>
            <p:cNvPr id="1112" name="사각형: 둥근 모서리 1111">
              <a:extLst>
                <a:ext uri="{FF2B5EF4-FFF2-40B4-BE49-F238E27FC236}">
                  <a16:creationId xmlns:a16="http://schemas.microsoft.com/office/drawing/2014/main" id="{92E9562D-C565-6160-E5F7-A4E44BDC517C}"/>
                </a:ext>
              </a:extLst>
            </p:cNvPr>
            <p:cNvSpPr/>
            <p:nvPr/>
          </p:nvSpPr>
          <p:spPr>
            <a:xfrm>
              <a:off x="2704726" y="4089962"/>
              <a:ext cx="717908" cy="273056"/>
            </a:xfrm>
            <a:prstGeom prst="roundRect">
              <a:avLst>
                <a:gd name="adj" fmla="val 31193"/>
              </a:avLst>
            </a:prstGeom>
            <a:solidFill>
              <a:srgbClr val="6A4C93">
                <a:alpha val="84000"/>
              </a:srgbClr>
            </a:solidFill>
            <a:ln w="28575">
              <a:solidFill>
                <a:srgbClr val="6A4C9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6A4C93"/>
                </a:solidFill>
              </a:endParaRPr>
            </a:p>
          </p:txBody>
        </p:sp>
        <p:sp>
          <p:nvSpPr>
            <p:cNvPr id="1113" name="직사각형 1112">
              <a:extLst>
                <a:ext uri="{FF2B5EF4-FFF2-40B4-BE49-F238E27FC236}">
                  <a16:creationId xmlns:a16="http://schemas.microsoft.com/office/drawing/2014/main" id="{589D41E9-DB54-4263-1B76-A9BFECCD68D0}"/>
                </a:ext>
              </a:extLst>
            </p:cNvPr>
            <p:cNvSpPr/>
            <p:nvPr/>
          </p:nvSpPr>
          <p:spPr>
            <a:xfrm>
              <a:off x="2218682" y="4076700"/>
              <a:ext cx="3877318" cy="2995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ko-KR" altLang="en-US" sz="1400">
                  <a:solidFill>
                    <a:srgbClr val="777777"/>
                  </a:solidFill>
                  <a:latin typeface="+mn-ea"/>
                </a:rPr>
                <a:t>맞춤형</a:t>
              </a:r>
              <a:r>
                <a:rPr lang="ko-KR" altLang="en-US" sz="1400">
                  <a:solidFill>
                    <a:schemeClr val="bg1"/>
                  </a:solidFill>
                  <a:latin typeface="+mn-ea"/>
                </a:rPr>
                <a:t>   체크리스트   </a:t>
              </a:r>
              <a:r>
                <a:rPr lang="ko-KR" altLang="en-US" sz="1400">
                  <a:solidFill>
                    <a:srgbClr val="777777"/>
                  </a:solidFill>
                  <a:latin typeface="+mn-ea"/>
                </a:rPr>
                <a:t>와   </a:t>
              </a:r>
              <a:r>
                <a:rPr lang="ko-KR" altLang="en-US" sz="1400">
                  <a:solidFill>
                    <a:schemeClr val="bg1"/>
                  </a:solidFill>
                  <a:latin typeface="+mn-ea"/>
                </a:rPr>
                <a:t>추천 시스템   </a:t>
              </a:r>
              <a:r>
                <a:rPr lang="ko-KR" altLang="en-US" sz="1400">
                  <a:solidFill>
                    <a:srgbClr val="777777"/>
                  </a:solidFill>
                  <a:latin typeface="+mn-ea"/>
                </a:rPr>
                <a:t>으로 간편한 상품 선택 지원</a:t>
              </a:r>
            </a:p>
          </p:txBody>
        </p:sp>
      </p:grpSp>
      <p:grpSp>
        <p:nvGrpSpPr>
          <p:cNvPr id="1114" name="그룹 1113">
            <a:extLst>
              <a:ext uri="{FF2B5EF4-FFF2-40B4-BE49-F238E27FC236}">
                <a16:creationId xmlns:a16="http://schemas.microsoft.com/office/drawing/2014/main" id="{F6C4DE65-EACF-1924-FECF-42CF609AF98F}"/>
              </a:ext>
            </a:extLst>
          </p:cNvPr>
          <p:cNvGrpSpPr/>
          <p:nvPr/>
        </p:nvGrpSpPr>
        <p:grpSpPr>
          <a:xfrm>
            <a:off x="6422846" y="5814585"/>
            <a:ext cx="4394280" cy="299580"/>
            <a:chOff x="2218682" y="4076700"/>
            <a:chExt cx="4007697" cy="299580"/>
          </a:xfrm>
        </p:grpSpPr>
        <p:sp>
          <p:nvSpPr>
            <p:cNvPr id="1119" name="사각형: 둥근 모서리 1118">
              <a:extLst>
                <a:ext uri="{FF2B5EF4-FFF2-40B4-BE49-F238E27FC236}">
                  <a16:creationId xmlns:a16="http://schemas.microsoft.com/office/drawing/2014/main" id="{C8FAD63B-56E8-E5E9-131A-1124BB75EAE4}"/>
                </a:ext>
              </a:extLst>
            </p:cNvPr>
            <p:cNvSpPr/>
            <p:nvPr/>
          </p:nvSpPr>
          <p:spPr>
            <a:xfrm>
              <a:off x="5205728" y="4089962"/>
              <a:ext cx="1020651" cy="273056"/>
            </a:xfrm>
            <a:prstGeom prst="roundRect">
              <a:avLst>
                <a:gd name="adj" fmla="val 31193"/>
              </a:avLst>
            </a:prstGeom>
            <a:solidFill>
              <a:srgbClr val="6A4C93">
                <a:alpha val="84000"/>
              </a:srgbClr>
            </a:solidFill>
            <a:ln w="28575">
              <a:solidFill>
                <a:srgbClr val="6A4C9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6A4C93"/>
                </a:solidFill>
              </a:endParaRPr>
            </a:p>
          </p:txBody>
        </p:sp>
        <p:sp>
          <p:nvSpPr>
            <p:cNvPr id="1115" name="사각형: 둥근 모서리 1114">
              <a:extLst>
                <a:ext uri="{FF2B5EF4-FFF2-40B4-BE49-F238E27FC236}">
                  <a16:creationId xmlns:a16="http://schemas.microsoft.com/office/drawing/2014/main" id="{E20862B8-7D0D-614C-03E0-F81431852FCF}"/>
                </a:ext>
              </a:extLst>
            </p:cNvPr>
            <p:cNvSpPr/>
            <p:nvPr/>
          </p:nvSpPr>
          <p:spPr>
            <a:xfrm>
              <a:off x="2230415" y="4089962"/>
              <a:ext cx="1372476" cy="273056"/>
            </a:xfrm>
            <a:prstGeom prst="roundRect">
              <a:avLst>
                <a:gd name="adj" fmla="val 31193"/>
              </a:avLst>
            </a:prstGeom>
            <a:solidFill>
              <a:srgbClr val="6A4C93">
                <a:alpha val="84000"/>
              </a:srgbClr>
            </a:solidFill>
            <a:ln w="28575">
              <a:solidFill>
                <a:srgbClr val="6A4C9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6A4C93"/>
                </a:solidFill>
              </a:endParaRPr>
            </a:p>
          </p:txBody>
        </p:sp>
        <p:sp>
          <p:nvSpPr>
            <p:cNvPr id="1116" name="직사각형 1115">
              <a:extLst>
                <a:ext uri="{FF2B5EF4-FFF2-40B4-BE49-F238E27FC236}">
                  <a16:creationId xmlns:a16="http://schemas.microsoft.com/office/drawing/2014/main" id="{05542068-77C9-37C9-55B5-CCB0B06C40C3}"/>
                </a:ext>
              </a:extLst>
            </p:cNvPr>
            <p:cNvSpPr/>
            <p:nvPr/>
          </p:nvSpPr>
          <p:spPr>
            <a:xfrm>
              <a:off x="2218682" y="4076700"/>
              <a:ext cx="3877318" cy="2995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t"/>
            <a:lstStyle/>
            <a:p>
              <a:r>
                <a:rPr lang="en-US" altLang="ko-KR" sz="1400">
                  <a:solidFill>
                    <a:schemeClr val="bg1"/>
                  </a:solidFill>
                  <a:latin typeface="+mn-ea"/>
                </a:rPr>
                <a:t>LLM </a:t>
              </a:r>
              <a:r>
                <a:rPr lang="ko-KR" altLang="en-US" sz="1400">
                  <a:solidFill>
                    <a:schemeClr val="bg1"/>
                  </a:solidFill>
                  <a:latin typeface="+mn-ea"/>
                </a:rPr>
                <a:t>기반 소통형 챗봇   </a:t>
              </a:r>
              <a:r>
                <a:rPr lang="ko-KR" altLang="en-US" sz="1400">
                  <a:solidFill>
                    <a:srgbClr val="777777"/>
                  </a:solidFill>
                  <a:latin typeface="+mn-ea"/>
                </a:rPr>
                <a:t>도입</a:t>
              </a:r>
              <a:r>
                <a:rPr lang="en-US" altLang="ko-KR" sz="1400">
                  <a:solidFill>
                    <a:srgbClr val="777777"/>
                  </a:solidFill>
                  <a:latin typeface="+mn-ea"/>
                </a:rPr>
                <a:t>, </a:t>
              </a:r>
              <a:r>
                <a:rPr lang="ko-KR" altLang="en-US" sz="1400">
                  <a:solidFill>
                    <a:srgbClr val="777777"/>
                  </a:solidFill>
                  <a:latin typeface="+mn-ea"/>
                </a:rPr>
                <a:t>고객 질문 의도에 맞춰   </a:t>
              </a:r>
              <a:r>
                <a:rPr lang="ko-KR" altLang="en-US" sz="1400">
                  <a:solidFill>
                    <a:schemeClr val="bg1"/>
                  </a:solidFill>
                  <a:latin typeface="+mn-ea"/>
                </a:rPr>
                <a:t>심층적 상담 제공 </a:t>
              </a:r>
            </a:p>
          </p:txBody>
        </p:sp>
      </p:grpSp>
      <p:grpSp>
        <p:nvGrpSpPr>
          <p:cNvPr id="1125" name="그룹 1124">
            <a:extLst>
              <a:ext uri="{FF2B5EF4-FFF2-40B4-BE49-F238E27FC236}">
                <a16:creationId xmlns:a16="http://schemas.microsoft.com/office/drawing/2014/main" id="{98CABED1-238B-201F-597B-54DE9323DD85}"/>
              </a:ext>
            </a:extLst>
          </p:cNvPr>
          <p:cNvGrpSpPr/>
          <p:nvPr/>
        </p:nvGrpSpPr>
        <p:grpSpPr>
          <a:xfrm>
            <a:off x="4090306" y="2799129"/>
            <a:ext cx="4011388" cy="691620"/>
            <a:chOff x="3538764" y="2582251"/>
            <a:chExt cx="4011388" cy="691620"/>
          </a:xfrm>
          <a:solidFill>
            <a:schemeClr val="bg1"/>
          </a:solidFill>
        </p:grpSpPr>
        <p:sp>
          <p:nvSpPr>
            <p:cNvPr id="1123" name="사각형: 둥근 모서리 1122">
              <a:extLst>
                <a:ext uri="{FF2B5EF4-FFF2-40B4-BE49-F238E27FC236}">
                  <a16:creationId xmlns:a16="http://schemas.microsoft.com/office/drawing/2014/main" id="{DAE7BA32-7963-99C6-DBF2-D95C4A72C5BB}"/>
                </a:ext>
              </a:extLst>
            </p:cNvPr>
            <p:cNvSpPr/>
            <p:nvPr/>
          </p:nvSpPr>
          <p:spPr>
            <a:xfrm>
              <a:off x="3538764" y="2582251"/>
              <a:ext cx="2206171" cy="691620"/>
            </a:xfrm>
            <a:prstGeom prst="roundRect">
              <a:avLst>
                <a:gd name="adj" fmla="val 50000"/>
              </a:avLst>
            </a:prstGeom>
            <a:grpFill/>
            <a:ln>
              <a:solidFill>
                <a:srgbClr val="6A4C9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4" name="사각형: 둥근 모서리 1123">
              <a:extLst>
                <a:ext uri="{FF2B5EF4-FFF2-40B4-BE49-F238E27FC236}">
                  <a16:creationId xmlns:a16="http://schemas.microsoft.com/office/drawing/2014/main" id="{AE1DFFB3-EDE8-E075-0E3B-49A259995C72}"/>
                </a:ext>
              </a:extLst>
            </p:cNvPr>
            <p:cNvSpPr/>
            <p:nvPr/>
          </p:nvSpPr>
          <p:spPr>
            <a:xfrm>
              <a:off x="5343981" y="2582251"/>
              <a:ext cx="2206171" cy="691620"/>
            </a:xfrm>
            <a:prstGeom prst="roundRect">
              <a:avLst>
                <a:gd name="adj" fmla="val 50000"/>
              </a:avLst>
            </a:prstGeom>
            <a:grpFill/>
            <a:ln>
              <a:solidFill>
                <a:srgbClr val="6A4C9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126" name="직사각형 1125">
            <a:extLst>
              <a:ext uri="{FF2B5EF4-FFF2-40B4-BE49-F238E27FC236}">
                <a16:creationId xmlns:a16="http://schemas.microsoft.com/office/drawing/2014/main" id="{20DCAF16-9E65-4BBA-15A4-B1709AE9D629}"/>
              </a:ext>
            </a:extLst>
          </p:cNvPr>
          <p:cNvSpPr/>
          <p:nvPr/>
        </p:nvSpPr>
        <p:spPr>
          <a:xfrm>
            <a:off x="9083385" y="500478"/>
            <a:ext cx="2002787" cy="45919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프리젠테이션 8 ExtraBold" pitchFamily="2" charset="-127"/>
                <a:ea typeface="프리젠테이션 8 ExtraBold" pitchFamily="2" charset="-127"/>
              </a:rPr>
              <a:t>문제점 </a:t>
            </a:r>
            <a:r>
              <a:rPr lang="en-US" altLang="ko-KR">
                <a:latin typeface="프리젠테이션 8 ExtraBold" pitchFamily="2" charset="-127"/>
                <a:ea typeface="프리젠테이션 8 ExtraBold" pitchFamily="2" charset="-127"/>
              </a:rPr>
              <a:t>-&gt; </a:t>
            </a:r>
            <a:r>
              <a:rPr lang="ko-KR" altLang="en-US">
                <a:latin typeface="프리젠테이션 8 ExtraBold" pitchFamily="2" charset="-127"/>
                <a:ea typeface="프리젠테이션 8 ExtraBold" pitchFamily="2" charset="-127"/>
              </a:rPr>
              <a:t>해결방안</a:t>
            </a:r>
          </a:p>
        </p:txBody>
      </p:sp>
    </p:spTree>
    <p:extLst>
      <p:ext uri="{BB962C8B-B14F-4D97-AF65-F5344CB8AC3E}">
        <p14:creationId xmlns:p14="http://schemas.microsoft.com/office/powerpoint/2010/main" val="180664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6E247-3CA8-EF56-904A-B0E3E6BE7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30" name="그룹 2129">
            <a:extLst>
              <a:ext uri="{FF2B5EF4-FFF2-40B4-BE49-F238E27FC236}">
                <a16:creationId xmlns:a16="http://schemas.microsoft.com/office/drawing/2014/main" id="{BEA8BBFC-95D0-45B5-D659-67008E77C138}"/>
              </a:ext>
            </a:extLst>
          </p:cNvPr>
          <p:cNvGrpSpPr/>
          <p:nvPr/>
        </p:nvGrpSpPr>
        <p:grpSpPr>
          <a:xfrm>
            <a:off x="721001" y="2288086"/>
            <a:ext cx="3134553" cy="4395834"/>
            <a:chOff x="530863" y="2288086"/>
            <a:chExt cx="3134553" cy="4395834"/>
          </a:xfrm>
        </p:grpSpPr>
        <p:sp>
          <p:nvSpPr>
            <p:cNvPr id="58" name="타원 57">
              <a:extLst>
                <a:ext uri="{FF2B5EF4-FFF2-40B4-BE49-F238E27FC236}">
                  <a16:creationId xmlns:a16="http://schemas.microsoft.com/office/drawing/2014/main" id="{BF47455B-AA09-9E81-123E-5849BF245E23}"/>
                </a:ext>
              </a:extLst>
            </p:cNvPr>
            <p:cNvSpPr/>
            <p:nvPr/>
          </p:nvSpPr>
          <p:spPr>
            <a:xfrm>
              <a:off x="909569" y="3222326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" name="타원 58">
              <a:extLst>
                <a:ext uri="{FF2B5EF4-FFF2-40B4-BE49-F238E27FC236}">
                  <a16:creationId xmlns:a16="http://schemas.microsoft.com/office/drawing/2014/main" id="{A2D6EDFA-888B-3CB0-9AD3-7B7DCF964A93}"/>
                </a:ext>
              </a:extLst>
            </p:cNvPr>
            <p:cNvSpPr/>
            <p:nvPr/>
          </p:nvSpPr>
          <p:spPr>
            <a:xfrm>
              <a:off x="2403380" y="5371021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solidFill>
                <a:srgbClr val="D3D3D3">
                  <a:alpha val="3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" name="타원 59">
              <a:extLst>
                <a:ext uri="{FF2B5EF4-FFF2-40B4-BE49-F238E27FC236}">
                  <a16:creationId xmlns:a16="http://schemas.microsoft.com/office/drawing/2014/main" id="{B84E2CF5-3AC8-1DF2-0665-02C4F4535A67}"/>
                </a:ext>
              </a:extLst>
            </p:cNvPr>
            <p:cNvSpPr/>
            <p:nvPr/>
          </p:nvSpPr>
          <p:spPr>
            <a:xfrm>
              <a:off x="3548300" y="4226375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solidFill>
                <a:srgbClr val="D3D3D3">
                  <a:alpha val="3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" name="타원 60">
              <a:extLst>
                <a:ext uri="{FF2B5EF4-FFF2-40B4-BE49-F238E27FC236}">
                  <a16:creationId xmlns:a16="http://schemas.microsoft.com/office/drawing/2014/main" id="{FAC885E8-661A-482D-BCE9-A03C0E3DB15A}"/>
                </a:ext>
              </a:extLst>
            </p:cNvPr>
            <p:cNvSpPr/>
            <p:nvPr/>
          </p:nvSpPr>
          <p:spPr>
            <a:xfrm>
              <a:off x="2014998" y="3049294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" name="타원 61">
              <a:extLst>
                <a:ext uri="{FF2B5EF4-FFF2-40B4-BE49-F238E27FC236}">
                  <a16:creationId xmlns:a16="http://schemas.microsoft.com/office/drawing/2014/main" id="{4E7386AE-5A35-D6CB-9C40-5986B2ECCB09}"/>
                </a:ext>
              </a:extLst>
            </p:cNvPr>
            <p:cNvSpPr/>
            <p:nvPr/>
          </p:nvSpPr>
          <p:spPr>
            <a:xfrm>
              <a:off x="1515334" y="2803902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타원 62">
              <a:extLst>
                <a:ext uri="{FF2B5EF4-FFF2-40B4-BE49-F238E27FC236}">
                  <a16:creationId xmlns:a16="http://schemas.microsoft.com/office/drawing/2014/main" id="{B350B5A1-63DF-7787-8547-59D14ED0691C}"/>
                </a:ext>
              </a:extLst>
            </p:cNvPr>
            <p:cNvSpPr/>
            <p:nvPr/>
          </p:nvSpPr>
          <p:spPr>
            <a:xfrm>
              <a:off x="627361" y="2686786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48" name="타원 2047">
              <a:extLst>
                <a:ext uri="{FF2B5EF4-FFF2-40B4-BE49-F238E27FC236}">
                  <a16:creationId xmlns:a16="http://schemas.microsoft.com/office/drawing/2014/main" id="{1AF08549-BFD4-90B3-2CAF-9F78CCAAFE6D}"/>
                </a:ext>
              </a:extLst>
            </p:cNvPr>
            <p:cNvSpPr/>
            <p:nvPr/>
          </p:nvSpPr>
          <p:spPr>
            <a:xfrm>
              <a:off x="530863" y="3559834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49" name="타원 2048">
              <a:extLst>
                <a:ext uri="{FF2B5EF4-FFF2-40B4-BE49-F238E27FC236}">
                  <a16:creationId xmlns:a16="http://schemas.microsoft.com/office/drawing/2014/main" id="{851D72C5-B664-9CE5-BA47-5937D4384EF2}"/>
                </a:ext>
              </a:extLst>
            </p:cNvPr>
            <p:cNvSpPr/>
            <p:nvPr/>
          </p:nvSpPr>
          <p:spPr>
            <a:xfrm>
              <a:off x="3132831" y="3569060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51" name="타원 2050">
              <a:extLst>
                <a:ext uri="{FF2B5EF4-FFF2-40B4-BE49-F238E27FC236}">
                  <a16:creationId xmlns:a16="http://schemas.microsoft.com/office/drawing/2014/main" id="{825B100D-5AB4-DFF7-E6D2-A837CF1E7868}"/>
                </a:ext>
              </a:extLst>
            </p:cNvPr>
            <p:cNvSpPr/>
            <p:nvPr/>
          </p:nvSpPr>
          <p:spPr>
            <a:xfrm>
              <a:off x="1595279" y="3049294"/>
              <a:ext cx="74340" cy="74340"/>
            </a:xfrm>
            <a:prstGeom prst="ellipse">
              <a:avLst/>
            </a:prstGeom>
            <a:solidFill>
              <a:srgbClr val="2D3142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53" name="타원 2052">
              <a:extLst>
                <a:ext uri="{FF2B5EF4-FFF2-40B4-BE49-F238E27FC236}">
                  <a16:creationId xmlns:a16="http://schemas.microsoft.com/office/drawing/2014/main" id="{276ED6EE-3BB2-8D08-6809-26C70F9DC186}"/>
                </a:ext>
              </a:extLst>
            </p:cNvPr>
            <p:cNvSpPr/>
            <p:nvPr/>
          </p:nvSpPr>
          <p:spPr>
            <a:xfrm>
              <a:off x="2360287" y="2454653"/>
              <a:ext cx="232133" cy="232133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55" name="타원 2054">
              <a:extLst>
                <a:ext uri="{FF2B5EF4-FFF2-40B4-BE49-F238E27FC236}">
                  <a16:creationId xmlns:a16="http://schemas.microsoft.com/office/drawing/2014/main" id="{A1BC0DD6-9D8B-1E87-75B1-E74C2664D9C0}"/>
                </a:ext>
              </a:extLst>
            </p:cNvPr>
            <p:cNvSpPr/>
            <p:nvPr/>
          </p:nvSpPr>
          <p:spPr>
            <a:xfrm>
              <a:off x="1322562" y="3172262"/>
              <a:ext cx="336459" cy="336459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56" name="타원 2055">
              <a:extLst>
                <a:ext uri="{FF2B5EF4-FFF2-40B4-BE49-F238E27FC236}">
                  <a16:creationId xmlns:a16="http://schemas.microsoft.com/office/drawing/2014/main" id="{C48B12C0-1789-280D-0D29-323D24943EE5}"/>
                </a:ext>
              </a:extLst>
            </p:cNvPr>
            <p:cNvSpPr/>
            <p:nvPr/>
          </p:nvSpPr>
          <p:spPr>
            <a:xfrm>
              <a:off x="2243171" y="4090231"/>
              <a:ext cx="232133" cy="232133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57" name="타원 2056">
              <a:extLst>
                <a:ext uri="{FF2B5EF4-FFF2-40B4-BE49-F238E27FC236}">
                  <a16:creationId xmlns:a16="http://schemas.microsoft.com/office/drawing/2014/main" id="{EA54296C-B386-7C77-D8CD-92CB8D8E4646}"/>
                </a:ext>
              </a:extLst>
            </p:cNvPr>
            <p:cNvSpPr/>
            <p:nvPr/>
          </p:nvSpPr>
          <p:spPr>
            <a:xfrm>
              <a:off x="872398" y="2288086"/>
              <a:ext cx="74340" cy="74340"/>
            </a:xfrm>
            <a:prstGeom prst="ellipse">
              <a:avLst/>
            </a:prstGeom>
            <a:solidFill>
              <a:srgbClr val="2D3142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58" name="타원 2057">
              <a:extLst>
                <a:ext uri="{FF2B5EF4-FFF2-40B4-BE49-F238E27FC236}">
                  <a16:creationId xmlns:a16="http://schemas.microsoft.com/office/drawing/2014/main" id="{3FACA442-F9CE-3DF7-A55B-D88185DB05ED}"/>
                </a:ext>
              </a:extLst>
            </p:cNvPr>
            <p:cNvSpPr/>
            <p:nvPr/>
          </p:nvSpPr>
          <p:spPr>
            <a:xfrm>
              <a:off x="909311" y="4942434"/>
              <a:ext cx="74340" cy="74340"/>
            </a:xfrm>
            <a:prstGeom prst="ellipse">
              <a:avLst/>
            </a:prstGeom>
            <a:solidFill>
              <a:srgbClr val="2D3142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060" name="직선 화살표 연결선 2059">
              <a:extLst>
                <a:ext uri="{FF2B5EF4-FFF2-40B4-BE49-F238E27FC236}">
                  <a16:creationId xmlns:a16="http://schemas.microsoft.com/office/drawing/2014/main" id="{2CB2220B-288E-E2C2-1738-B2B7B3712CC8}"/>
                </a:ext>
              </a:extLst>
            </p:cNvPr>
            <p:cNvCxnSpPr>
              <a:cxnSpLocks/>
            </p:cNvCxnSpPr>
            <p:nvPr/>
          </p:nvCxnSpPr>
          <p:spPr>
            <a:xfrm>
              <a:off x="744477" y="2745344"/>
              <a:ext cx="770857" cy="106332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3" name="직선 화살표 연결선 2062">
              <a:extLst>
                <a:ext uri="{FF2B5EF4-FFF2-40B4-BE49-F238E27FC236}">
                  <a16:creationId xmlns:a16="http://schemas.microsoft.com/office/drawing/2014/main" id="{2C698678-206A-8AD7-D76D-9C1DCBA93838}"/>
                </a:ext>
              </a:extLst>
            </p:cNvPr>
            <p:cNvCxnSpPr>
              <a:cxnSpLocks/>
              <a:endCxn id="2051" idx="1"/>
            </p:cNvCxnSpPr>
            <p:nvPr/>
          </p:nvCxnSpPr>
          <p:spPr>
            <a:xfrm>
              <a:off x="931748" y="2341742"/>
              <a:ext cx="674417" cy="718439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8" name="직선 화살표 연결선 2067">
              <a:extLst>
                <a:ext uri="{FF2B5EF4-FFF2-40B4-BE49-F238E27FC236}">
                  <a16:creationId xmlns:a16="http://schemas.microsoft.com/office/drawing/2014/main" id="{C37EAB6A-6956-4AEB-12BC-7190A7CFA5DA}"/>
                </a:ext>
              </a:extLst>
            </p:cNvPr>
            <p:cNvCxnSpPr>
              <a:cxnSpLocks/>
              <a:stCxn id="58" idx="5"/>
              <a:endCxn id="59" idx="1"/>
            </p:cNvCxnSpPr>
            <p:nvPr/>
          </p:nvCxnSpPr>
          <p:spPr>
            <a:xfrm>
              <a:off x="1009534" y="3322291"/>
              <a:ext cx="1410997" cy="2065881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4" name="직선 화살표 연결선 2073">
              <a:extLst>
                <a:ext uri="{FF2B5EF4-FFF2-40B4-BE49-F238E27FC236}">
                  <a16:creationId xmlns:a16="http://schemas.microsoft.com/office/drawing/2014/main" id="{50CD0EB0-DD65-B4E1-52E4-EF754233C288}"/>
                </a:ext>
              </a:extLst>
            </p:cNvPr>
            <p:cNvCxnSpPr>
              <a:cxnSpLocks/>
              <a:stCxn id="2048" idx="7"/>
              <a:endCxn id="2055" idx="2"/>
            </p:cNvCxnSpPr>
            <p:nvPr/>
          </p:nvCxnSpPr>
          <p:spPr>
            <a:xfrm flipV="1">
              <a:off x="630828" y="3340493"/>
              <a:ext cx="691734" cy="236493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7" name="직선 화살표 연결선 2076">
              <a:extLst>
                <a:ext uri="{FF2B5EF4-FFF2-40B4-BE49-F238E27FC236}">
                  <a16:creationId xmlns:a16="http://schemas.microsoft.com/office/drawing/2014/main" id="{150B64BF-6D74-775B-ABF6-F05CA5982F98}"/>
                </a:ext>
              </a:extLst>
            </p:cNvPr>
            <p:cNvCxnSpPr>
              <a:cxnSpLocks/>
              <a:stCxn id="58" idx="4"/>
              <a:endCxn id="2081" idx="1"/>
            </p:cNvCxnSpPr>
            <p:nvPr/>
          </p:nvCxnSpPr>
          <p:spPr>
            <a:xfrm>
              <a:off x="968128" y="3339442"/>
              <a:ext cx="1408262" cy="3244513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81" name="타원 2080">
              <a:extLst>
                <a:ext uri="{FF2B5EF4-FFF2-40B4-BE49-F238E27FC236}">
                  <a16:creationId xmlns:a16="http://schemas.microsoft.com/office/drawing/2014/main" id="{CCDFCEB3-75CF-CF03-F865-2C979E9ED491}"/>
                </a:ext>
              </a:extLst>
            </p:cNvPr>
            <p:cNvSpPr/>
            <p:nvPr/>
          </p:nvSpPr>
          <p:spPr>
            <a:xfrm>
              <a:off x="2359239" y="6566804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solidFill>
                <a:srgbClr val="D3D3D3">
                  <a:alpha val="3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083" name="직선 화살표 연결선 2082">
              <a:extLst>
                <a:ext uri="{FF2B5EF4-FFF2-40B4-BE49-F238E27FC236}">
                  <a16:creationId xmlns:a16="http://schemas.microsoft.com/office/drawing/2014/main" id="{31D3EE14-3CB2-7326-CF0B-FE4BB7047A75}"/>
                </a:ext>
              </a:extLst>
            </p:cNvPr>
            <p:cNvCxnSpPr>
              <a:cxnSpLocks/>
              <a:stCxn id="2048" idx="6"/>
              <a:endCxn id="2049" idx="2"/>
            </p:cNvCxnSpPr>
            <p:nvPr/>
          </p:nvCxnSpPr>
          <p:spPr>
            <a:xfrm>
              <a:off x="647979" y="3618392"/>
              <a:ext cx="2484851" cy="9226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6" name="직선 화살표 연결선 2085">
              <a:extLst>
                <a:ext uri="{FF2B5EF4-FFF2-40B4-BE49-F238E27FC236}">
                  <a16:creationId xmlns:a16="http://schemas.microsoft.com/office/drawing/2014/main" id="{814DEBEA-78F7-064D-E600-5C97EC001C12}"/>
                </a:ext>
              </a:extLst>
            </p:cNvPr>
            <p:cNvCxnSpPr>
              <a:cxnSpLocks/>
              <a:stCxn id="2055" idx="7"/>
              <a:endCxn id="61" idx="3"/>
            </p:cNvCxnSpPr>
            <p:nvPr/>
          </p:nvCxnSpPr>
          <p:spPr>
            <a:xfrm flipV="1">
              <a:off x="1609748" y="3149259"/>
              <a:ext cx="422401" cy="72277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91" name="타원 2090">
              <a:extLst>
                <a:ext uri="{FF2B5EF4-FFF2-40B4-BE49-F238E27FC236}">
                  <a16:creationId xmlns:a16="http://schemas.microsoft.com/office/drawing/2014/main" id="{F251515C-E380-81B6-8947-F4BF1A212F78}"/>
                </a:ext>
              </a:extLst>
            </p:cNvPr>
            <p:cNvSpPr/>
            <p:nvPr/>
          </p:nvSpPr>
          <p:spPr>
            <a:xfrm>
              <a:off x="1026686" y="3839096"/>
              <a:ext cx="166591" cy="166591"/>
            </a:xfrm>
            <a:prstGeom prst="ellipse">
              <a:avLst/>
            </a:prstGeom>
            <a:solidFill>
              <a:srgbClr val="2D3142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092" name="직선 화살표 연결선 2091">
              <a:extLst>
                <a:ext uri="{FF2B5EF4-FFF2-40B4-BE49-F238E27FC236}">
                  <a16:creationId xmlns:a16="http://schemas.microsoft.com/office/drawing/2014/main" id="{2F75FC37-A2A3-32DC-8CF7-ABA07C047CBF}"/>
                </a:ext>
              </a:extLst>
            </p:cNvPr>
            <p:cNvCxnSpPr>
              <a:cxnSpLocks/>
              <a:stCxn id="58" idx="7"/>
              <a:endCxn id="2053" idx="3"/>
            </p:cNvCxnSpPr>
            <p:nvPr/>
          </p:nvCxnSpPr>
          <p:spPr>
            <a:xfrm flipV="1">
              <a:off x="1009534" y="2652791"/>
              <a:ext cx="1384749" cy="586687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5" name="직선 화살표 연결선 2094">
              <a:extLst>
                <a:ext uri="{FF2B5EF4-FFF2-40B4-BE49-F238E27FC236}">
                  <a16:creationId xmlns:a16="http://schemas.microsoft.com/office/drawing/2014/main" id="{6EFE8282-9983-B32F-C31C-CB5CC5C7D745}"/>
                </a:ext>
              </a:extLst>
            </p:cNvPr>
            <p:cNvCxnSpPr>
              <a:cxnSpLocks/>
              <a:stCxn id="2057" idx="3"/>
              <a:endCxn id="63" idx="0"/>
            </p:cNvCxnSpPr>
            <p:nvPr/>
          </p:nvCxnSpPr>
          <p:spPr>
            <a:xfrm flipH="1">
              <a:off x="685919" y="2351540"/>
              <a:ext cx="197365" cy="335246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8" name="직선 화살표 연결선 2097">
              <a:extLst>
                <a:ext uri="{FF2B5EF4-FFF2-40B4-BE49-F238E27FC236}">
                  <a16:creationId xmlns:a16="http://schemas.microsoft.com/office/drawing/2014/main" id="{E78AFFD2-8019-FB4B-C1A6-45794880BCDB}"/>
                </a:ext>
              </a:extLst>
            </p:cNvPr>
            <p:cNvCxnSpPr>
              <a:cxnSpLocks/>
              <a:stCxn id="2056" idx="0"/>
              <a:endCxn id="2053" idx="3"/>
            </p:cNvCxnSpPr>
            <p:nvPr/>
          </p:nvCxnSpPr>
          <p:spPr>
            <a:xfrm flipV="1">
              <a:off x="2359239" y="2652791"/>
              <a:ext cx="35044" cy="1437440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5" name="직선 화살표 연결선 2104">
              <a:extLst>
                <a:ext uri="{FF2B5EF4-FFF2-40B4-BE49-F238E27FC236}">
                  <a16:creationId xmlns:a16="http://schemas.microsoft.com/office/drawing/2014/main" id="{93436D9B-B096-54BE-D173-F5AD24910139}"/>
                </a:ext>
              </a:extLst>
            </p:cNvPr>
            <p:cNvCxnSpPr>
              <a:cxnSpLocks/>
              <a:stCxn id="2056" idx="0"/>
              <a:endCxn id="61" idx="4"/>
            </p:cNvCxnSpPr>
            <p:nvPr/>
          </p:nvCxnSpPr>
          <p:spPr>
            <a:xfrm flipH="1" flipV="1">
              <a:off x="2073556" y="3166410"/>
              <a:ext cx="285683" cy="923820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8" name="직선 화살표 연결선 2107">
              <a:extLst>
                <a:ext uri="{FF2B5EF4-FFF2-40B4-BE49-F238E27FC236}">
                  <a16:creationId xmlns:a16="http://schemas.microsoft.com/office/drawing/2014/main" id="{FE22A1B8-1562-65BB-F75F-5DFBBAF7C48A}"/>
                </a:ext>
              </a:extLst>
            </p:cNvPr>
            <p:cNvCxnSpPr>
              <a:cxnSpLocks/>
              <a:stCxn id="2049" idx="1"/>
              <a:endCxn id="2053" idx="4"/>
            </p:cNvCxnSpPr>
            <p:nvPr/>
          </p:nvCxnSpPr>
          <p:spPr>
            <a:xfrm flipH="1" flipV="1">
              <a:off x="2476355" y="2686786"/>
              <a:ext cx="673627" cy="899425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3" name="직선 화살표 연결선 2112">
              <a:extLst>
                <a:ext uri="{FF2B5EF4-FFF2-40B4-BE49-F238E27FC236}">
                  <a16:creationId xmlns:a16="http://schemas.microsoft.com/office/drawing/2014/main" id="{98F8D1E1-DF4C-9594-AACB-F80C32BC3BEC}"/>
                </a:ext>
              </a:extLst>
            </p:cNvPr>
            <p:cNvCxnSpPr>
              <a:cxnSpLocks/>
              <a:stCxn id="2091" idx="6"/>
              <a:endCxn id="2049" idx="2"/>
            </p:cNvCxnSpPr>
            <p:nvPr/>
          </p:nvCxnSpPr>
          <p:spPr>
            <a:xfrm flipV="1">
              <a:off x="1193277" y="3627618"/>
              <a:ext cx="1939554" cy="294774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6" name="직선 화살표 연결선 2115">
              <a:extLst>
                <a:ext uri="{FF2B5EF4-FFF2-40B4-BE49-F238E27FC236}">
                  <a16:creationId xmlns:a16="http://schemas.microsoft.com/office/drawing/2014/main" id="{D8CF42C3-9757-5BCC-8686-68DA8A7F56DE}"/>
                </a:ext>
              </a:extLst>
            </p:cNvPr>
            <p:cNvCxnSpPr>
              <a:cxnSpLocks/>
              <a:stCxn id="2056" idx="1"/>
              <a:endCxn id="2091" idx="6"/>
            </p:cNvCxnSpPr>
            <p:nvPr/>
          </p:nvCxnSpPr>
          <p:spPr>
            <a:xfrm flipH="1" flipV="1">
              <a:off x="1193277" y="3922392"/>
              <a:ext cx="1083890" cy="201834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9" name="직선 화살표 연결선 2118">
              <a:extLst>
                <a:ext uri="{FF2B5EF4-FFF2-40B4-BE49-F238E27FC236}">
                  <a16:creationId xmlns:a16="http://schemas.microsoft.com/office/drawing/2014/main" id="{273E02DD-8557-196A-E20B-CE8A819BCC2C}"/>
                </a:ext>
              </a:extLst>
            </p:cNvPr>
            <p:cNvCxnSpPr>
              <a:cxnSpLocks/>
              <a:stCxn id="2058" idx="5"/>
              <a:endCxn id="59" idx="3"/>
            </p:cNvCxnSpPr>
            <p:nvPr/>
          </p:nvCxnSpPr>
          <p:spPr>
            <a:xfrm>
              <a:off x="972765" y="5005888"/>
              <a:ext cx="1447767" cy="465097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2" name="직선 화살표 연결선 2121">
              <a:extLst>
                <a:ext uri="{FF2B5EF4-FFF2-40B4-BE49-F238E27FC236}">
                  <a16:creationId xmlns:a16="http://schemas.microsoft.com/office/drawing/2014/main" id="{A77BA25A-E667-17A4-6FE7-B61CFBC405F1}"/>
                </a:ext>
              </a:extLst>
            </p:cNvPr>
            <p:cNvCxnSpPr>
              <a:cxnSpLocks/>
              <a:stCxn id="2058" idx="6"/>
              <a:endCxn id="60" idx="2"/>
            </p:cNvCxnSpPr>
            <p:nvPr/>
          </p:nvCxnSpPr>
          <p:spPr>
            <a:xfrm flipV="1">
              <a:off x="983651" y="4284933"/>
              <a:ext cx="2564649" cy="694673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5" name="직선 화살표 연결선 2124">
              <a:extLst>
                <a:ext uri="{FF2B5EF4-FFF2-40B4-BE49-F238E27FC236}">
                  <a16:creationId xmlns:a16="http://schemas.microsoft.com/office/drawing/2014/main" id="{828006CB-465C-B238-3485-43C976C51315}"/>
                </a:ext>
              </a:extLst>
            </p:cNvPr>
            <p:cNvCxnSpPr>
              <a:cxnSpLocks/>
              <a:stCxn id="60" idx="4"/>
              <a:endCxn id="2081" idx="1"/>
            </p:cNvCxnSpPr>
            <p:nvPr/>
          </p:nvCxnSpPr>
          <p:spPr>
            <a:xfrm flipH="1">
              <a:off x="2376390" y="4343491"/>
              <a:ext cx="1230468" cy="2240464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자유형: 도형 15">
            <a:extLst>
              <a:ext uri="{FF2B5EF4-FFF2-40B4-BE49-F238E27FC236}">
                <a16:creationId xmlns:a16="http://schemas.microsoft.com/office/drawing/2014/main" id="{39CD33AE-8279-2FF9-AD59-A39AFEDC0E19}"/>
              </a:ext>
            </a:extLst>
          </p:cNvPr>
          <p:cNvSpPr/>
          <p:nvPr/>
        </p:nvSpPr>
        <p:spPr>
          <a:xfrm rot="2700000">
            <a:off x="1962496" y="3164706"/>
            <a:ext cx="8267008" cy="8267008"/>
          </a:xfrm>
          <a:custGeom>
            <a:avLst/>
            <a:gdLst>
              <a:gd name="connsiteX0" fmla="*/ 1479547 w 8267008"/>
              <a:gd name="connsiteY0" fmla="*/ 1479547 h 8267008"/>
              <a:gd name="connsiteX1" fmla="*/ 5051489 w 8267008"/>
              <a:gd name="connsiteY1" fmla="*/ 0 h 8267008"/>
              <a:gd name="connsiteX2" fmla="*/ 8267008 w 8267008"/>
              <a:gd name="connsiteY2" fmla="*/ 0 h 8267008"/>
              <a:gd name="connsiteX3" fmla="*/ 0 w 8267008"/>
              <a:gd name="connsiteY3" fmla="*/ 8267008 h 8267008"/>
              <a:gd name="connsiteX4" fmla="*/ 1 w 8267008"/>
              <a:gd name="connsiteY4" fmla="*/ 5051489 h 8267008"/>
              <a:gd name="connsiteX5" fmla="*/ 1479547 w 8267008"/>
              <a:gd name="connsiteY5" fmla="*/ 1479547 h 8267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67008" h="8267008">
                <a:moveTo>
                  <a:pt x="1479547" y="1479547"/>
                </a:moveTo>
                <a:cubicBezTo>
                  <a:pt x="2393687" y="565407"/>
                  <a:pt x="3656559" y="0"/>
                  <a:pt x="5051489" y="0"/>
                </a:cubicBezTo>
                <a:lnTo>
                  <a:pt x="8267008" y="0"/>
                </a:lnTo>
                <a:lnTo>
                  <a:pt x="0" y="8267008"/>
                </a:lnTo>
                <a:lnTo>
                  <a:pt x="1" y="5051489"/>
                </a:lnTo>
                <a:cubicBezTo>
                  <a:pt x="0" y="3656559"/>
                  <a:pt x="565408" y="2393687"/>
                  <a:pt x="1479547" y="1479547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98A0863E-7FCF-FB7C-2488-E1E239815876}"/>
              </a:ext>
            </a:extLst>
          </p:cNvPr>
          <p:cNvSpPr/>
          <p:nvPr/>
        </p:nvSpPr>
        <p:spPr>
          <a:xfrm>
            <a:off x="6804709" y="1537335"/>
            <a:ext cx="1801129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0" name="평행 사변형 9">
            <a:extLst>
              <a:ext uri="{FF2B5EF4-FFF2-40B4-BE49-F238E27FC236}">
                <a16:creationId xmlns:a16="http://schemas.microsoft.com/office/drawing/2014/main" id="{1670D214-BF01-3CA1-20CC-7343A70572B0}"/>
              </a:ext>
            </a:extLst>
          </p:cNvPr>
          <p:cNvSpPr/>
          <p:nvPr/>
        </p:nvSpPr>
        <p:spPr>
          <a:xfrm>
            <a:off x="1393556" y="1537335"/>
            <a:ext cx="2002787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1" name="평행 사변형 10">
            <a:extLst>
              <a:ext uri="{FF2B5EF4-FFF2-40B4-BE49-F238E27FC236}">
                <a16:creationId xmlns:a16="http://schemas.microsoft.com/office/drawing/2014/main" id="{CDD9B4F4-394B-9A4B-53CD-5FBFD7C5219A}"/>
              </a:ext>
            </a:extLst>
          </p:cNvPr>
          <p:cNvSpPr/>
          <p:nvPr/>
        </p:nvSpPr>
        <p:spPr>
          <a:xfrm>
            <a:off x="3659509" y="1537335"/>
            <a:ext cx="1245869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D6C26B3-DF4A-448F-73C4-1F14B01A764F}"/>
              </a:ext>
            </a:extLst>
          </p:cNvPr>
          <p:cNvSpPr/>
          <p:nvPr/>
        </p:nvSpPr>
        <p:spPr>
          <a:xfrm>
            <a:off x="746124" y="411164"/>
            <a:ext cx="590282" cy="489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altLang="ko-KR" sz="2400" spc="-9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01</a:t>
            </a:r>
            <a:endParaRPr lang="ko-KR" altLang="en-US" sz="2400" spc="-9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19C3A95-9658-FE08-6AB0-257621531836}"/>
              </a:ext>
            </a:extLst>
          </p:cNvPr>
          <p:cNvSpPr/>
          <p:nvPr/>
        </p:nvSpPr>
        <p:spPr>
          <a:xfrm>
            <a:off x="1393556" y="626256"/>
            <a:ext cx="3248294" cy="372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spc="-80">
                <a:solidFill>
                  <a:srgbClr val="6A4C93"/>
                </a:solidFill>
                <a:latin typeface="프리젠테이션 5 Medium" pitchFamily="2" charset="-127"/>
                <a:ea typeface="프리젠테이션 5 Medium" pitchFamily="2" charset="-127"/>
              </a:rPr>
              <a:t>주제 선정 및 배경 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C47BA98-FF73-F82D-BC83-E06E2D7FEF42}"/>
              </a:ext>
            </a:extLst>
          </p:cNvPr>
          <p:cNvSpPr/>
          <p:nvPr/>
        </p:nvSpPr>
        <p:spPr>
          <a:xfrm>
            <a:off x="1393556" y="411164"/>
            <a:ext cx="3248294" cy="2445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spc="-80">
                <a:solidFill>
                  <a:srgbClr val="262122"/>
                </a:solidFill>
                <a:latin typeface="프리젠테이션 3 Light" pitchFamily="2" charset="-127"/>
                <a:ea typeface="프리젠테이션 3 Light" pitchFamily="2" charset="-127"/>
              </a:rPr>
              <a:t>Chapter 01 </a:t>
            </a:r>
            <a:r>
              <a:rPr lang="ko-KR" altLang="en-US" sz="1600" spc="-80">
                <a:solidFill>
                  <a:srgbClr val="262122"/>
                </a:solidFill>
                <a:latin typeface="프리젠테이션 3 Light" pitchFamily="2" charset="-127"/>
                <a:ea typeface="프리젠테이션 3 Light" pitchFamily="2" charset="-127"/>
              </a:rPr>
              <a:t> 프로젝트 소개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2776CEA-0AE8-648A-58B9-2E3C7CAB74D3}"/>
              </a:ext>
            </a:extLst>
          </p:cNvPr>
          <p:cNvSpPr/>
          <p:nvPr/>
        </p:nvSpPr>
        <p:spPr>
          <a:xfrm>
            <a:off x="1393556" y="1034243"/>
            <a:ext cx="9744344" cy="9103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defTabSz="720000"/>
            <a:r>
              <a:rPr lang="ko-KR" altLang="en-US" sz="28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운전자라면 누구나 겪는 </a:t>
            </a:r>
            <a:r>
              <a:rPr lang="en-US" altLang="ko-KR" sz="28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Pain Point</a:t>
            </a:r>
            <a:endParaRPr lang="en-US" altLang="ko-KR" sz="24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defTabSz="720000"/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넘쳐나는 보험 상품 </a:t>
            </a:r>
            <a:r>
              <a:rPr lang="ko-KR" altLang="en-US" sz="2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과  </a:t>
            </a:r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복잡한 약관 </a:t>
            </a:r>
            <a:r>
              <a:rPr lang="ko-KR" altLang="en-US" sz="2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에 지친 소비자들의  </a:t>
            </a:r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정보 과부하 시대</a:t>
            </a:r>
            <a:r>
              <a:rPr lang="en-US" altLang="ko-KR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!</a:t>
            </a:r>
            <a:endParaRPr lang="ko-KR" altLang="en-US" sz="2800" spc="-8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2524631-47B1-489E-A6C3-6BB3AE870C61}"/>
              </a:ext>
            </a:extLst>
          </p:cNvPr>
          <p:cNvSpPr/>
          <p:nvPr/>
        </p:nvSpPr>
        <p:spPr>
          <a:xfrm>
            <a:off x="9083385" y="1034243"/>
            <a:ext cx="2002787" cy="918382"/>
          </a:xfrm>
          <a:prstGeom prst="rect">
            <a:avLst/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프리젠테이션 8 ExtraBold" pitchFamily="2" charset="-127"/>
                <a:ea typeface="프리젠테이션 8 ExtraBold" pitchFamily="2" charset="-127"/>
              </a:rPr>
              <a:t>왼쪽 주요 문장 </a:t>
            </a:r>
            <a:endParaRPr lang="en-US" altLang="ko-KR">
              <a:latin typeface="프리젠테이션 8 ExtraBold" pitchFamily="2" charset="-127"/>
              <a:ea typeface="프리젠테이션 8 ExtraBold" pitchFamily="2" charset="-127"/>
            </a:endParaRPr>
          </a:p>
          <a:p>
            <a:pPr algn="ctr"/>
            <a:r>
              <a:rPr lang="ko-KR" altLang="en-US">
                <a:latin typeface="프리젠테이션 8 ExtraBold" pitchFamily="2" charset="-127"/>
                <a:ea typeface="프리젠테이션 8 ExtraBold" pitchFamily="2" charset="-127"/>
              </a:rPr>
              <a:t>다시 정리 필요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EC41F2F-71E7-641C-F961-44AAAAF8AAB9}"/>
              </a:ext>
            </a:extLst>
          </p:cNvPr>
          <p:cNvSpPr/>
          <p:nvPr/>
        </p:nvSpPr>
        <p:spPr>
          <a:xfrm>
            <a:off x="9083385" y="500478"/>
            <a:ext cx="2002787" cy="45919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프리젠테이션 8 ExtraBold" pitchFamily="2" charset="-127"/>
                <a:ea typeface="프리젠테이션 8 ExtraBold" pitchFamily="2" charset="-127"/>
              </a:rPr>
              <a:t>차별화 포인트</a:t>
            </a:r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5DD5CBD1-A146-9D0D-FC3D-9439E964F57E}"/>
              </a:ext>
            </a:extLst>
          </p:cNvPr>
          <p:cNvGrpSpPr/>
          <p:nvPr/>
        </p:nvGrpSpPr>
        <p:grpSpPr>
          <a:xfrm>
            <a:off x="3748971" y="2957516"/>
            <a:ext cx="4694058" cy="1955928"/>
            <a:chOff x="3374984" y="2957516"/>
            <a:chExt cx="4694058" cy="1955928"/>
          </a:xfrm>
        </p:grpSpPr>
        <p:grpSp>
          <p:nvGrpSpPr>
            <p:cNvPr id="51" name="그룹 50">
              <a:extLst>
                <a:ext uri="{FF2B5EF4-FFF2-40B4-BE49-F238E27FC236}">
                  <a16:creationId xmlns:a16="http://schemas.microsoft.com/office/drawing/2014/main" id="{D53F52BB-30AC-6218-6699-22FB45395711}"/>
                </a:ext>
              </a:extLst>
            </p:cNvPr>
            <p:cNvGrpSpPr/>
            <p:nvPr/>
          </p:nvGrpSpPr>
          <p:grpSpPr>
            <a:xfrm>
              <a:off x="3374984" y="2957516"/>
              <a:ext cx="1814918" cy="1955928"/>
              <a:chOff x="3374984" y="2957516"/>
              <a:chExt cx="1814918" cy="1955928"/>
            </a:xfrm>
          </p:grpSpPr>
          <p:sp>
            <p:nvSpPr>
              <p:cNvPr id="30" name="자유형: 도형 29">
                <a:extLst>
                  <a:ext uri="{FF2B5EF4-FFF2-40B4-BE49-F238E27FC236}">
                    <a16:creationId xmlns:a16="http://schemas.microsoft.com/office/drawing/2014/main" id="{A01510DF-7F62-03AD-CCA5-C2ED6E4E1F16}"/>
                  </a:ext>
                </a:extLst>
              </p:cNvPr>
              <p:cNvSpPr/>
              <p:nvPr/>
            </p:nvSpPr>
            <p:spPr>
              <a:xfrm>
                <a:off x="3374984" y="2957516"/>
                <a:ext cx="1814918" cy="1955928"/>
              </a:xfrm>
              <a:custGeom>
                <a:avLst/>
                <a:gdLst>
                  <a:gd name="connsiteX0" fmla="*/ 524840 w 1036800"/>
                  <a:gd name="connsiteY0" fmla="*/ 0 h 1117354"/>
                  <a:gd name="connsiteX1" fmla="*/ 555519 w 1036800"/>
                  <a:gd name="connsiteY1" fmla="*/ 7795 h 1117354"/>
                  <a:gd name="connsiteX2" fmla="*/ 990138 w 1036800"/>
                  <a:gd name="connsiteY2" fmla="*/ 216686 h 1117354"/>
                  <a:gd name="connsiteX3" fmla="*/ 1035248 w 1036800"/>
                  <a:gd name="connsiteY3" fmla="*/ 292386 h 1117354"/>
                  <a:gd name="connsiteX4" fmla="*/ 1034710 w 1036800"/>
                  <a:gd name="connsiteY4" fmla="*/ 294503 h 1117354"/>
                  <a:gd name="connsiteX5" fmla="*/ 1036800 w 1036800"/>
                  <a:gd name="connsiteY5" fmla="*/ 304854 h 1117354"/>
                  <a:gd name="connsiteX6" fmla="*/ 1036800 w 1036800"/>
                  <a:gd name="connsiteY6" fmla="*/ 811494 h 1117354"/>
                  <a:gd name="connsiteX7" fmla="*/ 1034597 w 1036800"/>
                  <a:gd name="connsiteY7" fmla="*/ 822406 h 1117354"/>
                  <a:gd name="connsiteX8" fmla="*/ 1035248 w 1036800"/>
                  <a:gd name="connsiteY8" fmla="*/ 824968 h 1117354"/>
                  <a:gd name="connsiteX9" fmla="*/ 990138 w 1036800"/>
                  <a:gd name="connsiteY9" fmla="*/ 900668 h 1117354"/>
                  <a:gd name="connsiteX10" fmla="*/ 555519 w 1036800"/>
                  <a:gd name="connsiteY10" fmla="*/ 1109558 h 1117354"/>
                  <a:gd name="connsiteX11" fmla="*/ 524840 w 1036800"/>
                  <a:gd name="connsiteY11" fmla="*/ 1117354 h 1117354"/>
                  <a:gd name="connsiteX12" fmla="*/ 518097 w 1036800"/>
                  <a:gd name="connsiteY12" fmla="*/ 1116368 h 1117354"/>
                  <a:gd name="connsiteX13" fmla="*/ 511361 w 1036800"/>
                  <a:gd name="connsiteY13" fmla="*/ 1117353 h 1117354"/>
                  <a:gd name="connsiteX14" fmla="*/ 480681 w 1036800"/>
                  <a:gd name="connsiteY14" fmla="*/ 1109557 h 1117354"/>
                  <a:gd name="connsiteX15" fmla="*/ 46063 w 1036800"/>
                  <a:gd name="connsiteY15" fmla="*/ 900667 h 1117354"/>
                  <a:gd name="connsiteX16" fmla="*/ 952 w 1036800"/>
                  <a:gd name="connsiteY16" fmla="*/ 824967 h 1117354"/>
                  <a:gd name="connsiteX17" fmla="*/ 1937 w 1036800"/>
                  <a:gd name="connsiteY17" fmla="*/ 821090 h 1117354"/>
                  <a:gd name="connsiteX18" fmla="*/ 0 w 1036800"/>
                  <a:gd name="connsiteY18" fmla="*/ 811494 h 1117354"/>
                  <a:gd name="connsiteX19" fmla="*/ 0 w 1036800"/>
                  <a:gd name="connsiteY19" fmla="*/ 304854 h 1117354"/>
                  <a:gd name="connsiteX20" fmla="*/ 1824 w 1036800"/>
                  <a:gd name="connsiteY20" fmla="*/ 295819 h 1117354"/>
                  <a:gd name="connsiteX21" fmla="*/ 952 w 1036800"/>
                  <a:gd name="connsiteY21" fmla="*/ 292387 h 1117354"/>
                  <a:gd name="connsiteX22" fmla="*/ 46063 w 1036800"/>
                  <a:gd name="connsiteY22" fmla="*/ 216687 h 1117354"/>
                  <a:gd name="connsiteX23" fmla="*/ 480681 w 1036800"/>
                  <a:gd name="connsiteY23" fmla="*/ 7796 h 1117354"/>
                  <a:gd name="connsiteX24" fmla="*/ 511361 w 1036800"/>
                  <a:gd name="connsiteY24" fmla="*/ 1 h 1117354"/>
                  <a:gd name="connsiteX25" fmla="*/ 516388 w 1036800"/>
                  <a:gd name="connsiteY25" fmla="*/ 1236 h 11173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036800" h="1117354">
                    <a:moveTo>
                      <a:pt x="524840" y="0"/>
                    </a:moveTo>
                    <a:cubicBezTo>
                      <a:pt x="535183" y="496"/>
                      <a:pt x="545599" y="3028"/>
                      <a:pt x="555519" y="7795"/>
                    </a:cubicBezTo>
                    <a:lnTo>
                      <a:pt x="990138" y="216686"/>
                    </a:lnTo>
                    <a:cubicBezTo>
                      <a:pt x="1019897" y="230990"/>
                      <a:pt x="1036735" y="261357"/>
                      <a:pt x="1035248" y="292386"/>
                    </a:cubicBezTo>
                    <a:lnTo>
                      <a:pt x="1034710" y="294503"/>
                    </a:lnTo>
                    <a:lnTo>
                      <a:pt x="1036800" y="304854"/>
                    </a:lnTo>
                    <a:lnTo>
                      <a:pt x="1036800" y="811494"/>
                    </a:lnTo>
                    <a:lnTo>
                      <a:pt x="1034597" y="822406"/>
                    </a:lnTo>
                    <a:lnTo>
                      <a:pt x="1035248" y="824968"/>
                    </a:lnTo>
                    <a:cubicBezTo>
                      <a:pt x="1036735" y="855997"/>
                      <a:pt x="1019897" y="886364"/>
                      <a:pt x="990138" y="900668"/>
                    </a:cubicBezTo>
                    <a:lnTo>
                      <a:pt x="555519" y="1109558"/>
                    </a:lnTo>
                    <a:cubicBezTo>
                      <a:pt x="545599" y="1114326"/>
                      <a:pt x="535183" y="1116858"/>
                      <a:pt x="524840" y="1117354"/>
                    </a:cubicBezTo>
                    <a:lnTo>
                      <a:pt x="518097" y="1116368"/>
                    </a:lnTo>
                    <a:lnTo>
                      <a:pt x="511361" y="1117353"/>
                    </a:lnTo>
                    <a:cubicBezTo>
                      <a:pt x="501018" y="1116857"/>
                      <a:pt x="490601" y="1114325"/>
                      <a:pt x="480681" y="1109557"/>
                    </a:cubicBezTo>
                    <a:lnTo>
                      <a:pt x="46063" y="900667"/>
                    </a:lnTo>
                    <a:cubicBezTo>
                      <a:pt x="16303" y="886363"/>
                      <a:pt x="-535" y="855996"/>
                      <a:pt x="952" y="824967"/>
                    </a:cubicBezTo>
                    <a:lnTo>
                      <a:pt x="1937" y="821090"/>
                    </a:lnTo>
                    <a:lnTo>
                      <a:pt x="0" y="811494"/>
                    </a:lnTo>
                    <a:lnTo>
                      <a:pt x="0" y="304854"/>
                    </a:lnTo>
                    <a:lnTo>
                      <a:pt x="1824" y="295819"/>
                    </a:lnTo>
                    <a:lnTo>
                      <a:pt x="952" y="292387"/>
                    </a:lnTo>
                    <a:cubicBezTo>
                      <a:pt x="-535" y="261358"/>
                      <a:pt x="16303" y="230991"/>
                      <a:pt x="46063" y="216687"/>
                    </a:cubicBezTo>
                    <a:lnTo>
                      <a:pt x="480681" y="7796"/>
                    </a:lnTo>
                    <a:cubicBezTo>
                      <a:pt x="490601" y="3029"/>
                      <a:pt x="501018" y="497"/>
                      <a:pt x="511361" y="1"/>
                    </a:cubicBezTo>
                    <a:lnTo>
                      <a:pt x="516388" y="1236"/>
                    </a:lnTo>
                    <a:close/>
                  </a:path>
                </a:pathLst>
              </a:custGeom>
              <a:solidFill>
                <a:schemeClr val="bg1"/>
              </a:solidFill>
              <a:ln w="60325">
                <a:gradFill flip="none" rotWithShape="1">
                  <a:gsLst>
                    <a:gs pos="0">
                      <a:srgbClr val="6A4C93"/>
                    </a:gs>
                    <a:gs pos="100000">
                      <a:srgbClr val="B00020"/>
                    </a:gs>
                  </a:gsLst>
                  <a:lin ang="1080000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33" name="타원 32">
                <a:extLst>
                  <a:ext uri="{FF2B5EF4-FFF2-40B4-BE49-F238E27FC236}">
                    <a16:creationId xmlns:a16="http://schemas.microsoft.com/office/drawing/2014/main" id="{8CA91617-6452-8151-23DB-92C334F2F801}"/>
                  </a:ext>
                </a:extLst>
              </p:cNvPr>
              <p:cNvSpPr/>
              <p:nvPr/>
            </p:nvSpPr>
            <p:spPr>
              <a:xfrm>
                <a:off x="4039926" y="3227043"/>
                <a:ext cx="485034" cy="485034"/>
              </a:xfrm>
              <a:prstGeom prst="ellipse">
                <a:avLst/>
              </a:prstGeom>
              <a:solidFill>
                <a:srgbClr val="6A4C9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5" name="직사각형 34">
                <a:extLst>
                  <a:ext uri="{FF2B5EF4-FFF2-40B4-BE49-F238E27FC236}">
                    <a16:creationId xmlns:a16="http://schemas.microsoft.com/office/drawing/2014/main" id="{BE8FC285-BA4F-86F6-E954-24ED2E12AC98}"/>
                  </a:ext>
                </a:extLst>
              </p:cNvPr>
              <p:cNvSpPr/>
              <p:nvPr/>
            </p:nvSpPr>
            <p:spPr>
              <a:xfrm>
                <a:off x="3514725" y="3771704"/>
                <a:ext cx="1533525" cy="32729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spc="-80">
                    <a:solidFill>
                      <a:srgbClr val="2D3142"/>
                    </a:solidFill>
                    <a:latin typeface="+mj-ea"/>
                    <a:ea typeface="+mj-ea"/>
                  </a:rPr>
                  <a:t>POINT1 </a:t>
                </a:r>
                <a:endParaRPr lang="ko-KR" altLang="en-US" sz="1600" spc="-80">
                  <a:solidFill>
                    <a:srgbClr val="2D3142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9FEDFEAF-F53B-B5B6-BB55-09538FDB62B6}"/>
                  </a:ext>
                </a:extLst>
              </p:cNvPr>
              <p:cNvSpPr/>
              <p:nvPr/>
            </p:nvSpPr>
            <p:spPr>
              <a:xfrm>
                <a:off x="3514725" y="4130386"/>
                <a:ext cx="1533525" cy="32729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600" spc="-80">
                    <a:solidFill>
                      <a:srgbClr val="2D3142"/>
                    </a:solidFill>
                    <a:latin typeface="+mn-ea"/>
                  </a:rPr>
                  <a:t>차별화 전략 </a:t>
                </a:r>
                <a:r>
                  <a:rPr lang="en-US" altLang="ko-KR" sz="1600" spc="-80">
                    <a:solidFill>
                      <a:srgbClr val="2D3142"/>
                    </a:solidFill>
                    <a:latin typeface="+mn-ea"/>
                  </a:rPr>
                  <a:t>1</a:t>
                </a:r>
                <a:endParaRPr lang="ko-KR" altLang="en-US" sz="1600" spc="-80">
                  <a:solidFill>
                    <a:srgbClr val="2D3142"/>
                  </a:solidFill>
                  <a:latin typeface="+mn-ea"/>
                </a:endParaRPr>
              </a:p>
            </p:txBody>
          </p:sp>
        </p:grpSp>
        <p:grpSp>
          <p:nvGrpSpPr>
            <p:cNvPr id="52" name="그룹 51">
              <a:extLst>
                <a:ext uri="{FF2B5EF4-FFF2-40B4-BE49-F238E27FC236}">
                  <a16:creationId xmlns:a16="http://schemas.microsoft.com/office/drawing/2014/main" id="{B7EA39D1-5AEE-2BCA-6E86-E71898DF3C0C}"/>
                </a:ext>
              </a:extLst>
            </p:cNvPr>
            <p:cNvGrpSpPr/>
            <p:nvPr/>
          </p:nvGrpSpPr>
          <p:grpSpPr>
            <a:xfrm>
              <a:off x="6254124" y="2957516"/>
              <a:ext cx="1814918" cy="1955928"/>
              <a:chOff x="6254124" y="2957516"/>
              <a:chExt cx="1814918" cy="1955928"/>
            </a:xfrm>
          </p:grpSpPr>
          <p:sp>
            <p:nvSpPr>
              <p:cNvPr id="31" name="자유형: 도형 30">
                <a:extLst>
                  <a:ext uri="{FF2B5EF4-FFF2-40B4-BE49-F238E27FC236}">
                    <a16:creationId xmlns:a16="http://schemas.microsoft.com/office/drawing/2014/main" id="{B27DE0AE-B1B7-9DA4-1C24-BDACCAD17BDF}"/>
                  </a:ext>
                </a:extLst>
              </p:cNvPr>
              <p:cNvSpPr/>
              <p:nvPr/>
            </p:nvSpPr>
            <p:spPr>
              <a:xfrm>
                <a:off x="6254124" y="2957516"/>
                <a:ext cx="1814918" cy="1955928"/>
              </a:xfrm>
              <a:custGeom>
                <a:avLst/>
                <a:gdLst>
                  <a:gd name="connsiteX0" fmla="*/ 524840 w 1036800"/>
                  <a:gd name="connsiteY0" fmla="*/ 0 h 1117354"/>
                  <a:gd name="connsiteX1" fmla="*/ 555519 w 1036800"/>
                  <a:gd name="connsiteY1" fmla="*/ 7795 h 1117354"/>
                  <a:gd name="connsiteX2" fmla="*/ 990138 w 1036800"/>
                  <a:gd name="connsiteY2" fmla="*/ 216686 h 1117354"/>
                  <a:gd name="connsiteX3" fmla="*/ 1035248 w 1036800"/>
                  <a:gd name="connsiteY3" fmla="*/ 292386 h 1117354"/>
                  <a:gd name="connsiteX4" fmla="*/ 1034710 w 1036800"/>
                  <a:gd name="connsiteY4" fmla="*/ 294503 h 1117354"/>
                  <a:gd name="connsiteX5" fmla="*/ 1036800 w 1036800"/>
                  <a:gd name="connsiteY5" fmla="*/ 304854 h 1117354"/>
                  <a:gd name="connsiteX6" fmla="*/ 1036800 w 1036800"/>
                  <a:gd name="connsiteY6" fmla="*/ 811494 h 1117354"/>
                  <a:gd name="connsiteX7" fmla="*/ 1034597 w 1036800"/>
                  <a:gd name="connsiteY7" fmla="*/ 822406 h 1117354"/>
                  <a:gd name="connsiteX8" fmla="*/ 1035248 w 1036800"/>
                  <a:gd name="connsiteY8" fmla="*/ 824968 h 1117354"/>
                  <a:gd name="connsiteX9" fmla="*/ 990138 w 1036800"/>
                  <a:gd name="connsiteY9" fmla="*/ 900668 h 1117354"/>
                  <a:gd name="connsiteX10" fmla="*/ 555519 w 1036800"/>
                  <a:gd name="connsiteY10" fmla="*/ 1109558 h 1117354"/>
                  <a:gd name="connsiteX11" fmla="*/ 524840 w 1036800"/>
                  <a:gd name="connsiteY11" fmla="*/ 1117354 h 1117354"/>
                  <a:gd name="connsiteX12" fmla="*/ 518097 w 1036800"/>
                  <a:gd name="connsiteY12" fmla="*/ 1116368 h 1117354"/>
                  <a:gd name="connsiteX13" fmla="*/ 511361 w 1036800"/>
                  <a:gd name="connsiteY13" fmla="*/ 1117353 h 1117354"/>
                  <a:gd name="connsiteX14" fmla="*/ 480681 w 1036800"/>
                  <a:gd name="connsiteY14" fmla="*/ 1109557 h 1117354"/>
                  <a:gd name="connsiteX15" fmla="*/ 46063 w 1036800"/>
                  <a:gd name="connsiteY15" fmla="*/ 900667 h 1117354"/>
                  <a:gd name="connsiteX16" fmla="*/ 952 w 1036800"/>
                  <a:gd name="connsiteY16" fmla="*/ 824967 h 1117354"/>
                  <a:gd name="connsiteX17" fmla="*/ 1937 w 1036800"/>
                  <a:gd name="connsiteY17" fmla="*/ 821090 h 1117354"/>
                  <a:gd name="connsiteX18" fmla="*/ 0 w 1036800"/>
                  <a:gd name="connsiteY18" fmla="*/ 811494 h 1117354"/>
                  <a:gd name="connsiteX19" fmla="*/ 0 w 1036800"/>
                  <a:gd name="connsiteY19" fmla="*/ 304854 h 1117354"/>
                  <a:gd name="connsiteX20" fmla="*/ 1824 w 1036800"/>
                  <a:gd name="connsiteY20" fmla="*/ 295819 h 1117354"/>
                  <a:gd name="connsiteX21" fmla="*/ 952 w 1036800"/>
                  <a:gd name="connsiteY21" fmla="*/ 292387 h 1117354"/>
                  <a:gd name="connsiteX22" fmla="*/ 46063 w 1036800"/>
                  <a:gd name="connsiteY22" fmla="*/ 216687 h 1117354"/>
                  <a:gd name="connsiteX23" fmla="*/ 480681 w 1036800"/>
                  <a:gd name="connsiteY23" fmla="*/ 7796 h 1117354"/>
                  <a:gd name="connsiteX24" fmla="*/ 511361 w 1036800"/>
                  <a:gd name="connsiteY24" fmla="*/ 1 h 1117354"/>
                  <a:gd name="connsiteX25" fmla="*/ 516388 w 1036800"/>
                  <a:gd name="connsiteY25" fmla="*/ 1236 h 11173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036800" h="1117354">
                    <a:moveTo>
                      <a:pt x="524840" y="0"/>
                    </a:moveTo>
                    <a:cubicBezTo>
                      <a:pt x="535183" y="496"/>
                      <a:pt x="545599" y="3028"/>
                      <a:pt x="555519" y="7795"/>
                    </a:cubicBezTo>
                    <a:lnTo>
                      <a:pt x="990138" y="216686"/>
                    </a:lnTo>
                    <a:cubicBezTo>
                      <a:pt x="1019897" y="230990"/>
                      <a:pt x="1036735" y="261357"/>
                      <a:pt x="1035248" y="292386"/>
                    </a:cubicBezTo>
                    <a:lnTo>
                      <a:pt x="1034710" y="294503"/>
                    </a:lnTo>
                    <a:lnTo>
                      <a:pt x="1036800" y="304854"/>
                    </a:lnTo>
                    <a:lnTo>
                      <a:pt x="1036800" y="811494"/>
                    </a:lnTo>
                    <a:lnTo>
                      <a:pt x="1034597" y="822406"/>
                    </a:lnTo>
                    <a:lnTo>
                      <a:pt x="1035248" y="824968"/>
                    </a:lnTo>
                    <a:cubicBezTo>
                      <a:pt x="1036735" y="855997"/>
                      <a:pt x="1019897" y="886364"/>
                      <a:pt x="990138" y="900668"/>
                    </a:cubicBezTo>
                    <a:lnTo>
                      <a:pt x="555519" y="1109558"/>
                    </a:lnTo>
                    <a:cubicBezTo>
                      <a:pt x="545599" y="1114326"/>
                      <a:pt x="535183" y="1116858"/>
                      <a:pt x="524840" y="1117354"/>
                    </a:cubicBezTo>
                    <a:lnTo>
                      <a:pt x="518097" y="1116368"/>
                    </a:lnTo>
                    <a:lnTo>
                      <a:pt x="511361" y="1117353"/>
                    </a:lnTo>
                    <a:cubicBezTo>
                      <a:pt x="501018" y="1116857"/>
                      <a:pt x="490601" y="1114325"/>
                      <a:pt x="480681" y="1109557"/>
                    </a:cubicBezTo>
                    <a:lnTo>
                      <a:pt x="46063" y="900667"/>
                    </a:lnTo>
                    <a:cubicBezTo>
                      <a:pt x="16303" y="886363"/>
                      <a:pt x="-535" y="855996"/>
                      <a:pt x="952" y="824967"/>
                    </a:cubicBezTo>
                    <a:lnTo>
                      <a:pt x="1937" y="821090"/>
                    </a:lnTo>
                    <a:lnTo>
                      <a:pt x="0" y="811494"/>
                    </a:lnTo>
                    <a:lnTo>
                      <a:pt x="0" y="304854"/>
                    </a:lnTo>
                    <a:lnTo>
                      <a:pt x="1824" y="295819"/>
                    </a:lnTo>
                    <a:lnTo>
                      <a:pt x="952" y="292387"/>
                    </a:lnTo>
                    <a:cubicBezTo>
                      <a:pt x="-535" y="261358"/>
                      <a:pt x="16303" y="230991"/>
                      <a:pt x="46063" y="216687"/>
                    </a:cubicBezTo>
                    <a:lnTo>
                      <a:pt x="480681" y="7796"/>
                    </a:lnTo>
                    <a:cubicBezTo>
                      <a:pt x="490601" y="3029"/>
                      <a:pt x="501018" y="497"/>
                      <a:pt x="511361" y="1"/>
                    </a:cubicBezTo>
                    <a:lnTo>
                      <a:pt x="516388" y="1236"/>
                    </a:lnTo>
                    <a:close/>
                  </a:path>
                </a:pathLst>
              </a:custGeom>
              <a:solidFill>
                <a:schemeClr val="bg1"/>
              </a:solidFill>
              <a:ln w="60325">
                <a:gradFill flip="none" rotWithShape="1">
                  <a:gsLst>
                    <a:gs pos="100000">
                      <a:srgbClr val="6A4C93"/>
                    </a:gs>
                    <a:gs pos="0">
                      <a:srgbClr val="B00020"/>
                    </a:gs>
                  </a:gsLst>
                  <a:lin ang="1080000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34" name="타원 33">
                <a:extLst>
                  <a:ext uri="{FF2B5EF4-FFF2-40B4-BE49-F238E27FC236}">
                    <a16:creationId xmlns:a16="http://schemas.microsoft.com/office/drawing/2014/main" id="{5D94BAC0-36D9-D029-0D18-F311FE806873}"/>
                  </a:ext>
                </a:extLst>
              </p:cNvPr>
              <p:cNvSpPr/>
              <p:nvPr/>
            </p:nvSpPr>
            <p:spPr>
              <a:xfrm>
                <a:off x="6919066" y="3227043"/>
                <a:ext cx="485034" cy="485034"/>
              </a:xfrm>
              <a:prstGeom prst="ellipse">
                <a:avLst/>
              </a:prstGeom>
              <a:solidFill>
                <a:srgbClr val="6A4C9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B93F8A92-7C0A-AC3D-13A7-F597AE432391}"/>
                  </a:ext>
                </a:extLst>
              </p:cNvPr>
              <p:cNvSpPr/>
              <p:nvPr/>
            </p:nvSpPr>
            <p:spPr>
              <a:xfrm>
                <a:off x="6392019" y="3771704"/>
                <a:ext cx="1533525" cy="32729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spc="-80">
                    <a:solidFill>
                      <a:srgbClr val="2D3142"/>
                    </a:solidFill>
                    <a:latin typeface="+mj-ea"/>
                    <a:ea typeface="+mj-ea"/>
                  </a:rPr>
                  <a:t>POINT2 </a:t>
                </a:r>
                <a:endParaRPr lang="ko-KR" altLang="en-US" sz="1600" spc="-80">
                  <a:solidFill>
                    <a:srgbClr val="2D3142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8" name="직사각형 37">
                <a:extLst>
                  <a:ext uri="{FF2B5EF4-FFF2-40B4-BE49-F238E27FC236}">
                    <a16:creationId xmlns:a16="http://schemas.microsoft.com/office/drawing/2014/main" id="{EC852F9A-3DE2-E137-940E-13A531D1FA0D}"/>
                  </a:ext>
                </a:extLst>
              </p:cNvPr>
              <p:cNvSpPr/>
              <p:nvPr/>
            </p:nvSpPr>
            <p:spPr>
              <a:xfrm>
                <a:off x="6392019" y="4130386"/>
                <a:ext cx="1533525" cy="32729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spc="-80">
                    <a:solidFill>
                      <a:srgbClr val="2D3142"/>
                    </a:solidFill>
                    <a:latin typeface="+mn-ea"/>
                  </a:rPr>
                  <a:t>차별화 전략 </a:t>
                </a:r>
                <a:r>
                  <a:rPr lang="en-US" altLang="ko-KR" sz="1400" spc="-80">
                    <a:solidFill>
                      <a:srgbClr val="2D3142"/>
                    </a:solidFill>
                    <a:latin typeface="+mn-ea"/>
                  </a:rPr>
                  <a:t>2</a:t>
                </a:r>
                <a:endParaRPr lang="ko-KR" altLang="en-US" sz="1400" spc="-80">
                  <a:solidFill>
                    <a:srgbClr val="2D3142"/>
                  </a:solidFill>
                  <a:latin typeface="+mn-ea"/>
                </a:endParaRPr>
              </a:p>
            </p:txBody>
          </p:sp>
        </p:grpSp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5201822B-1809-7D15-36A6-0AAC9A460776}"/>
              </a:ext>
            </a:extLst>
          </p:cNvPr>
          <p:cNvGrpSpPr/>
          <p:nvPr/>
        </p:nvGrpSpPr>
        <p:grpSpPr>
          <a:xfrm>
            <a:off x="2498705" y="5137784"/>
            <a:ext cx="7194590" cy="1170941"/>
            <a:chOff x="2125984" y="5137784"/>
            <a:chExt cx="7194590" cy="1170941"/>
          </a:xfrm>
        </p:grpSpPr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A00582F2-BDF2-A57F-29CC-EAC387BDA7FF}"/>
                </a:ext>
              </a:extLst>
            </p:cNvPr>
            <p:cNvGrpSpPr/>
            <p:nvPr/>
          </p:nvGrpSpPr>
          <p:grpSpPr>
            <a:xfrm>
              <a:off x="2125984" y="5137784"/>
              <a:ext cx="1533525" cy="1170941"/>
              <a:chOff x="2125984" y="5137784"/>
              <a:chExt cx="1533525" cy="1170941"/>
            </a:xfrm>
          </p:grpSpPr>
          <p:sp>
            <p:nvSpPr>
              <p:cNvPr id="39" name="직사각형 38">
                <a:extLst>
                  <a:ext uri="{FF2B5EF4-FFF2-40B4-BE49-F238E27FC236}">
                    <a16:creationId xmlns:a16="http://schemas.microsoft.com/office/drawing/2014/main" id="{1AAAFA9F-F527-079D-D2EE-6EC65DD3338F}"/>
                  </a:ext>
                </a:extLst>
              </p:cNvPr>
              <p:cNvSpPr/>
              <p:nvPr/>
            </p:nvSpPr>
            <p:spPr>
              <a:xfrm>
                <a:off x="2125984" y="5137784"/>
                <a:ext cx="1533525" cy="32729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spc="-80">
                    <a:solidFill>
                      <a:srgbClr val="2D3142"/>
                    </a:solidFill>
                    <a:latin typeface="+mj-ea"/>
                    <a:ea typeface="+mj-ea"/>
                  </a:rPr>
                  <a:t>LLM  </a:t>
                </a:r>
                <a:r>
                  <a:rPr lang="ko-KR" altLang="en-US" sz="1600" spc="-80">
                    <a:solidFill>
                      <a:srgbClr val="2D3142"/>
                    </a:solidFill>
                    <a:latin typeface="+mj-ea"/>
                    <a:ea typeface="+mj-ea"/>
                  </a:rPr>
                  <a:t>자연어 처리</a:t>
                </a:r>
              </a:p>
            </p:txBody>
          </p:sp>
          <p:sp>
            <p:nvSpPr>
              <p:cNvPr id="40" name="직사각형 39">
                <a:extLst>
                  <a:ext uri="{FF2B5EF4-FFF2-40B4-BE49-F238E27FC236}">
                    <a16:creationId xmlns:a16="http://schemas.microsoft.com/office/drawing/2014/main" id="{49E12D54-AB1F-C0A5-9C38-FB7A343C413F}"/>
                  </a:ext>
                </a:extLst>
              </p:cNvPr>
              <p:cNvSpPr/>
              <p:nvPr/>
            </p:nvSpPr>
            <p:spPr>
              <a:xfrm>
                <a:off x="2125984" y="5496466"/>
                <a:ext cx="1533525" cy="81225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t"/>
              <a:lstStyle/>
              <a:p>
                <a:pPr algn="ctr"/>
                <a:r>
                  <a:rPr lang="ko-KR" altLang="en-US" sz="1600" spc="-80">
                    <a:solidFill>
                      <a:srgbClr val="2D3142"/>
                    </a:solidFill>
                    <a:latin typeface="+mn-ea"/>
                  </a:rPr>
                  <a:t>키워드를 넘어 문맥 이해</a:t>
                </a:r>
                <a:r>
                  <a:rPr lang="en-US" altLang="ko-KR" sz="1600" spc="-80">
                    <a:solidFill>
                      <a:srgbClr val="2D3142"/>
                    </a:solidFill>
                    <a:latin typeface="+mn-ea"/>
                  </a:rPr>
                  <a:t>,</a:t>
                </a:r>
              </a:p>
              <a:p>
                <a:pPr algn="ctr"/>
                <a:r>
                  <a:rPr lang="ko-KR" altLang="en-US" sz="1600" spc="-80">
                    <a:solidFill>
                      <a:srgbClr val="2D3142"/>
                    </a:solidFill>
                    <a:latin typeface="+mn-ea"/>
                  </a:rPr>
                  <a:t>친근한 대화 챗봇</a:t>
                </a:r>
              </a:p>
            </p:txBody>
          </p:sp>
        </p:grp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E733BB72-3D89-DD27-1A0F-6533E6B73518}"/>
                </a:ext>
              </a:extLst>
            </p:cNvPr>
            <p:cNvGrpSpPr/>
            <p:nvPr/>
          </p:nvGrpSpPr>
          <p:grpSpPr>
            <a:xfrm>
              <a:off x="4013006" y="5137784"/>
              <a:ext cx="1533525" cy="1170941"/>
              <a:chOff x="3875087" y="5137784"/>
              <a:chExt cx="1533525" cy="1170941"/>
            </a:xfrm>
          </p:grpSpPr>
          <p:sp>
            <p:nvSpPr>
              <p:cNvPr id="41" name="직사각형 40">
                <a:extLst>
                  <a:ext uri="{FF2B5EF4-FFF2-40B4-BE49-F238E27FC236}">
                    <a16:creationId xmlns:a16="http://schemas.microsoft.com/office/drawing/2014/main" id="{FA533898-1597-AECD-1358-EF751757B87E}"/>
                  </a:ext>
                </a:extLst>
              </p:cNvPr>
              <p:cNvSpPr/>
              <p:nvPr/>
            </p:nvSpPr>
            <p:spPr>
              <a:xfrm>
                <a:off x="3875087" y="5137784"/>
                <a:ext cx="1533525" cy="32729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spc="-80">
                    <a:solidFill>
                      <a:srgbClr val="2D3142"/>
                    </a:solidFill>
                    <a:latin typeface="+mj-ea"/>
                    <a:ea typeface="+mj-ea"/>
                  </a:rPr>
                  <a:t>RAG </a:t>
                </a:r>
                <a:r>
                  <a:rPr lang="ko-KR" altLang="en-US" sz="1600" spc="-80">
                    <a:solidFill>
                      <a:srgbClr val="2D3142"/>
                    </a:solidFill>
                    <a:latin typeface="+mj-ea"/>
                    <a:ea typeface="+mj-ea"/>
                  </a:rPr>
                  <a:t>기반 정확성</a:t>
                </a:r>
              </a:p>
            </p:txBody>
          </p:sp>
          <p:sp>
            <p:nvSpPr>
              <p:cNvPr id="42" name="직사각형 41">
                <a:extLst>
                  <a:ext uri="{FF2B5EF4-FFF2-40B4-BE49-F238E27FC236}">
                    <a16:creationId xmlns:a16="http://schemas.microsoft.com/office/drawing/2014/main" id="{70E2AED2-7866-3CE5-F63D-99A15A281BCA}"/>
                  </a:ext>
                </a:extLst>
              </p:cNvPr>
              <p:cNvSpPr/>
              <p:nvPr/>
            </p:nvSpPr>
            <p:spPr>
              <a:xfrm>
                <a:off x="3875087" y="5496466"/>
                <a:ext cx="1533525" cy="81225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US" altLang="ko-KR" sz="1600" spc="-80">
                    <a:solidFill>
                      <a:srgbClr val="2D3142"/>
                    </a:solidFill>
                    <a:latin typeface="+mn-ea"/>
                  </a:rPr>
                  <a:t>LLM </a:t>
                </a:r>
                <a:r>
                  <a:rPr lang="ko-KR" altLang="en-US" sz="1600" spc="-80">
                    <a:solidFill>
                      <a:srgbClr val="2D3142"/>
                    </a:solidFill>
                    <a:latin typeface="+mn-ea"/>
                  </a:rPr>
                  <a:t>한계 극복</a:t>
                </a:r>
                <a:r>
                  <a:rPr lang="en-US" altLang="ko-KR" sz="1600" spc="-80">
                    <a:solidFill>
                      <a:srgbClr val="2D3142"/>
                    </a:solidFill>
                    <a:latin typeface="+mn-ea"/>
                  </a:rPr>
                  <a:t>, </a:t>
                </a:r>
              </a:p>
              <a:p>
                <a:pPr algn="ctr"/>
                <a:r>
                  <a:rPr lang="ko-KR" altLang="en-US" sz="1600" spc="-80">
                    <a:solidFill>
                      <a:srgbClr val="2D3142"/>
                    </a:solidFill>
                    <a:latin typeface="+mn-ea"/>
                  </a:rPr>
                  <a:t>신뢰높은 정보 제공 </a:t>
                </a:r>
              </a:p>
            </p:txBody>
          </p:sp>
        </p:grpSp>
        <p:grpSp>
          <p:nvGrpSpPr>
            <p:cNvPr id="45" name="그룹 44">
              <a:extLst>
                <a:ext uri="{FF2B5EF4-FFF2-40B4-BE49-F238E27FC236}">
                  <a16:creationId xmlns:a16="http://schemas.microsoft.com/office/drawing/2014/main" id="{973F5CF9-AA97-E647-4FBF-3FBD5A672DDC}"/>
                </a:ext>
              </a:extLst>
            </p:cNvPr>
            <p:cNvGrpSpPr/>
            <p:nvPr/>
          </p:nvGrpSpPr>
          <p:grpSpPr>
            <a:xfrm>
              <a:off x="5900028" y="5137784"/>
              <a:ext cx="1533525" cy="1170941"/>
              <a:chOff x="2125984" y="5137784"/>
              <a:chExt cx="1533525" cy="1170941"/>
            </a:xfrm>
          </p:grpSpPr>
          <p:sp>
            <p:nvSpPr>
              <p:cNvPr id="46" name="직사각형 45">
                <a:extLst>
                  <a:ext uri="{FF2B5EF4-FFF2-40B4-BE49-F238E27FC236}">
                    <a16:creationId xmlns:a16="http://schemas.microsoft.com/office/drawing/2014/main" id="{B8F5593D-872E-7A85-3A51-F713D03E5B74}"/>
                  </a:ext>
                </a:extLst>
              </p:cNvPr>
              <p:cNvSpPr/>
              <p:nvPr/>
            </p:nvSpPr>
            <p:spPr>
              <a:xfrm>
                <a:off x="2125984" y="5137784"/>
                <a:ext cx="1533525" cy="32729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600" spc="-80">
                    <a:solidFill>
                      <a:srgbClr val="2D3142"/>
                    </a:solidFill>
                    <a:latin typeface="+mj-ea"/>
                    <a:ea typeface="+mj-ea"/>
                  </a:rPr>
                  <a:t>개인맞춤형</a:t>
                </a:r>
              </a:p>
            </p:txBody>
          </p:sp>
          <p:sp>
            <p:nvSpPr>
              <p:cNvPr id="47" name="직사각형 46">
                <a:extLst>
                  <a:ext uri="{FF2B5EF4-FFF2-40B4-BE49-F238E27FC236}">
                    <a16:creationId xmlns:a16="http://schemas.microsoft.com/office/drawing/2014/main" id="{2C13E758-66B3-444D-B660-D6121E3406BF}"/>
                  </a:ext>
                </a:extLst>
              </p:cNvPr>
              <p:cNvSpPr/>
              <p:nvPr/>
            </p:nvSpPr>
            <p:spPr>
              <a:xfrm>
                <a:off x="2125984" y="5496466"/>
                <a:ext cx="1533525" cy="81225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ko-KR" altLang="en-US" sz="1600" spc="-80">
                    <a:solidFill>
                      <a:srgbClr val="2D3142"/>
                    </a:solidFill>
                    <a:latin typeface="+mn-ea"/>
                  </a:rPr>
                  <a:t>정형화 </a:t>
                </a:r>
                <a:r>
                  <a:rPr lang="en-US" altLang="ko-KR" sz="1600" spc="-80">
                    <a:solidFill>
                      <a:srgbClr val="2D3142"/>
                    </a:solidFill>
                    <a:latin typeface="+mn-ea"/>
                  </a:rPr>
                  <a:t>NO,</a:t>
                </a:r>
              </a:p>
              <a:p>
                <a:pPr algn="ctr"/>
                <a:r>
                  <a:rPr lang="ko-KR" altLang="en-US" sz="1600" spc="-80">
                    <a:solidFill>
                      <a:srgbClr val="2D3142"/>
                    </a:solidFill>
                    <a:latin typeface="+mn-ea"/>
                  </a:rPr>
                  <a:t>개인별 최적 솔루션</a:t>
                </a:r>
              </a:p>
            </p:txBody>
          </p:sp>
        </p:grpSp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FD00C94E-898B-CD54-E349-79F47E749193}"/>
                </a:ext>
              </a:extLst>
            </p:cNvPr>
            <p:cNvGrpSpPr/>
            <p:nvPr/>
          </p:nvGrpSpPr>
          <p:grpSpPr>
            <a:xfrm>
              <a:off x="7787049" y="5137784"/>
              <a:ext cx="1533525" cy="1170941"/>
              <a:chOff x="3875087" y="5137784"/>
              <a:chExt cx="1533525" cy="1170941"/>
            </a:xfrm>
          </p:grpSpPr>
          <p:sp>
            <p:nvSpPr>
              <p:cNvPr id="49" name="직사각형 48">
                <a:extLst>
                  <a:ext uri="{FF2B5EF4-FFF2-40B4-BE49-F238E27FC236}">
                    <a16:creationId xmlns:a16="http://schemas.microsoft.com/office/drawing/2014/main" id="{9F695A5D-5125-D07D-2F5E-936E9BCD69C5}"/>
                  </a:ext>
                </a:extLst>
              </p:cNvPr>
              <p:cNvSpPr/>
              <p:nvPr/>
            </p:nvSpPr>
            <p:spPr>
              <a:xfrm>
                <a:off x="3875087" y="5137784"/>
                <a:ext cx="1533525" cy="32729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600" spc="-80">
                    <a:solidFill>
                      <a:srgbClr val="2D3142"/>
                    </a:solidFill>
                    <a:latin typeface="+mj-ea"/>
                    <a:ea typeface="+mj-ea"/>
                  </a:rPr>
                  <a:t>상시운영</a:t>
                </a:r>
              </a:p>
            </p:txBody>
          </p:sp>
          <p:sp>
            <p:nvSpPr>
              <p:cNvPr id="50" name="직사각형 49">
                <a:extLst>
                  <a:ext uri="{FF2B5EF4-FFF2-40B4-BE49-F238E27FC236}">
                    <a16:creationId xmlns:a16="http://schemas.microsoft.com/office/drawing/2014/main" id="{C1EBB925-E907-3A93-FA53-E3262B28844C}"/>
                  </a:ext>
                </a:extLst>
              </p:cNvPr>
              <p:cNvSpPr/>
              <p:nvPr/>
            </p:nvSpPr>
            <p:spPr>
              <a:xfrm>
                <a:off x="3875087" y="5496466"/>
                <a:ext cx="1533525" cy="81225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ko-KR" altLang="en-US" sz="1600" spc="-80">
                    <a:solidFill>
                      <a:srgbClr val="2D3142"/>
                    </a:solidFill>
                    <a:latin typeface="+mn-ea"/>
                  </a:rPr>
                  <a:t>시공간 제약없이 </a:t>
                </a:r>
                <a:endParaRPr lang="en-US" altLang="ko-KR" sz="1600" spc="-80">
                  <a:solidFill>
                    <a:srgbClr val="2D3142"/>
                  </a:solidFill>
                  <a:latin typeface="+mn-ea"/>
                </a:endParaRPr>
              </a:p>
              <a:p>
                <a:pPr algn="ctr"/>
                <a:r>
                  <a:rPr lang="en-US" altLang="ko-KR" sz="1600" spc="-80">
                    <a:solidFill>
                      <a:srgbClr val="2D3142"/>
                    </a:solidFill>
                    <a:latin typeface="+mn-ea"/>
                  </a:rPr>
                  <a:t>24</a:t>
                </a:r>
                <a:r>
                  <a:rPr lang="ko-KR" altLang="en-US" sz="1600" spc="-80">
                    <a:solidFill>
                      <a:srgbClr val="2D3142"/>
                    </a:solidFill>
                    <a:latin typeface="+mn-ea"/>
                  </a:rPr>
                  <a:t>시간 상시 접근 </a:t>
                </a:r>
              </a:p>
            </p:txBody>
          </p:sp>
        </p:grpSp>
      </p:grpSp>
      <p:grpSp>
        <p:nvGrpSpPr>
          <p:cNvPr id="2131" name="그룹 2130">
            <a:extLst>
              <a:ext uri="{FF2B5EF4-FFF2-40B4-BE49-F238E27FC236}">
                <a16:creationId xmlns:a16="http://schemas.microsoft.com/office/drawing/2014/main" id="{66A4C1F4-1A58-035F-06B5-B8252E140C79}"/>
              </a:ext>
            </a:extLst>
          </p:cNvPr>
          <p:cNvGrpSpPr/>
          <p:nvPr/>
        </p:nvGrpSpPr>
        <p:grpSpPr>
          <a:xfrm flipH="1">
            <a:off x="8299531" y="2222927"/>
            <a:ext cx="3134553" cy="4460993"/>
            <a:chOff x="530863" y="2222927"/>
            <a:chExt cx="3134553" cy="4460993"/>
          </a:xfrm>
        </p:grpSpPr>
        <p:sp>
          <p:nvSpPr>
            <p:cNvPr id="2132" name="타원 2131">
              <a:extLst>
                <a:ext uri="{FF2B5EF4-FFF2-40B4-BE49-F238E27FC236}">
                  <a16:creationId xmlns:a16="http://schemas.microsoft.com/office/drawing/2014/main" id="{32721ED7-5B09-5840-6536-452828866CFC}"/>
                </a:ext>
              </a:extLst>
            </p:cNvPr>
            <p:cNvSpPr/>
            <p:nvPr/>
          </p:nvSpPr>
          <p:spPr>
            <a:xfrm>
              <a:off x="909569" y="3222326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33" name="타원 2132">
              <a:extLst>
                <a:ext uri="{FF2B5EF4-FFF2-40B4-BE49-F238E27FC236}">
                  <a16:creationId xmlns:a16="http://schemas.microsoft.com/office/drawing/2014/main" id="{D543CD5A-4AF5-6253-5320-28AF74AA4706}"/>
                </a:ext>
              </a:extLst>
            </p:cNvPr>
            <p:cNvSpPr/>
            <p:nvPr/>
          </p:nvSpPr>
          <p:spPr>
            <a:xfrm>
              <a:off x="2403380" y="5371021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solidFill>
                <a:srgbClr val="D3D3D3">
                  <a:alpha val="3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34" name="타원 2133">
              <a:extLst>
                <a:ext uri="{FF2B5EF4-FFF2-40B4-BE49-F238E27FC236}">
                  <a16:creationId xmlns:a16="http://schemas.microsoft.com/office/drawing/2014/main" id="{96F4F3AD-78B4-62F5-898B-22505F7BF37E}"/>
                </a:ext>
              </a:extLst>
            </p:cNvPr>
            <p:cNvSpPr/>
            <p:nvPr/>
          </p:nvSpPr>
          <p:spPr>
            <a:xfrm>
              <a:off x="3548300" y="4226375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solidFill>
                <a:srgbClr val="D3D3D3">
                  <a:alpha val="3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35" name="타원 2134">
              <a:extLst>
                <a:ext uri="{FF2B5EF4-FFF2-40B4-BE49-F238E27FC236}">
                  <a16:creationId xmlns:a16="http://schemas.microsoft.com/office/drawing/2014/main" id="{D28CEE64-6004-1AF6-444F-1DDF143A38CE}"/>
                </a:ext>
              </a:extLst>
            </p:cNvPr>
            <p:cNvSpPr/>
            <p:nvPr/>
          </p:nvSpPr>
          <p:spPr>
            <a:xfrm>
              <a:off x="2014998" y="3049294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36" name="타원 2135">
              <a:extLst>
                <a:ext uri="{FF2B5EF4-FFF2-40B4-BE49-F238E27FC236}">
                  <a16:creationId xmlns:a16="http://schemas.microsoft.com/office/drawing/2014/main" id="{8E0A1C27-2748-C369-BC13-6983D1D81421}"/>
                </a:ext>
              </a:extLst>
            </p:cNvPr>
            <p:cNvSpPr/>
            <p:nvPr/>
          </p:nvSpPr>
          <p:spPr>
            <a:xfrm>
              <a:off x="1515334" y="2803902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37" name="타원 2136">
              <a:extLst>
                <a:ext uri="{FF2B5EF4-FFF2-40B4-BE49-F238E27FC236}">
                  <a16:creationId xmlns:a16="http://schemas.microsoft.com/office/drawing/2014/main" id="{754291C0-F467-A39A-7DB0-CDF389693F68}"/>
                </a:ext>
              </a:extLst>
            </p:cNvPr>
            <p:cNvSpPr/>
            <p:nvPr/>
          </p:nvSpPr>
          <p:spPr>
            <a:xfrm>
              <a:off x="627361" y="2686786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38" name="타원 2137">
              <a:extLst>
                <a:ext uri="{FF2B5EF4-FFF2-40B4-BE49-F238E27FC236}">
                  <a16:creationId xmlns:a16="http://schemas.microsoft.com/office/drawing/2014/main" id="{DAB2A74A-18A0-9F05-49B6-FDEB11913D19}"/>
                </a:ext>
              </a:extLst>
            </p:cNvPr>
            <p:cNvSpPr/>
            <p:nvPr/>
          </p:nvSpPr>
          <p:spPr>
            <a:xfrm>
              <a:off x="530863" y="3559834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39" name="타원 2138">
              <a:extLst>
                <a:ext uri="{FF2B5EF4-FFF2-40B4-BE49-F238E27FC236}">
                  <a16:creationId xmlns:a16="http://schemas.microsoft.com/office/drawing/2014/main" id="{2FAA7EBE-2BD4-4CDE-25C6-02232CAEF431}"/>
                </a:ext>
              </a:extLst>
            </p:cNvPr>
            <p:cNvSpPr/>
            <p:nvPr/>
          </p:nvSpPr>
          <p:spPr>
            <a:xfrm>
              <a:off x="3132831" y="3569060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40" name="타원 2139">
              <a:extLst>
                <a:ext uri="{FF2B5EF4-FFF2-40B4-BE49-F238E27FC236}">
                  <a16:creationId xmlns:a16="http://schemas.microsoft.com/office/drawing/2014/main" id="{E2AF19D2-E0CA-5567-691E-71D75329435F}"/>
                </a:ext>
              </a:extLst>
            </p:cNvPr>
            <p:cNvSpPr/>
            <p:nvPr/>
          </p:nvSpPr>
          <p:spPr>
            <a:xfrm>
              <a:off x="1595279" y="3049294"/>
              <a:ext cx="74340" cy="74340"/>
            </a:xfrm>
            <a:prstGeom prst="ellipse">
              <a:avLst/>
            </a:prstGeom>
            <a:solidFill>
              <a:srgbClr val="2D3142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41" name="타원 2140">
              <a:extLst>
                <a:ext uri="{FF2B5EF4-FFF2-40B4-BE49-F238E27FC236}">
                  <a16:creationId xmlns:a16="http://schemas.microsoft.com/office/drawing/2014/main" id="{7C142C8D-9514-B9AA-E1D9-DDB0CD788703}"/>
                </a:ext>
              </a:extLst>
            </p:cNvPr>
            <p:cNvSpPr/>
            <p:nvPr/>
          </p:nvSpPr>
          <p:spPr>
            <a:xfrm>
              <a:off x="2360287" y="2454653"/>
              <a:ext cx="232133" cy="232133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42" name="타원 2141">
              <a:extLst>
                <a:ext uri="{FF2B5EF4-FFF2-40B4-BE49-F238E27FC236}">
                  <a16:creationId xmlns:a16="http://schemas.microsoft.com/office/drawing/2014/main" id="{3DF37E0E-76DA-9596-9431-DFB4387CDFA6}"/>
                </a:ext>
              </a:extLst>
            </p:cNvPr>
            <p:cNvSpPr/>
            <p:nvPr/>
          </p:nvSpPr>
          <p:spPr>
            <a:xfrm>
              <a:off x="1322562" y="3172262"/>
              <a:ext cx="336459" cy="336459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43" name="타원 2142">
              <a:extLst>
                <a:ext uri="{FF2B5EF4-FFF2-40B4-BE49-F238E27FC236}">
                  <a16:creationId xmlns:a16="http://schemas.microsoft.com/office/drawing/2014/main" id="{7970BEA0-7D4A-D25C-CC36-76A0306F0E74}"/>
                </a:ext>
              </a:extLst>
            </p:cNvPr>
            <p:cNvSpPr/>
            <p:nvPr/>
          </p:nvSpPr>
          <p:spPr>
            <a:xfrm>
              <a:off x="2243171" y="4090231"/>
              <a:ext cx="232133" cy="232133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44" name="타원 2143">
              <a:extLst>
                <a:ext uri="{FF2B5EF4-FFF2-40B4-BE49-F238E27FC236}">
                  <a16:creationId xmlns:a16="http://schemas.microsoft.com/office/drawing/2014/main" id="{87647E12-D10F-9D02-EC3E-F652FFBFE495}"/>
                </a:ext>
              </a:extLst>
            </p:cNvPr>
            <p:cNvSpPr/>
            <p:nvPr/>
          </p:nvSpPr>
          <p:spPr>
            <a:xfrm>
              <a:off x="872398" y="2288086"/>
              <a:ext cx="74340" cy="74340"/>
            </a:xfrm>
            <a:prstGeom prst="ellipse">
              <a:avLst/>
            </a:prstGeom>
            <a:solidFill>
              <a:srgbClr val="2D3142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45" name="타원 2144">
              <a:extLst>
                <a:ext uri="{FF2B5EF4-FFF2-40B4-BE49-F238E27FC236}">
                  <a16:creationId xmlns:a16="http://schemas.microsoft.com/office/drawing/2014/main" id="{172BD9B0-272A-8A76-584F-227598947591}"/>
                </a:ext>
              </a:extLst>
            </p:cNvPr>
            <p:cNvSpPr/>
            <p:nvPr/>
          </p:nvSpPr>
          <p:spPr>
            <a:xfrm>
              <a:off x="909311" y="4942434"/>
              <a:ext cx="74340" cy="74340"/>
            </a:xfrm>
            <a:prstGeom prst="ellipse">
              <a:avLst/>
            </a:prstGeom>
            <a:solidFill>
              <a:srgbClr val="2D3142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146" name="직선 화살표 연결선 2145">
              <a:extLst>
                <a:ext uri="{FF2B5EF4-FFF2-40B4-BE49-F238E27FC236}">
                  <a16:creationId xmlns:a16="http://schemas.microsoft.com/office/drawing/2014/main" id="{F4B2D650-7F95-5FD0-4EB7-8901F217FA30}"/>
                </a:ext>
              </a:extLst>
            </p:cNvPr>
            <p:cNvCxnSpPr>
              <a:cxnSpLocks/>
            </p:cNvCxnSpPr>
            <p:nvPr/>
          </p:nvCxnSpPr>
          <p:spPr>
            <a:xfrm>
              <a:off x="744477" y="2745344"/>
              <a:ext cx="770857" cy="106332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7" name="직선 화살표 연결선 2146">
              <a:extLst>
                <a:ext uri="{FF2B5EF4-FFF2-40B4-BE49-F238E27FC236}">
                  <a16:creationId xmlns:a16="http://schemas.microsoft.com/office/drawing/2014/main" id="{256C9FDF-E6E0-D2B1-20C9-B935842B4879}"/>
                </a:ext>
              </a:extLst>
            </p:cNvPr>
            <p:cNvCxnSpPr>
              <a:cxnSpLocks/>
              <a:endCxn id="2140" idx="1"/>
            </p:cNvCxnSpPr>
            <p:nvPr/>
          </p:nvCxnSpPr>
          <p:spPr>
            <a:xfrm>
              <a:off x="931748" y="2341742"/>
              <a:ext cx="674417" cy="718439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8" name="직선 화살표 연결선 2147">
              <a:extLst>
                <a:ext uri="{FF2B5EF4-FFF2-40B4-BE49-F238E27FC236}">
                  <a16:creationId xmlns:a16="http://schemas.microsoft.com/office/drawing/2014/main" id="{799174B2-A6C3-ADB9-62AC-E6C3E3F7F37B}"/>
                </a:ext>
              </a:extLst>
            </p:cNvPr>
            <p:cNvCxnSpPr>
              <a:cxnSpLocks/>
              <a:stCxn id="2132" idx="5"/>
              <a:endCxn id="2133" idx="1"/>
            </p:cNvCxnSpPr>
            <p:nvPr/>
          </p:nvCxnSpPr>
          <p:spPr>
            <a:xfrm>
              <a:off x="1009534" y="3322291"/>
              <a:ext cx="1410997" cy="2065881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9" name="직선 화살표 연결선 2148">
              <a:extLst>
                <a:ext uri="{FF2B5EF4-FFF2-40B4-BE49-F238E27FC236}">
                  <a16:creationId xmlns:a16="http://schemas.microsoft.com/office/drawing/2014/main" id="{C5E7AFA7-C7BF-D09B-77A8-BEF0EC7C30B0}"/>
                </a:ext>
              </a:extLst>
            </p:cNvPr>
            <p:cNvCxnSpPr>
              <a:cxnSpLocks/>
              <a:stCxn id="2138" idx="7"/>
              <a:endCxn id="2142" idx="2"/>
            </p:cNvCxnSpPr>
            <p:nvPr/>
          </p:nvCxnSpPr>
          <p:spPr>
            <a:xfrm flipV="1">
              <a:off x="630828" y="3340493"/>
              <a:ext cx="691734" cy="236493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0" name="직선 화살표 연결선 2149">
              <a:extLst>
                <a:ext uri="{FF2B5EF4-FFF2-40B4-BE49-F238E27FC236}">
                  <a16:creationId xmlns:a16="http://schemas.microsoft.com/office/drawing/2014/main" id="{1ECCD608-F4A1-E714-DC3E-AEC3C9526AA0}"/>
                </a:ext>
              </a:extLst>
            </p:cNvPr>
            <p:cNvCxnSpPr>
              <a:cxnSpLocks/>
              <a:stCxn id="2132" idx="4"/>
              <a:endCxn id="2151" idx="1"/>
            </p:cNvCxnSpPr>
            <p:nvPr/>
          </p:nvCxnSpPr>
          <p:spPr>
            <a:xfrm>
              <a:off x="968128" y="3339442"/>
              <a:ext cx="1408262" cy="3244513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51" name="타원 2150">
              <a:extLst>
                <a:ext uri="{FF2B5EF4-FFF2-40B4-BE49-F238E27FC236}">
                  <a16:creationId xmlns:a16="http://schemas.microsoft.com/office/drawing/2014/main" id="{2CADB368-16B5-93FE-3B45-B73AAD416F8D}"/>
                </a:ext>
              </a:extLst>
            </p:cNvPr>
            <p:cNvSpPr/>
            <p:nvPr/>
          </p:nvSpPr>
          <p:spPr>
            <a:xfrm>
              <a:off x="2359239" y="6566804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solidFill>
                <a:srgbClr val="D3D3D3">
                  <a:alpha val="3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152" name="직선 화살표 연결선 2151">
              <a:extLst>
                <a:ext uri="{FF2B5EF4-FFF2-40B4-BE49-F238E27FC236}">
                  <a16:creationId xmlns:a16="http://schemas.microsoft.com/office/drawing/2014/main" id="{A8DA73E0-EA16-3CB9-B649-FA41DD6632F9}"/>
                </a:ext>
              </a:extLst>
            </p:cNvPr>
            <p:cNvCxnSpPr>
              <a:cxnSpLocks/>
              <a:stCxn id="2138" idx="6"/>
              <a:endCxn id="2139" idx="2"/>
            </p:cNvCxnSpPr>
            <p:nvPr/>
          </p:nvCxnSpPr>
          <p:spPr>
            <a:xfrm>
              <a:off x="647979" y="3618392"/>
              <a:ext cx="2484851" cy="9226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3" name="직선 화살표 연결선 2152">
              <a:extLst>
                <a:ext uri="{FF2B5EF4-FFF2-40B4-BE49-F238E27FC236}">
                  <a16:creationId xmlns:a16="http://schemas.microsoft.com/office/drawing/2014/main" id="{F656C75F-96F6-5874-57B3-976C32DB45D7}"/>
                </a:ext>
              </a:extLst>
            </p:cNvPr>
            <p:cNvCxnSpPr>
              <a:cxnSpLocks/>
              <a:stCxn id="2142" idx="7"/>
              <a:endCxn id="2135" idx="3"/>
            </p:cNvCxnSpPr>
            <p:nvPr/>
          </p:nvCxnSpPr>
          <p:spPr>
            <a:xfrm flipV="1">
              <a:off x="1609748" y="3149259"/>
              <a:ext cx="422401" cy="72277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54" name="타원 2153">
              <a:extLst>
                <a:ext uri="{FF2B5EF4-FFF2-40B4-BE49-F238E27FC236}">
                  <a16:creationId xmlns:a16="http://schemas.microsoft.com/office/drawing/2014/main" id="{3433B289-5E3C-1471-524F-F1A613D3F673}"/>
                </a:ext>
              </a:extLst>
            </p:cNvPr>
            <p:cNvSpPr/>
            <p:nvPr/>
          </p:nvSpPr>
          <p:spPr>
            <a:xfrm>
              <a:off x="1026686" y="3839096"/>
              <a:ext cx="166591" cy="166591"/>
            </a:xfrm>
            <a:prstGeom prst="ellipse">
              <a:avLst/>
            </a:prstGeom>
            <a:solidFill>
              <a:srgbClr val="2D3142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155" name="직선 화살표 연결선 2154">
              <a:extLst>
                <a:ext uri="{FF2B5EF4-FFF2-40B4-BE49-F238E27FC236}">
                  <a16:creationId xmlns:a16="http://schemas.microsoft.com/office/drawing/2014/main" id="{32DB0F41-B1AA-D930-2697-EB5A6B8211EE}"/>
                </a:ext>
              </a:extLst>
            </p:cNvPr>
            <p:cNvCxnSpPr>
              <a:cxnSpLocks/>
              <a:stCxn id="2132" idx="7"/>
              <a:endCxn id="2141" idx="3"/>
            </p:cNvCxnSpPr>
            <p:nvPr/>
          </p:nvCxnSpPr>
          <p:spPr>
            <a:xfrm flipV="1">
              <a:off x="1009534" y="2652791"/>
              <a:ext cx="1384749" cy="586687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6" name="직선 화살표 연결선 2155">
              <a:extLst>
                <a:ext uri="{FF2B5EF4-FFF2-40B4-BE49-F238E27FC236}">
                  <a16:creationId xmlns:a16="http://schemas.microsoft.com/office/drawing/2014/main" id="{4A172F8C-63F2-476A-91F5-2BDE38779445}"/>
                </a:ext>
              </a:extLst>
            </p:cNvPr>
            <p:cNvCxnSpPr>
              <a:cxnSpLocks/>
              <a:stCxn id="2144" idx="3"/>
              <a:endCxn id="2137" idx="0"/>
            </p:cNvCxnSpPr>
            <p:nvPr/>
          </p:nvCxnSpPr>
          <p:spPr>
            <a:xfrm flipH="1">
              <a:off x="685919" y="2351540"/>
              <a:ext cx="197365" cy="335246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7" name="직선 화살표 연결선 2156">
              <a:extLst>
                <a:ext uri="{FF2B5EF4-FFF2-40B4-BE49-F238E27FC236}">
                  <a16:creationId xmlns:a16="http://schemas.microsoft.com/office/drawing/2014/main" id="{11C35F28-188D-3889-5693-513E5A4775A5}"/>
                </a:ext>
              </a:extLst>
            </p:cNvPr>
            <p:cNvCxnSpPr>
              <a:cxnSpLocks/>
              <a:stCxn id="2143" idx="0"/>
              <a:endCxn id="2141" idx="3"/>
            </p:cNvCxnSpPr>
            <p:nvPr/>
          </p:nvCxnSpPr>
          <p:spPr>
            <a:xfrm flipV="1">
              <a:off x="2359239" y="2652791"/>
              <a:ext cx="35044" cy="1437440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8" name="직선 화살표 연결선 2157">
              <a:extLst>
                <a:ext uri="{FF2B5EF4-FFF2-40B4-BE49-F238E27FC236}">
                  <a16:creationId xmlns:a16="http://schemas.microsoft.com/office/drawing/2014/main" id="{FB28BC95-C389-F072-A91E-3E7F29F8B255}"/>
                </a:ext>
              </a:extLst>
            </p:cNvPr>
            <p:cNvCxnSpPr>
              <a:cxnSpLocks/>
              <a:stCxn id="2143" idx="0"/>
              <a:endCxn id="2135" idx="4"/>
            </p:cNvCxnSpPr>
            <p:nvPr/>
          </p:nvCxnSpPr>
          <p:spPr>
            <a:xfrm flipH="1" flipV="1">
              <a:off x="2073556" y="3166410"/>
              <a:ext cx="285683" cy="923820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9" name="직선 화살표 연결선 2158">
              <a:extLst>
                <a:ext uri="{FF2B5EF4-FFF2-40B4-BE49-F238E27FC236}">
                  <a16:creationId xmlns:a16="http://schemas.microsoft.com/office/drawing/2014/main" id="{0FB81E1B-56E4-C95E-2EF8-90F1F53CBB6A}"/>
                </a:ext>
              </a:extLst>
            </p:cNvPr>
            <p:cNvCxnSpPr>
              <a:cxnSpLocks/>
              <a:stCxn id="2139" idx="1"/>
              <a:endCxn id="2141" idx="4"/>
            </p:cNvCxnSpPr>
            <p:nvPr/>
          </p:nvCxnSpPr>
          <p:spPr>
            <a:xfrm flipH="1" flipV="1">
              <a:off x="2476355" y="2686786"/>
              <a:ext cx="673627" cy="899425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0" name="직선 화살표 연결선 2159">
              <a:extLst>
                <a:ext uri="{FF2B5EF4-FFF2-40B4-BE49-F238E27FC236}">
                  <a16:creationId xmlns:a16="http://schemas.microsoft.com/office/drawing/2014/main" id="{86D5AF3C-8E41-376B-3D54-A8BBDD7DD454}"/>
                </a:ext>
              </a:extLst>
            </p:cNvPr>
            <p:cNvCxnSpPr>
              <a:cxnSpLocks/>
              <a:stCxn id="2154" idx="6"/>
              <a:endCxn id="2139" idx="2"/>
            </p:cNvCxnSpPr>
            <p:nvPr/>
          </p:nvCxnSpPr>
          <p:spPr>
            <a:xfrm flipV="1">
              <a:off x="1193277" y="3627618"/>
              <a:ext cx="1939554" cy="294774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1" name="직선 화살표 연결선 2160">
              <a:extLst>
                <a:ext uri="{FF2B5EF4-FFF2-40B4-BE49-F238E27FC236}">
                  <a16:creationId xmlns:a16="http://schemas.microsoft.com/office/drawing/2014/main" id="{64FAD8B9-E2B9-D118-114D-1F65826D5F91}"/>
                </a:ext>
              </a:extLst>
            </p:cNvPr>
            <p:cNvCxnSpPr>
              <a:cxnSpLocks/>
              <a:stCxn id="2143" idx="1"/>
              <a:endCxn id="2154" idx="6"/>
            </p:cNvCxnSpPr>
            <p:nvPr/>
          </p:nvCxnSpPr>
          <p:spPr>
            <a:xfrm flipH="1" flipV="1">
              <a:off x="1193277" y="3922392"/>
              <a:ext cx="1083890" cy="201834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2" name="직선 화살표 연결선 2161">
              <a:extLst>
                <a:ext uri="{FF2B5EF4-FFF2-40B4-BE49-F238E27FC236}">
                  <a16:creationId xmlns:a16="http://schemas.microsoft.com/office/drawing/2014/main" id="{D5932BDA-FA17-EE68-1C7A-6A8042F3F53E}"/>
                </a:ext>
              </a:extLst>
            </p:cNvPr>
            <p:cNvCxnSpPr>
              <a:cxnSpLocks/>
              <a:stCxn id="2145" idx="5"/>
              <a:endCxn id="2133" idx="3"/>
            </p:cNvCxnSpPr>
            <p:nvPr/>
          </p:nvCxnSpPr>
          <p:spPr>
            <a:xfrm>
              <a:off x="972765" y="5005888"/>
              <a:ext cx="1447767" cy="465097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3" name="직선 화살표 연결선 2162">
              <a:extLst>
                <a:ext uri="{FF2B5EF4-FFF2-40B4-BE49-F238E27FC236}">
                  <a16:creationId xmlns:a16="http://schemas.microsoft.com/office/drawing/2014/main" id="{379F2B17-5D48-092B-CC55-5CDAFB6BCEA6}"/>
                </a:ext>
              </a:extLst>
            </p:cNvPr>
            <p:cNvCxnSpPr>
              <a:cxnSpLocks/>
              <a:stCxn id="2145" idx="6"/>
              <a:endCxn id="2134" idx="2"/>
            </p:cNvCxnSpPr>
            <p:nvPr/>
          </p:nvCxnSpPr>
          <p:spPr>
            <a:xfrm flipV="1">
              <a:off x="983651" y="4284933"/>
              <a:ext cx="2564649" cy="694673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4" name="직선 화살표 연결선 2163">
              <a:extLst>
                <a:ext uri="{FF2B5EF4-FFF2-40B4-BE49-F238E27FC236}">
                  <a16:creationId xmlns:a16="http://schemas.microsoft.com/office/drawing/2014/main" id="{E545480A-EA37-6AA9-6B4F-39DB249BF068}"/>
                </a:ext>
              </a:extLst>
            </p:cNvPr>
            <p:cNvCxnSpPr>
              <a:cxnSpLocks/>
              <a:stCxn id="2134" idx="4"/>
              <a:endCxn id="2151" idx="1"/>
            </p:cNvCxnSpPr>
            <p:nvPr/>
          </p:nvCxnSpPr>
          <p:spPr>
            <a:xfrm flipH="1">
              <a:off x="2376390" y="4343491"/>
              <a:ext cx="1230468" cy="2240464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68" name="타원 2167">
              <a:extLst>
                <a:ext uri="{FF2B5EF4-FFF2-40B4-BE49-F238E27FC236}">
                  <a16:creationId xmlns:a16="http://schemas.microsoft.com/office/drawing/2014/main" id="{7EBFD801-2EC6-83B6-C2A1-645BE72347EC}"/>
                </a:ext>
              </a:extLst>
            </p:cNvPr>
            <p:cNvSpPr/>
            <p:nvPr/>
          </p:nvSpPr>
          <p:spPr>
            <a:xfrm>
              <a:off x="3351766" y="2930885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71" name="타원 2170">
              <a:extLst>
                <a:ext uri="{FF2B5EF4-FFF2-40B4-BE49-F238E27FC236}">
                  <a16:creationId xmlns:a16="http://schemas.microsoft.com/office/drawing/2014/main" id="{B737324D-46A9-CF5C-9838-F37E6F7BF0A0}"/>
                </a:ext>
              </a:extLst>
            </p:cNvPr>
            <p:cNvSpPr/>
            <p:nvPr/>
          </p:nvSpPr>
          <p:spPr>
            <a:xfrm>
              <a:off x="3359109" y="2222927"/>
              <a:ext cx="166591" cy="166591"/>
            </a:xfrm>
            <a:prstGeom prst="ellipse">
              <a:avLst/>
            </a:prstGeom>
            <a:solidFill>
              <a:srgbClr val="2D3142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72" name="타원 2171">
              <a:extLst>
                <a:ext uri="{FF2B5EF4-FFF2-40B4-BE49-F238E27FC236}">
                  <a16:creationId xmlns:a16="http://schemas.microsoft.com/office/drawing/2014/main" id="{F7E3CBCE-1FD5-827E-DEFA-CC310CCD151E}"/>
                </a:ext>
              </a:extLst>
            </p:cNvPr>
            <p:cNvSpPr/>
            <p:nvPr/>
          </p:nvSpPr>
          <p:spPr>
            <a:xfrm>
              <a:off x="2178725" y="2265197"/>
              <a:ext cx="74340" cy="74340"/>
            </a:xfrm>
            <a:prstGeom prst="ellipse">
              <a:avLst/>
            </a:prstGeom>
            <a:solidFill>
              <a:srgbClr val="2D3142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2173" name="직선 화살표 연결선 2172">
            <a:extLst>
              <a:ext uri="{FF2B5EF4-FFF2-40B4-BE49-F238E27FC236}">
                <a16:creationId xmlns:a16="http://schemas.microsoft.com/office/drawing/2014/main" id="{3E8C5E5E-9299-57DA-CB9B-D91C0272660C}"/>
              </a:ext>
            </a:extLst>
          </p:cNvPr>
          <p:cNvCxnSpPr>
            <a:cxnSpLocks/>
            <a:stCxn id="2140" idx="7"/>
            <a:endCxn id="2172" idx="4"/>
          </p:cNvCxnSpPr>
          <p:nvPr/>
        </p:nvCxnSpPr>
        <p:spPr>
          <a:xfrm flipH="1" flipV="1">
            <a:off x="9749052" y="2339537"/>
            <a:ext cx="557163" cy="720644"/>
          </a:xfrm>
          <a:prstGeom prst="straightConnector1">
            <a:avLst/>
          </a:prstGeom>
          <a:ln>
            <a:solidFill>
              <a:srgbClr val="D3D3D3">
                <a:alpha val="30000"/>
              </a:srgb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6" name="직선 화살표 연결선 2175">
            <a:extLst>
              <a:ext uri="{FF2B5EF4-FFF2-40B4-BE49-F238E27FC236}">
                <a16:creationId xmlns:a16="http://schemas.microsoft.com/office/drawing/2014/main" id="{889D1145-34CD-2662-B86B-8D2283A1AB92}"/>
              </a:ext>
            </a:extLst>
          </p:cNvPr>
          <p:cNvCxnSpPr>
            <a:cxnSpLocks/>
            <a:stCxn id="2136" idx="7"/>
            <a:endCxn id="2141" idx="2"/>
          </p:cNvCxnSpPr>
          <p:nvPr/>
        </p:nvCxnSpPr>
        <p:spPr>
          <a:xfrm flipH="1" flipV="1">
            <a:off x="9604660" y="2570720"/>
            <a:ext cx="744988" cy="250333"/>
          </a:xfrm>
          <a:prstGeom prst="straightConnector1">
            <a:avLst/>
          </a:prstGeom>
          <a:ln>
            <a:solidFill>
              <a:srgbClr val="D3D3D3">
                <a:alpha val="30000"/>
              </a:srgb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0" name="직선 화살표 연결선 2179">
            <a:extLst>
              <a:ext uri="{FF2B5EF4-FFF2-40B4-BE49-F238E27FC236}">
                <a16:creationId xmlns:a16="http://schemas.microsoft.com/office/drawing/2014/main" id="{E54AEDA2-7B70-ACF6-8470-C02CC371E7F6}"/>
              </a:ext>
            </a:extLst>
          </p:cNvPr>
          <p:cNvCxnSpPr>
            <a:cxnSpLocks/>
            <a:stCxn id="2135" idx="7"/>
            <a:endCxn id="2171" idx="3"/>
          </p:cNvCxnSpPr>
          <p:nvPr/>
        </p:nvCxnSpPr>
        <p:spPr>
          <a:xfrm flipH="1" flipV="1">
            <a:off x="8581441" y="2365121"/>
            <a:ext cx="1268543" cy="701324"/>
          </a:xfrm>
          <a:prstGeom prst="straightConnector1">
            <a:avLst/>
          </a:prstGeom>
          <a:ln>
            <a:solidFill>
              <a:srgbClr val="D3D3D3">
                <a:alpha val="30000"/>
              </a:srgb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3" name="직선 화살표 연결선 2182">
            <a:extLst>
              <a:ext uri="{FF2B5EF4-FFF2-40B4-BE49-F238E27FC236}">
                <a16:creationId xmlns:a16="http://schemas.microsoft.com/office/drawing/2014/main" id="{4445F418-4371-9279-130E-77B149CEE233}"/>
              </a:ext>
            </a:extLst>
          </p:cNvPr>
          <p:cNvCxnSpPr>
            <a:cxnSpLocks/>
            <a:stCxn id="2154" idx="7"/>
            <a:endCxn id="2168" idx="2"/>
          </p:cNvCxnSpPr>
          <p:nvPr/>
        </p:nvCxnSpPr>
        <p:spPr>
          <a:xfrm flipH="1" flipV="1">
            <a:off x="8613181" y="2989443"/>
            <a:ext cx="2182886" cy="874050"/>
          </a:xfrm>
          <a:prstGeom prst="straightConnector1">
            <a:avLst/>
          </a:prstGeom>
          <a:ln>
            <a:solidFill>
              <a:srgbClr val="D3D3D3">
                <a:alpha val="30000"/>
              </a:srgb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7" name="직선 화살표 연결선 2186">
            <a:extLst>
              <a:ext uri="{FF2B5EF4-FFF2-40B4-BE49-F238E27FC236}">
                <a16:creationId xmlns:a16="http://schemas.microsoft.com/office/drawing/2014/main" id="{A9D2D266-8D6C-CB34-55C8-BD4C473AD990}"/>
              </a:ext>
            </a:extLst>
          </p:cNvPr>
          <p:cNvCxnSpPr>
            <a:cxnSpLocks/>
            <a:stCxn id="2139" idx="0"/>
            <a:endCxn id="2168" idx="4"/>
          </p:cNvCxnSpPr>
          <p:nvPr/>
        </p:nvCxnSpPr>
        <p:spPr>
          <a:xfrm flipH="1" flipV="1">
            <a:off x="8554623" y="3048001"/>
            <a:ext cx="218935" cy="521059"/>
          </a:xfrm>
          <a:prstGeom prst="straightConnector1">
            <a:avLst/>
          </a:prstGeom>
          <a:ln>
            <a:solidFill>
              <a:srgbClr val="D3D3D3">
                <a:alpha val="30000"/>
              </a:srgb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1" name="직선 화살표 연결선 2190">
            <a:extLst>
              <a:ext uri="{FF2B5EF4-FFF2-40B4-BE49-F238E27FC236}">
                <a16:creationId xmlns:a16="http://schemas.microsoft.com/office/drawing/2014/main" id="{9EA61AB4-E0DB-2A53-0BCC-495DE5502CC0}"/>
              </a:ext>
            </a:extLst>
          </p:cNvPr>
          <p:cNvCxnSpPr>
            <a:cxnSpLocks/>
            <a:stCxn id="2141" idx="6"/>
            <a:endCxn id="2168" idx="1"/>
          </p:cNvCxnSpPr>
          <p:nvPr/>
        </p:nvCxnSpPr>
        <p:spPr>
          <a:xfrm flipH="1">
            <a:off x="8596030" y="2570720"/>
            <a:ext cx="776497" cy="377316"/>
          </a:xfrm>
          <a:prstGeom prst="straightConnector1">
            <a:avLst/>
          </a:prstGeom>
          <a:ln>
            <a:solidFill>
              <a:srgbClr val="D3D3D3">
                <a:alpha val="30000"/>
              </a:srgb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5" name="직선 화살표 연결선 2194">
            <a:extLst>
              <a:ext uri="{FF2B5EF4-FFF2-40B4-BE49-F238E27FC236}">
                <a16:creationId xmlns:a16="http://schemas.microsoft.com/office/drawing/2014/main" id="{31297CE3-1970-1776-893E-7D7A0C1B7560}"/>
              </a:ext>
            </a:extLst>
          </p:cNvPr>
          <p:cNvCxnSpPr>
            <a:cxnSpLocks/>
            <a:stCxn id="2171" idx="4"/>
            <a:endCxn id="2168" idx="0"/>
          </p:cNvCxnSpPr>
          <p:nvPr/>
        </p:nvCxnSpPr>
        <p:spPr>
          <a:xfrm>
            <a:off x="8522542" y="2389518"/>
            <a:ext cx="32081" cy="541367"/>
          </a:xfrm>
          <a:prstGeom prst="straightConnector1">
            <a:avLst/>
          </a:prstGeom>
          <a:ln>
            <a:solidFill>
              <a:srgbClr val="D3D3D3">
                <a:alpha val="30000"/>
              </a:srgb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8" name="직선 화살표 연결선 2197">
            <a:extLst>
              <a:ext uri="{FF2B5EF4-FFF2-40B4-BE49-F238E27FC236}">
                <a16:creationId xmlns:a16="http://schemas.microsoft.com/office/drawing/2014/main" id="{87137341-DB18-9CAD-565F-D0F3EBBD9FCD}"/>
              </a:ext>
            </a:extLst>
          </p:cNvPr>
          <p:cNvCxnSpPr>
            <a:cxnSpLocks/>
            <a:stCxn id="2171" idx="2"/>
            <a:endCxn id="2141" idx="7"/>
          </p:cNvCxnSpPr>
          <p:nvPr/>
        </p:nvCxnSpPr>
        <p:spPr>
          <a:xfrm>
            <a:off x="8605838" y="2306223"/>
            <a:ext cx="800684" cy="182425"/>
          </a:xfrm>
          <a:prstGeom prst="straightConnector1">
            <a:avLst/>
          </a:prstGeom>
          <a:ln>
            <a:solidFill>
              <a:srgbClr val="D3D3D3">
                <a:alpha val="30000"/>
              </a:srgb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9" name="직선 화살표 연결선 2198">
            <a:extLst>
              <a:ext uri="{FF2B5EF4-FFF2-40B4-BE49-F238E27FC236}">
                <a16:creationId xmlns:a16="http://schemas.microsoft.com/office/drawing/2014/main" id="{1D81035C-09FD-F2C3-24D0-315EFA61C46E}"/>
              </a:ext>
            </a:extLst>
          </p:cNvPr>
          <p:cNvCxnSpPr>
            <a:cxnSpLocks/>
            <a:stCxn id="2172" idx="6"/>
            <a:endCxn id="2171" idx="2"/>
          </p:cNvCxnSpPr>
          <p:nvPr/>
        </p:nvCxnSpPr>
        <p:spPr>
          <a:xfrm flipH="1">
            <a:off x="8605838" y="2302367"/>
            <a:ext cx="1106044" cy="3856"/>
          </a:xfrm>
          <a:prstGeom prst="straightConnector1">
            <a:avLst/>
          </a:prstGeom>
          <a:ln>
            <a:solidFill>
              <a:srgbClr val="D3D3D3">
                <a:alpha val="30000"/>
              </a:srgb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845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C5389-E586-5FCD-A0B9-DC346F386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10F55DA4-C0A5-9675-2C5C-9286BAEF0574}"/>
              </a:ext>
            </a:extLst>
          </p:cNvPr>
          <p:cNvSpPr/>
          <p:nvPr/>
        </p:nvSpPr>
        <p:spPr>
          <a:xfrm>
            <a:off x="0" y="2133600"/>
            <a:ext cx="12192000" cy="41751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D76DA606-7376-14AB-D09C-28B6246660C3}"/>
              </a:ext>
            </a:extLst>
          </p:cNvPr>
          <p:cNvSpPr/>
          <p:nvPr/>
        </p:nvSpPr>
        <p:spPr>
          <a:xfrm>
            <a:off x="6804709" y="1537335"/>
            <a:ext cx="1801129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0" name="평행 사변형 9">
            <a:extLst>
              <a:ext uri="{FF2B5EF4-FFF2-40B4-BE49-F238E27FC236}">
                <a16:creationId xmlns:a16="http://schemas.microsoft.com/office/drawing/2014/main" id="{89214EC2-DB1E-0E87-FA8A-9EADA8156C89}"/>
              </a:ext>
            </a:extLst>
          </p:cNvPr>
          <p:cNvSpPr/>
          <p:nvPr/>
        </p:nvSpPr>
        <p:spPr>
          <a:xfrm>
            <a:off x="1393556" y="1537335"/>
            <a:ext cx="2002787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1" name="평행 사변형 10">
            <a:extLst>
              <a:ext uri="{FF2B5EF4-FFF2-40B4-BE49-F238E27FC236}">
                <a16:creationId xmlns:a16="http://schemas.microsoft.com/office/drawing/2014/main" id="{47835A21-AADA-41EC-22D3-E2BC67D7C022}"/>
              </a:ext>
            </a:extLst>
          </p:cNvPr>
          <p:cNvSpPr/>
          <p:nvPr/>
        </p:nvSpPr>
        <p:spPr>
          <a:xfrm>
            <a:off x="3659509" y="1537335"/>
            <a:ext cx="1245869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D4478CA-A097-D687-2571-66C5B2AF7502}"/>
              </a:ext>
            </a:extLst>
          </p:cNvPr>
          <p:cNvSpPr/>
          <p:nvPr/>
        </p:nvSpPr>
        <p:spPr>
          <a:xfrm>
            <a:off x="746124" y="411164"/>
            <a:ext cx="590282" cy="489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altLang="ko-KR" sz="2400" spc="-9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01</a:t>
            </a:r>
            <a:endParaRPr lang="ko-KR" altLang="en-US" sz="2400" spc="-9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16EDEAE-D5C4-7249-0D6D-B10630032A42}"/>
              </a:ext>
            </a:extLst>
          </p:cNvPr>
          <p:cNvSpPr/>
          <p:nvPr/>
        </p:nvSpPr>
        <p:spPr>
          <a:xfrm>
            <a:off x="1393556" y="626256"/>
            <a:ext cx="3248294" cy="372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spc="-80">
                <a:solidFill>
                  <a:srgbClr val="6A4C93"/>
                </a:solidFill>
                <a:latin typeface="프리젠테이션 5 Medium" pitchFamily="2" charset="-127"/>
                <a:ea typeface="프리젠테이션 5 Medium" pitchFamily="2" charset="-127"/>
              </a:rPr>
              <a:t>주제 선정 및 배경 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DA332D7-A817-2DA1-C78F-20AB5DD33807}"/>
              </a:ext>
            </a:extLst>
          </p:cNvPr>
          <p:cNvSpPr/>
          <p:nvPr/>
        </p:nvSpPr>
        <p:spPr>
          <a:xfrm>
            <a:off x="1393556" y="411164"/>
            <a:ext cx="3248294" cy="2445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spc="-80">
                <a:solidFill>
                  <a:srgbClr val="262122"/>
                </a:solidFill>
                <a:latin typeface="프리젠테이션 3 Light" pitchFamily="2" charset="-127"/>
                <a:ea typeface="프리젠테이션 3 Light" pitchFamily="2" charset="-127"/>
              </a:rPr>
              <a:t>Chapter 01 </a:t>
            </a:r>
            <a:r>
              <a:rPr lang="ko-KR" altLang="en-US" sz="1600" spc="-80">
                <a:solidFill>
                  <a:srgbClr val="262122"/>
                </a:solidFill>
                <a:latin typeface="프리젠테이션 3 Light" pitchFamily="2" charset="-127"/>
                <a:ea typeface="프리젠테이션 3 Light" pitchFamily="2" charset="-127"/>
              </a:rPr>
              <a:t> 프로젝트 소개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A951D7A-8A8C-541D-83DE-A3B27BB6EDAA}"/>
              </a:ext>
            </a:extLst>
          </p:cNvPr>
          <p:cNvSpPr/>
          <p:nvPr/>
        </p:nvSpPr>
        <p:spPr>
          <a:xfrm>
            <a:off x="1393556" y="1034243"/>
            <a:ext cx="9744344" cy="9103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defTabSz="720000"/>
            <a:r>
              <a:rPr lang="ko-KR" altLang="en-US" sz="28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운전자라면 누구나 겪는 </a:t>
            </a:r>
            <a:r>
              <a:rPr lang="en-US" altLang="ko-KR" sz="28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Pain Point</a:t>
            </a:r>
            <a:endParaRPr lang="en-US" altLang="ko-KR" sz="24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defTabSz="720000"/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넘쳐나는 보험 상품 </a:t>
            </a:r>
            <a:r>
              <a:rPr lang="ko-KR" altLang="en-US" sz="2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과  </a:t>
            </a:r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복잡한 약관 </a:t>
            </a:r>
            <a:r>
              <a:rPr lang="ko-KR" altLang="en-US" sz="2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에 지친 소비자들의  </a:t>
            </a:r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정보 과부하 시대</a:t>
            </a:r>
            <a:r>
              <a:rPr lang="en-US" altLang="ko-KR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!</a:t>
            </a:r>
            <a:endParaRPr lang="ko-KR" altLang="en-US" sz="2800" spc="-8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7A59B17-1455-0C21-8E5C-ECFE324014E9}"/>
              </a:ext>
            </a:extLst>
          </p:cNvPr>
          <p:cNvSpPr/>
          <p:nvPr/>
        </p:nvSpPr>
        <p:spPr>
          <a:xfrm>
            <a:off x="9083385" y="1034243"/>
            <a:ext cx="2002787" cy="918382"/>
          </a:xfrm>
          <a:prstGeom prst="rect">
            <a:avLst/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프리젠테이션 8 ExtraBold" pitchFamily="2" charset="-127"/>
                <a:ea typeface="프리젠테이션 8 ExtraBold" pitchFamily="2" charset="-127"/>
              </a:rPr>
              <a:t>왼쪽 주요 문장 </a:t>
            </a:r>
            <a:endParaRPr lang="en-US" altLang="ko-KR">
              <a:latin typeface="프리젠테이션 8 ExtraBold" pitchFamily="2" charset="-127"/>
              <a:ea typeface="프리젠테이션 8 ExtraBold" pitchFamily="2" charset="-127"/>
            </a:endParaRPr>
          </a:p>
          <a:p>
            <a:pPr algn="ctr"/>
            <a:r>
              <a:rPr lang="ko-KR" altLang="en-US">
                <a:latin typeface="프리젠테이션 8 ExtraBold" pitchFamily="2" charset="-127"/>
                <a:ea typeface="프리젠테이션 8 ExtraBold" pitchFamily="2" charset="-127"/>
              </a:rPr>
              <a:t>다시 정리 필요</a:t>
            </a:r>
          </a:p>
        </p:txBody>
      </p:sp>
      <p:pic>
        <p:nvPicPr>
          <p:cNvPr id="24" name="그림 23" descr="20대 (청년), 청년여자 (성인여자), 대학생, 여성 (성별) (jv13648617) - 게티이미지뱅크">
            <a:extLst>
              <a:ext uri="{FF2B5EF4-FFF2-40B4-BE49-F238E27FC236}">
                <a16:creationId xmlns:a16="http://schemas.microsoft.com/office/drawing/2014/main" id="{A323DA54-CD0F-6EC1-573B-0BE434806B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2" t="10840" r="2802" b="26292"/>
          <a:stretch>
            <a:fillRect/>
          </a:stretch>
        </p:blipFill>
        <p:spPr bwMode="auto">
          <a:xfrm>
            <a:off x="2538299" y="3079817"/>
            <a:ext cx="958810" cy="958810"/>
          </a:xfrm>
          <a:custGeom>
            <a:avLst/>
            <a:gdLst>
              <a:gd name="connsiteX0" fmla="*/ 479405 w 958810"/>
              <a:gd name="connsiteY0" fmla="*/ 0 h 958810"/>
              <a:gd name="connsiteX1" fmla="*/ 958810 w 958810"/>
              <a:gd name="connsiteY1" fmla="*/ 479405 h 958810"/>
              <a:gd name="connsiteX2" fmla="*/ 479405 w 958810"/>
              <a:gd name="connsiteY2" fmla="*/ 958810 h 958810"/>
              <a:gd name="connsiteX3" fmla="*/ 0 w 958810"/>
              <a:gd name="connsiteY3" fmla="*/ 479405 h 958810"/>
              <a:gd name="connsiteX4" fmla="*/ 479405 w 958810"/>
              <a:gd name="connsiteY4" fmla="*/ 0 h 958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8810" h="958810">
                <a:moveTo>
                  <a:pt x="479405" y="0"/>
                </a:moveTo>
                <a:cubicBezTo>
                  <a:pt x="744173" y="0"/>
                  <a:pt x="958810" y="214637"/>
                  <a:pt x="958810" y="479405"/>
                </a:cubicBezTo>
                <a:cubicBezTo>
                  <a:pt x="958810" y="744173"/>
                  <a:pt x="744173" y="958810"/>
                  <a:pt x="479405" y="958810"/>
                </a:cubicBezTo>
                <a:cubicBezTo>
                  <a:pt x="214637" y="958810"/>
                  <a:pt x="0" y="744173"/>
                  <a:pt x="0" y="479405"/>
                </a:cubicBezTo>
                <a:cubicBezTo>
                  <a:pt x="0" y="214637"/>
                  <a:pt x="214637" y="0"/>
                  <a:pt x="479405" y="0"/>
                </a:cubicBezTo>
                <a:close/>
              </a:path>
            </a:pathLst>
          </a:custGeom>
          <a:noFill/>
          <a:effectLst>
            <a:glow rad="101600">
              <a:srgbClr val="2D3142">
                <a:alpha val="30000"/>
              </a:srgb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B7005145-1D50-E3BC-BC02-08E5D66AEFFB}"/>
              </a:ext>
            </a:extLst>
          </p:cNvPr>
          <p:cNvSpPr/>
          <p:nvPr/>
        </p:nvSpPr>
        <p:spPr>
          <a:xfrm>
            <a:off x="2691262" y="4118478"/>
            <a:ext cx="652885" cy="2018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rgbClr val="2D3142"/>
                </a:solidFill>
                <a:latin typeface="+mj-ea"/>
                <a:ea typeface="+mj-ea"/>
              </a:rPr>
              <a:t>김초보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3892BC8-F6EB-0722-4A1E-3EB5394FB69C}"/>
              </a:ext>
            </a:extLst>
          </p:cNvPr>
          <p:cNvSpPr/>
          <p:nvPr/>
        </p:nvSpPr>
        <p:spPr>
          <a:xfrm>
            <a:off x="2134422" y="4353095"/>
            <a:ext cx="1766564" cy="2018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spc="-80">
                <a:solidFill>
                  <a:srgbClr val="777777"/>
                </a:solidFill>
                <a:latin typeface="+mn-ea"/>
              </a:rPr>
              <a:t>20</a:t>
            </a:r>
            <a:r>
              <a:rPr lang="ko-KR" altLang="en-US" sz="1200" spc="-80">
                <a:solidFill>
                  <a:srgbClr val="777777"/>
                </a:solidFill>
              </a:rPr>
              <a:t>대 중반 </a:t>
            </a:r>
            <a:r>
              <a:rPr lang="en-US" altLang="ko-KR" sz="1200" spc="-80">
                <a:solidFill>
                  <a:srgbClr val="777777"/>
                </a:solidFill>
              </a:rPr>
              <a:t>/ </a:t>
            </a:r>
            <a:r>
              <a:rPr lang="ko-KR" altLang="en-US" sz="1200" spc="-80">
                <a:solidFill>
                  <a:srgbClr val="777777"/>
                </a:solidFill>
              </a:rPr>
              <a:t>여성 </a:t>
            </a:r>
            <a:r>
              <a:rPr lang="en-US" altLang="ko-KR" sz="1200" spc="-80">
                <a:solidFill>
                  <a:srgbClr val="777777"/>
                </a:solidFill>
              </a:rPr>
              <a:t>/ </a:t>
            </a:r>
            <a:r>
              <a:rPr lang="ko-KR" altLang="en-US" sz="1200" spc="-80">
                <a:solidFill>
                  <a:srgbClr val="777777"/>
                </a:solidFill>
              </a:rPr>
              <a:t>신규 가입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8B51BB6B-C856-77DE-F7DB-66D291EE73CA}"/>
              </a:ext>
            </a:extLst>
          </p:cNvPr>
          <p:cNvSpPr/>
          <p:nvPr/>
        </p:nvSpPr>
        <p:spPr>
          <a:xfrm>
            <a:off x="2134422" y="4634810"/>
            <a:ext cx="1766563" cy="1199624"/>
          </a:xfrm>
          <a:prstGeom prst="roundRect">
            <a:avLst>
              <a:gd name="adj" fmla="val 16218"/>
            </a:avLst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ECEF1D9-0245-8CB3-CF3D-02A1230D2052}"/>
              </a:ext>
            </a:extLst>
          </p:cNvPr>
          <p:cNvSpPr/>
          <p:nvPr/>
        </p:nvSpPr>
        <p:spPr>
          <a:xfrm>
            <a:off x="2134422" y="4682031"/>
            <a:ext cx="1766564" cy="4572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z="1200" spc="-80">
                <a:solidFill>
                  <a:srgbClr val="2D3142"/>
                </a:solidFill>
              </a:rPr>
              <a:t>난생 처음 자차 보험 가입</a:t>
            </a:r>
            <a:r>
              <a:rPr lang="en-US" altLang="ko-KR" sz="1200" spc="-80">
                <a:solidFill>
                  <a:srgbClr val="2D3142"/>
                </a:solidFill>
              </a:rPr>
              <a:t>,</a:t>
            </a:r>
          </a:p>
          <a:p>
            <a:pPr algn="ctr"/>
            <a:r>
              <a:rPr lang="ko-KR" altLang="en-US" sz="1200" spc="-80">
                <a:solidFill>
                  <a:srgbClr val="2D3142"/>
                </a:solidFill>
              </a:rPr>
              <a:t>약관이 너무 복잡하고 어려워요</a:t>
            </a:r>
            <a:r>
              <a:rPr lang="en-US" altLang="ko-KR" sz="1200" spc="-80">
                <a:solidFill>
                  <a:srgbClr val="2D3142"/>
                </a:solidFill>
              </a:rPr>
              <a:t>.</a:t>
            </a:r>
          </a:p>
          <a:p>
            <a:pPr algn="ctr"/>
            <a:endParaRPr lang="ko-KR" altLang="en-US" sz="1200" spc="-80">
              <a:solidFill>
                <a:srgbClr val="2D3142"/>
              </a:solidFill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F327D62E-C0AE-91D3-5217-C809D874FE25}"/>
              </a:ext>
            </a:extLst>
          </p:cNvPr>
          <p:cNvSpPr/>
          <p:nvPr/>
        </p:nvSpPr>
        <p:spPr>
          <a:xfrm>
            <a:off x="2228850" y="5179216"/>
            <a:ext cx="1577706" cy="230198"/>
          </a:xfrm>
          <a:prstGeom prst="roundRect">
            <a:avLst>
              <a:gd name="adj" fmla="val 50000"/>
            </a:avLst>
          </a:prstGeom>
          <a:solidFill>
            <a:srgbClr val="6A4C93">
              <a:alpha val="5000"/>
            </a:srgbClr>
          </a:solidFill>
          <a:ln w="28575">
            <a:solidFill>
              <a:srgbClr val="6A4C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spc="-80">
                <a:solidFill>
                  <a:srgbClr val="2D3142"/>
                </a:solidFill>
              </a:rPr>
              <a:t>복잡한 용어 이해 부족 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50A180C2-1BB3-F9E5-D74C-64CE49FCCF1A}"/>
              </a:ext>
            </a:extLst>
          </p:cNvPr>
          <p:cNvSpPr/>
          <p:nvPr/>
        </p:nvSpPr>
        <p:spPr>
          <a:xfrm>
            <a:off x="2228850" y="5469911"/>
            <a:ext cx="1577706" cy="230198"/>
          </a:xfrm>
          <a:prstGeom prst="roundRect">
            <a:avLst>
              <a:gd name="adj" fmla="val 50000"/>
            </a:avLst>
          </a:prstGeom>
          <a:solidFill>
            <a:srgbClr val="6A4C93">
              <a:alpha val="5000"/>
            </a:srgbClr>
          </a:solidFill>
          <a:ln w="28575">
            <a:solidFill>
              <a:srgbClr val="6A4C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spc="-80">
                <a:solidFill>
                  <a:srgbClr val="2D3142"/>
                </a:solidFill>
              </a:rPr>
              <a:t>개인맞춤형 보장 모름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D847C45-931C-708D-490D-06683ADB4205}"/>
              </a:ext>
            </a:extLst>
          </p:cNvPr>
          <p:cNvSpPr/>
          <p:nvPr/>
        </p:nvSpPr>
        <p:spPr>
          <a:xfrm>
            <a:off x="5850359" y="4118478"/>
            <a:ext cx="652885" cy="2018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rgbClr val="2D3142"/>
                </a:solidFill>
                <a:latin typeface="+mj-ea"/>
                <a:ea typeface="+mj-ea"/>
              </a:rPr>
              <a:t>박중년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1DE91E7-7022-B914-E4A6-E8A38F96117E}"/>
              </a:ext>
            </a:extLst>
          </p:cNvPr>
          <p:cNvSpPr/>
          <p:nvPr/>
        </p:nvSpPr>
        <p:spPr>
          <a:xfrm>
            <a:off x="5293519" y="4353095"/>
            <a:ext cx="1766564" cy="2018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spc="-80">
                <a:solidFill>
                  <a:srgbClr val="777777"/>
                </a:solidFill>
                <a:latin typeface="+mn-ea"/>
              </a:rPr>
              <a:t>40</a:t>
            </a:r>
            <a:r>
              <a:rPr lang="ko-KR" altLang="en-US" sz="1200" spc="-80">
                <a:solidFill>
                  <a:srgbClr val="777777"/>
                </a:solidFill>
              </a:rPr>
              <a:t>대 초반 </a:t>
            </a:r>
            <a:r>
              <a:rPr lang="en-US" altLang="ko-KR" sz="1200" spc="-80">
                <a:solidFill>
                  <a:srgbClr val="777777"/>
                </a:solidFill>
              </a:rPr>
              <a:t>/ </a:t>
            </a:r>
            <a:r>
              <a:rPr lang="ko-KR" altLang="en-US" sz="1200" spc="-80">
                <a:solidFill>
                  <a:srgbClr val="777777"/>
                </a:solidFill>
              </a:rPr>
              <a:t>남성 </a:t>
            </a:r>
            <a:r>
              <a:rPr lang="en-US" altLang="ko-KR" sz="1200" spc="-80">
                <a:solidFill>
                  <a:srgbClr val="777777"/>
                </a:solidFill>
              </a:rPr>
              <a:t>/ </a:t>
            </a:r>
            <a:r>
              <a:rPr lang="ko-KR" altLang="en-US" sz="1200" spc="-80">
                <a:solidFill>
                  <a:srgbClr val="777777"/>
                </a:solidFill>
              </a:rPr>
              <a:t>보험 갱신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4350C598-46FB-CD34-2D2C-5C8DCD4A037D}"/>
              </a:ext>
            </a:extLst>
          </p:cNvPr>
          <p:cNvSpPr/>
          <p:nvPr/>
        </p:nvSpPr>
        <p:spPr>
          <a:xfrm>
            <a:off x="5293519" y="4634810"/>
            <a:ext cx="1766563" cy="1199624"/>
          </a:xfrm>
          <a:prstGeom prst="roundRect">
            <a:avLst>
              <a:gd name="adj" fmla="val 16218"/>
            </a:avLst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92A99FBB-FBEF-A929-9746-E0AE4C121165}"/>
              </a:ext>
            </a:extLst>
          </p:cNvPr>
          <p:cNvSpPr/>
          <p:nvPr/>
        </p:nvSpPr>
        <p:spPr>
          <a:xfrm>
            <a:off x="5293519" y="4682031"/>
            <a:ext cx="1766564" cy="4572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z="1200" spc="-80">
                <a:solidFill>
                  <a:srgbClr val="2D3142"/>
                </a:solidFill>
              </a:rPr>
              <a:t>보험 갱신 시점</a:t>
            </a:r>
            <a:r>
              <a:rPr lang="en-US" altLang="ko-KR" sz="1200" spc="-80">
                <a:solidFill>
                  <a:srgbClr val="2D3142"/>
                </a:solidFill>
              </a:rPr>
              <a:t>, </a:t>
            </a:r>
            <a:r>
              <a:rPr lang="ko-KR" altLang="en-US" sz="1200" spc="-80">
                <a:solidFill>
                  <a:srgbClr val="2D3142"/>
                </a:solidFill>
              </a:rPr>
              <a:t>여러회사 비교중</a:t>
            </a:r>
            <a:endParaRPr lang="en-US" altLang="ko-KR" sz="1200" spc="-80">
              <a:solidFill>
                <a:srgbClr val="2D3142"/>
              </a:solidFill>
            </a:endParaRPr>
          </a:p>
          <a:p>
            <a:pPr algn="ctr"/>
            <a:r>
              <a:rPr lang="ko-KR" altLang="en-US" sz="1200" spc="-80">
                <a:solidFill>
                  <a:srgbClr val="2D3142"/>
                </a:solidFill>
              </a:rPr>
              <a:t>보험 비교 자료 정리 시간부족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A34A6BB3-D947-9E91-D7D6-F791F63867F8}"/>
              </a:ext>
            </a:extLst>
          </p:cNvPr>
          <p:cNvSpPr/>
          <p:nvPr/>
        </p:nvSpPr>
        <p:spPr>
          <a:xfrm>
            <a:off x="5387947" y="5179216"/>
            <a:ext cx="1577706" cy="230198"/>
          </a:xfrm>
          <a:prstGeom prst="roundRect">
            <a:avLst>
              <a:gd name="adj" fmla="val 50000"/>
            </a:avLst>
          </a:prstGeom>
          <a:solidFill>
            <a:srgbClr val="6A4C93">
              <a:alpha val="5000"/>
            </a:srgbClr>
          </a:solidFill>
          <a:ln w="28575">
            <a:solidFill>
              <a:srgbClr val="6A4C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spc="-80">
                <a:solidFill>
                  <a:srgbClr val="2D3142"/>
                </a:solidFill>
              </a:rPr>
              <a:t>상담원 연결의 비효율성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317CD0BA-E3E4-50BB-48DC-B8668EF8E91A}"/>
              </a:ext>
            </a:extLst>
          </p:cNvPr>
          <p:cNvSpPr/>
          <p:nvPr/>
        </p:nvSpPr>
        <p:spPr>
          <a:xfrm>
            <a:off x="5387947" y="5469911"/>
            <a:ext cx="1577706" cy="230198"/>
          </a:xfrm>
          <a:prstGeom prst="roundRect">
            <a:avLst>
              <a:gd name="adj" fmla="val 50000"/>
            </a:avLst>
          </a:prstGeom>
          <a:solidFill>
            <a:srgbClr val="6A4C93">
              <a:alpha val="5000"/>
            </a:srgbClr>
          </a:solidFill>
          <a:ln w="28575">
            <a:solidFill>
              <a:srgbClr val="6A4C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spc="-80">
                <a:solidFill>
                  <a:srgbClr val="2D3142"/>
                </a:solidFill>
              </a:rPr>
              <a:t>정확한 비교 정보 부족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F6D766B3-34FD-900C-219B-2D7AAE10D839}"/>
              </a:ext>
            </a:extLst>
          </p:cNvPr>
          <p:cNvSpPr/>
          <p:nvPr/>
        </p:nvSpPr>
        <p:spPr>
          <a:xfrm>
            <a:off x="9009456" y="4118478"/>
            <a:ext cx="652885" cy="2018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rgbClr val="2D3142"/>
                </a:solidFill>
                <a:latin typeface="+mj-ea"/>
                <a:ea typeface="+mj-ea"/>
              </a:rPr>
              <a:t>어르신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1A83B3D5-B908-CF53-BB5B-B02A62D83C74}"/>
              </a:ext>
            </a:extLst>
          </p:cNvPr>
          <p:cNvSpPr/>
          <p:nvPr/>
        </p:nvSpPr>
        <p:spPr>
          <a:xfrm>
            <a:off x="8452616" y="4353095"/>
            <a:ext cx="1766564" cy="2018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spc="-80">
                <a:solidFill>
                  <a:srgbClr val="777777"/>
                </a:solidFill>
                <a:latin typeface="+mn-ea"/>
              </a:rPr>
              <a:t>60</a:t>
            </a:r>
            <a:r>
              <a:rPr lang="ko-KR" altLang="en-US" sz="1200" spc="-80">
                <a:solidFill>
                  <a:srgbClr val="777777"/>
                </a:solidFill>
              </a:rPr>
              <a:t>대 중반 </a:t>
            </a:r>
            <a:r>
              <a:rPr lang="en-US" altLang="ko-KR" sz="1200" spc="-80">
                <a:solidFill>
                  <a:srgbClr val="777777"/>
                </a:solidFill>
              </a:rPr>
              <a:t>/ </a:t>
            </a:r>
            <a:r>
              <a:rPr lang="ko-KR" altLang="en-US" sz="1200" spc="-80">
                <a:solidFill>
                  <a:srgbClr val="777777"/>
                </a:solidFill>
              </a:rPr>
              <a:t>여성 </a:t>
            </a:r>
            <a:r>
              <a:rPr lang="en-US" altLang="ko-KR" sz="1200" spc="-80">
                <a:solidFill>
                  <a:srgbClr val="777777"/>
                </a:solidFill>
              </a:rPr>
              <a:t>/ </a:t>
            </a:r>
            <a:r>
              <a:rPr lang="ko-KR" altLang="en-US" sz="1200" spc="-80">
                <a:solidFill>
                  <a:srgbClr val="777777"/>
                </a:solidFill>
              </a:rPr>
              <a:t>ㅇㅇㅇㅇ</a:t>
            </a: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22F083DB-AA64-B767-26DA-9B98D6140BA2}"/>
              </a:ext>
            </a:extLst>
          </p:cNvPr>
          <p:cNvSpPr/>
          <p:nvPr/>
        </p:nvSpPr>
        <p:spPr>
          <a:xfrm>
            <a:off x="8452616" y="4634810"/>
            <a:ext cx="1766563" cy="1199624"/>
          </a:xfrm>
          <a:prstGeom prst="roundRect">
            <a:avLst>
              <a:gd name="adj" fmla="val 16218"/>
            </a:avLst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ACDE374D-87D2-079C-A8FA-248A4C89B594}"/>
              </a:ext>
            </a:extLst>
          </p:cNvPr>
          <p:cNvSpPr/>
          <p:nvPr/>
        </p:nvSpPr>
        <p:spPr>
          <a:xfrm>
            <a:off x="8452616" y="4682031"/>
            <a:ext cx="1766564" cy="4572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z="1200" spc="-80">
                <a:solidFill>
                  <a:srgbClr val="2D3142"/>
                </a:solidFill>
              </a:rPr>
              <a:t>나이가 들어 글씨도 안 보이고</a:t>
            </a:r>
            <a:r>
              <a:rPr lang="en-US" altLang="ko-KR" sz="1200" spc="-80">
                <a:solidFill>
                  <a:srgbClr val="2D3142"/>
                </a:solidFill>
              </a:rPr>
              <a:t>,</a:t>
            </a:r>
          </a:p>
          <a:p>
            <a:pPr algn="ctr"/>
            <a:r>
              <a:rPr lang="ko-KR" altLang="en-US" sz="1200" spc="-80">
                <a:solidFill>
                  <a:srgbClr val="2D3142"/>
                </a:solidFill>
              </a:rPr>
              <a:t>어려운 단어는 이해가 안됨</a:t>
            </a: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134C8754-0D45-DAE0-3554-1A2D507B1E08}"/>
              </a:ext>
            </a:extLst>
          </p:cNvPr>
          <p:cNvSpPr/>
          <p:nvPr/>
        </p:nvSpPr>
        <p:spPr>
          <a:xfrm>
            <a:off x="8547044" y="5179216"/>
            <a:ext cx="1577706" cy="230198"/>
          </a:xfrm>
          <a:prstGeom prst="roundRect">
            <a:avLst>
              <a:gd name="adj" fmla="val 50000"/>
            </a:avLst>
          </a:prstGeom>
          <a:solidFill>
            <a:srgbClr val="6A4C93">
              <a:alpha val="5000"/>
            </a:srgbClr>
          </a:solidFill>
          <a:ln w="28575">
            <a:solidFill>
              <a:srgbClr val="6A4C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spc="-80">
                <a:solidFill>
                  <a:srgbClr val="2D3142"/>
                </a:solidFill>
              </a:rPr>
              <a:t>디지털 소외 정보 불균형</a:t>
            </a: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F49325F6-F5FB-53B7-A3B4-1A5A468C351D}"/>
              </a:ext>
            </a:extLst>
          </p:cNvPr>
          <p:cNvSpPr/>
          <p:nvPr/>
        </p:nvSpPr>
        <p:spPr>
          <a:xfrm>
            <a:off x="8547044" y="5469911"/>
            <a:ext cx="1577706" cy="230198"/>
          </a:xfrm>
          <a:prstGeom prst="roundRect">
            <a:avLst>
              <a:gd name="adj" fmla="val 50000"/>
            </a:avLst>
          </a:prstGeom>
          <a:solidFill>
            <a:srgbClr val="6A4C93">
              <a:alpha val="5000"/>
            </a:srgbClr>
          </a:solidFill>
          <a:ln w="28575">
            <a:solidFill>
              <a:srgbClr val="6A4C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spc="-80">
                <a:solidFill>
                  <a:srgbClr val="2D3142"/>
                </a:solidFill>
              </a:rPr>
              <a:t>직접 상담이 어려움 </a:t>
            </a:r>
          </a:p>
        </p:txBody>
      </p:sp>
      <p:pic>
        <p:nvPicPr>
          <p:cNvPr id="63" name="그림 62" descr="건강 핫 스타 - 평생건강 지킴이! 건강보험 웹진">
            <a:extLst>
              <a:ext uri="{FF2B5EF4-FFF2-40B4-BE49-F238E27FC236}">
                <a16:creationId xmlns:a16="http://schemas.microsoft.com/office/drawing/2014/main" id="{60115212-7C2E-BCD6-F3D6-1834C5379F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6" t="2296" r="2296" b="2296"/>
          <a:stretch>
            <a:fillRect/>
          </a:stretch>
        </p:blipFill>
        <p:spPr bwMode="auto">
          <a:xfrm>
            <a:off x="5697396" y="3079817"/>
            <a:ext cx="957600" cy="957600"/>
          </a:xfrm>
          <a:custGeom>
            <a:avLst/>
            <a:gdLst>
              <a:gd name="connsiteX0" fmla="*/ 479405 w 958810"/>
              <a:gd name="connsiteY0" fmla="*/ 0 h 958810"/>
              <a:gd name="connsiteX1" fmla="*/ 958810 w 958810"/>
              <a:gd name="connsiteY1" fmla="*/ 479405 h 958810"/>
              <a:gd name="connsiteX2" fmla="*/ 479405 w 958810"/>
              <a:gd name="connsiteY2" fmla="*/ 958810 h 958810"/>
              <a:gd name="connsiteX3" fmla="*/ 0 w 958810"/>
              <a:gd name="connsiteY3" fmla="*/ 479405 h 958810"/>
              <a:gd name="connsiteX4" fmla="*/ 479405 w 958810"/>
              <a:gd name="connsiteY4" fmla="*/ 0 h 958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8810" h="958810">
                <a:moveTo>
                  <a:pt x="479405" y="0"/>
                </a:moveTo>
                <a:cubicBezTo>
                  <a:pt x="744173" y="0"/>
                  <a:pt x="958810" y="214637"/>
                  <a:pt x="958810" y="479405"/>
                </a:cubicBezTo>
                <a:cubicBezTo>
                  <a:pt x="958810" y="744173"/>
                  <a:pt x="744173" y="958810"/>
                  <a:pt x="479405" y="958810"/>
                </a:cubicBezTo>
                <a:cubicBezTo>
                  <a:pt x="214637" y="958810"/>
                  <a:pt x="0" y="744173"/>
                  <a:pt x="0" y="479405"/>
                </a:cubicBezTo>
                <a:cubicBezTo>
                  <a:pt x="0" y="214637"/>
                  <a:pt x="214637" y="0"/>
                  <a:pt x="479405" y="0"/>
                </a:cubicBezTo>
                <a:close/>
              </a:path>
            </a:pathLst>
          </a:custGeom>
          <a:noFill/>
          <a:effectLst>
            <a:glow rad="101600">
              <a:srgbClr val="2D3142">
                <a:alpha val="30000"/>
              </a:srgb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타원 30">
            <a:extLst>
              <a:ext uri="{FF2B5EF4-FFF2-40B4-BE49-F238E27FC236}">
                <a16:creationId xmlns:a16="http://schemas.microsoft.com/office/drawing/2014/main" id="{5D1B493C-2FA5-7A3E-67E2-DE7F6A9D2F1D}"/>
              </a:ext>
            </a:extLst>
          </p:cNvPr>
          <p:cNvSpPr/>
          <p:nvPr/>
        </p:nvSpPr>
        <p:spPr>
          <a:xfrm>
            <a:off x="5609289" y="3046020"/>
            <a:ext cx="176213" cy="176213"/>
          </a:xfrm>
          <a:prstGeom prst="ellipse">
            <a:avLst/>
          </a:prstGeom>
          <a:solidFill>
            <a:srgbClr val="6A4C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2</a:t>
            </a:r>
            <a:endParaRPr lang="ko-KR" altLang="en-US" sz="1200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2B9E5870-0EF0-F8F8-025F-7A09521FC41D}"/>
              </a:ext>
            </a:extLst>
          </p:cNvPr>
          <p:cNvGrpSpPr/>
          <p:nvPr/>
        </p:nvGrpSpPr>
        <p:grpSpPr>
          <a:xfrm>
            <a:off x="6229544" y="2643828"/>
            <a:ext cx="1121261" cy="554701"/>
            <a:chOff x="3070447" y="2914470"/>
            <a:chExt cx="1121261" cy="554701"/>
          </a:xfrm>
        </p:grpSpPr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45231EA2-644A-15BB-B17A-5070A615CF7D}"/>
                </a:ext>
              </a:extLst>
            </p:cNvPr>
            <p:cNvGrpSpPr/>
            <p:nvPr/>
          </p:nvGrpSpPr>
          <p:grpSpPr>
            <a:xfrm>
              <a:off x="3070447" y="2914470"/>
              <a:ext cx="1121261" cy="554701"/>
              <a:chOff x="3396343" y="2641600"/>
              <a:chExt cx="1391557" cy="688420"/>
            </a:xfrm>
          </p:grpSpPr>
          <p:sp>
            <p:nvSpPr>
              <p:cNvPr id="41" name="사각형: 둥근 모서리 40">
                <a:extLst>
                  <a:ext uri="{FF2B5EF4-FFF2-40B4-BE49-F238E27FC236}">
                    <a16:creationId xmlns:a16="http://schemas.microsoft.com/office/drawing/2014/main" id="{7A07F510-0879-4C62-6FF7-DE432949C704}"/>
                  </a:ext>
                </a:extLst>
              </p:cNvPr>
              <p:cNvSpPr/>
              <p:nvPr/>
            </p:nvSpPr>
            <p:spPr>
              <a:xfrm>
                <a:off x="3396343" y="2641600"/>
                <a:ext cx="1391557" cy="533400"/>
              </a:xfrm>
              <a:prstGeom prst="roundRect">
                <a:avLst>
                  <a:gd name="adj" fmla="val 40477"/>
                </a:avLst>
              </a:prstGeom>
              <a:solidFill>
                <a:srgbClr val="2D314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2" name="이등변 삼각형 12">
                <a:extLst>
                  <a:ext uri="{FF2B5EF4-FFF2-40B4-BE49-F238E27FC236}">
                    <a16:creationId xmlns:a16="http://schemas.microsoft.com/office/drawing/2014/main" id="{D39F6036-8058-2F49-D0FF-8116D5A104CA}"/>
                  </a:ext>
                </a:extLst>
              </p:cNvPr>
              <p:cNvSpPr/>
              <p:nvPr/>
            </p:nvSpPr>
            <p:spPr>
              <a:xfrm rot="10800000">
                <a:off x="3742646" y="3054346"/>
                <a:ext cx="321099" cy="275674"/>
              </a:xfrm>
              <a:custGeom>
                <a:avLst/>
                <a:gdLst>
                  <a:gd name="connsiteX0" fmla="*/ 0 w 294641"/>
                  <a:gd name="connsiteY0" fmla="*/ 254001 h 254001"/>
                  <a:gd name="connsiteX1" fmla="*/ 147321 w 294641"/>
                  <a:gd name="connsiteY1" fmla="*/ 0 h 254001"/>
                  <a:gd name="connsiteX2" fmla="*/ 294641 w 294641"/>
                  <a:gd name="connsiteY2" fmla="*/ 254001 h 254001"/>
                  <a:gd name="connsiteX3" fmla="*/ 0 w 294641"/>
                  <a:gd name="connsiteY3" fmla="*/ 254001 h 254001"/>
                  <a:gd name="connsiteX0" fmla="*/ 0 w 297340"/>
                  <a:gd name="connsiteY0" fmla="*/ 308769 h 308769"/>
                  <a:gd name="connsiteX1" fmla="*/ 297340 w 297340"/>
                  <a:gd name="connsiteY1" fmla="*/ 0 h 308769"/>
                  <a:gd name="connsiteX2" fmla="*/ 294641 w 297340"/>
                  <a:gd name="connsiteY2" fmla="*/ 308769 h 308769"/>
                  <a:gd name="connsiteX3" fmla="*/ 0 w 297340"/>
                  <a:gd name="connsiteY3" fmla="*/ 308769 h 308769"/>
                  <a:gd name="connsiteX0" fmla="*/ 0 w 333012"/>
                  <a:gd name="connsiteY0" fmla="*/ 308769 h 308769"/>
                  <a:gd name="connsiteX1" fmla="*/ 297340 w 333012"/>
                  <a:gd name="connsiteY1" fmla="*/ 0 h 308769"/>
                  <a:gd name="connsiteX2" fmla="*/ 294641 w 333012"/>
                  <a:gd name="connsiteY2" fmla="*/ 308769 h 308769"/>
                  <a:gd name="connsiteX3" fmla="*/ 0 w 333012"/>
                  <a:gd name="connsiteY3" fmla="*/ 308769 h 308769"/>
                  <a:gd name="connsiteX0" fmla="*/ 0 w 372873"/>
                  <a:gd name="connsiteY0" fmla="*/ 327819 h 327819"/>
                  <a:gd name="connsiteX1" fmla="*/ 354490 w 372873"/>
                  <a:gd name="connsiteY1" fmla="*/ 0 h 327819"/>
                  <a:gd name="connsiteX2" fmla="*/ 294641 w 372873"/>
                  <a:gd name="connsiteY2" fmla="*/ 327819 h 327819"/>
                  <a:gd name="connsiteX3" fmla="*/ 0 w 372873"/>
                  <a:gd name="connsiteY3" fmla="*/ 327819 h 327819"/>
                  <a:gd name="connsiteX0" fmla="*/ 0 w 373945"/>
                  <a:gd name="connsiteY0" fmla="*/ 350055 h 350055"/>
                  <a:gd name="connsiteX1" fmla="*/ 354490 w 373945"/>
                  <a:gd name="connsiteY1" fmla="*/ 22236 h 350055"/>
                  <a:gd name="connsiteX2" fmla="*/ 294641 w 373945"/>
                  <a:gd name="connsiteY2" fmla="*/ 350055 h 350055"/>
                  <a:gd name="connsiteX3" fmla="*/ 0 w 373945"/>
                  <a:gd name="connsiteY3" fmla="*/ 350055 h 350055"/>
                  <a:gd name="connsiteX0" fmla="*/ 0 w 367398"/>
                  <a:gd name="connsiteY0" fmla="*/ 347978 h 347978"/>
                  <a:gd name="connsiteX1" fmla="*/ 354490 w 367398"/>
                  <a:gd name="connsiteY1" fmla="*/ 20159 h 347978"/>
                  <a:gd name="connsiteX2" fmla="*/ 294641 w 367398"/>
                  <a:gd name="connsiteY2" fmla="*/ 347978 h 347978"/>
                  <a:gd name="connsiteX3" fmla="*/ 0 w 367398"/>
                  <a:gd name="connsiteY3" fmla="*/ 347978 h 347978"/>
                  <a:gd name="connsiteX0" fmla="*/ 0 w 321099"/>
                  <a:gd name="connsiteY0" fmla="*/ 275674 h 275674"/>
                  <a:gd name="connsiteX1" fmla="*/ 306865 w 321099"/>
                  <a:gd name="connsiteY1" fmla="*/ 24055 h 275674"/>
                  <a:gd name="connsiteX2" fmla="*/ 294641 w 321099"/>
                  <a:gd name="connsiteY2" fmla="*/ 275674 h 275674"/>
                  <a:gd name="connsiteX3" fmla="*/ 0 w 321099"/>
                  <a:gd name="connsiteY3" fmla="*/ 275674 h 2756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1099" h="275674">
                    <a:moveTo>
                      <a:pt x="0" y="275674"/>
                    </a:moveTo>
                    <a:cubicBezTo>
                      <a:pt x="450" y="224213"/>
                      <a:pt x="400634" y="-87865"/>
                      <a:pt x="306865" y="24055"/>
                    </a:cubicBezTo>
                    <a:cubicBezTo>
                      <a:pt x="213096" y="135975"/>
                      <a:pt x="344198" y="224213"/>
                      <a:pt x="294641" y="275674"/>
                    </a:cubicBezTo>
                    <a:lnTo>
                      <a:pt x="0" y="275674"/>
                    </a:lnTo>
                    <a:close/>
                  </a:path>
                </a:pathLst>
              </a:custGeom>
              <a:solidFill>
                <a:srgbClr val="2D314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69F2CE92-E2DB-A12A-AE8B-8473820677B8}"/>
                </a:ext>
              </a:extLst>
            </p:cNvPr>
            <p:cNvSpPr/>
            <p:nvPr/>
          </p:nvSpPr>
          <p:spPr>
            <a:xfrm>
              <a:off x="3070447" y="3028282"/>
              <a:ext cx="1121260" cy="20186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spc="-80">
                  <a:solidFill>
                    <a:schemeClr val="bg1"/>
                  </a:solidFill>
                  <a:latin typeface="+mj-ea"/>
                  <a:ea typeface="+mj-ea"/>
                </a:rPr>
                <a:t>베테랑 운전자</a:t>
              </a:r>
            </a:p>
          </p:txBody>
        </p:sp>
      </p:grpSp>
      <p:sp>
        <p:nvSpPr>
          <p:cNvPr id="15" name="타원 14">
            <a:extLst>
              <a:ext uri="{FF2B5EF4-FFF2-40B4-BE49-F238E27FC236}">
                <a16:creationId xmlns:a16="http://schemas.microsoft.com/office/drawing/2014/main" id="{8EC9E007-854B-5E9D-D68B-7E12F424387A}"/>
              </a:ext>
            </a:extLst>
          </p:cNvPr>
          <p:cNvSpPr/>
          <p:nvPr/>
        </p:nvSpPr>
        <p:spPr>
          <a:xfrm>
            <a:off x="2450192" y="3046020"/>
            <a:ext cx="176213" cy="176213"/>
          </a:xfrm>
          <a:prstGeom prst="ellipse">
            <a:avLst/>
          </a:prstGeom>
          <a:solidFill>
            <a:srgbClr val="6A4C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1</a:t>
            </a:r>
            <a:endParaRPr lang="ko-KR" altLang="en-US" sz="1200"/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2416B079-E1F0-094B-5280-2A1AC545FFFE}"/>
              </a:ext>
            </a:extLst>
          </p:cNvPr>
          <p:cNvGrpSpPr/>
          <p:nvPr/>
        </p:nvGrpSpPr>
        <p:grpSpPr>
          <a:xfrm>
            <a:off x="3070447" y="2643828"/>
            <a:ext cx="1121261" cy="554701"/>
            <a:chOff x="3070447" y="2914470"/>
            <a:chExt cx="1121261" cy="554701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89C893AF-2496-4779-FF7D-4F69A9D6A44F}"/>
                </a:ext>
              </a:extLst>
            </p:cNvPr>
            <p:cNvGrpSpPr/>
            <p:nvPr/>
          </p:nvGrpSpPr>
          <p:grpSpPr>
            <a:xfrm>
              <a:off x="3070447" y="2914470"/>
              <a:ext cx="1121261" cy="554701"/>
              <a:chOff x="3396343" y="2641600"/>
              <a:chExt cx="1391557" cy="688420"/>
            </a:xfrm>
          </p:grpSpPr>
          <p:sp>
            <p:nvSpPr>
              <p:cNvPr id="6" name="사각형: 둥근 모서리 5">
                <a:extLst>
                  <a:ext uri="{FF2B5EF4-FFF2-40B4-BE49-F238E27FC236}">
                    <a16:creationId xmlns:a16="http://schemas.microsoft.com/office/drawing/2014/main" id="{94F7FAF4-5A25-291C-0C5A-550BF475A044}"/>
                  </a:ext>
                </a:extLst>
              </p:cNvPr>
              <p:cNvSpPr/>
              <p:nvPr/>
            </p:nvSpPr>
            <p:spPr>
              <a:xfrm>
                <a:off x="3396343" y="2641600"/>
                <a:ext cx="1391557" cy="533400"/>
              </a:xfrm>
              <a:prstGeom prst="roundRect">
                <a:avLst>
                  <a:gd name="adj" fmla="val 40477"/>
                </a:avLst>
              </a:prstGeom>
              <a:solidFill>
                <a:srgbClr val="2D314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" name="이등변 삼각형 12">
                <a:extLst>
                  <a:ext uri="{FF2B5EF4-FFF2-40B4-BE49-F238E27FC236}">
                    <a16:creationId xmlns:a16="http://schemas.microsoft.com/office/drawing/2014/main" id="{3CE57EEF-D9D3-6A65-5648-90A295E7ECFF}"/>
                  </a:ext>
                </a:extLst>
              </p:cNvPr>
              <p:cNvSpPr/>
              <p:nvPr/>
            </p:nvSpPr>
            <p:spPr>
              <a:xfrm rot="10800000">
                <a:off x="3742646" y="3054346"/>
                <a:ext cx="321099" cy="275674"/>
              </a:xfrm>
              <a:custGeom>
                <a:avLst/>
                <a:gdLst>
                  <a:gd name="connsiteX0" fmla="*/ 0 w 294641"/>
                  <a:gd name="connsiteY0" fmla="*/ 254001 h 254001"/>
                  <a:gd name="connsiteX1" fmla="*/ 147321 w 294641"/>
                  <a:gd name="connsiteY1" fmla="*/ 0 h 254001"/>
                  <a:gd name="connsiteX2" fmla="*/ 294641 w 294641"/>
                  <a:gd name="connsiteY2" fmla="*/ 254001 h 254001"/>
                  <a:gd name="connsiteX3" fmla="*/ 0 w 294641"/>
                  <a:gd name="connsiteY3" fmla="*/ 254001 h 254001"/>
                  <a:gd name="connsiteX0" fmla="*/ 0 w 297340"/>
                  <a:gd name="connsiteY0" fmla="*/ 308769 h 308769"/>
                  <a:gd name="connsiteX1" fmla="*/ 297340 w 297340"/>
                  <a:gd name="connsiteY1" fmla="*/ 0 h 308769"/>
                  <a:gd name="connsiteX2" fmla="*/ 294641 w 297340"/>
                  <a:gd name="connsiteY2" fmla="*/ 308769 h 308769"/>
                  <a:gd name="connsiteX3" fmla="*/ 0 w 297340"/>
                  <a:gd name="connsiteY3" fmla="*/ 308769 h 308769"/>
                  <a:gd name="connsiteX0" fmla="*/ 0 w 333012"/>
                  <a:gd name="connsiteY0" fmla="*/ 308769 h 308769"/>
                  <a:gd name="connsiteX1" fmla="*/ 297340 w 333012"/>
                  <a:gd name="connsiteY1" fmla="*/ 0 h 308769"/>
                  <a:gd name="connsiteX2" fmla="*/ 294641 w 333012"/>
                  <a:gd name="connsiteY2" fmla="*/ 308769 h 308769"/>
                  <a:gd name="connsiteX3" fmla="*/ 0 w 333012"/>
                  <a:gd name="connsiteY3" fmla="*/ 308769 h 308769"/>
                  <a:gd name="connsiteX0" fmla="*/ 0 w 372873"/>
                  <a:gd name="connsiteY0" fmla="*/ 327819 h 327819"/>
                  <a:gd name="connsiteX1" fmla="*/ 354490 w 372873"/>
                  <a:gd name="connsiteY1" fmla="*/ 0 h 327819"/>
                  <a:gd name="connsiteX2" fmla="*/ 294641 w 372873"/>
                  <a:gd name="connsiteY2" fmla="*/ 327819 h 327819"/>
                  <a:gd name="connsiteX3" fmla="*/ 0 w 372873"/>
                  <a:gd name="connsiteY3" fmla="*/ 327819 h 327819"/>
                  <a:gd name="connsiteX0" fmla="*/ 0 w 373945"/>
                  <a:gd name="connsiteY0" fmla="*/ 350055 h 350055"/>
                  <a:gd name="connsiteX1" fmla="*/ 354490 w 373945"/>
                  <a:gd name="connsiteY1" fmla="*/ 22236 h 350055"/>
                  <a:gd name="connsiteX2" fmla="*/ 294641 w 373945"/>
                  <a:gd name="connsiteY2" fmla="*/ 350055 h 350055"/>
                  <a:gd name="connsiteX3" fmla="*/ 0 w 373945"/>
                  <a:gd name="connsiteY3" fmla="*/ 350055 h 350055"/>
                  <a:gd name="connsiteX0" fmla="*/ 0 w 367398"/>
                  <a:gd name="connsiteY0" fmla="*/ 347978 h 347978"/>
                  <a:gd name="connsiteX1" fmla="*/ 354490 w 367398"/>
                  <a:gd name="connsiteY1" fmla="*/ 20159 h 347978"/>
                  <a:gd name="connsiteX2" fmla="*/ 294641 w 367398"/>
                  <a:gd name="connsiteY2" fmla="*/ 347978 h 347978"/>
                  <a:gd name="connsiteX3" fmla="*/ 0 w 367398"/>
                  <a:gd name="connsiteY3" fmla="*/ 347978 h 347978"/>
                  <a:gd name="connsiteX0" fmla="*/ 0 w 321099"/>
                  <a:gd name="connsiteY0" fmla="*/ 275674 h 275674"/>
                  <a:gd name="connsiteX1" fmla="*/ 306865 w 321099"/>
                  <a:gd name="connsiteY1" fmla="*/ 24055 h 275674"/>
                  <a:gd name="connsiteX2" fmla="*/ 294641 w 321099"/>
                  <a:gd name="connsiteY2" fmla="*/ 275674 h 275674"/>
                  <a:gd name="connsiteX3" fmla="*/ 0 w 321099"/>
                  <a:gd name="connsiteY3" fmla="*/ 275674 h 2756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1099" h="275674">
                    <a:moveTo>
                      <a:pt x="0" y="275674"/>
                    </a:moveTo>
                    <a:cubicBezTo>
                      <a:pt x="450" y="224213"/>
                      <a:pt x="400634" y="-87865"/>
                      <a:pt x="306865" y="24055"/>
                    </a:cubicBezTo>
                    <a:cubicBezTo>
                      <a:pt x="213096" y="135975"/>
                      <a:pt x="344198" y="224213"/>
                      <a:pt x="294641" y="275674"/>
                    </a:cubicBezTo>
                    <a:lnTo>
                      <a:pt x="0" y="275674"/>
                    </a:lnTo>
                    <a:close/>
                  </a:path>
                </a:pathLst>
              </a:custGeom>
              <a:solidFill>
                <a:srgbClr val="2D314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27896047-CE81-2272-C4B7-70B6240C750E}"/>
                </a:ext>
              </a:extLst>
            </p:cNvPr>
            <p:cNvSpPr/>
            <p:nvPr/>
          </p:nvSpPr>
          <p:spPr>
            <a:xfrm>
              <a:off x="3151672" y="3028282"/>
              <a:ext cx="958810" cy="20186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spc="-80">
                  <a:solidFill>
                    <a:schemeClr val="bg1"/>
                  </a:solidFill>
                  <a:latin typeface="+mj-ea"/>
                  <a:ea typeface="+mj-ea"/>
                </a:rPr>
                <a:t>사회초년생</a:t>
              </a:r>
            </a:p>
          </p:txBody>
        </p:sp>
      </p:grpSp>
      <p:pic>
        <p:nvPicPr>
          <p:cNvPr id="3077" name="그림 3076" descr="이제 60살 할머니 나이인데 &quot;웬만한 30대 여배우만큼&quot; 예쁘다는 여배우 | 나도 알고 너도 알고">
            <a:extLst>
              <a:ext uri="{FF2B5EF4-FFF2-40B4-BE49-F238E27FC236}">
                <a16:creationId xmlns:a16="http://schemas.microsoft.com/office/drawing/2014/main" id="{32241D07-35A0-DAFD-FF9E-CDCFEDC21A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05" r="16705" b="16"/>
          <a:stretch>
            <a:fillRect/>
          </a:stretch>
        </p:blipFill>
        <p:spPr bwMode="auto">
          <a:xfrm>
            <a:off x="8856493" y="3079817"/>
            <a:ext cx="957600" cy="957600"/>
          </a:xfrm>
          <a:custGeom>
            <a:avLst/>
            <a:gdLst>
              <a:gd name="connsiteX0" fmla="*/ 479405 w 958810"/>
              <a:gd name="connsiteY0" fmla="*/ 0 h 958810"/>
              <a:gd name="connsiteX1" fmla="*/ 958810 w 958810"/>
              <a:gd name="connsiteY1" fmla="*/ 479405 h 958810"/>
              <a:gd name="connsiteX2" fmla="*/ 479405 w 958810"/>
              <a:gd name="connsiteY2" fmla="*/ 958810 h 958810"/>
              <a:gd name="connsiteX3" fmla="*/ 0 w 958810"/>
              <a:gd name="connsiteY3" fmla="*/ 479405 h 958810"/>
              <a:gd name="connsiteX4" fmla="*/ 479405 w 958810"/>
              <a:gd name="connsiteY4" fmla="*/ 0 h 958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8810" h="958810">
                <a:moveTo>
                  <a:pt x="479405" y="0"/>
                </a:moveTo>
                <a:cubicBezTo>
                  <a:pt x="744173" y="0"/>
                  <a:pt x="958810" y="214637"/>
                  <a:pt x="958810" y="479405"/>
                </a:cubicBezTo>
                <a:cubicBezTo>
                  <a:pt x="958810" y="744173"/>
                  <a:pt x="744173" y="958810"/>
                  <a:pt x="479405" y="958810"/>
                </a:cubicBezTo>
                <a:cubicBezTo>
                  <a:pt x="214637" y="958810"/>
                  <a:pt x="0" y="744173"/>
                  <a:pt x="0" y="479405"/>
                </a:cubicBezTo>
                <a:cubicBezTo>
                  <a:pt x="0" y="214637"/>
                  <a:pt x="214637" y="0"/>
                  <a:pt x="479405" y="0"/>
                </a:cubicBezTo>
                <a:close/>
              </a:path>
            </a:pathLst>
          </a:custGeom>
          <a:noFill/>
          <a:effectLst>
            <a:glow rad="101600">
              <a:srgbClr val="2D3142">
                <a:alpha val="30000"/>
              </a:srgb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" name="타원 44">
            <a:extLst>
              <a:ext uri="{FF2B5EF4-FFF2-40B4-BE49-F238E27FC236}">
                <a16:creationId xmlns:a16="http://schemas.microsoft.com/office/drawing/2014/main" id="{8305703D-245F-54DE-48FA-41CC780BEEF4}"/>
              </a:ext>
            </a:extLst>
          </p:cNvPr>
          <p:cNvSpPr/>
          <p:nvPr/>
        </p:nvSpPr>
        <p:spPr>
          <a:xfrm>
            <a:off x="8768386" y="3046020"/>
            <a:ext cx="176213" cy="176213"/>
          </a:xfrm>
          <a:prstGeom prst="ellipse">
            <a:avLst/>
          </a:prstGeom>
          <a:solidFill>
            <a:srgbClr val="6A4C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3</a:t>
            </a:r>
            <a:endParaRPr lang="ko-KR" altLang="en-US" sz="1200"/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21F3CA7F-CC1C-92DD-6F54-943FF2190250}"/>
              </a:ext>
            </a:extLst>
          </p:cNvPr>
          <p:cNvGrpSpPr/>
          <p:nvPr/>
        </p:nvGrpSpPr>
        <p:grpSpPr>
          <a:xfrm>
            <a:off x="9388641" y="2643828"/>
            <a:ext cx="1121261" cy="554701"/>
            <a:chOff x="3070447" y="2914470"/>
            <a:chExt cx="1121261" cy="554701"/>
          </a:xfrm>
        </p:grpSpPr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60C2D9AC-C739-4926-6E79-606B133A61B5}"/>
                </a:ext>
              </a:extLst>
            </p:cNvPr>
            <p:cNvGrpSpPr/>
            <p:nvPr/>
          </p:nvGrpSpPr>
          <p:grpSpPr>
            <a:xfrm>
              <a:off x="3070447" y="2914470"/>
              <a:ext cx="1121261" cy="554701"/>
              <a:chOff x="3396343" y="2641600"/>
              <a:chExt cx="1391557" cy="688420"/>
            </a:xfrm>
          </p:grpSpPr>
          <p:sp>
            <p:nvSpPr>
              <p:cNvPr id="55" name="사각형: 둥근 모서리 54">
                <a:extLst>
                  <a:ext uri="{FF2B5EF4-FFF2-40B4-BE49-F238E27FC236}">
                    <a16:creationId xmlns:a16="http://schemas.microsoft.com/office/drawing/2014/main" id="{FD3B6093-F109-29E2-FF83-ECCE67A53A2D}"/>
                  </a:ext>
                </a:extLst>
              </p:cNvPr>
              <p:cNvSpPr/>
              <p:nvPr/>
            </p:nvSpPr>
            <p:spPr>
              <a:xfrm>
                <a:off x="3396343" y="2641600"/>
                <a:ext cx="1391557" cy="533400"/>
              </a:xfrm>
              <a:prstGeom prst="roundRect">
                <a:avLst>
                  <a:gd name="adj" fmla="val 40477"/>
                </a:avLst>
              </a:prstGeom>
              <a:solidFill>
                <a:srgbClr val="2D314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6" name="이등변 삼각형 12">
                <a:extLst>
                  <a:ext uri="{FF2B5EF4-FFF2-40B4-BE49-F238E27FC236}">
                    <a16:creationId xmlns:a16="http://schemas.microsoft.com/office/drawing/2014/main" id="{1D7A5F70-10BB-8A8A-D80A-FA5CD1381F7C}"/>
                  </a:ext>
                </a:extLst>
              </p:cNvPr>
              <p:cNvSpPr/>
              <p:nvPr/>
            </p:nvSpPr>
            <p:spPr>
              <a:xfrm rot="10800000">
                <a:off x="3742646" y="3054346"/>
                <a:ext cx="321099" cy="275674"/>
              </a:xfrm>
              <a:custGeom>
                <a:avLst/>
                <a:gdLst>
                  <a:gd name="connsiteX0" fmla="*/ 0 w 294641"/>
                  <a:gd name="connsiteY0" fmla="*/ 254001 h 254001"/>
                  <a:gd name="connsiteX1" fmla="*/ 147321 w 294641"/>
                  <a:gd name="connsiteY1" fmla="*/ 0 h 254001"/>
                  <a:gd name="connsiteX2" fmla="*/ 294641 w 294641"/>
                  <a:gd name="connsiteY2" fmla="*/ 254001 h 254001"/>
                  <a:gd name="connsiteX3" fmla="*/ 0 w 294641"/>
                  <a:gd name="connsiteY3" fmla="*/ 254001 h 254001"/>
                  <a:gd name="connsiteX0" fmla="*/ 0 w 297340"/>
                  <a:gd name="connsiteY0" fmla="*/ 308769 h 308769"/>
                  <a:gd name="connsiteX1" fmla="*/ 297340 w 297340"/>
                  <a:gd name="connsiteY1" fmla="*/ 0 h 308769"/>
                  <a:gd name="connsiteX2" fmla="*/ 294641 w 297340"/>
                  <a:gd name="connsiteY2" fmla="*/ 308769 h 308769"/>
                  <a:gd name="connsiteX3" fmla="*/ 0 w 297340"/>
                  <a:gd name="connsiteY3" fmla="*/ 308769 h 308769"/>
                  <a:gd name="connsiteX0" fmla="*/ 0 w 333012"/>
                  <a:gd name="connsiteY0" fmla="*/ 308769 h 308769"/>
                  <a:gd name="connsiteX1" fmla="*/ 297340 w 333012"/>
                  <a:gd name="connsiteY1" fmla="*/ 0 h 308769"/>
                  <a:gd name="connsiteX2" fmla="*/ 294641 w 333012"/>
                  <a:gd name="connsiteY2" fmla="*/ 308769 h 308769"/>
                  <a:gd name="connsiteX3" fmla="*/ 0 w 333012"/>
                  <a:gd name="connsiteY3" fmla="*/ 308769 h 308769"/>
                  <a:gd name="connsiteX0" fmla="*/ 0 w 372873"/>
                  <a:gd name="connsiteY0" fmla="*/ 327819 h 327819"/>
                  <a:gd name="connsiteX1" fmla="*/ 354490 w 372873"/>
                  <a:gd name="connsiteY1" fmla="*/ 0 h 327819"/>
                  <a:gd name="connsiteX2" fmla="*/ 294641 w 372873"/>
                  <a:gd name="connsiteY2" fmla="*/ 327819 h 327819"/>
                  <a:gd name="connsiteX3" fmla="*/ 0 w 372873"/>
                  <a:gd name="connsiteY3" fmla="*/ 327819 h 327819"/>
                  <a:gd name="connsiteX0" fmla="*/ 0 w 373945"/>
                  <a:gd name="connsiteY0" fmla="*/ 350055 h 350055"/>
                  <a:gd name="connsiteX1" fmla="*/ 354490 w 373945"/>
                  <a:gd name="connsiteY1" fmla="*/ 22236 h 350055"/>
                  <a:gd name="connsiteX2" fmla="*/ 294641 w 373945"/>
                  <a:gd name="connsiteY2" fmla="*/ 350055 h 350055"/>
                  <a:gd name="connsiteX3" fmla="*/ 0 w 373945"/>
                  <a:gd name="connsiteY3" fmla="*/ 350055 h 350055"/>
                  <a:gd name="connsiteX0" fmla="*/ 0 w 367398"/>
                  <a:gd name="connsiteY0" fmla="*/ 347978 h 347978"/>
                  <a:gd name="connsiteX1" fmla="*/ 354490 w 367398"/>
                  <a:gd name="connsiteY1" fmla="*/ 20159 h 347978"/>
                  <a:gd name="connsiteX2" fmla="*/ 294641 w 367398"/>
                  <a:gd name="connsiteY2" fmla="*/ 347978 h 347978"/>
                  <a:gd name="connsiteX3" fmla="*/ 0 w 367398"/>
                  <a:gd name="connsiteY3" fmla="*/ 347978 h 347978"/>
                  <a:gd name="connsiteX0" fmla="*/ 0 w 321099"/>
                  <a:gd name="connsiteY0" fmla="*/ 275674 h 275674"/>
                  <a:gd name="connsiteX1" fmla="*/ 306865 w 321099"/>
                  <a:gd name="connsiteY1" fmla="*/ 24055 h 275674"/>
                  <a:gd name="connsiteX2" fmla="*/ 294641 w 321099"/>
                  <a:gd name="connsiteY2" fmla="*/ 275674 h 275674"/>
                  <a:gd name="connsiteX3" fmla="*/ 0 w 321099"/>
                  <a:gd name="connsiteY3" fmla="*/ 275674 h 2756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1099" h="275674">
                    <a:moveTo>
                      <a:pt x="0" y="275674"/>
                    </a:moveTo>
                    <a:cubicBezTo>
                      <a:pt x="450" y="224213"/>
                      <a:pt x="400634" y="-87865"/>
                      <a:pt x="306865" y="24055"/>
                    </a:cubicBezTo>
                    <a:cubicBezTo>
                      <a:pt x="213096" y="135975"/>
                      <a:pt x="344198" y="224213"/>
                      <a:pt x="294641" y="275674"/>
                    </a:cubicBezTo>
                    <a:lnTo>
                      <a:pt x="0" y="275674"/>
                    </a:lnTo>
                    <a:close/>
                  </a:path>
                </a:pathLst>
              </a:custGeom>
              <a:solidFill>
                <a:srgbClr val="2D314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27841047-AADF-EDC5-EB12-3912D090DE42}"/>
                </a:ext>
              </a:extLst>
            </p:cNvPr>
            <p:cNvSpPr/>
            <p:nvPr/>
          </p:nvSpPr>
          <p:spPr>
            <a:xfrm>
              <a:off x="3151672" y="3028282"/>
              <a:ext cx="958810" cy="20186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spc="-80">
                  <a:solidFill>
                    <a:schemeClr val="bg1"/>
                  </a:solidFill>
                  <a:latin typeface="+mj-ea"/>
                  <a:ea typeface="+mj-ea"/>
                </a:rPr>
                <a:t>정보취약계층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081592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798744-08C8-17BE-B64C-239C9EF0B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C32F4F78-462C-AF25-ADD9-EF306D33D8D7}"/>
              </a:ext>
            </a:extLst>
          </p:cNvPr>
          <p:cNvSpPr/>
          <p:nvPr/>
        </p:nvSpPr>
        <p:spPr>
          <a:xfrm>
            <a:off x="6804709" y="1537335"/>
            <a:ext cx="1801129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0" name="평행 사변형 9">
            <a:extLst>
              <a:ext uri="{FF2B5EF4-FFF2-40B4-BE49-F238E27FC236}">
                <a16:creationId xmlns:a16="http://schemas.microsoft.com/office/drawing/2014/main" id="{0EC9B490-2572-3E4F-B676-298D77F37465}"/>
              </a:ext>
            </a:extLst>
          </p:cNvPr>
          <p:cNvSpPr/>
          <p:nvPr/>
        </p:nvSpPr>
        <p:spPr>
          <a:xfrm>
            <a:off x="1393556" y="1537335"/>
            <a:ext cx="2002787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1" name="평행 사변형 10">
            <a:extLst>
              <a:ext uri="{FF2B5EF4-FFF2-40B4-BE49-F238E27FC236}">
                <a16:creationId xmlns:a16="http://schemas.microsoft.com/office/drawing/2014/main" id="{31449C19-32F3-D49F-2645-5B28D951AA76}"/>
              </a:ext>
            </a:extLst>
          </p:cNvPr>
          <p:cNvSpPr/>
          <p:nvPr/>
        </p:nvSpPr>
        <p:spPr>
          <a:xfrm>
            <a:off x="3659509" y="1537335"/>
            <a:ext cx="1245869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9B901AB-8630-30EB-64B9-52FCBAFABF43}"/>
              </a:ext>
            </a:extLst>
          </p:cNvPr>
          <p:cNvSpPr/>
          <p:nvPr/>
        </p:nvSpPr>
        <p:spPr>
          <a:xfrm>
            <a:off x="746124" y="411164"/>
            <a:ext cx="590282" cy="489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altLang="ko-KR" sz="2400" spc="-9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02</a:t>
            </a:r>
            <a:endParaRPr lang="ko-KR" altLang="en-US" sz="2400" spc="-9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A5576D7-CD73-9F12-5C6E-7300BB20A246}"/>
              </a:ext>
            </a:extLst>
          </p:cNvPr>
          <p:cNvSpPr/>
          <p:nvPr/>
        </p:nvSpPr>
        <p:spPr>
          <a:xfrm>
            <a:off x="1393556" y="626256"/>
            <a:ext cx="3248294" cy="372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spc="-80">
                <a:solidFill>
                  <a:srgbClr val="6A4C93"/>
                </a:solidFill>
                <a:latin typeface="프리젠테이션 5 Medium" pitchFamily="2" charset="-127"/>
                <a:ea typeface="프리젠테이션 5 Medium" pitchFamily="2" charset="-127"/>
              </a:rPr>
              <a:t>데이터 수집 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B103917-2F52-F9E5-D796-5DC23036A068}"/>
              </a:ext>
            </a:extLst>
          </p:cNvPr>
          <p:cNvSpPr/>
          <p:nvPr/>
        </p:nvSpPr>
        <p:spPr>
          <a:xfrm>
            <a:off x="1393556" y="411164"/>
            <a:ext cx="3248294" cy="2445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spc="-80">
                <a:solidFill>
                  <a:srgbClr val="262122"/>
                </a:solidFill>
                <a:latin typeface="프리젠테이션 3 Light" pitchFamily="2" charset="-127"/>
                <a:ea typeface="프리젠테이션 3 Light" pitchFamily="2" charset="-127"/>
              </a:rPr>
              <a:t>Chapter 01 </a:t>
            </a:r>
            <a:r>
              <a:rPr lang="ko-KR" altLang="en-US" sz="1600" spc="-80">
                <a:solidFill>
                  <a:srgbClr val="262122"/>
                </a:solidFill>
                <a:latin typeface="프리젠테이션 3 Light" pitchFamily="2" charset="-127"/>
                <a:ea typeface="프리젠테이션 3 Light" pitchFamily="2" charset="-127"/>
              </a:rPr>
              <a:t> 프로젝트 소개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475F64E-D456-3840-041C-ADA388A0AC65}"/>
              </a:ext>
            </a:extLst>
          </p:cNvPr>
          <p:cNvSpPr/>
          <p:nvPr/>
        </p:nvSpPr>
        <p:spPr>
          <a:xfrm>
            <a:off x="1393556" y="1034243"/>
            <a:ext cx="9744344" cy="9103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defTabSz="720000"/>
            <a:r>
              <a:rPr lang="ko-KR" altLang="en-US" sz="28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운전자라면 누구나 겪는 </a:t>
            </a:r>
            <a:r>
              <a:rPr lang="en-US" altLang="ko-KR" sz="28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Pain Point</a:t>
            </a:r>
            <a:endParaRPr lang="en-US" altLang="ko-KR" sz="24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defTabSz="720000"/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넘쳐나는 보험 상품 </a:t>
            </a:r>
            <a:r>
              <a:rPr lang="ko-KR" altLang="en-US" sz="2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과  </a:t>
            </a:r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복잡한 약관 </a:t>
            </a:r>
            <a:r>
              <a:rPr lang="ko-KR" altLang="en-US" sz="2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에 지친 소비자들의  </a:t>
            </a:r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정보 과부하 시대</a:t>
            </a:r>
            <a:r>
              <a:rPr lang="en-US" altLang="ko-KR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!</a:t>
            </a:r>
            <a:endParaRPr lang="ko-KR" altLang="en-US" sz="2800" spc="-8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56545A0-9775-FBA4-DBC3-B7FA3F961604}"/>
              </a:ext>
            </a:extLst>
          </p:cNvPr>
          <p:cNvSpPr/>
          <p:nvPr/>
        </p:nvSpPr>
        <p:spPr>
          <a:xfrm>
            <a:off x="1336407" y="1034243"/>
            <a:ext cx="9749766" cy="918382"/>
          </a:xfrm>
          <a:prstGeom prst="rect">
            <a:avLst/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프리젠테이션 8 ExtraBold" pitchFamily="2" charset="-127"/>
                <a:ea typeface="프리젠테이션 8 ExtraBold" pitchFamily="2" charset="-127"/>
              </a:rPr>
              <a:t>다시 정리 필요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4FEEE72-EB92-C7BB-9EA0-AB9C4A28ED6D}"/>
              </a:ext>
            </a:extLst>
          </p:cNvPr>
          <p:cNvSpPr/>
          <p:nvPr/>
        </p:nvSpPr>
        <p:spPr>
          <a:xfrm>
            <a:off x="1336407" y="2969808"/>
            <a:ext cx="9749766" cy="2986491"/>
          </a:xfrm>
          <a:prstGeom prst="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프리젠테이션 8 ExtraBold" pitchFamily="2" charset="-127"/>
                <a:ea typeface="프리젠테이션 8 ExtraBold" pitchFamily="2" charset="-127"/>
              </a:rPr>
              <a:t>데이터 종류</a:t>
            </a:r>
          </a:p>
        </p:txBody>
      </p:sp>
    </p:spTree>
    <p:extLst>
      <p:ext uri="{BB962C8B-B14F-4D97-AF65-F5344CB8AC3E}">
        <p14:creationId xmlns:p14="http://schemas.microsoft.com/office/powerpoint/2010/main" val="18761976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1DB9A-8084-E8F5-428A-5203BDB67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DF78206E-C563-F739-1E26-A27A0355AB15}"/>
              </a:ext>
            </a:extLst>
          </p:cNvPr>
          <p:cNvSpPr/>
          <p:nvPr/>
        </p:nvSpPr>
        <p:spPr>
          <a:xfrm>
            <a:off x="6804709" y="1537335"/>
            <a:ext cx="1801129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0" name="평행 사변형 9">
            <a:extLst>
              <a:ext uri="{FF2B5EF4-FFF2-40B4-BE49-F238E27FC236}">
                <a16:creationId xmlns:a16="http://schemas.microsoft.com/office/drawing/2014/main" id="{F95DC23E-97D2-A294-1175-C2932F8B2741}"/>
              </a:ext>
            </a:extLst>
          </p:cNvPr>
          <p:cNvSpPr/>
          <p:nvPr/>
        </p:nvSpPr>
        <p:spPr>
          <a:xfrm>
            <a:off x="1393556" y="1537335"/>
            <a:ext cx="2002787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1" name="평행 사변형 10">
            <a:extLst>
              <a:ext uri="{FF2B5EF4-FFF2-40B4-BE49-F238E27FC236}">
                <a16:creationId xmlns:a16="http://schemas.microsoft.com/office/drawing/2014/main" id="{43EE9FBF-7BAB-0729-D671-9838A5286AA2}"/>
              </a:ext>
            </a:extLst>
          </p:cNvPr>
          <p:cNvSpPr/>
          <p:nvPr/>
        </p:nvSpPr>
        <p:spPr>
          <a:xfrm>
            <a:off x="3659509" y="1537335"/>
            <a:ext cx="1245869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590FE86-F917-49BB-331E-85B3D2566EF1}"/>
              </a:ext>
            </a:extLst>
          </p:cNvPr>
          <p:cNvSpPr/>
          <p:nvPr/>
        </p:nvSpPr>
        <p:spPr>
          <a:xfrm>
            <a:off x="746124" y="411164"/>
            <a:ext cx="590282" cy="489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altLang="ko-KR" sz="2400" spc="-9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03</a:t>
            </a:r>
            <a:endParaRPr lang="ko-KR" altLang="en-US" sz="2400" spc="-9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B3046FC-07EC-CD0E-0FFE-41E553441092}"/>
              </a:ext>
            </a:extLst>
          </p:cNvPr>
          <p:cNvSpPr/>
          <p:nvPr/>
        </p:nvSpPr>
        <p:spPr>
          <a:xfrm>
            <a:off x="1393556" y="626256"/>
            <a:ext cx="3248294" cy="372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spc="-80">
                <a:solidFill>
                  <a:srgbClr val="6A4C93"/>
                </a:solidFill>
                <a:latin typeface="프리젠테이션 5 Medium" pitchFamily="2" charset="-127"/>
                <a:ea typeface="프리젠테이션 5 Medium" pitchFamily="2" charset="-127"/>
              </a:rPr>
              <a:t>업무분장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6EF6B67-6396-10A7-FE3B-8AEA2AC75024}"/>
              </a:ext>
            </a:extLst>
          </p:cNvPr>
          <p:cNvSpPr/>
          <p:nvPr/>
        </p:nvSpPr>
        <p:spPr>
          <a:xfrm>
            <a:off x="1393556" y="411164"/>
            <a:ext cx="3248294" cy="2445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spc="-80">
                <a:solidFill>
                  <a:srgbClr val="262122"/>
                </a:solidFill>
                <a:latin typeface="프리젠테이션 3 Light" pitchFamily="2" charset="-127"/>
                <a:ea typeface="프리젠테이션 3 Light" pitchFamily="2" charset="-127"/>
              </a:rPr>
              <a:t>Chapter 01 </a:t>
            </a:r>
            <a:r>
              <a:rPr lang="ko-KR" altLang="en-US" sz="1600" spc="-80">
                <a:solidFill>
                  <a:srgbClr val="262122"/>
                </a:solidFill>
                <a:latin typeface="프리젠테이션 3 Light" pitchFamily="2" charset="-127"/>
                <a:ea typeface="프리젠테이션 3 Light" pitchFamily="2" charset="-127"/>
              </a:rPr>
              <a:t> 프로젝트 소개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8F7C6C0-BEB2-C529-9B43-59A5F2999723}"/>
              </a:ext>
            </a:extLst>
          </p:cNvPr>
          <p:cNvSpPr/>
          <p:nvPr/>
        </p:nvSpPr>
        <p:spPr>
          <a:xfrm>
            <a:off x="1393556" y="1034243"/>
            <a:ext cx="9744344" cy="9103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defTabSz="720000"/>
            <a:r>
              <a:rPr lang="ko-KR" altLang="en-US" sz="28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운전자라면 누구나 겪는 </a:t>
            </a:r>
            <a:r>
              <a:rPr lang="en-US" altLang="ko-KR" sz="28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Pain Point</a:t>
            </a:r>
            <a:endParaRPr lang="en-US" altLang="ko-KR" sz="24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defTabSz="720000"/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넘쳐나는 보험 상품 </a:t>
            </a:r>
            <a:r>
              <a:rPr lang="ko-KR" altLang="en-US" sz="2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과  </a:t>
            </a:r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복잡한 약관 </a:t>
            </a:r>
            <a:r>
              <a:rPr lang="ko-KR" altLang="en-US" sz="2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에 지친 소비자들의  </a:t>
            </a:r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정보 과부하 시대</a:t>
            </a:r>
            <a:r>
              <a:rPr lang="en-US" altLang="ko-KR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!</a:t>
            </a:r>
            <a:endParaRPr lang="ko-KR" altLang="en-US" sz="2800" spc="-8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6B4BC4E-302A-33A8-5CA2-CE7E9FE68845}"/>
              </a:ext>
            </a:extLst>
          </p:cNvPr>
          <p:cNvSpPr/>
          <p:nvPr/>
        </p:nvSpPr>
        <p:spPr>
          <a:xfrm>
            <a:off x="1336407" y="1034243"/>
            <a:ext cx="9749766" cy="918382"/>
          </a:xfrm>
          <a:prstGeom prst="rect">
            <a:avLst/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프리젠테이션 8 ExtraBold" pitchFamily="2" charset="-127"/>
                <a:ea typeface="프리젠테이션 8 ExtraBold" pitchFamily="2" charset="-127"/>
              </a:rPr>
              <a:t>다시 정리 필요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AEF31FD-5BED-7EF9-F810-4F2F47FE48D2}"/>
              </a:ext>
            </a:extLst>
          </p:cNvPr>
          <p:cNvSpPr/>
          <p:nvPr/>
        </p:nvSpPr>
        <p:spPr>
          <a:xfrm>
            <a:off x="1336407" y="2969808"/>
            <a:ext cx="9749766" cy="2986491"/>
          </a:xfrm>
          <a:prstGeom prst="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프리젠테이션 8 ExtraBold" pitchFamily="2" charset="-127"/>
                <a:ea typeface="프리젠테이션 8 ExtraBold" pitchFamily="2" charset="-127"/>
              </a:rPr>
              <a:t>업무분장</a:t>
            </a:r>
          </a:p>
        </p:txBody>
      </p:sp>
    </p:spTree>
    <p:extLst>
      <p:ext uri="{BB962C8B-B14F-4D97-AF65-F5344CB8AC3E}">
        <p14:creationId xmlns:p14="http://schemas.microsoft.com/office/powerpoint/2010/main" val="29343632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8F4CB-5AB9-01D6-3228-F0D8CF56B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B1DBAFA5-B51D-B415-A0E0-239F088F4A45}"/>
              </a:ext>
            </a:extLst>
          </p:cNvPr>
          <p:cNvSpPr/>
          <p:nvPr/>
        </p:nvSpPr>
        <p:spPr>
          <a:xfrm>
            <a:off x="6804709" y="1537335"/>
            <a:ext cx="1801129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0" name="평행 사변형 9">
            <a:extLst>
              <a:ext uri="{FF2B5EF4-FFF2-40B4-BE49-F238E27FC236}">
                <a16:creationId xmlns:a16="http://schemas.microsoft.com/office/drawing/2014/main" id="{31FC424A-00EF-B576-0902-E7D20EC4EE94}"/>
              </a:ext>
            </a:extLst>
          </p:cNvPr>
          <p:cNvSpPr/>
          <p:nvPr/>
        </p:nvSpPr>
        <p:spPr>
          <a:xfrm>
            <a:off x="1393556" y="1537335"/>
            <a:ext cx="2002787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1" name="평행 사변형 10">
            <a:extLst>
              <a:ext uri="{FF2B5EF4-FFF2-40B4-BE49-F238E27FC236}">
                <a16:creationId xmlns:a16="http://schemas.microsoft.com/office/drawing/2014/main" id="{D3CD5349-9305-8FE3-4501-B371BE28600A}"/>
              </a:ext>
            </a:extLst>
          </p:cNvPr>
          <p:cNvSpPr/>
          <p:nvPr/>
        </p:nvSpPr>
        <p:spPr>
          <a:xfrm>
            <a:off x="3659509" y="1537335"/>
            <a:ext cx="1245869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ABDBB10-7A59-77B4-47F2-9591BF3C3C8A}"/>
              </a:ext>
            </a:extLst>
          </p:cNvPr>
          <p:cNvSpPr/>
          <p:nvPr/>
        </p:nvSpPr>
        <p:spPr>
          <a:xfrm>
            <a:off x="746124" y="411164"/>
            <a:ext cx="590282" cy="489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altLang="ko-KR" sz="2400" spc="-9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04</a:t>
            </a:r>
            <a:endParaRPr lang="ko-KR" altLang="en-US" sz="2400" spc="-9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A86EF1B-A1EA-708F-C921-B3B5F51DF93A}"/>
              </a:ext>
            </a:extLst>
          </p:cNvPr>
          <p:cNvSpPr/>
          <p:nvPr/>
        </p:nvSpPr>
        <p:spPr>
          <a:xfrm>
            <a:off x="1393556" y="626256"/>
            <a:ext cx="3248294" cy="372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spc="-80">
                <a:solidFill>
                  <a:srgbClr val="6A4C93"/>
                </a:solidFill>
                <a:latin typeface="프리젠테이션 5 Medium" pitchFamily="2" charset="-127"/>
                <a:ea typeface="프리젠테이션 5 Medium" pitchFamily="2" charset="-127"/>
              </a:rPr>
              <a:t>추진일정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C866BB9-363C-018F-4102-8637B07AC13C}"/>
              </a:ext>
            </a:extLst>
          </p:cNvPr>
          <p:cNvSpPr/>
          <p:nvPr/>
        </p:nvSpPr>
        <p:spPr>
          <a:xfrm>
            <a:off x="1393556" y="411164"/>
            <a:ext cx="3248294" cy="2445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spc="-80">
                <a:solidFill>
                  <a:srgbClr val="262122"/>
                </a:solidFill>
                <a:latin typeface="프리젠테이션 3 Light" pitchFamily="2" charset="-127"/>
                <a:ea typeface="프리젠테이션 3 Light" pitchFamily="2" charset="-127"/>
              </a:rPr>
              <a:t>Chapter 01 </a:t>
            </a:r>
            <a:r>
              <a:rPr lang="ko-KR" altLang="en-US" sz="1600" spc="-80">
                <a:solidFill>
                  <a:srgbClr val="262122"/>
                </a:solidFill>
                <a:latin typeface="프리젠테이션 3 Light" pitchFamily="2" charset="-127"/>
                <a:ea typeface="프리젠테이션 3 Light" pitchFamily="2" charset="-127"/>
              </a:rPr>
              <a:t> 프로젝트 소개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CC1CF9F-3AD8-E742-83C2-5B137FBCDD5A}"/>
              </a:ext>
            </a:extLst>
          </p:cNvPr>
          <p:cNvSpPr/>
          <p:nvPr/>
        </p:nvSpPr>
        <p:spPr>
          <a:xfrm>
            <a:off x="1393556" y="1034243"/>
            <a:ext cx="9744344" cy="9103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defTabSz="720000"/>
            <a:r>
              <a:rPr lang="ko-KR" altLang="en-US" sz="28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운전자라면 누구나 겪는 </a:t>
            </a:r>
            <a:r>
              <a:rPr lang="en-US" altLang="ko-KR" sz="28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Pain Point</a:t>
            </a:r>
            <a:endParaRPr lang="en-US" altLang="ko-KR" sz="24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defTabSz="720000"/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넘쳐나는 보험 상품 </a:t>
            </a:r>
            <a:r>
              <a:rPr lang="ko-KR" altLang="en-US" sz="2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과  </a:t>
            </a:r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복잡한 약관 </a:t>
            </a:r>
            <a:r>
              <a:rPr lang="ko-KR" altLang="en-US" sz="2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에 지친 소비자들의  </a:t>
            </a:r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정보 과부하 시대</a:t>
            </a:r>
            <a:r>
              <a:rPr lang="en-US" altLang="ko-KR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!</a:t>
            </a:r>
            <a:endParaRPr lang="ko-KR" altLang="en-US" sz="2800" spc="-8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BCF11A1-DCBA-B708-F90B-3B1CDB6830BA}"/>
              </a:ext>
            </a:extLst>
          </p:cNvPr>
          <p:cNvSpPr/>
          <p:nvPr/>
        </p:nvSpPr>
        <p:spPr>
          <a:xfrm>
            <a:off x="1336407" y="1034243"/>
            <a:ext cx="9749766" cy="918382"/>
          </a:xfrm>
          <a:prstGeom prst="rect">
            <a:avLst/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프리젠테이션 8 ExtraBold" pitchFamily="2" charset="-127"/>
                <a:ea typeface="프리젠테이션 8 ExtraBold" pitchFamily="2" charset="-127"/>
              </a:rPr>
              <a:t>다시 정리 필요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C5274C4-3D26-28CF-1551-1C2FF5FED3A1}"/>
              </a:ext>
            </a:extLst>
          </p:cNvPr>
          <p:cNvSpPr/>
          <p:nvPr/>
        </p:nvSpPr>
        <p:spPr>
          <a:xfrm>
            <a:off x="1336407" y="2969808"/>
            <a:ext cx="9749766" cy="2986491"/>
          </a:xfrm>
          <a:prstGeom prst="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프리젠테이션 8 ExtraBold" pitchFamily="2" charset="-127"/>
                <a:ea typeface="프리젠테이션 8 ExtraBold" pitchFamily="2" charset="-127"/>
              </a:rPr>
              <a:t>추진일정</a:t>
            </a:r>
          </a:p>
        </p:txBody>
      </p:sp>
    </p:spTree>
    <p:extLst>
      <p:ext uri="{BB962C8B-B14F-4D97-AF65-F5344CB8AC3E}">
        <p14:creationId xmlns:p14="http://schemas.microsoft.com/office/powerpoint/2010/main" val="2740335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5D148-70CC-4A5C-38DA-04253FCB6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ED144EF1-84E7-4ED8-C79B-7A657D9352B5}"/>
              </a:ext>
            </a:extLst>
          </p:cNvPr>
          <p:cNvSpPr/>
          <p:nvPr/>
        </p:nvSpPr>
        <p:spPr>
          <a:xfrm>
            <a:off x="6804709" y="1537335"/>
            <a:ext cx="1801129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0" name="평행 사변형 9">
            <a:extLst>
              <a:ext uri="{FF2B5EF4-FFF2-40B4-BE49-F238E27FC236}">
                <a16:creationId xmlns:a16="http://schemas.microsoft.com/office/drawing/2014/main" id="{7BD6203D-6EA5-9EC7-761B-CC4787BEE3DF}"/>
              </a:ext>
            </a:extLst>
          </p:cNvPr>
          <p:cNvSpPr/>
          <p:nvPr/>
        </p:nvSpPr>
        <p:spPr>
          <a:xfrm>
            <a:off x="1393556" y="1537335"/>
            <a:ext cx="2002787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1" name="평행 사변형 10">
            <a:extLst>
              <a:ext uri="{FF2B5EF4-FFF2-40B4-BE49-F238E27FC236}">
                <a16:creationId xmlns:a16="http://schemas.microsoft.com/office/drawing/2014/main" id="{0D9F063E-851C-40B2-CC78-EFE0091E6CBB}"/>
              </a:ext>
            </a:extLst>
          </p:cNvPr>
          <p:cNvSpPr/>
          <p:nvPr/>
        </p:nvSpPr>
        <p:spPr>
          <a:xfrm>
            <a:off x="3659509" y="1537335"/>
            <a:ext cx="1245869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818B0D0-F530-AFD8-19E2-D1586610C463}"/>
              </a:ext>
            </a:extLst>
          </p:cNvPr>
          <p:cNvSpPr/>
          <p:nvPr/>
        </p:nvSpPr>
        <p:spPr>
          <a:xfrm>
            <a:off x="746124" y="411164"/>
            <a:ext cx="590282" cy="489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altLang="ko-KR" sz="2400" spc="-9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05</a:t>
            </a:r>
            <a:endParaRPr lang="ko-KR" altLang="en-US" sz="2400" spc="-9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1022429-3466-C151-6D86-EE0A54BB408E}"/>
              </a:ext>
            </a:extLst>
          </p:cNvPr>
          <p:cNvSpPr/>
          <p:nvPr/>
        </p:nvSpPr>
        <p:spPr>
          <a:xfrm>
            <a:off x="1393556" y="626256"/>
            <a:ext cx="3248294" cy="372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spc="-80">
                <a:solidFill>
                  <a:srgbClr val="6A4C93"/>
                </a:solidFill>
                <a:latin typeface="프리젠테이션 5 Medium" pitchFamily="2" charset="-127"/>
                <a:ea typeface="프리젠테이션 5 Medium" pitchFamily="2" charset="-127"/>
              </a:rPr>
              <a:t>개발환경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2615AB5-58E9-0958-F06E-32586C298D84}"/>
              </a:ext>
            </a:extLst>
          </p:cNvPr>
          <p:cNvSpPr/>
          <p:nvPr/>
        </p:nvSpPr>
        <p:spPr>
          <a:xfrm>
            <a:off x="1393556" y="411164"/>
            <a:ext cx="3248294" cy="2445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spc="-80">
                <a:solidFill>
                  <a:srgbClr val="262122"/>
                </a:solidFill>
                <a:latin typeface="프리젠테이션 3 Light" pitchFamily="2" charset="-127"/>
                <a:ea typeface="프리젠테이션 3 Light" pitchFamily="2" charset="-127"/>
              </a:rPr>
              <a:t>Chapter 01 </a:t>
            </a:r>
            <a:r>
              <a:rPr lang="ko-KR" altLang="en-US" sz="1600" spc="-80">
                <a:solidFill>
                  <a:srgbClr val="262122"/>
                </a:solidFill>
                <a:latin typeface="프리젠테이션 3 Light" pitchFamily="2" charset="-127"/>
                <a:ea typeface="프리젠테이션 3 Light" pitchFamily="2" charset="-127"/>
              </a:rPr>
              <a:t> 프로젝트 소개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9C61AEC-C21F-CEC7-860C-8C1B84CF4B1A}"/>
              </a:ext>
            </a:extLst>
          </p:cNvPr>
          <p:cNvSpPr/>
          <p:nvPr/>
        </p:nvSpPr>
        <p:spPr>
          <a:xfrm>
            <a:off x="1393556" y="1034243"/>
            <a:ext cx="9744344" cy="9103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defTabSz="720000"/>
            <a:r>
              <a:rPr lang="ko-KR" altLang="en-US" sz="28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운전자라면 누구나 겪는 </a:t>
            </a:r>
            <a:r>
              <a:rPr lang="en-US" altLang="ko-KR" sz="28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Pain Point</a:t>
            </a:r>
            <a:endParaRPr lang="en-US" altLang="ko-KR" sz="24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defTabSz="720000"/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넘쳐나는 보험 상품 </a:t>
            </a:r>
            <a:r>
              <a:rPr lang="ko-KR" altLang="en-US" sz="2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과  </a:t>
            </a:r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복잡한 약관 </a:t>
            </a:r>
            <a:r>
              <a:rPr lang="ko-KR" altLang="en-US" sz="2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에 지친 소비자들의  </a:t>
            </a:r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정보 과부하 시대</a:t>
            </a:r>
            <a:r>
              <a:rPr lang="en-US" altLang="ko-KR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!</a:t>
            </a:r>
            <a:endParaRPr lang="ko-KR" altLang="en-US" sz="2800" spc="-8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E359E8E-7CF4-99F2-1022-1DD1EC1CA89C}"/>
              </a:ext>
            </a:extLst>
          </p:cNvPr>
          <p:cNvSpPr/>
          <p:nvPr/>
        </p:nvSpPr>
        <p:spPr>
          <a:xfrm>
            <a:off x="1336407" y="1034243"/>
            <a:ext cx="9749766" cy="918382"/>
          </a:xfrm>
          <a:prstGeom prst="rect">
            <a:avLst/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프리젠테이션 8 ExtraBold" pitchFamily="2" charset="-127"/>
                <a:ea typeface="프리젠테이션 8 ExtraBold" pitchFamily="2" charset="-127"/>
              </a:rPr>
              <a:t>다시 정리 필요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5106559-ABB4-76A6-4D32-1EBB6E50A15A}"/>
              </a:ext>
            </a:extLst>
          </p:cNvPr>
          <p:cNvSpPr/>
          <p:nvPr/>
        </p:nvSpPr>
        <p:spPr>
          <a:xfrm>
            <a:off x="1336407" y="2969808"/>
            <a:ext cx="9749766" cy="2986491"/>
          </a:xfrm>
          <a:prstGeom prst="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프리젠테이션 8 ExtraBold" pitchFamily="2" charset="-127"/>
                <a:ea typeface="프리젠테이션 8 ExtraBold" pitchFamily="2" charset="-127"/>
              </a:rPr>
              <a:t>개발환경</a:t>
            </a:r>
          </a:p>
        </p:txBody>
      </p:sp>
    </p:spTree>
    <p:extLst>
      <p:ext uri="{BB962C8B-B14F-4D97-AF65-F5344CB8AC3E}">
        <p14:creationId xmlns:p14="http://schemas.microsoft.com/office/powerpoint/2010/main" val="3765315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0D2CC-CEAB-128B-BD65-A05DFF9DD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D9EB9AB0-A983-BE99-2691-EA8F2E5FB78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A4C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25" name="자유형: 도형 24">
            <a:extLst>
              <a:ext uri="{FF2B5EF4-FFF2-40B4-BE49-F238E27FC236}">
                <a16:creationId xmlns:a16="http://schemas.microsoft.com/office/drawing/2014/main" id="{BACC90F8-F78D-5141-43C2-33F39EAB2578}"/>
              </a:ext>
            </a:extLst>
          </p:cNvPr>
          <p:cNvSpPr/>
          <p:nvPr/>
        </p:nvSpPr>
        <p:spPr>
          <a:xfrm>
            <a:off x="-1" y="1"/>
            <a:ext cx="6558401" cy="7083965"/>
          </a:xfrm>
          <a:custGeom>
            <a:avLst/>
            <a:gdLst>
              <a:gd name="connsiteX0" fmla="*/ 0 w 6349200"/>
              <a:gd name="connsiteY0" fmla="*/ 0 h 6857999"/>
              <a:gd name="connsiteX1" fmla="*/ 3496203 w 6349200"/>
              <a:gd name="connsiteY1" fmla="*/ 0 h 6857999"/>
              <a:gd name="connsiteX2" fmla="*/ 3661532 w 6349200"/>
              <a:gd name="connsiteY2" fmla="*/ 105990 h 6857999"/>
              <a:gd name="connsiteX3" fmla="*/ 6349200 w 6349200"/>
              <a:gd name="connsiteY3" fmla="*/ 5160889 h 6857999"/>
              <a:gd name="connsiteX4" fmla="*/ 6157282 w 6349200"/>
              <a:gd name="connsiteY4" fmla="*/ 6684375 h 6857999"/>
              <a:gd name="connsiteX5" fmla="*/ 6107978 w 6349200"/>
              <a:gd name="connsiteY5" fmla="*/ 6857999 h 6857999"/>
              <a:gd name="connsiteX6" fmla="*/ 0 w 6349200"/>
              <a:gd name="connsiteY6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49200" h="6857999">
                <a:moveTo>
                  <a:pt x="0" y="0"/>
                </a:moveTo>
                <a:lnTo>
                  <a:pt x="3496203" y="0"/>
                </a:lnTo>
                <a:lnTo>
                  <a:pt x="3661532" y="105990"/>
                </a:lnTo>
                <a:cubicBezTo>
                  <a:pt x="5283078" y="1201486"/>
                  <a:pt x="6349200" y="3056684"/>
                  <a:pt x="6349200" y="5160889"/>
                </a:cubicBezTo>
                <a:cubicBezTo>
                  <a:pt x="6349200" y="5686941"/>
                  <a:pt x="6282568" y="6197429"/>
                  <a:pt x="6157282" y="6684375"/>
                </a:cubicBezTo>
                <a:lnTo>
                  <a:pt x="6107978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85D78B45-0EF2-6362-FBA9-E5CC19AA5D8C}"/>
              </a:ext>
            </a:extLst>
          </p:cNvPr>
          <p:cNvGrpSpPr/>
          <p:nvPr/>
        </p:nvGrpSpPr>
        <p:grpSpPr>
          <a:xfrm rot="5400000">
            <a:off x="1075638" y="2784017"/>
            <a:ext cx="4327510" cy="6068813"/>
            <a:chOff x="530863" y="2288086"/>
            <a:chExt cx="3134553" cy="4395834"/>
          </a:xfrm>
        </p:grpSpPr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343A8023-EDE5-2EEF-26E6-0F550EDDE6E8}"/>
                </a:ext>
              </a:extLst>
            </p:cNvPr>
            <p:cNvSpPr/>
            <p:nvPr/>
          </p:nvSpPr>
          <p:spPr>
            <a:xfrm>
              <a:off x="909569" y="3222326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DF2C120D-1624-B502-3300-4C780DD4DBB8}"/>
                </a:ext>
              </a:extLst>
            </p:cNvPr>
            <p:cNvSpPr/>
            <p:nvPr/>
          </p:nvSpPr>
          <p:spPr>
            <a:xfrm>
              <a:off x="2403380" y="5371021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solidFill>
                <a:srgbClr val="D3D3D3">
                  <a:alpha val="3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14580DA5-4765-6820-50D2-147F47759BC0}"/>
                </a:ext>
              </a:extLst>
            </p:cNvPr>
            <p:cNvSpPr/>
            <p:nvPr/>
          </p:nvSpPr>
          <p:spPr>
            <a:xfrm>
              <a:off x="3548300" y="4226375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solidFill>
                <a:srgbClr val="D3D3D3">
                  <a:alpha val="3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394D883D-9FA6-31BF-B6E4-8E37230A05F5}"/>
                </a:ext>
              </a:extLst>
            </p:cNvPr>
            <p:cNvSpPr/>
            <p:nvPr/>
          </p:nvSpPr>
          <p:spPr>
            <a:xfrm>
              <a:off x="2014998" y="3049294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9D0A6E44-17AB-3D5F-0F52-0758CC355DC1}"/>
                </a:ext>
              </a:extLst>
            </p:cNvPr>
            <p:cNvSpPr/>
            <p:nvPr/>
          </p:nvSpPr>
          <p:spPr>
            <a:xfrm>
              <a:off x="1515334" y="2803902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E786A477-CA4A-221B-BC83-C06AA4137621}"/>
                </a:ext>
              </a:extLst>
            </p:cNvPr>
            <p:cNvSpPr/>
            <p:nvPr/>
          </p:nvSpPr>
          <p:spPr>
            <a:xfrm>
              <a:off x="627361" y="2686786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E985AB61-C785-78CB-800D-A47C9B724389}"/>
                </a:ext>
              </a:extLst>
            </p:cNvPr>
            <p:cNvSpPr/>
            <p:nvPr/>
          </p:nvSpPr>
          <p:spPr>
            <a:xfrm>
              <a:off x="530863" y="3559834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DF5BC5B3-CEA3-269B-E3C6-F2E66C432215}"/>
                </a:ext>
              </a:extLst>
            </p:cNvPr>
            <p:cNvSpPr/>
            <p:nvPr/>
          </p:nvSpPr>
          <p:spPr>
            <a:xfrm>
              <a:off x="3132831" y="3569060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1412600A-83B9-742D-BBC5-5BCA883148E0}"/>
                </a:ext>
              </a:extLst>
            </p:cNvPr>
            <p:cNvSpPr/>
            <p:nvPr/>
          </p:nvSpPr>
          <p:spPr>
            <a:xfrm>
              <a:off x="1595279" y="3049294"/>
              <a:ext cx="74340" cy="74340"/>
            </a:xfrm>
            <a:prstGeom prst="ellipse">
              <a:avLst/>
            </a:prstGeom>
            <a:solidFill>
              <a:srgbClr val="2D3142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B94D604F-5CF0-B069-FEAA-4CA461452F55}"/>
                </a:ext>
              </a:extLst>
            </p:cNvPr>
            <p:cNvSpPr/>
            <p:nvPr/>
          </p:nvSpPr>
          <p:spPr>
            <a:xfrm>
              <a:off x="2360287" y="2454653"/>
              <a:ext cx="232133" cy="232133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13D6FEAE-B1A9-041F-7499-07BFFC5439B0}"/>
                </a:ext>
              </a:extLst>
            </p:cNvPr>
            <p:cNvSpPr/>
            <p:nvPr/>
          </p:nvSpPr>
          <p:spPr>
            <a:xfrm>
              <a:off x="1322562" y="3172262"/>
              <a:ext cx="336459" cy="336459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967297A0-8B88-A666-7588-1F6B939A762B}"/>
                </a:ext>
              </a:extLst>
            </p:cNvPr>
            <p:cNvSpPr/>
            <p:nvPr/>
          </p:nvSpPr>
          <p:spPr>
            <a:xfrm>
              <a:off x="2243171" y="4090231"/>
              <a:ext cx="232133" cy="232133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173831C0-6EF5-190F-748E-9F86FCF1CAC3}"/>
                </a:ext>
              </a:extLst>
            </p:cNvPr>
            <p:cNvSpPr/>
            <p:nvPr/>
          </p:nvSpPr>
          <p:spPr>
            <a:xfrm>
              <a:off x="872398" y="2288086"/>
              <a:ext cx="74340" cy="74340"/>
            </a:xfrm>
            <a:prstGeom prst="ellipse">
              <a:avLst/>
            </a:prstGeom>
            <a:solidFill>
              <a:srgbClr val="2D3142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타원 54">
              <a:extLst>
                <a:ext uri="{FF2B5EF4-FFF2-40B4-BE49-F238E27FC236}">
                  <a16:creationId xmlns:a16="http://schemas.microsoft.com/office/drawing/2014/main" id="{B05EC37A-EA4D-2CB1-0FE8-04CF8419E8EC}"/>
                </a:ext>
              </a:extLst>
            </p:cNvPr>
            <p:cNvSpPr/>
            <p:nvPr/>
          </p:nvSpPr>
          <p:spPr>
            <a:xfrm>
              <a:off x="909311" y="4942434"/>
              <a:ext cx="74340" cy="74340"/>
            </a:xfrm>
            <a:prstGeom prst="ellipse">
              <a:avLst/>
            </a:prstGeom>
            <a:solidFill>
              <a:srgbClr val="2D3142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6" name="직선 화살표 연결선 55">
              <a:extLst>
                <a:ext uri="{FF2B5EF4-FFF2-40B4-BE49-F238E27FC236}">
                  <a16:creationId xmlns:a16="http://schemas.microsoft.com/office/drawing/2014/main" id="{8558EF09-F4DD-9BBA-558C-47DD7D593AA1}"/>
                </a:ext>
              </a:extLst>
            </p:cNvPr>
            <p:cNvCxnSpPr>
              <a:cxnSpLocks/>
            </p:cNvCxnSpPr>
            <p:nvPr/>
          </p:nvCxnSpPr>
          <p:spPr>
            <a:xfrm>
              <a:off x="744477" y="2745344"/>
              <a:ext cx="770857" cy="106332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직선 화살표 연결선 56">
              <a:extLst>
                <a:ext uri="{FF2B5EF4-FFF2-40B4-BE49-F238E27FC236}">
                  <a16:creationId xmlns:a16="http://schemas.microsoft.com/office/drawing/2014/main" id="{759FB45C-59EB-3939-7825-84B150C985B7}"/>
                </a:ext>
              </a:extLst>
            </p:cNvPr>
            <p:cNvCxnSpPr>
              <a:cxnSpLocks/>
              <a:endCxn id="50" idx="1"/>
            </p:cNvCxnSpPr>
            <p:nvPr/>
          </p:nvCxnSpPr>
          <p:spPr>
            <a:xfrm>
              <a:off x="931748" y="2341742"/>
              <a:ext cx="674417" cy="718439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직선 화살표 연결선 57">
              <a:extLst>
                <a:ext uri="{FF2B5EF4-FFF2-40B4-BE49-F238E27FC236}">
                  <a16:creationId xmlns:a16="http://schemas.microsoft.com/office/drawing/2014/main" id="{622D9D14-90B4-72EE-D252-02AB84B851A0}"/>
                </a:ext>
              </a:extLst>
            </p:cNvPr>
            <p:cNvCxnSpPr>
              <a:cxnSpLocks/>
              <a:stCxn id="42" idx="5"/>
              <a:endCxn id="43" idx="1"/>
            </p:cNvCxnSpPr>
            <p:nvPr/>
          </p:nvCxnSpPr>
          <p:spPr>
            <a:xfrm>
              <a:off x="1009534" y="3322291"/>
              <a:ext cx="1410997" cy="2065881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직선 화살표 연결선 58">
              <a:extLst>
                <a:ext uri="{FF2B5EF4-FFF2-40B4-BE49-F238E27FC236}">
                  <a16:creationId xmlns:a16="http://schemas.microsoft.com/office/drawing/2014/main" id="{6F4B5207-BF38-8028-0D88-4A336EA0C15F}"/>
                </a:ext>
              </a:extLst>
            </p:cNvPr>
            <p:cNvCxnSpPr>
              <a:cxnSpLocks/>
              <a:stCxn id="48" idx="7"/>
              <a:endCxn id="52" idx="2"/>
            </p:cNvCxnSpPr>
            <p:nvPr/>
          </p:nvCxnSpPr>
          <p:spPr>
            <a:xfrm flipV="1">
              <a:off x="630828" y="3340493"/>
              <a:ext cx="691734" cy="236493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직선 화살표 연결선 59">
              <a:extLst>
                <a:ext uri="{FF2B5EF4-FFF2-40B4-BE49-F238E27FC236}">
                  <a16:creationId xmlns:a16="http://schemas.microsoft.com/office/drawing/2014/main" id="{0A14AE71-95C9-CB22-19F6-B1507492D55B}"/>
                </a:ext>
              </a:extLst>
            </p:cNvPr>
            <p:cNvCxnSpPr>
              <a:cxnSpLocks/>
              <a:stCxn id="42" idx="4"/>
              <a:endCxn id="62" idx="1"/>
            </p:cNvCxnSpPr>
            <p:nvPr/>
          </p:nvCxnSpPr>
          <p:spPr>
            <a:xfrm>
              <a:off x="968128" y="3339442"/>
              <a:ext cx="1408262" cy="3244513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타원 61">
              <a:extLst>
                <a:ext uri="{FF2B5EF4-FFF2-40B4-BE49-F238E27FC236}">
                  <a16:creationId xmlns:a16="http://schemas.microsoft.com/office/drawing/2014/main" id="{E4AF9F3D-8A2E-F340-D5C9-4D9E1ADAFF64}"/>
                </a:ext>
              </a:extLst>
            </p:cNvPr>
            <p:cNvSpPr/>
            <p:nvPr/>
          </p:nvSpPr>
          <p:spPr>
            <a:xfrm>
              <a:off x="2359239" y="6566804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solidFill>
                <a:srgbClr val="D3D3D3">
                  <a:alpha val="3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3" name="직선 화살표 연결선 62">
              <a:extLst>
                <a:ext uri="{FF2B5EF4-FFF2-40B4-BE49-F238E27FC236}">
                  <a16:creationId xmlns:a16="http://schemas.microsoft.com/office/drawing/2014/main" id="{69437579-137C-8C7B-1531-D98EA2A760C0}"/>
                </a:ext>
              </a:extLst>
            </p:cNvPr>
            <p:cNvCxnSpPr>
              <a:cxnSpLocks/>
              <a:stCxn id="48" idx="6"/>
              <a:endCxn id="49" idx="2"/>
            </p:cNvCxnSpPr>
            <p:nvPr/>
          </p:nvCxnSpPr>
          <p:spPr>
            <a:xfrm>
              <a:off x="647979" y="3618392"/>
              <a:ext cx="2484851" cy="9226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직선 화살표 연결선 64">
              <a:extLst>
                <a:ext uri="{FF2B5EF4-FFF2-40B4-BE49-F238E27FC236}">
                  <a16:creationId xmlns:a16="http://schemas.microsoft.com/office/drawing/2014/main" id="{5332C244-1453-FBC7-91AA-590C9331D128}"/>
                </a:ext>
              </a:extLst>
            </p:cNvPr>
            <p:cNvCxnSpPr>
              <a:cxnSpLocks/>
              <a:stCxn id="52" idx="7"/>
              <a:endCxn id="45" idx="3"/>
            </p:cNvCxnSpPr>
            <p:nvPr/>
          </p:nvCxnSpPr>
          <p:spPr>
            <a:xfrm flipV="1">
              <a:off x="1609748" y="3149259"/>
              <a:ext cx="422401" cy="72277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타원 67">
              <a:extLst>
                <a:ext uri="{FF2B5EF4-FFF2-40B4-BE49-F238E27FC236}">
                  <a16:creationId xmlns:a16="http://schemas.microsoft.com/office/drawing/2014/main" id="{0C8D7DCB-2B64-6D1D-CAA9-9581139610CE}"/>
                </a:ext>
              </a:extLst>
            </p:cNvPr>
            <p:cNvSpPr/>
            <p:nvPr/>
          </p:nvSpPr>
          <p:spPr>
            <a:xfrm>
              <a:off x="1026686" y="3839096"/>
              <a:ext cx="166591" cy="166591"/>
            </a:xfrm>
            <a:prstGeom prst="ellipse">
              <a:avLst/>
            </a:prstGeom>
            <a:solidFill>
              <a:srgbClr val="2D3142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70" name="직선 화살표 연결선 69">
              <a:extLst>
                <a:ext uri="{FF2B5EF4-FFF2-40B4-BE49-F238E27FC236}">
                  <a16:creationId xmlns:a16="http://schemas.microsoft.com/office/drawing/2014/main" id="{3DA68431-683B-1D01-9441-3967D3275E1B}"/>
                </a:ext>
              </a:extLst>
            </p:cNvPr>
            <p:cNvCxnSpPr>
              <a:cxnSpLocks/>
              <a:stCxn id="42" idx="7"/>
              <a:endCxn id="51" idx="3"/>
            </p:cNvCxnSpPr>
            <p:nvPr/>
          </p:nvCxnSpPr>
          <p:spPr>
            <a:xfrm flipV="1">
              <a:off x="1009534" y="2652791"/>
              <a:ext cx="1384749" cy="586687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직선 화살표 연결선 70">
              <a:extLst>
                <a:ext uri="{FF2B5EF4-FFF2-40B4-BE49-F238E27FC236}">
                  <a16:creationId xmlns:a16="http://schemas.microsoft.com/office/drawing/2014/main" id="{10265CA7-E936-9400-86F2-9E02252F4DC2}"/>
                </a:ext>
              </a:extLst>
            </p:cNvPr>
            <p:cNvCxnSpPr>
              <a:cxnSpLocks/>
              <a:stCxn id="54" idx="3"/>
              <a:endCxn id="47" idx="0"/>
            </p:cNvCxnSpPr>
            <p:nvPr/>
          </p:nvCxnSpPr>
          <p:spPr>
            <a:xfrm flipH="1">
              <a:off x="685919" y="2351540"/>
              <a:ext cx="197365" cy="335246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직선 화살표 연결선 71">
              <a:extLst>
                <a:ext uri="{FF2B5EF4-FFF2-40B4-BE49-F238E27FC236}">
                  <a16:creationId xmlns:a16="http://schemas.microsoft.com/office/drawing/2014/main" id="{887BB90D-B0D6-072B-FB28-34B92B7DB62A}"/>
                </a:ext>
              </a:extLst>
            </p:cNvPr>
            <p:cNvCxnSpPr>
              <a:cxnSpLocks/>
              <a:stCxn id="53" idx="0"/>
              <a:endCxn id="51" idx="3"/>
            </p:cNvCxnSpPr>
            <p:nvPr/>
          </p:nvCxnSpPr>
          <p:spPr>
            <a:xfrm flipV="1">
              <a:off x="2359239" y="2652791"/>
              <a:ext cx="35044" cy="1437440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직선 화살표 연결선 72">
              <a:extLst>
                <a:ext uri="{FF2B5EF4-FFF2-40B4-BE49-F238E27FC236}">
                  <a16:creationId xmlns:a16="http://schemas.microsoft.com/office/drawing/2014/main" id="{0A5FA4C0-6CDB-92E9-870B-48CAE7383F7A}"/>
                </a:ext>
              </a:extLst>
            </p:cNvPr>
            <p:cNvCxnSpPr>
              <a:cxnSpLocks/>
              <a:stCxn id="53" idx="0"/>
              <a:endCxn id="45" idx="4"/>
            </p:cNvCxnSpPr>
            <p:nvPr/>
          </p:nvCxnSpPr>
          <p:spPr>
            <a:xfrm flipH="1" flipV="1">
              <a:off x="2073556" y="3166410"/>
              <a:ext cx="285683" cy="923820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직선 화살표 연결선 73">
              <a:extLst>
                <a:ext uri="{FF2B5EF4-FFF2-40B4-BE49-F238E27FC236}">
                  <a16:creationId xmlns:a16="http://schemas.microsoft.com/office/drawing/2014/main" id="{843496CC-2868-51DB-40E9-52F98AD114E6}"/>
                </a:ext>
              </a:extLst>
            </p:cNvPr>
            <p:cNvCxnSpPr>
              <a:cxnSpLocks/>
              <a:stCxn id="49" idx="1"/>
              <a:endCxn id="51" idx="4"/>
            </p:cNvCxnSpPr>
            <p:nvPr/>
          </p:nvCxnSpPr>
          <p:spPr>
            <a:xfrm flipH="1" flipV="1">
              <a:off x="2476355" y="2686786"/>
              <a:ext cx="673627" cy="899425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직선 화살표 연결선 74">
              <a:extLst>
                <a:ext uri="{FF2B5EF4-FFF2-40B4-BE49-F238E27FC236}">
                  <a16:creationId xmlns:a16="http://schemas.microsoft.com/office/drawing/2014/main" id="{F1C860AA-4EA2-C706-09D6-9DAF83201289}"/>
                </a:ext>
              </a:extLst>
            </p:cNvPr>
            <p:cNvCxnSpPr>
              <a:cxnSpLocks/>
              <a:stCxn id="68" idx="6"/>
              <a:endCxn id="49" idx="2"/>
            </p:cNvCxnSpPr>
            <p:nvPr/>
          </p:nvCxnSpPr>
          <p:spPr>
            <a:xfrm flipV="1">
              <a:off x="1193277" y="3627618"/>
              <a:ext cx="1939554" cy="294774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직선 화살표 연결선 75">
              <a:extLst>
                <a:ext uri="{FF2B5EF4-FFF2-40B4-BE49-F238E27FC236}">
                  <a16:creationId xmlns:a16="http://schemas.microsoft.com/office/drawing/2014/main" id="{03FC6CB1-C87C-56B1-107B-AC363E1AB0C2}"/>
                </a:ext>
              </a:extLst>
            </p:cNvPr>
            <p:cNvCxnSpPr>
              <a:cxnSpLocks/>
              <a:stCxn id="53" idx="1"/>
              <a:endCxn id="68" idx="6"/>
            </p:cNvCxnSpPr>
            <p:nvPr/>
          </p:nvCxnSpPr>
          <p:spPr>
            <a:xfrm flipH="1" flipV="1">
              <a:off x="1193277" y="3922392"/>
              <a:ext cx="1083890" cy="201834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직선 화살표 연결선 76">
              <a:extLst>
                <a:ext uri="{FF2B5EF4-FFF2-40B4-BE49-F238E27FC236}">
                  <a16:creationId xmlns:a16="http://schemas.microsoft.com/office/drawing/2014/main" id="{92D9BA5F-7D15-7543-490F-E884F215E098}"/>
                </a:ext>
              </a:extLst>
            </p:cNvPr>
            <p:cNvCxnSpPr>
              <a:cxnSpLocks/>
              <a:stCxn id="55" idx="5"/>
              <a:endCxn id="43" idx="3"/>
            </p:cNvCxnSpPr>
            <p:nvPr/>
          </p:nvCxnSpPr>
          <p:spPr>
            <a:xfrm>
              <a:off x="972765" y="5005888"/>
              <a:ext cx="1447767" cy="465097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직선 화살표 연결선 77">
              <a:extLst>
                <a:ext uri="{FF2B5EF4-FFF2-40B4-BE49-F238E27FC236}">
                  <a16:creationId xmlns:a16="http://schemas.microsoft.com/office/drawing/2014/main" id="{BB6EEA25-C62A-934E-ECF2-E6D624807899}"/>
                </a:ext>
              </a:extLst>
            </p:cNvPr>
            <p:cNvCxnSpPr>
              <a:cxnSpLocks/>
              <a:stCxn id="55" idx="6"/>
              <a:endCxn id="44" idx="2"/>
            </p:cNvCxnSpPr>
            <p:nvPr/>
          </p:nvCxnSpPr>
          <p:spPr>
            <a:xfrm flipV="1">
              <a:off x="983651" y="4284933"/>
              <a:ext cx="2564649" cy="694673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직선 화살표 연결선 78">
              <a:extLst>
                <a:ext uri="{FF2B5EF4-FFF2-40B4-BE49-F238E27FC236}">
                  <a16:creationId xmlns:a16="http://schemas.microsoft.com/office/drawing/2014/main" id="{6EAEED11-0229-46C2-E485-FBAE72D8A5ED}"/>
                </a:ext>
              </a:extLst>
            </p:cNvPr>
            <p:cNvCxnSpPr>
              <a:cxnSpLocks/>
              <a:stCxn id="44" idx="4"/>
              <a:endCxn id="62" idx="1"/>
            </p:cNvCxnSpPr>
            <p:nvPr/>
          </p:nvCxnSpPr>
          <p:spPr>
            <a:xfrm flipH="1">
              <a:off x="2376390" y="4343491"/>
              <a:ext cx="1230468" cy="2240464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1F88261F-EC7A-0D0A-3272-4662177E7B04}"/>
              </a:ext>
            </a:extLst>
          </p:cNvPr>
          <p:cNvGrpSpPr/>
          <p:nvPr/>
        </p:nvGrpSpPr>
        <p:grpSpPr>
          <a:xfrm>
            <a:off x="1055688" y="2659667"/>
            <a:ext cx="3628231" cy="348783"/>
            <a:chOff x="1055688" y="2659667"/>
            <a:chExt cx="3628231" cy="348783"/>
          </a:xfrm>
        </p:grpSpPr>
        <p:cxnSp>
          <p:nvCxnSpPr>
            <p:cNvPr id="3" name="직선 연결선 2">
              <a:extLst>
                <a:ext uri="{FF2B5EF4-FFF2-40B4-BE49-F238E27FC236}">
                  <a16:creationId xmlns:a16="http://schemas.microsoft.com/office/drawing/2014/main" id="{CEA5DFCA-0049-4DAF-9C75-50385F52EA4F}"/>
                </a:ext>
              </a:extLst>
            </p:cNvPr>
            <p:cNvCxnSpPr>
              <a:cxnSpLocks/>
            </p:cNvCxnSpPr>
            <p:nvPr/>
          </p:nvCxnSpPr>
          <p:spPr>
            <a:xfrm>
              <a:off x="1055688" y="3008450"/>
              <a:ext cx="3628231" cy="0"/>
            </a:xfrm>
            <a:prstGeom prst="line">
              <a:avLst/>
            </a:prstGeom>
            <a:ln w="60325">
              <a:gradFill flip="none" rotWithShape="1">
                <a:gsLst>
                  <a:gs pos="0">
                    <a:srgbClr val="6A4C93"/>
                  </a:gs>
                  <a:gs pos="100000">
                    <a:srgbClr val="B00020"/>
                  </a:gs>
                </a:gsLst>
                <a:lin ang="108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사각형: 둥근 위쪽 모서리 3">
              <a:extLst>
                <a:ext uri="{FF2B5EF4-FFF2-40B4-BE49-F238E27FC236}">
                  <a16:creationId xmlns:a16="http://schemas.microsoft.com/office/drawing/2014/main" id="{3E6AF7A9-9678-9230-4F3C-4B7CE174D02C}"/>
                </a:ext>
              </a:extLst>
            </p:cNvPr>
            <p:cNvSpPr/>
            <p:nvPr/>
          </p:nvSpPr>
          <p:spPr>
            <a:xfrm>
              <a:off x="3770658" y="2659667"/>
              <a:ext cx="365710" cy="320207"/>
            </a:xfrm>
            <a:prstGeom prst="round2SameRect">
              <a:avLst>
                <a:gd name="adj1" fmla="val 49834"/>
                <a:gd name="adj2" fmla="val 0"/>
              </a:avLst>
            </a:prstGeom>
            <a:gradFill flip="none" rotWithShape="1">
              <a:gsLst>
                <a:gs pos="0">
                  <a:srgbClr val="7A4A91"/>
                </a:gs>
                <a:gs pos="100000">
                  <a:srgbClr val="6A4C93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</p:grpSp>
      <p:sp>
        <p:nvSpPr>
          <p:cNvPr id="5" name="직사각형 4">
            <a:extLst>
              <a:ext uri="{FF2B5EF4-FFF2-40B4-BE49-F238E27FC236}">
                <a16:creationId xmlns:a16="http://schemas.microsoft.com/office/drawing/2014/main" id="{FC04298D-411A-4500-2DDD-641062FF77A2}"/>
              </a:ext>
            </a:extLst>
          </p:cNvPr>
          <p:cNvSpPr/>
          <p:nvPr/>
        </p:nvSpPr>
        <p:spPr>
          <a:xfrm>
            <a:off x="2836191" y="2644691"/>
            <a:ext cx="2780795" cy="372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 spc="-80">
                <a:solidFill>
                  <a:srgbClr val="6A4C93"/>
                </a:solidFill>
                <a:latin typeface="프리젠테이션 5 Medium" pitchFamily="2" charset="-127"/>
                <a:ea typeface="프리젠테이션 5 Medium" pitchFamily="2" charset="-127"/>
              </a:rPr>
              <a:t>Chapter   </a:t>
            </a:r>
            <a:r>
              <a:rPr lang="en-US" altLang="ko-KR" sz="20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01</a:t>
            </a:r>
            <a:endParaRPr lang="ko-KR" altLang="en-US" sz="2000" spc="-8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386D254-BDED-B875-5A53-CBB3EBBDF74B}"/>
              </a:ext>
            </a:extLst>
          </p:cNvPr>
          <p:cNvSpPr/>
          <p:nvPr/>
        </p:nvSpPr>
        <p:spPr>
          <a:xfrm>
            <a:off x="1060216" y="3745249"/>
            <a:ext cx="3248294" cy="372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Project  ------</a:t>
            </a:r>
            <a:endParaRPr lang="ko-KR" altLang="en-US" sz="2400" spc="-80">
              <a:solidFill>
                <a:srgbClr val="2D3142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681A1DC-7A46-AD2D-AEE0-6AA6684E02B3}"/>
              </a:ext>
            </a:extLst>
          </p:cNvPr>
          <p:cNvSpPr/>
          <p:nvPr/>
        </p:nvSpPr>
        <p:spPr>
          <a:xfrm>
            <a:off x="1306778" y="4271251"/>
            <a:ext cx="2988997" cy="19673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01. 00000</a:t>
            </a:r>
          </a:p>
          <a:p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02. 00000 </a:t>
            </a:r>
          </a:p>
          <a:p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03. 00000</a:t>
            </a:r>
          </a:p>
          <a:p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04. 00000 </a:t>
            </a:r>
          </a:p>
          <a:p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05. 00000</a:t>
            </a:r>
            <a:endParaRPr lang="ko-KR" altLang="en-US" sz="16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9A29BFC-D6D8-2C0D-1DF6-A922CECB2CCF}"/>
              </a:ext>
            </a:extLst>
          </p:cNvPr>
          <p:cNvSpPr/>
          <p:nvPr/>
        </p:nvSpPr>
        <p:spPr>
          <a:xfrm>
            <a:off x="1060216" y="3186167"/>
            <a:ext cx="3248294" cy="6089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600" spc="-80">
                <a:solidFill>
                  <a:srgbClr val="B00020"/>
                </a:solidFill>
                <a:latin typeface="프리젠테이션 8 ExtraBold" pitchFamily="2" charset="-127"/>
                <a:ea typeface="프리젠테이션 8 ExtraBold" pitchFamily="2" charset="-127"/>
              </a:rPr>
              <a:t>프로젝트 세부 운영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6A0CC77-1336-E333-9129-797029220F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43" t="47517" r="42044" b="22856"/>
          <a:stretch>
            <a:fillRect/>
          </a:stretch>
        </p:blipFill>
        <p:spPr>
          <a:xfrm>
            <a:off x="3373963" y="2129533"/>
            <a:ext cx="1472031" cy="968671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C3DF98FC-6029-AAB2-5824-CF8973A2EB8C}"/>
              </a:ext>
            </a:extLst>
          </p:cNvPr>
          <p:cNvSpPr/>
          <p:nvPr/>
        </p:nvSpPr>
        <p:spPr>
          <a:xfrm>
            <a:off x="1055687" y="2644691"/>
            <a:ext cx="1780503" cy="372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[</a:t>
            </a:r>
            <a:r>
              <a:rPr lang="ko-KR" altLang="en-US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어플 이름</a:t>
            </a:r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]</a:t>
            </a:r>
            <a:endParaRPr lang="ko-KR" altLang="en-US" sz="16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51462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B71DAE3C-4670-9182-9A63-BDA34CA95A04}"/>
              </a:ext>
            </a:extLst>
          </p:cNvPr>
          <p:cNvGrpSpPr/>
          <p:nvPr/>
        </p:nvGrpSpPr>
        <p:grpSpPr>
          <a:xfrm>
            <a:off x="-4240240" y="1478567"/>
            <a:ext cx="2902908" cy="348783"/>
            <a:chOff x="1233460" y="2659667"/>
            <a:chExt cx="2902908" cy="348783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C675FA84-0B17-ABE6-1AFF-44257C7C7323}"/>
                </a:ext>
              </a:extLst>
            </p:cNvPr>
            <p:cNvCxnSpPr>
              <a:cxnSpLocks/>
            </p:cNvCxnSpPr>
            <p:nvPr/>
          </p:nvCxnSpPr>
          <p:spPr>
            <a:xfrm>
              <a:off x="1233460" y="3008450"/>
              <a:ext cx="2901807" cy="0"/>
            </a:xfrm>
            <a:prstGeom prst="line">
              <a:avLst/>
            </a:prstGeom>
            <a:ln w="60325">
              <a:gradFill flip="none" rotWithShape="1">
                <a:gsLst>
                  <a:gs pos="0">
                    <a:srgbClr val="6A4C93"/>
                  </a:gs>
                  <a:gs pos="100000">
                    <a:srgbClr val="B00020"/>
                  </a:gs>
                </a:gsLst>
                <a:lin ang="108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사각형: 둥근 위쪽 모서리 5">
              <a:extLst>
                <a:ext uri="{FF2B5EF4-FFF2-40B4-BE49-F238E27FC236}">
                  <a16:creationId xmlns:a16="http://schemas.microsoft.com/office/drawing/2014/main" id="{DFB1742E-8178-BDCB-3F6E-C6A7190D29B7}"/>
                </a:ext>
              </a:extLst>
            </p:cNvPr>
            <p:cNvSpPr/>
            <p:nvPr/>
          </p:nvSpPr>
          <p:spPr>
            <a:xfrm>
              <a:off x="3770658" y="2659667"/>
              <a:ext cx="365710" cy="320207"/>
            </a:xfrm>
            <a:prstGeom prst="round2SameRect">
              <a:avLst>
                <a:gd name="adj1" fmla="val 49834"/>
                <a:gd name="adj2" fmla="val 0"/>
              </a:avLst>
            </a:prstGeom>
            <a:gradFill flip="none" rotWithShape="1">
              <a:gsLst>
                <a:gs pos="0">
                  <a:srgbClr val="7A4A91"/>
                </a:gs>
                <a:gs pos="100000">
                  <a:srgbClr val="6A4C93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</p:grpSp>
      <p:sp>
        <p:nvSpPr>
          <p:cNvPr id="7" name="직사각형 6">
            <a:extLst>
              <a:ext uri="{FF2B5EF4-FFF2-40B4-BE49-F238E27FC236}">
                <a16:creationId xmlns:a16="http://schemas.microsoft.com/office/drawing/2014/main" id="{13724C0D-39ED-7FCE-2440-10CAA3E10134}"/>
              </a:ext>
            </a:extLst>
          </p:cNvPr>
          <p:cNvSpPr/>
          <p:nvPr/>
        </p:nvSpPr>
        <p:spPr>
          <a:xfrm>
            <a:off x="-2637509" y="1463591"/>
            <a:ext cx="2780795" cy="372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 spc="-80">
                <a:solidFill>
                  <a:srgbClr val="6A4C93"/>
                </a:solidFill>
                <a:latin typeface="프리젠테이션 5 Medium" pitchFamily="2" charset="-127"/>
                <a:ea typeface="프리젠테이션 5 Medium" pitchFamily="2" charset="-127"/>
              </a:rPr>
              <a:t>Chapter   </a:t>
            </a:r>
            <a:r>
              <a:rPr lang="en-US" altLang="ko-KR" sz="20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01</a:t>
            </a:r>
            <a:endParaRPr lang="ko-KR" altLang="en-US" sz="2000" spc="-8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CD1AEC5-EBA6-AFA3-4797-4A8A1613B741}"/>
              </a:ext>
            </a:extLst>
          </p:cNvPr>
          <p:cNvSpPr/>
          <p:nvPr/>
        </p:nvSpPr>
        <p:spPr>
          <a:xfrm>
            <a:off x="-4413484" y="2564149"/>
            <a:ext cx="3248294" cy="372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Project Overview</a:t>
            </a:r>
            <a:endParaRPr lang="ko-KR" altLang="en-US" sz="2400" spc="-80">
              <a:solidFill>
                <a:srgbClr val="2D3142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6F0377C-749F-ED5B-4B44-83A87BCB32D7}"/>
              </a:ext>
            </a:extLst>
          </p:cNvPr>
          <p:cNvSpPr/>
          <p:nvPr/>
        </p:nvSpPr>
        <p:spPr>
          <a:xfrm>
            <a:off x="-4166922" y="3090151"/>
            <a:ext cx="2988997" cy="19673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01. </a:t>
            </a:r>
            <a:r>
              <a:rPr lang="ko-KR" altLang="en-US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주제 선정 및 배경</a:t>
            </a:r>
            <a:endParaRPr lang="en-US" altLang="ko-KR" sz="16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02. </a:t>
            </a:r>
            <a:r>
              <a:rPr lang="ko-KR" altLang="en-US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데이터 수집 </a:t>
            </a:r>
            <a:endParaRPr lang="en-US" altLang="ko-KR" sz="16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03. </a:t>
            </a:r>
            <a:r>
              <a:rPr lang="ko-KR" altLang="en-US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업무분장</a:t>
            </a:r>
            <a:endParaRPr lang="en-US" altLang="ko-KR" sz="16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04. </a:t>
            </a:r>
            <a:r>
              <a:rPr lang="ko-KR" altLang="en-US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추진일정표</a:t>
            </a:r>
            <a:endParaRPr lang="en-US" altLang="ko-KR" sz="16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05. </a:t>
            </a:r>
            <a:r>
              <a:rPr lang="ko-KR" altLang="en-US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개발환경</a:t>
            </a:r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endParaRPr lang="ko-KR" altLang="en-US" sz="16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E2A837-823F-A6EF-7B94-4ECAA05C7C21}"/>
              </a:ext>
            </a:extLst>
          </p:cNvPr>
          <p:cNvSpPr/>
          <p:nvPr/>
        </p:nvSpPr>
        <p:spPr>
          <a:xfrm>
            <a:off x="-4413484" y="2005067"/>
            <a:ext cx="3248294" cy="6089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0" spc="-80">
                <a:solidFill>
                  <a:srgbClr val="B00020"/>
                </a:solidFill>
                <a:latin typeface="프리젠테이션 8 ExtraBold" pitchFamily="2" charset="-127"/>
                <a:ea typeface="프리젠테이션 8 ExtraBold" pitchFamily="2" charset="-127"/>
              </a:rPr>
              <a:t>프로젝트 소개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007ACEE-74B2-9D9E-B5C2-A75980D5B3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43" t="47517" r="42044" b="22856"/>
          <a:stretch>
            <a:fillRect/>
          </a:stretch>
        </p:blipFill>
        <p:spPr>
          <a:xfrm>
            <a:off x="-2023719" y="946782"/>
            <a:ext cx="1472031" cy="968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9527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94353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6533F72A-68F1-D46F-F2CF-D54F6DD61F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5563" y="1462088"/>
            <a:ext cx="7000875" cy="3933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14AFFDE2-A3FC-102A-509E-52E4A6D4A6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8725" y="504433"/>
            <a:ext cx="60293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66895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79F82-5F22-0389-62C1-FE5DDA9CC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 descr="카드고릴라 : 신용카드로 보험료 내는 꿀팁 – 자동차보험">
            <a:extLst>
              <a:ext uri="{FF2B5EF4-FFF2-40B4-BE49-F238E27FC236}">
                <a16:creationId xmlns:a16="http://schemas.microsoft.com/office/drawing/2014/main" id="{159EB9C1-09CE-23F4-9F6F-B7635B3E041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750"/>
          <a:stretch>
            <a:fillRect/>
          </a:stretch>
        </p:blipFill>
        <p:spPr bwMode="auto">
          <a:xfrm>
            <a:off x="-1" y="879365"/>
            <a:ext cx="12191999" cy="5969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직사각형 35">
            <a:extLst>
              <a:ext uri="{FF2B5EF4-FFF2-40B4-BE49-F238E27FC236}">
                <a16:creationId xmlns:a16="http://schemas.microsoft.com/office/drawing/2014/main" id="{B4BDDEC5-4C92-D21F-AEA5-088D411693B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25688">
                <a:schemeClr val="tx1"/>
              </a:gs>
              <a:gs pos="41000">
                <a:schemeClr val="tx1">
                  <a:alpha val="85000"/>
                </a:schemeClr>
              </a:gs>
              <a:gs pos="100000">
                <a:schemeClr val="tx1">
                  <a:alpha val="47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3A7A2F96-057C-ED62-6623-D4065ACD83A5}"/>
              </a:ext>
            </a:extLst>
          </p:cNvPr>
          <p:cNvGrpSpPr/>
          <p:nvPr/>
        </p:nvGrpSpPr>
        <p:grpSpPr>
          <a:xfrm>
            <a:off x="408972" y="273831"/>
            <a:ext cx="2098558" cy="536874"/>
            <a:chOff x="381000" y="577850"/>
            <a:chExt cx="2098558" cy="706457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D0CC4F66-AB98-8D32-973C-DEE1D2444936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Ⅰ</a:t>
              </a:r>
              <a:endParaRPr lang="ko-KR" altLang="en-US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29751C15-C002-BC29-87F7-477015817D68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서론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A12D1AB6-32C0-0F09-0362-1F9529AF7DFA}"/>
                </a:ext>
              </a:extLst>
            </p:cNvPr>
            <p:cNvSpPr/>
            <p:nvPr/>
          </p:nvSpPr>
          <p:spPr>
            <a:xfrm>
              <a:off x="698827" y="977900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4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1. </a:t>
              </a:r>
              <a:r>
                <a:rPr lang="ko-KR" altLang="en-US" sz="14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주제  선정 및 배경</a:t>
              </a:r>
            </a:p>
          </p:txBody>
        </p:sp>
      </p:grpSp>
      <p:grpSp>
        <p:nvGrpSpPr>
          <p:cNvPr id="192" name="그룹 191">
            <a:extLst>
              <a:ext uri="{FF2B5EF4-FFF2-40B4-BE49-F238E27FC236}">
                <a16:creationId xmlns:a16="http://schemas.microsoft.com/office/drawing/2014/main" id="{75E2E09D-B0BA-F7FF-09C6-8B5FB24DFD56}"/>
              </a:ext>
            </a:extLst>
          </p:cNvPr>
          <p:cNvGrpSpPr/>
          <p:nvPr/>
        </p:nvGrpSpPr>
        <p:grpSpPr>
          <a:xfrm>
            <a:off x="437016" y="1617985"/>
            <a:ext cx="4468826" cy="4468826"/>
            <a:chOff x="910561" y="1826595"/>
            <a:chExt cx="4468826" cy="4468826"/>
          </a:xfrm>
        </p:grpSpPr>
        <p:grpSp>
          <p:nvGrpSpPr>
            <p:cNvPr id="189" name="그룹 188">
              <a:extLst>
                <a:ext uri="{FF2B5EF4-FFF2-40B4-BE49-F238E27FC236}">
                  <a16:creationId xmlns:a16="http://schemas.microsoft.com/office/drawing/2014/main" id="{845705DE-C8C0-C8E9-C3F5-9D3323313711}"/>
                </a:ext>
              </a:extLst>
            </p:cNvPr>
            <p:cNvGrpSpPr/>
            <p:nvPr/>
          </p:nvGrpSpPr>
          <p:grpSpPr>
            <a:xfrm>
              <a:off x="1219784" y="2135818"/>
              <a:ext cx="3850380" cy="3850380"/>
              <a:chOff x="986520" y="1819352"/>
              <a:chExt cx="4289790" cy="4289790"/>
            </a:xfrm>
          </p:grpSpPr>
          <p:grpSp>
            <p:nvGrpSpPr>
              <p:cNvPr id="79" name="그룹 78">
                <a:extLst>
                  <a:ext uri="{FF2B5EF4-FFF2-40B4-BE49-F238E27FC236}">
                    <a16:creationId xmlns:a16="http://schemas.microsoft.com/office/drawing/2014/main" id="{FFFA3A0C-A37A-EBD8-A3EF-EFAE882DD4B5}"/>
                  </a:ext>
                </a:extLst>
              </p:cNvPr>
              <p:cNvGrpSpPr/>
              <p:nvPr/>
            </p:nvGrpSpPr>
            <p:grpSpPr>
              <a:xfrm>
                <a:off x="986520" y="1819352"/>
                <a:ext cx="4289790" cy="4289790"/>
                <a:chOff x="-483660" y="2087312"/>
                <a:chExt cx="6979336" cy="6979336"/>
              </a:xfrm>
            </p:grpSpPr>
            <p:sp>
              <p:nvSpPr>
                <p:cNvPr id="77" name="타원 76">
                  <a:extLst>
                    <a:ext uri="{FF2B5EF4-FFF2-40B4-BE49-F238E27FC236}">
                      <a16:creationId xmlns:a16="http://schemas.microsoft.com/office/drawing/2014/main" id="{64FFE1A6-6C2B-4CC7-CD1E-01F363EC316F}"/>
                    </a:ext>
                  </a:extLst>
                </p:cNvPr>
                <p:cNvSpPr/>
                <p:nvPr/>
              </p:nvSpPr>
              <p:spPr>
                <a:xfrm>
                  <a:off x="-483660" y="2087312"/>
                  <a:ext cx="6979336" cy="6979336"/>
                </a:xfrm>
                <a:prstGeom prst="ellipse">
                  <a:avLst/>
                </a:prstGeom>
                <a:solidFill>
                  <a:srgbClr val="D3D3D3">
                    <a:alpha val="3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>
                    <a:latin typeface="프리젠테이션 8 ExtraBold" pitchFamily="2" charset="-127"/>
                    <a:ea typeface="프리젠테이션 8 ExtraBold" pitchFamily="2" charset="-127"/>
                  </a:endParaRPr>
                </a:p>
              </p:txBody>
            </p:sp>
            <p:grpSp>
              <p:nvGrpSpPr>
                <p:cNvPr id="76" name="그룹 75">
                  <a:extLst>
                    <a:ext uri="{FF2B5EF4-FFF2-40B4-BE49-F238E27FC236}">
                      <a16:creationId xmlns:a16="http://schemas.microsoft.com/office/drawing/2014/main" id="{B6149525-1735-658B-4EEA-CE2D1D79D31F}"/>
                    </a:ext>
                  </a:extLst>
                </p:cNvPr>
                <p:cNvGrpSpPr/>
                <p:nvPr/>
              </p:nvGrpSpPr>
              <p:grpSpPr>
                <a:xfrm>
                  <a:off x="-90120" y="2530108"/>
                  <a:ext cx="6192256" cy="6192256"/>
                  <a:chOff x="3480748" y="-3790376"/>
                  <a:chExt cx="2871296" cy="2871296"/>
                </a:xfrm>
              </p:grpSpPr>
              <p:sp>
                <p:nvSpPr>
                  <p:cNvPr id="38" name="타원 37">
                    <a:extLst>
                      <a:ext uri="{FF2B5EF4-FFF2-40B4-BE49-F238E27FC236}">
                        <a16:creationId xmlns:a16="http://schemas.microsoft.com/office/drawing/2014/main" id="{567AEFA2-7446-7114-8FCA-BD2CF17C090D}"/>
                      </a:ext>
                    </a:extLst>
                  </p:cNvPr>
                  <p:cNvSpPr/>
                  <p:nvPr/>
                </p:nvSpPr>
                <p:spPr>
                  <a:xfrm>
                    <a:off x="3480748" y="-3790376"/>
                    <a:ext cx="2871296" cy="2871296"/>
                  </a:xfrm>
                  <a:prstGeom prst="ellipse">
                    <a:avLst/>
                  </a:prstGeom>
                  <a:solidFill>
                    <a:srgbClr val="D3D3D3">
                      <a:alpha val="30000"/>
                    </a:srgb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>
                      <a:latin typeface="프리젠테이션 8 ExtraBold" pitchFamily="2" charset="-127"/>
                      <a:ea typeface="프리젠테이션 8 ExtraBold" pitchFamily="2" charset="-127"/>
                    </a:endParaRPr>
                  </a:p>
                </p:txBody>
              </p:sp>
              <p:sp>
                <p:nvSpPr>
                  <p:cNvPr id="37" name="타원 36">
                    <a:extLst>
                      <a:ext uri="{FF2B5EF4-FFF2-40B4-BE49-F238E27FC236}">
                        <a16:creationId xmlns:a16="http://schemas.microsoft.com/office/drawing/2014/main" id="{1CD8B19D-A0DE-E9CF-4D14-17CF51C4CEA4}"/>
                      </a:ext>
                    </a:extLst>
                  </p:cNvPr>
                  <p:cNvSpPr/>
                  <p:nvPr/>
                </p:nvSpPr>
                <p:spPr>
                  <a:xfrm>
                    <a:off x="3660911" y="-3610214"/>
                    <a:ext cx="2510972" cy="2510972"/>
                  </a:xfrm>
                  <a:prstGeom prst="ellipse">
                    <a:avLst/>
                  </a:prstGeom>
                  <a:solidFill>
                    <a:srgbClr val="6A4C93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>
                      <a:latin typeface="프리젠테이션 8 ExtraBold" pitchFamily="2" charset="-127"/>
                      <a:ea typeface="프리젠테이션 8 ExtraBold" pitchFamily="2" charset="-127"/>
                    </a:endParaRPr>
                  </a:p>
                </p:txBody>
              </p:sp>
            </p:grpSp>
          </p:grpSp>
          <p:sp>
            <p:nvSpPr>
              <p:cNvPr id="188" name="직사각형 187">
                <a:extLst>
                  <a:ext uri="{FF2B5EF4-FFF2-40B4-BE49-F238E27FC236}">
                    <a16:creationId xmlns:a16="http://schemas.microsoft.com/office/drawing/2014/main" id="{B1D4238B-6D87-70EF-7AB1-BEDC90BA8FEA}"/>
                  </a:ext>
                </a:extLst>
              </p:cNvPr>
              <p:cNvSpPr/>
              <p:nvPr/>
            </p:nvSpPr>
            <p:spPr>
              <a:xfrm>
                <a:off x="2112971" y="3462171"/>
                <a:ext cx="2036888" cy="100415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0" rtlCol="0" anchor="ctr"/>
              <a:lstStyle/>
              <a:p>
                <a:pPr algn="ctr">
                  <a:defRPr/>
                </a:pPr>
                <a:r>
                  <a:rPr lang="ko-KR" altLang="en-US" sz="3200" spc="-80">
                    <a:solidFill>
                      <a:schemeClr val="bg1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프로젝트 </a:t>
                </a:r>
                <a:endParaRPr lang="en-US" altLang="ko-KR" sz="3200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endParaRPr>
              </a:p>
              <a:p>
                <a:pPr algn="ctr">
                  <a:defRPr/>
                </a:pPr>
                <a:r>
                  <a:rPr lang="ko-KR" altLang="en-US" sz="3200" spc="-80">
                    <a:solidFill>
                      <a:schemeClr val="bg1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주제 선정 </a:t>
                </a:r>
                <a:endParaRPr lang="en-US" altLang="ko-KR" sz="3200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endParaRPr>
              </a:p>
              <a:p>
                <a:pPr algn="ctr">
                  <a:defRPr/>
                </a:pPr>
                <a:r>
                  <a:rPr lang="ko-KR" altLang="en-US" sz="3200" spc="-80">
                    <a:solidFill>
                      <a:schemeClr val="bg1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배경</a:t>
                </a:r>
                <a:endParaRPr lang="en-US" altLang="ko-KR" sz="3200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endParaRPr>
              </a:p>
            </p:txBody>
          </p:sp>
        </p:grpSp>
        <p:sp>
          <p:nvSpPr>
            <p:cNvPr id="191" name="원호 190">
              <a:extLst>
                <a:ext uri="{FF2B5EF4-FFF2-40B4-BE49-F238E27FC236}">
                  <a16:creationId xmlns:a16="http://schemas.microsoft.com/office/drawing/2014/main" id="{84671E6F-267D-B431-2B1B-6A644689F007}"/>
                </a:ext>
              </a:extLst>
            </p:cNvPr>
            <p:cNvSpPr/>
            <p:nvPr/>
          </p:nvSpPr>
          <p:spPr>
            <a:xfrm>
              <a:off x="910561" y="1826595"/>
              <a:ext cx="4468826" cy="4468826"/>
            </a:xfrm>
            <a:prstGeom prst="arc">
              <a:avLst>
                <a:gd name="adj1" fmla="val 17303375"/>
                <a:gd name="adj2" fmla="val 4007311"/>
              </a:avLst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</p:grpSp>
      <p:grpSp>
        <p:nvGrpSpPr>
          <p:cNvPr id="224" name="그룹 223">
            <a:extLst>
              <a:ext uri="{FF2B5EF4-FFF2-40B4-BE49-F238E27FC236}">
                <a16:creationId xmlns:a16="http://schemas.microsoft.com/office/drawing/2014/main" id="{E49B2501-20DA-E631-B0C3-1DDA5EBD8086}"/>
              </a:ext>
            </a:extLst>
          </p:cNvPr>
          <p:cNvGrpSpPr/>
          <p:nvPr/>
        </p:nvGrpSpPr>
        <p:grpSpPr>
          <a:xfrm>
            <a:off x="6030791" y="1457756"/>
            <a:ext cx="4574954" cy="4387978"/>
            <a:chOff x="6030791" y="1457756"/>
            <a:chExt cx="4574954" cy="4387978"/>
          </a:xfrm>
        </p:grpSpPr>
        <p:grpSp>
          <p:nvGrpSpPr>
            <p:cNvPr id="225" name="그룹 224">
              <a:extLst>
                <a:ext uri="{FF2B5EF4-FFF2-40B4-BE49-F238E27FC236}">
                  <a16:creationId xmlns:a16="http://schemas.microsoft.com/office/drawing/2014/main" id="{C3DA8728-B546-DF28-F294-4E8543F9DF88}"/>
                </a:ext>
              </a:extLst>
            </p:cNvPr>
            <p:cNvGrpSpPr/>
            <p:nvPr/>
          </p:nvGrpSpPr>
          <p:grpSpPr>
            <a:xfrm>
              <a:off x="6030791" y="1457756"/>
              <a:ext cx="4574954" cy="890981"/>
              <a:chOff x="6030791" y="1457756"/>
              <a:chExt cx="4574954" cy="890981"/>
            </a:xfrm>
          </p:grpSpPr>
          <p:sp>
            <p:nvSpPr>
              <p:cNvPr id="235" name="사각형: 둥근 모서리 234">
                <a:extLst>
                  <a:ext uri="{FF2B5EF4-FFF2-40B4-BE49-F238E27FC236}">
                    <a16:creationId xmlns:a16="http://schemas.microsoft.com/office/drawing/2014/main" id="{0C059DF3-1D46-A14F-EDFE-5A7B9C295E69}"/>
                  </a:ext>
                </a:extLst>
              </p:cNvPr>
              <p:cNvSpPr/>
              <p:nvPr/>
            </p:nvSpPr>
            <p:spPr>
              <a:xfrm>
                <a:off x="6030791" y="1582243"/>
                <a:ext cx="4574954" cy="766494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  <p:sp>
            <p:nvSpPr>
              <p:cNvPr id="236" name="Rounded Rectangle 2">
                <a:extLst>
                  <a:ext uri="{FF2B5EF4-FFF2-40B4-BE49-F238E27FC236}">
                    <a16:creationId xmlns:a16="http://schemas.microsoft.com/office/drawing/2014/main" id="{0690E567-DE60-4DA3-EAEF-42C98E4457CF}"/>
                  </a:ext>
                </a:extLst>
              </p:cNvPr>
              <p:cNvSpPr/>
              <p:nvPr/>
            </p:nvSpPr>
            <p:spPr>
              <a:xfrm>
                <a:off x="6097902" y="1457756"/>
                <a:ext cx="1681785" cy="358511"/>
              </a:xfrm>
              <a:prstGeom prst="roundRect">
                <a:avLst/>
              </a:prstGeom>
              <a:gradFill>
                <a:gsLst>
                  <a:gs pos="0">
                    <a:srgbClr val="6A4C93"/>
                  </a:gs>
                  <a:gs pos="100000">
                    <a:srgbClr val="B00020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600" b="1">
                    <a:solidFill>
                      <a:schemeClr val="bg1"/>
                    </a:solidFill>
                    <a:latin typeface="프리젠테이션 8 ExtraBold" pitchFamily="2" charset="-127"/>
                    <a:ea typeface="프리젠테이션 8 ExtraBold" pitchFamily="2" charset="-127"/>
                  </a:rPr>
                  <a:t>기술적 도전</a:t>
                </a:r>
              </a:p>
            </p:txBody>
          </p:sp>
        </p:grpSp>
        <p:grpSp>
          <p:nvGrpSpPr>
            <p:cNvPr id="226" name="그룹 225">
              <a:extLst>
                <a:ext uri="{FF2B5EF4-FFF2-40B4-BE49-F238E27FC236}">
                  <a16:creationId xmlns:a16="http://schemas.microsoft.com/office/drawing/2014/main" id="{F36F5098-5382-3C97-CA6F-86907E0D10BB}"/>
                </a:ext>
              </a:extLst>
            </p:cNvPr>
            <p:cNvGrpSpPr/>
            <p:nvPr/>
          </p:nvGrpSpPr>
          <p:grpSpPr>
            <a:xfrm>
              <a:off x="6030791" y="2623422"/>
              <a:ext cx="4574954" cy="890981"/>
              <a:chOff x="6030791" y="1457756"/>
              <a:chExt cx="4574954" cy="890981"/>
            </a:xfrm>
          </p:grpSpPr>
          <p:sp>
            <p:nvSpPr>
              <p:cNvPr id="233" name="사각형: 둥근 모서리 232">
                <a:extLst>
                  <a:ext uri="{FF2B5EF4-FFF2-40B4-BE49-F238E27FC236}">
                    <a16:creationId xmlns:a16="http://schemas.microsoft.com/office/drawing/2014/main" id="{B4C1C971-CB04-A3A5-9D19-99F66CCD7F3D}"/>
                  </a:ext>
                </a:extLst>
              </p:cNvPr>
              <p:cNvSpPr/>
              <p:nvPr/>
            </p:nvSpPr>
            <p:spPr>
              <a:xfrm>
                <a:off x="6030791" y="1582243"/>
                <a:ext cx="4574954" cy="766494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  <p:sp>
            <p:nvSpPr>
              <p:cNvPr id="234" name="Rounded Rectangle 2">
                <a:extLst>
                  <a:ext uri="{FF2B5EF4-FFF2-40B4-BE49-F238E27FC236}">
                    <a16:creationId xmlns:a16="http://schemas.microsoft.com/office/drawing/2014/main" id="{67CED3C0-EBCF-CDA1-1752-7C5B6028FC4B}"/>
                  </a:ext>
                </a:extLst>
              </p:cNvPr>
              <p:cNvSpPr/>
              <p:nvPr/>
            </p:nvSpPr>
            <p:spPr>
              <a:xfrm>
                <a:off x="6097902" y="1457756"/>
                <a:ext cx="1681785" cy="358511"/>
              </a:xfrm>
              <a:prstGeom prst="roundRect">
                <a:avLst/>
              </a:prstGeom>
              <a:gradFill>
                <a:gsLst>
                  <a:gs pos="0">
                    <a:srgbClr val="6A4C93"/>
                  </a:gs>
                  <a:gs pos="100000">
                    <a:srgbClr val="B00020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600" b="1">
                    <a:solidFill>
                      <a:schemeClr val="bg1"/>
                    </a:solidFill>
                    <a:latin typeface="프리젠테이션 8 ExtraBold" pitchFamily="2" charset="-127"/>
                    <a:ea typeface="프리젠테이션 8 ExtraBold" pitchFamily="2" charset="-127"/>
                  </a:rPr>
                  <a:t>고객 </a:t>
                </a:r>
                <a:r>
                  <a:rPr lang="en-US" altLang="ko-KR" sz="1600" b="1">
                    <a:solidFill>
                      <a:schemeClr val="bg1"/>
                    </a:solidFill>
                    <a:latin typeface="프리젠테이션 8 ExtraBold" pitchFamily="2" charset="-127"/>
                    <a:ea typeface="프리젠테이션 8 ExtraBold" pitchFamily="2" charset="-127"/>
                  </a:rPr>
                  <a:t>Pain Point</a:t>
                </a:r>
                <a:endParaRPr lang="ko-KR" altLang="en-US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</p:grpSp>
        <p:grpSp>
          <p:nvGrpSpPr>
            <p:cNvPr id="227" name="그룹 226">
              <a:extLst>
                <a:ext uri="{FF2B5EF4-FFF2-40B4-BE49-F238E27FC236}">
                  <a16:creationId xmlns:a16="http://schemas.microsoft.com/office/drawing/2014/main" id="{79C6114C-9BBF-8545-BB90-4149B9314D21}"/>
                </a:ext>
              </a:extLst>
            </p:cNvPr>
            <p:cNvGrpSpPr/>
            <p:nvPr/>
          </p:nvGrpSpPr>
          <p:grpSpPr>
            <a:xfrm>
              <a:off x="6030791" y="3789088"/>
              <a:ext cx="4574954" cy="890981"/>
              <a:chOff x="6030791" y="1457756"/>
              <a:chExt cx="4574954" cy="890981"/>
            </a:xfrm>
          </p:grpSpPr>
          <p:sp>
            <p:nvSpPr>
              <p:cNvPr id="231" name="사각형: 둥근 모서리 230">
                <a:extLst>
                  <a:ext uri="{FF2B5EF4-FFF2-40B4-BE49-F238E27FC236}">
                    <a16:creationId xmlns:a16="http://schemas.microsoft.com/office/drawing/2014/main" id="{73412C83-600B-F568-E7EF-8A994CB52C3D}"/>
                  </a:ext>
                </a:extLst>
              </p:cNvPr>
              <p:cNvSpPr/>
              <p:nvPr/>
            </p:nvSpPr>
            <p:spPr>
              <a:xfrm>
                <a:off x="6030791" y="1582243"/>
                <a:ext cx="4574954" cy="766494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  <p:sp>
            <p:nvSpPr>
              <p:cNvPr id="232" name="Rounded Rectangle 2">
                <a:extLst>
                  <a:ext uri="{FF2B5EF4-FFF2-40B4-BE49-F238E27FC236}">
                    <a16:creationId xmlns:a16="http://schemas.microsoft.com/office/drawing/2014/main" id="{435F3F8F-9AB2-CA39-A0DA-417B6F8CA5E8}"/>
                  </a:ext>
                </a:extLst>
              </p:cNvPr>
              <p:cNvSpPr/>
              <p:nvPr/>
            </p:nvSpPr>
            <p:spPr>
              <a:xfrm>
                <a:off x="6097902" y="1457756"/>
                <a:ext cx="1681785" cy="358511"/>
              </a:xfrm>
              <a:prstGeom prst="roundRect">
                <a:avLst/>
              </a:prstGeom>
              <a:gradFill>
                <a:gsLst>
                  <a:gs pos="0">
                    <a:srgbClr val="6A4C93"/>
                  </a:gs>
                  <a:gs pos="100000">
                    <a:srgbClr val="B00020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600" b="1">
                    <a:solidFill>
                      <a:schemeClr val="bg1"/>
                    </a:solidFill>
                    <a:latin typeface="프리젠테이션 8 ExtraBold" pitchFamily="2" charset="-127"/>
                    <a:ea typeface="프리젠테이션 8 ExtraBold" pitchFamily="2" charset="-127"/>
                  </a:rPr>
                  <a:t>시장 필요성</a:t>
                </a:r>
              </a:p>
            </p:txBody>
          </p:sp>
        </p:grpSp>
        <p:grpSp>
          <p:nvGrpSpPr>
            <p:cNvPr id="228" name="그룹 227">
              <a:extLst>
                <a:ext uri="{FF2B5EF4-FFF2-40B4-BE49-F238E27FC236}">
                  <a16:creationId xmlns:a16="http://schemas.microsoft.com/office/drawing/2014/main" id="{F400A72B-F521-AB7D-4A70-FD55BC072FEF}"/>
                </a:ext>
              </a:extLst>
            </p:cNvPr>
            <p:cNvGrpSpPr/>
            <p:nvPr/>
          </p:nvGrpSpPr>
          <p:grpSpPr>
            <a:xfrm>
              <a:off x="6030791" y="4954753"/>
              <a:ext cx="4574954" cy="890981"/>
              <a:chOff x="6030791" y="1457756"/>
              <a:chExt cx="4574954" cy="890981"/>
            </a:xfrm>
          </p:grpSpPr>
          <p:sp>
            <p:nvSpPr>
              <p:cNvPr id="229" name="사각형: 둥근 모서리 228">
                <a:extLst>
                  <a:ext uri="{FF2B5EF4-FFF2-40B4-BE49-F238E27FC236}">
                    <a16:creationId xmlns:a16="http://schemas.microsoft.com/office/drawing/2014/main" id="{A79D47EF-93BE-0C29-C447-1102DC08BCA7}"/>
                  </a:ext>
                </a:extLst>
              </p:cNvPr>
              <p:cNvSpPr/>
              <p:nvPr/>
            </p:nvSpPr>
            <p:spPr>
              <a:xfrm>
                <a:off x="6030791" y="1582243"/>
                <a:ext cx="4574954" cy="766494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  <p:sp>
            <p:nvSpPr>
              <p:cNvPr id="230" name="Rounded Rectangle 2">
                <a:extLst>
                  <a:ext uri="{FF2B5EF4-FFF2-40B4-BE49-F238E27FC236}">
                    <a16:creationId xmlns:a16="http://schemas.microsoft.com/office/drawing/2014/main" id="{469567D6-37F3-9D08-26CE-A845CFED134C}"/>
                  </a:ext>
                </a:extLst>
              </p:cNvPr>
              <p:cNvSpPr/>
              <p:nvPr/>
            </p:nvSpPr>
            <p:spPr>
              <a:xfrm>
                <a:off x="6097902" y="1457756"/>
                <a:ext cx="1681785" cy="358511"/>
              </a:xfrm>
              <a:prstGeom prst="roundRect">
                <a:avLst/>
              </a:prstGeom>
              <a:gradFill>
                <a:gsLst>
                  <a:gs pos="0">
                    <a:srgbClr val="6A4C93"/>
                  </a:gs>
                  <a:gs pos="100000">
                    <a:srgbClr val="B00020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b="1">
                    <a:solidFill>
                      <a:schemeClr val="bg1"/>
                    </a:solidFill>
                    <a:latin typeface="프리젠테이션 8 ExtraBold" pitchFamily="2" charset="-127"/>
                    <a:ea typeface="프리젠테이션 8 ExtraBold" pitchFamily="2" charset="-127"/>
                  </a:rPr>
                  <a:t>AI </a:t>
                </a:r>
                <a:r>
                  <a:rPr lang="ko-KR" altLang="en-US" sz="1600" b="1">
                    <a:solidFill>
                      <a:schemeClr val="bg1"/>
                    </a:solidFill>
                    <a:latin typeface="프리젠테이션 8 ExtraBold" pitchFamily="2" charset="-127"/>
                    <a:ea typeface="프리젠테이션 8 ExtraBold" pitchFamily="2" charset="-127"/>
                  </a:rPr>
                  <a:t>기술 활용</a:t>
                </a:r>
              </a:p>
            </p:txBody>
          </p:sp>
        </p:grpSp>
      </p:grpSp>
      <p:sp>
        <p:nvSpPr>
          <p:cNvPr id="237" name="직사각형 236">
            <a:extLst>
              <a:ext uri="{FF2B5EF4-FFF2-40B4-BE49-F238E27FC236}">
                <a16:creationId xmlns:a16="http://schemas.microsoft.com/office/drawing/2014/main" id="{E9A04925-B8C0-D31B-1EF7-47CB57048A6A}"/>
              </a:ext>
            </a:extLst>
          </p:cNvPr>
          <p:cNvSpPr/>
          <p:nvPr/>
        </p:nvSpPr>
        <p:spPr>
          <a:xfrm>
            <a:off x="6308035" y="1819032"/>
            <a:ext cx="3988487" cy="4397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LLM + RAG + ML </a:t>
            </a:r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기술 융합 시스템 구현</a:t>
            </a:r>
          </a:p>
        </p:txBody>
      </p:sp>
      <p:sp>
        <p:nvSpPr>
          <p:cNvPr id="238" name="직사각형 237">
            <a:extLst>
              <a:ext uri="{FF2B5EF4-FFF2-40B4-BE49-F238E27FC236}">
                <a16:creationId xmlns:a16="http://schemas.microsoft.com/office/drawing/2014/main" id="{FFDBB1FE-3DD7-FD7B-6B11-0BBCCB4EFD06}"/>
              </a:ext>
            </a:extLst>
          </p:cNvPr>
          <p:cNvSpPr/>
          <p:nvPr/>
        </p:nvSpPr>
        <p:spPr>
          <a:xfrm>
            <a:off x="6308035" y="2985041"/>
            <a:ext cx="3988487" cy="4397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복잡한 자동차보험 상품 비교의 어려움</a:t>
            </a:r>
          </a:p>
        </p:txBody>
      </p:sp>
      <p:sp>
        <p:nvSpPr>
          <p:cNvPr id="239" name="직사각형 238">
            <a:extLst>
              <a:ext uri="{FF2B5EF4-FFF2-40B4-BE49-F238E27FC236}">
                <a16:creationId xmlns:a16="http://schemas.microsoft.com/office/drawing/2014/main" id="{44455A76-A132-A067-5219-8F857876C0E9}"/>
              </a:ext>
            </a:extLst>
          </p:cNvPr>
          <p:cNvSpPr/>
          <p:nvPr/>
        </p:nvSpPr>
        <p:spPr>
          <a:xfrm>
            <a:off x="6308035" y="4138485"/>
            <a:ext cx="3988487" cy="4397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기반 확장 가능한 개인 맞춤형 보험 추천 서비스</a:t>
            </a:r>
          </a:p>
        </p:txBody>
      </p:sp>
      <p:sp>
        <p:nvSpPr>
          <p:cNvPr id="240" name="직사각형 239">
            <a:extLst>
              <a:ext uri="{FF2B5EF4-FFF2-40B4-BE49-F238E27FC236}">
                <a16:creationId xmlns:a16="http://schemas.microsoft.com/office/drawing/2014/main" id="{2EFF20AE-B5BB-1A74-EDD8-2DC0A17F75C0}"/>
              </a:ext>
            </a:extLst>
          </p:cNvPr>
          <p:cNvSpPr/>
          <p:nvPr/>
        </p:nvSpPr>
        <p:spPr>
          <a:xfrm>
            <a:off x="6308035" y="5293268"/>
            <a:ext cx="4452378" cy="4397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LangChain</a:t>
            </a:r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을 통한 실용적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LLM </a:t>
            </a:r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애플리케이션 개발</a:t>
            </a:r>
          </a:p>
        </p:txBody>
      </p:sp>
      <p:cxnSp>
        <p:nvCxnSpPr>
          <p:cNvPr id="242" name="직선 연결선 241">
            <a:extLst>
              <a:ext uri="{FF2B5EF4-FFF2-40B4-BE49-F238E27FC236}">
                <a16:creationId xmlns:a16="http://schemas.microsoft.com/office/drawing/2014/main" id="{69048227-9DFA-2027-2449-D91BE7FD518D}"/>
              </a:ext>
            </a:extLst>
          </p:cNvPr>
          <p:cNvCxnSpPr>
            <a:cxnSpLocks/>
          </p:cNvCxnSpPr>
          <p:nvPr/>
        </p:nvCxnSpPr>
        <p:spPr>
          <a:xfrm flipH="1">
            <a:off x="4333875" y="2009775"/>
            <a:ext cx="1696916" cy="33896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직선 연결선 244">
            <a:extLst>
              <a:ext uri="{FF2B5EF4-FFF2-40B4-BE49-F238E27FC236}">
                <a16:creationId xmlns:a16="http://schemas.microsoft.com/office/drawing/2014/main" id="{1279595D-D986-A56D-AAE0-7DEC2500410E}"/>
              </a:ext>
            </a:extLst>
          </p:cNvPr>
          <p:cNvCxnSpPr>
            <a:cxnSpLocks/>
            <a:stCxn id="233" idx="1"/>
          </p:cNvCxnSpPr>
          <p:nvPr/>
        </p:nvCxnSpPr>
        <p:spPr>
          <a:xfrm flipH="1">
            <a:off x="4806752" y="3131156"/>
            <a:ext cx="1224039" cy="5553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직선 연결선 251">
            <a:extLst>
              <a:ext uri="{FF2B5EF4-FFF2-40B4-BE49-F238E27FC236}">
                <a16:creationId xmlns:a16="http://schemas.microsoft.com/office/drawing/2014/main" id="{5F995205-B257-011A-3F77-44B514547F44}"/>
              </a:ext>
            </a:extLst>
          </p:cNvPr>
          <p:cNvCxnSpPr>
            <a:cxnSpLocks/>
            <a:stCxn id="231" idx="1"/>
          </p:cNvCxnSpPr>
          <p:nvPr/>
        </p:nvCxnSpPr>
        <p:spPr>
          <a:xfrm flipH="1" flipV="1">
            <a:off x="4956118" y="4179094"/>
            <a:ext cx="1074673" cy="11772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직선 연결선 254">
            <a:extLst>
              <a:ext uri="{FF2B5EF4-FFF2-40B4-BE49-F238E27FC236}">
                <a16:creationId xmlns:a16="http://schemas.microsoft.com/office/drawing/2014/main" id="{16A71B46-25DE-91B8-41A2-45F17F861CE6}"/>
              </a:ext>
            </a:extLst>
          </p:cNvPr>
          <p:cNvCxnSpPr>
            <a:cxnSpLocks/>
            <a:stCxn id="229" idx="1"/>
          </p:cNvCxnSpPr>
          <p:nvPr/>
        </p:nvCxnSpPr>
        <p:spPr>
          <a:xfrm flipH="1" flipV="1">
            <a:off x="4415822" y="5168630"/>
            <a:ext cx="1614969" cy="29385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07279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AA713563-2151-F463-A523-CD45A89A8054}"/>
              </a:ext>
            </a:extLst>
          </p:cNvPr>
          <p:cNvGrpSpPr/>
          <p:nvPr/>
        </p:nvGrpSpPr>
        <p:grpSpPr>
          <a:xfrm>
            <a:off x="408972" y="273830"/>
            <a:ext cx="2098558" cy="536875"/>
            <a:chOff x="381000" y="577850"/>
            <a:chExt cx="2098558" cy="706458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A0FB09AB-3D9E-26B0-F248-CA0408F2E941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Ⅰ</a:t>
              </a:r>
              <a:endParaRPr lang="ko-KR" altLang="en-US" sz="20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D6670D33-29F1-8B30-A6C2-307169BC92C7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서론</a:t>
              </a: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E7FF8381-C4D4-FF02-29E1-2B52F2909C15}"/>
                </a:ext>
              </a:extLst>
            </p:cNvPr>
            <p:cNvSpPr/>
            <p:nvPr/>
          </p:nvSpPr>
          <p:spPr>
            <a:xfrm>
              <a:off x="698827" y="977901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1. </a:t>
              </a:r>
              <a:r>
                <a:rPr lang="ko-KR" altLang="en-US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주제  선정 및 배경</a:t>
              </a:r>
            </a:p>
          </p:txBody>
        </p:sp>
      </p:grp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8170C389-1FDB-8A41-B193-0485F91D5A48}"/>
              </a:ext>
            </a:extLst>
          </p:cNvPr>
          <p:cNvGrpSpPr/>
          <p:nvPr/>
        </p:nvGrpSpPr>
        <p:grpSpPr>
          <a:xfrm>
            <a:off x="3529507" y="1236373"/>
            <a:ext cx="5192970" cy="5002802"/>
            <a:chOff x="3176885" y="896663"/>
            <a:chExt cx="5898213" cy="5682221"/>
          </a:xfrm>
        </p:grpSpPr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E80EE870-C237-B3B6-AFF9-E5029ACFA717}"/>
                </a:ext>
              </a:extLst>
            </p:cNvPr>
            <p:cNvGrpSpPr/>
            <p:nvPr/>
          </p:nvGrpSpPr>
          <p:grpSpPr>
            <a:xfrm>
              <a:off x="3636246" y="1290744"/>
              <a:ext cx="4947318" cy="4947318"/>
              <a:chOff x="3636246" y="1290744"/>
              <a:chExt cx="4947318" cy="4947318"/>
            </a:xfrm>
          </p:grpSpPr>
          <p:grpSp>
            <p:nvGrpSpPr>
              <p:cNvPr id="40" name="그룹 39">
                <a:extLst>
                  <a:ext uri="{FF2B5EF4-FFF2-40B4-BE49-F238E27FC236}">
                    <a16:creationId xmlns:a16="http://schemas.microsoft.com/office/drawing/2014/main" id="{4E8601DD-92B1-060D-DAF3-5FB8853E1E85}"/>
                  </a:ext>
                </a:extLst>
              </p:cNvPr>
              <p:cNvGrpSpPr/>
              <p:nvPr/>
            </p:nvGrpSpPr>
            <p:grpSpPr>
              <a:xfrm>
                <a:off x="3636246" y="1290744"/>
                <a:ext cx="4947318" cy="4947318"/>
                <a:chOff x="3636246" y="1290744"/>
                <a:chExt cx="4947318" cy="4947318"/>
              </a:xfrm>
            </p:grpSpPr>
            <p:sp>
              <p:nvSpPr>
                <p:cNvPr id="39" name="타원 38">
                  <a:extLst>
                    <a:ext uri="{FF2B5EF4-FFF2-40B4-BE49-F238E27FC236}">
                      <a16:creationId xmlns:a16="http://schemas.microsoft.com/office/drawing/2014/main" id="{08A6ED15-DC27-3534-DF30-CCB0C2922E08}"/>
                    </a:ext>
                  </a:extLst>
                </p:cNvPr>
                <p:cNvSpPr/>
                <p:nvPr/>
              </p:nvSpPr>
              <p:spPr>
                <a:xfrm>
                  <a:off x="3636246" y="1290744"/>
                  <a:ext cx="4947318" cy="4947318"/>
                </a:xfrm>
                <a:prstGeom prst="ellipse">
                  <a:avLst/>
                </a:prstGeom>
                <a:solidFill>
                  <a:srgbClr val="2D3142">
                    <a:alpha val="5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프리젠테이션 8 ExtraBold" pitchFamily="2" charset="-127"/>
                    <a:ea typeface="프리젠테이션 8 ExtraBold" pitchFamily="2" charset="-127"/>
                  </a:endParaRPr>
                </a:p>
              </p:txBody>
            </p:sp>
            <p:sp>
              <p:nvSpPr>
                <p:cNvPr id="38" name="타원 37">
                  <a:extLst>
                    <a:ext uri="{FF2B5EF4-FFF2-40B4-BE49-F238E27FC236}">
                      <a16:creationId xmlns:a16="http://schemas.microsoft.com/office/drawing/2014/main" id="{7F53736A-476C-3783-6612-320C58217EAE}"/>
                    </a:ext>
                  </a:extLst>
                </p:cNvPr>
                <p:cNvSpPr/>
                <p:nvPr/>
              </p:nvSpPr>
              <p:spPr>
                <a:xfrm>
                  <a:off x="3898077" y="1552575"/>
                  <a:ext cx="4423656" cy="4423656"/>
                </a:xfrm>
                <a:prstGeom prst="ellipse">
                  <a:avLst/>
                </a:prstGeom>
                <a:solidFill>
                  <a:srgbClr val="2D3142">
                    <a:alpha val="22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프리젠테이션 8 ExtraBold" pitchFamily="2" charset="-127"/>
                    <a:ea typeface="프리젠테이션 8 ExtraBold" pitchFamily="2" charset="-127"/>
                  </a:endParaRPr>
                </a:p>
              </p:txBody>
            </p:sp>
            <p:sp>
              <p:nvSpPr>
                <p:cNvPr id="32" name="타원 31">
                  <a:extLst>
                    <a:ext uri="{FF2B5EF4-FFF2-40B4-BE49-F238E27FC236}">
                      <a16:creationId xmlns:a16="http://schemas.microsoft.com/office/drawing/2014/main" id="{7E6F69F2-4A5B-6610-171B-017F1913C94C}"/>
                    </a:ext>
                  </a:extLst>
                </p:cNvPr>
                <p:cNvSpPr/>
                <p:nvPr/>
              </p:nvSpPr>
              <p:spPr>
                <a:xfrm>
                  <a:off x="4114191" y="1768689"/>
                  <a:ext cx="3991428" cy="3991428"/>
                </a:xfrm>
                <a:prstGeom prst="ellipse">
                  <a:avLst/>
                </a:prstGeom>
                <a:solidFill>
                  <a:srgbClr val="D3D3D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프리젠테이션 8 ExtraBold" pitchFamily="2" charset="-127"/>
                    <a:ea typeface="프리젠테이션 8 ExtraBold" pitchFamily="2" charset="-127"/>
                  </a:endParaRPr>
                </a:p>
              </p:txBody>
            </p:sp>
          </p:grpSp>
          <p:sp>
            <p:nvSpPr>
              <p:cNvPr id="51" name="타원 50">
                <a:extLst>
                  <a:ext uri="{FF2B5EF4-FFF2-40B4-BE49-F238E27FC236}">
                    <a16:creationId xmlns:a16="http://schemas.microsoft.com/office/drawing/2014/main" id="{13DBA009-4925-FE1A-A016-78B2034A1948}"/>
                  </a:ext>
                </a:extLst>
              </p:cNvPr>
              <p:cNvSpPr/>
              <p:nvPr/>
            </p:nvSpPr>
            <p:spPr>
              <a:xfrm>
                <a:off x="3819525" y="1474023"/>
                <a:ext cx="4580760" cy="4580760"/>
              </a:xfrm>
              <a:prstGeom prst="ellipse">
                <a:avLst/>
              </a:prstGeom>
              <a:noFill/>
              <a:ln w="19050">
                <a:solidFill>
                  <a:srgbClr val="B0002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</p:grpSp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922A7E6A-DE62-DFB6-759E-DEC12EA7C270}"/>
                </a:ext>
              </a:extLst>
            </p:cNvPr>
            <p:cNvGrpSpPr/>
            <p:nvPr/>
          </p:nvGrpSpPr>
          <p:grpSpPr>
            <a:xfrm>
              <a:off x="4069696" y="4940464"/>
              <a:ext cx="1543050" cy="1543050"/>
              <a:chOff x="4192373" y="4748271"/>
              <a:chExt cx="1543050" cy="1543050"/>
            </a:xfrm>
          </p:grpSpPr>
          <p:sp>
            <p:nvSpPr>
              <p:cNvPr id="11" name="타원 10">
                <a:extLst>
                  <a:ext uri="{FF2B5EF4-FFF2-40B4-BE49-F238E27FC236}">
                    <a16:creationId xmlns:a16="http://schemas.microsoft.com/office/drawing/2014/main" id="{E17C1EA4-8504-E97C-C629-ADF11708C4A2}"/>
                  </a:ext>
                </a:extLst>
              </p:cNvPr>
              <p:cNvSpPr/>
              <p:nvPr/>
            </p:nvSpPr>
            <p:spPr>
              <a:xfrm>
                <a:off x="4192373" y="4748271"/>
                <a:ext cx="1543050" cy="1543050"/>
              </a:xfrm>
              <a:prstGeom prst="ellipse">
                <a:avLst/>
              </a:prstGeom>
              <a:gradFill>
                <a:gsLst>
                  <a:gs pos="0">
                    <a:srgbClr val="6A4C93"/>
                  </a:gs>
                  <a:gs pos="100000">
                    <a:srgbClr val="B00020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  <p:sp>
            <p:nvSpPr>
              <p:cNvPr id="35" name="타원 34">
                <a:extLst>
                  <a:ext uri="{FF2B5EF4-FFF2-40B4-BE49-F238E27FC236}">
                    <a16:creationId xmlns:a16="http://schemas.microsoft.com/office/drawing/2014/main" id="{8CD5A7D5-0AD4-FBD6-75C6-CF7CAC55271F}"/>
                  </a:ext>
                </a:extLst>
              </p:cNvPr>
              <p:cNvSpPr/>
              <p:nvPr/>
            </p:nvSpPr>
            <p:spPr>
              <a:xfrm>
                <a:off x="4331633" y="4887531"/>
                <a:ext cx="1264530" cy="126453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</p:grp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E4F3F5FA-5619-0ED6-E35B-C37BB39E5B1A}"/>
                </a:ext>
              </a:extLst>
            </p:cNvPr>
            <p:cNvGrpSpPr/>
            <p:nvPr/>
          </p:nvGrpSpPr>
          <p:grpSpPr>
            <a:xfrm>
              <a:off x="6577816" y="5035834"/>
              <a:ext cx="1543050" cy="1543050"/>
              <a:chOff x="6456578" y="4748271"/>
              <a:chExt cx="1543050" cy="1543050"/>
            </a:xfrm>
          </p:grpSpPr>
          <p:sp>
            <p:nvSpPr>
              <p:cNvPr id="16" name="타원 15">
                <a:extLst>
                  <a:ext uri="{FF2B5EF4-FFF2-40B4-BE49-F238E27FC236}">
                    <a16:creationId xmlns:a16="http://schemas.microsoft.com/office/drawing/2014/main" id="{323A4E11-FCBD-7BA0-87CD-22F607F23ABB}"/>
                  </a:ext>
                </a:extLst>
              </p:cNvPr>
              <p:cNvSpPr/>
              <p:nvPr/>
            </p:nvSpPr>
            <p:spPr>
              <a:xfrm>
                <a:off x="6456578" y="4748271"/>
                <a:ext cx="1543050" cy="1543050"/>
              </a:xfrm>
              <a:prstGeom prst="ellipse">
                <a:avLst/>
              </a:prstGeom>
              <a:gradFill>
                <a:gsLst>
                  <a:gs pos="0">
                    <a:srgbClr val="6A4C93"/>
                  </a:gs>
                  <a:gs pos="100000">
                    <a:srgbClr val="B00020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  <p:sp>
            <p:nvSpPr>
              <p:cNvPr id="36" name="타원 35">
                <a:extLst>
                  <a:ext uri="{FF2B5EF4-FFF2-40B4-BE49-F238E27FC236}">
                    <a16:creationId xmlns:a16="http://schemas.microsoft.com/office/drawing/2014/main" id="{D9AF941A-C78C-6E81-C410-976E38D282DF}"/>
                  </a:ext>
                </a:extLst>
              </p:cNvPr>
              <p:cNvSpPr/>
              <p:nvPr/>
            </p:nvSpPr>
            <p:spPr>
              <a:xfrm>
                <a:off x="6595838" y="4887531"/>
                <a:ext cx="1264530" cy="126453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</p:grp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67AC16C7-E6EB-613A-30D2-AD2260631543}"/>
                </a:ext>
              </a:extLst>
            </p:cNvPr>
            <p:cNvSpPr/>
            <p:nvPr/>
          </p:nvSpPr>
          <p:spPr>
            <a:xfrm>
              <a:off x="5181600" y="3086885"/>
              <a:ext cx="1797013" cy="140885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32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AI </a:t>
              </a:r>
              <a:r>
                <a:rPr lang="ko-KR" altLang="en-US" sz="32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보험 </a:t>
              </a:r>
              <a:endParaRPr lang="en-US" altLang="ko-KR" sz="32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  <a:p>
              <a:pPr algn="ctr"/>
              <a:r>
                <a:rPr lang="ko-KR" altLang="en-US" sz="32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프로젝트 </a:t>
              </a:r>
              <a:endParaRPr lang="en-US" altLang="ko-KR" sz="32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  <a:p>
              <a:pPr algn="ctr"/>
              <a:r>
                <a:rPr lang="ko-KR" altLang="en-US" sz="32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목적</a:t>
              </a:r>
            </a:p>
          </p:txBody>
        </p:sp>
        <p:grpSp>
          <p:nvGrpSpPr>
            <p:cNvPr id="60" name="그룹 59">
              <a:extLst>
                <a:ext uri="{FF2B5EF4-FFF2-40B4-BE49-F238E27FC236}">
                  <a16:creationId xmlns:a16="http://schemas.microsoft.com/office/drawing/2014/main" id="{BB730097-CF04-DCA8-EA29-29479A650C2C}"/>
                </a:ext>
              </a:extLst>
            </p:cNvPr>
            <p:cNvGrpSpPr/>
            <p:nvPr/>
          </p:nvGrpSpPr>
          <p:grpSpPr>
            <a:xfrm>
              <a:off x="5338380" y="896663"/>
              <a:ext cx="1543050" cy="1543050"/>
              <a:chOff x="5338380" y="943905"/>
              <a:chExt cx="1543050" cy="1543050"/>
            </a:xfrm>
          </p:grpSpPr>
          <p:grpSp>
            <p:nvGrpSpPr>
              <p:cNvPr id="41" name="그룹 40">
                <a:extLst>
                  <a:ext uri="{FF2B5EF4-FFF2-40B4-BE49-F238E27FC236}">
                    <a16:creationId xmlns:a16="http://schemas.microsoft.com/office/drawing/2014/main" id="{FE504E95-A476-7D4E-519B-8E4B6D236E82}"/>
                  </a:ext>
                </a:extLst>
              </p:cNvPr>
              <p:cNvGrpSpPr/>
              <p:nvPr/>
            </p:nvGrpSpPr>
            <p:grpSpPr>
              <a:xfrm>
                <a:off x="5338380" y="943905"/>
                <a:ext cx="1543050" cy="1543050"/>
                <a:chOff x="5338380" y="1251390"/>
                <a:chExt cx="1543050" cy="1543050"/>
              </a:xfrm>
            </p:grpSpPr>
            <p:sp>
              <p:nvSpPr>
                <p:cNvPr id="14" name="타원 13">
                  <a:extLst>
                    <a:ext uri="{FF2B5EF4-FFF2-40B4-BE49-F238E27FC236}">
                      <a16:creationId xmlns:a16="http://schemas.microsoft.com/office/drawing/2014/main" id="{1810214E-21E4-A2DF-A667-FFD6927A7884}"/>
                    </a:ext>
                  </a:extLst>
                </p:cNvPr>
                <p:cNvSpPr/>
                <p:nvPr/>
              </p:nvSpPr>
              <p:spPr>
                <a:xfrm>
                  <a:off x="5338380" y="1251390"/>
                  <a:ext cx="1543050" cy="1543050"/>
                </a:xfrm>
                <a:prstGeom prst="ellipse">
                  <a:avLst/>
                </a:prstGeom>
                <a:gradFill>
                  <a:gsLst>
                    <a:gs pos="0">
                      <a:srgbClr val="6A4C93"/>
                    </a:gs>
                    <a:gs pos="100000">
                      <a:srgbClr val="B00020"/>
                    </a:gs>
                  </a:gsLst>
                  <a:lin ang="27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>
                    <a:solidFill>
                      <a:schemeClr val="bg1"/>
                    </a:solidFill>
                    <a:latin typeface="프리젠테이션 8 ExtraBold" pitchFamily="2" charset="-127"/>
                    <a:ea typeface="프리젠테이션 8 ExtraBold" pitchFamily="2" charset="-127"/>
                  </a:endParaRPr>
                </a:p>
              </p:txBody>
            </p:sp>
            <p:sp>
              <p:nvSpPr>
                <p:cNvPr id="33" name="타원 32">
                  <a:extLst>
                    <a:ext uri="{FF2B5EF4-FFF2-40B4-BE49-F238E27FC236}">
                      <a16:creationId xmlns:a16="http://schemas.microsoft.com/office/drawing/2014/main" id="{0D4EFCA9-EB3C-A801-CBE9-DE17EC3B817A}"/>
                    </a:ext>
                  </a:extLst>
                </p:cNvPr>
                <p:cNvSpPr/>
                <p:nvPr/>
              </p:nvSpPr>
              <p:spPr>
                <a:xfrm>
                  <a:off x="5477640" y="1390650"/>
                  <a:ext cx="1264530" cy="126453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>
                    <a:solidFill>
                      <a:schemeClr val="bg1"/>
                    </a:solidFill>
                    <a:latin typeface="프리젠테이션 8 ExtraBold" pitchFamily="2" charset="-127"/>
                    <a:ea typeface="프리젠테이션 8 ExtraBold" pitchFamily="2" charset="-127"/>
                  </a:endParaRPr>
                </a:p>
              </p:txBody>
            </p:sp>
          </p:grpSp>
          <p:sp>
            <p:nvSpPr>
              <p:cNvPr id="47" name="직사각형 46">
                <a:extLst>
                  <a:ext uri="{FF2B5EF4-FFF2-40B4-BE49-F238E27FC236}">
                    <a16:creationId xmlns:a16="http://schemas.microsoft.com/office/drawing/2014/main" id="{13E56809-326F-A904-6ABE-C0BA66165BA2}"/>
                  </a:ext>
                </a:extLst>
              </p:cNvPr>
              <p:cNvSpPr/>
              <p:nvPr/>
            </p:nvSpPr>
            <p:spPr>
              <a:xfrm>
                <a:off x="5477640" y="1290744"/>
                <a:ext cx="1236722" cy="77362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LLM </a:t>
                </a:r>
                <a:r>
                  <a:rPr lang="ko-KR" altLang="en-US" sz="14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기반 </a:t>
                </a:r>
                <a:endParaRPr lang="en-US" altLang="ko-KR" sz="1400" spc="-8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endParaRPr>
              </a:p>
              <a:p>
                <a:pPr algn="ctr"/>
                <a:r>
                  <a:rPr lang="ko-KR" altLang="en-US" sz="14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개인화 상담</a:t>
                </a:r>
              </a:p>
            </p:txBody>
          </p:sp>
        </p:grpSp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576B68A0-4E1E-E162-C8EA-3411C30830FE}"/>
                </a:ext>
              </a:extLst>
            </p:cNvPr>
            <p:cNvGrpSpPr/>
            <p:nvPr/>
          </p:nvGrpSpPr>
          <p:grpSpPr>
            <a:xfrm>
              <a:off x="4208956" y="2646343"/>
              <a:ext cx="4866142" cy="3529194"/>
              <a:chOff x="3802043" y="2780535"/>
              <a:chExt cx="4866142" cy="3529194"/>
            </a:xfrm>
          </p:grpSpPr>
          <p:grpSp>
            <p:nvGrpSpPr>
              <p:cNvPr id="45" name="그룹 44">
                <a:extLst>
                  <a:ext uri="{FF2B5EF4-FFF2-40B4-BE49-F238E27FC236}">
                    <a16:creationId xmlns:a16="http://schemas.microsoft.com/office/drawing/2014/main" id="{986F48DA-0591-6646-F497-92991B13A3E7}"/>
                  </a:ext>
                </a:extLst>
              </p:cNvPr>
              <p:cNvGrpSpPr/>
              <p:nvPr/>
            </p:nvGrpSpPr>
            <p:grpSpPr>
              <a:xfrm>
                <a:off x="7125135" y="2780535"/>
                <a:ext cx="1543050" cy="1543050"/>
                <a:chOff x="7125135" y="2780535"/>
                <a:chExt cx="1543050" cy="1543050"/>
              </a:xfrm>
            </p:grpSpPr>
            <p:sp>
              <p:nvSpPr>
                <p:cNvPr id="15" name="타원 14">
                  <a:extLst>
                    <a:ext uri="{FF2B5EF4-FFF2-40B4-BE49-F238E27FC236}">
                      <a16:creationId xmlns:a16="http://schemas.microsoft.com/office/drawing/2014/main" id="{CACB4BBC-6B15-6D59-9E59-C564B841C234}"/>
                    </a:ext>
                  </a:extLst>
                </p:cNvPr>
                <p:cNvSpPr/>
                <p:nvPr/>
              </p:nvSpPr>
              <p:spPr>
                <a:xfrm>
                  <a:off x="7125135" y="2780535"/>
                  <a:ext cx="1543050" cy="1543050"/>
                </a:xfrm>
                <a:prstGeom prst="ellipse">
                  <a:avLst/>
                </a:prstGeom>
                <a:gradFill>
                  <a:gsLst>
                    <a:gs pos="0">
                      <a:srgbClr val="6A4C93"/>
                    </a:gs>
                    <a:gs pos="100000">
                      <a:srgbClr val="B00020"/>
                    </a:gs>
                  </a:gsLst>
                  <a:lin ang="27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>
                    <a:solidFill>
                      <a:schemeClr val="bg1"/>
                    </a:solidFill>
                    <a:latin typeface="프리젠테이션 8 ExtraBold" pitchFamily="2" charset="-127"/>
                    <a:ea typeface="프리젠테이션 8 ExtraBold" pitchFamily="2" charset="-127"/>
                  </a:endParaRPr>
                </a:p>
              </p:txBody>
            </p:sp>
            <p:sp>
              <p:nvSpPr>
                <p:cNvPr id="37" name="타원 36">
                  <a:extLst>
                    <a:ext uri="{FF2B5EF4-FFF2-40B4-BE49-F238E27FC236}">
                      <a16:creationId xmlns:a16="http://schemas.microsoft.com/office/drawing/2014/main" id="{F0B56322-7FE3-90C7-8EF6-8A6E51611E38}"/>
                    </a:ext>
                  </a:extLst>
                </p:cNvPr>
                <p:cNvSpPr/>
                <p:nvPr/>
              </p:nvSpPr>
              <p:spPr>
                <a:xfrm>
                  <a:off x="7264395" y="2919795"/>
                  <a:ext cx="1264530" cy="126453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>
                    <a:solidFill>
                      <a:schemeClr val="bg1"/>
                    </a:solidFill>
                    <a:latin typeface="프리젠테이션 8 ExtraBold" pitchFamily="2" charset="-127"/>
                    <a:ea typeface="프리젠테이션 8 ExtraBold" pitchFamily="2" charset="-127"/>
                  </a:endParaRPr>
                </a:p>
              </p:txBody>
            </p:sp>
          </p:grpSp>
          <p:sp>
            <p:nvSpPr>
              <p:cNvPr id="48" name="직사각형 47">
                <a:extLst>
                  <a:ext uri="{FF2B5EF4-FFF2-40B4-BE49-F238E27FC236}">
                    <a16:creationId xmlns:a16="http://schemas.microsoft.com/office/drawing/2014/main" id="{809F0517-2550-D62F-D386-3CE44E32E648}"/>
                  </a:ext>
                </a:extLst>
              </p:cNvPr>
              <p:cNvSpPr/>
              <p:nvPr/>
            </p:nvSpPr>
            <p:spPr>
              <a:xfrm>
                <a:off x="7320013" y="3165246"/>
                <a:ext cx="1236722" cy="77362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 RAG </a:t>
                </a:r>
              </a:p>
              <a:p>
                <a:pPr algn="ctr"/>
                <a:r>
                  <a:rPr lang="ko-KR" altLang="en-US" sz="14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시스템 구현</a:t>
                </a:r>
              </a:p>
            </p:txBody>
          </p:sp>
          <p:sp>
            <p:nvSpPr>
              <p:cNvPr id="62" name="직사각형 61">
                <a:extLst>
                  <a:ext uri="{FF2B5EF4-FFF2-40B4-BE49-F238E27FC236}">
                    <a16:creationId xmlns:a16="http://schemas.microsoft.com/office/drawing/2014/main" id="{3CC3011C-85D1-A8C8-EF4F-D4D34B91FE7A}"/>
                  </a:ext>
                </a:extLst>
              </p:cNvPr>
              <p:cNvSpPr/>
              <p:nvPr/>
            </p:nvSpPr>
            <p:spPr>
              <a:xfrm>
                <a:off x="6324066" y="5536103"/>
                <a:ext cx="1236722" cy="77362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ML </a:t>
                </a:r>
                <a:r>
                  <a:rPr lang="ko-KR" altLang="en-US" sz="14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추천 </a:t>
                </a:r>
                <a:endParaRPr lang="en-US" altLang="ko-KR" sz="1400" spc="-8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endParaRPr>
              </a:p>
              <a:p>
                <a:pPr algn="ctr"/>
                <a:r>
                  <a:rPr lang="ko-KR" altLang="en-US" sz="14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알고리즘</a:t>
                </a:r>
              </a:p>
            </p:txBody>
          </p:sp>
          <p:sp>
            <p:nvSpPr>
              <p:cNvPr id="63" name="직사각형 62">
                <a:extLst>
                  <a:ext uri="{FF2B5EF4-FFF2-40B4-BE49-F238E27FC236}">
                    <a16:creationId xmlns:a16="http://schemas.microsoft.com/office/drawing/2014/main" id="{9EE8E237-59BF-984B-321C-8EE12824EDDC}"/>
                  </a:ext>
                </a:extLst>
              </p:cNvPr>
              <p:cNvSpPr/>
              <p:nvPr/>
            </p:nvSpPr>
            <p:spPr>
              <a:xfrm>
                <a:off x="3802043" y="5536103"/>
                <a:ext cx="1236722" cy="77362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Django</a:t>
                </a:r>
              </a:p>
              <a:p>
                <a:pPr algn="ctr"/>
                <a:r>
                  <a:rPr lang="ko-KR" altLang="en-US" sz="14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웹 플랫폼 확장</a:t>
                </a:r>
              </a:p>
            </p:txBody>
          </p:sp>
        </p:grpSp>
        <p:grpSp>
          <p:nvGrpSpPr>
            <p:cNvPr id="59" name="그룹 58">
              <a:extLst>
                <a:ext uri="{FF2B5EF4-FFF2-40B4-BE49-F238E27FC236}">
                  <a16:creationId xmlns:a16="http://schemas.microsoft.com/office/drawing/2014/main" id="{867A4186-6ADA-83BD-AE33-858ADB793CF0}"/>
                </a:ext>
              </a:extLst>
            </p:cNvPr>
            <p:cNvGrpSpPr/>
            <p:nvPr/>
          </p:nvGrpSpPr>
          <p:grpSpPr>
            <a:xfrm>
              <a:off x="3176885" y="2646343"/>
              <a:ext cx="1543050" cy="1543050"/>
              <a:chOff x="3523815" y="2780535"/>
              <a:chExt cx="1543050" cy="1543050"/>
            </a:xfrm>
          </p:grpSpPr>
          <p:grpSp>
            <p:nvGrpSpPr>
              <p:cNvPr id="42" name="그룹 41">
                <a:extLst>
                  <a:ext uri="{FF2B5EF4-FFF2-40B4-BE49-F238E27FC236}">
                    <a16:creationId xmlns:a16="http://schemas.microsoft.com/office/drawing/2014/main" id="{D403884C-AB12-1237-D44D-14C2EAFC4C63}"/>
                  </a:ext>
                </a:extLst>
              </p:cNvPr>
              <p:cNvGrpSpPr/>
              <p:nvPr/>
            </p:nvGrpSpPr>
            <p:grpSpPr>
              <a:xfrm>
                <a:off x="3523815" y="2780535"/>
                <a:ext cx="1543050" cy="1543050"/>
                <a:chOff x="3523815" y="2780535"/>
                <a:chExt cx="1543050" cy="1543050"/>
              </a:xfrm>
            </p:grpSpPr>
            <p:sp>
              <p:nvSpPr>
                <p:cNvPr id="13" name="타원 12">
                  <a:extLst>
                    <a:ext uri="{FF2B5EF4-FFF2-40B4-BE49-F238E27FC236}">
                      <a16:creationId xmlns:a16="http://schemas.microsoft.com/office/drawing/2014/main" id="{D488B630-02AD-2220-B504-9551C7F557AF}"/>
                    </a:ext>
                  </a:extLst>
                </p:cNvPr>
                <p:cNvSpPr/>
                <p:nvPr/>
              </p:nvSpPr>
              <p:spPr>
                <a:xfrm>
                  <a:off x="3523815" y="2780535"/>
                  <a:ext cx="1543050" cy="1543050"/>
                </a:xfrm>
                <a:prstGeom prst="ellipse">
                  <a:avLst/>
                </a:prstGeom>
                <a:gradFill>
                  <a:gsLst>
                    <a:gs pos="0">
                      <a:srgbClr val="6A4C93"/>
                    </a:gs>
                    <a:gs pos="100000">
                      <a:srgbClr val="B00020"/>
                    </a:gs>
                  </a:gsLst>
                  <a:lin ang="27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>
                    <a:solidFill>
                      <a:schemeClr val="bg1"/>
                    </a:solidFill>
                    <a:latin typeface="프리젠테이션 8 ExtraBold" pitchFamily="2" charset="-127"/>
                    <a:ea typeface="프리젠테이션 8 ExtraBold" pitchFamily="2" charset="-127"/>
                  </a:endParaRPr>
                </a:p>
              </p:txBody>
            </p:sp>
            <p:sp>
              <p:nvSpPr>
                <p:cNvPr id="34" name="타원 33">
                  <a:extLst>
                    <a:ext uri="{FF2B5EF4-FFF2-40B4-BE49-F238E27FC236}">
                      <a16:creationId xmlns:a16="http://schemas.microsoft.com/office/drawing/2014/main" id="{525AAD1E-D4F4-2632-21D2-D167090C4F7F}"/>
                    </a:ext>
                  </a:extLst>
                </p:cNvPr>
                <p:cNvSpPr/>
                <p:nvPr/>
              </p:nvSpPr>
              <p:spPr>
                <a:xfrm>
                  <a:off x="3663075" y="2919795"/>
                  <a:ext cx="1264530" cy="126453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>
                    <a:solidFill>
                      <a:schemeClr val="bg1"/>
                    </a:solidFill>
                    <a:latin typeface="프리젠테이션 8 ExtraBold" pitchFamily="2" charset="-127"/>
                    <a:ea typeface="프리젠테이션 8 ExtraBold" pitchFamily="2" charset="-127"/>
                  </a:endParaRPr>
                </a:p>
              </p:txBody>
            </p:sp>
          </p:grpSp>
          <p:sp>
            <p:nvSpPr>
              <p:cNvPr id="49" name="직사각형 48">
                <a:extLst>
                  <a:ext uri="{FF2B5EF4-FFF2-40B4-BE49-F238E27FC236}">
                    <a16:creationId xmlns:a16="http://schemas.microsoft.com/office/drawing/2014/main" id="{E24494D9-C565-9B95-B861-9CDF657372C7}"/>
                  </a:ext>
                </a:extLst>
              </p:cNvPr>
              <p:cNvSpPr/>
              <p:nvPr/>
            </p:nvSpPr>
            <p:spPr>
              <a:xfrm>
                <a:off x="3676979" y="3165247"/>
                <a:ext cx="1236722" cy="77362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LangChain </a:t>
                </a:r>
              </a:p>
              <a:p>
                <a:pPr algn="ctr"/>
                <a:r>
                  <a:rPr lang="ko-KR" altLang="en-US" sz="14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통합</a:t>
                </a:r>
              </a:p>
            </p:txBody>
          </p:sp>
        </p:grpSp>
        <p:sp>
          <p:nvSpPr>
            <p:cNvPr id="50" name="이등변 삼각형 49">
              <a:extLst>
                <a:ext uri="{FF2B5EF4-FFF2-40B4-BE49-F238E27FC236}">
                  <a16:creationId xmlns:a16="http://schemas.microsoft.com/office/drawing/2014/main" id="{4A351122-551E-38BE-558E-A15E155550BE}"/>
                </a:ext>
              </a:extLst>
            </p:cNvPr>
            <p:cNvSpPr/>
            <p:nvPr/>
          </p:nvSpPr>
          <p:spPr>
            <a:xfrm rot="900000">
              <a:off x="7704516" y="2116710"/>
              <a:ext cx="213662" cy="184190"/>
            </a:xfrm>
            <a:prstGeom prst="triangle">
              <a:avLst/>
            </a:prstGeom>
            <a:gradFill>
              <a:gsLst>
                <a:gs pos="0">
                  <a:srgbClr val="B00020"/>
                </a:gs>
                <a:gs pos="100000">
                  <a:srgbClr val="B00020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54" name="이등변 삼각형 53">
              <a:extLst>
                <a:ext uri="{FF2B5EF4-FFF2-40B4-BE49-F238E27FC236}">
                  <a16:creationId xmlns:a16="http://schemas.microsoft.com/office/drawing/2014/main" id="{33CBC501-5F74-9B04-D83B-8AD7B5F2A726}"/>
                </a:ext>
              </a:extLst>
            </p:cNvPr>
            <p:cNvSpPr/>
            <p:nvPr/>
          </p:nvSpPr>
          <p:spPr>
            <a:xfrm rot="5100000">
              <a:off x="8144339" y="4572162"/>
              <a:ext cx="213662" cy="184190"/>
            </a:xfrm>
            <a:prstGeom prst="triangle">
              <a:avLst/>
            </a:prstGeom>
            <a:gradFill>
              <a:gsLst>
                <a:gs pos="0">
                  <a:srgbClr val="B00020"/>
                </a:gs>
                <a:gs pos="100000">
                  <a:srgbClr val="B00020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55" name="이등변 삼각형 54">
              <a:extLst>
                <a:ext uri="{FF2B5EF4-FFF2-40B4-BE49-F238E27FC236}">
                  <a16:creationId xmlns:a16="http://schemas.microsoft.com/office/drawing/2014/main" id="{099D0A77-B190-6C2F-018E-C3FCADC45B7F}"/>
                </a:ext>
              </a:extLst>
            </p:cNvPr>
            <p:cNvSpPr/>
            <p:nvPr/>
          </p:nvSpPr>
          <p:spPr>
            <a:xfrm rot="1800000">
              <a:off x="6033340" y="5937501"/>
              <a:ext cx="213662" cy="184190"/>
            </a:xfrm>
            <a:prstGeom prst="triangle">
              <a:avLst/>
            </a:prstGeom>
            <a:gradFill>
              <a:gsLst>
                <a:gs pos="0">
                  <a:srgbClr val="B00020"/>
                </a:gs>
                <a:gs pos="100000">
                  <a:srgbClr val="B00020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56" name="이등변 삼각형 55">
              <a:extLst>
                <a:ext uri="{FF2B5EF4-FFF2-40B4-BE49-F238E27FC236}">
                  <a16:creationId xmlns:a16="http://schemas.microsoft.com/office/drawing/2014/main" id="{DA1E636D-3EC0-620A-05F1-1F005C4EA9C8}"/>
                </a:ext>
              </a:extLst>
            </p:cNvPr>
            <p:cNvSpPr/>
            <p:nvPr/>
          </p:nvSpPr>
          <p:spPr>
            <a:xfrm rot="6060000">
              <a:off x="3920194" y="4570044"/>
              <a:ext cx="213662" cy="184190"/>
            </a:xfrm>
            <a:prstGeom prst="triangle">
              <a:avLst/>
            </a:prstGeom>
            <a:gradFill>
              <a:gsLst>
                <a:gs pos="0">
                  <a:srgbClr val="B00020"/>
                </a:gs>
                <a:gs pos="100000">
                  <a:srgbClr val="B00020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57" name="이등변 삼각형 56">
              <a:extLst>
                <a:ext uri="{FF2B5EF4-FFF2-40B4-BE49-F238E27FC236}">
                  <a16:creationId xmlns:a16="http://schemas.microsoft.com/office/drawing/2014/main" id="{5B0F2746-FEF9-1161-C54C-263B90118EB3}"/>
                </a:ext>
              </a:extLst>
            </p:cNvPr>
            <p:cNvSpPr/>
            <p:nvPr/>
          </p:nvSpPr>
          <p:spPr>
            <a:xfrm rot="3300000">
              <a:off x="4476388" y="1946826"/>
              <a:ext cx="213662" cy="184190"/>
            </a:xfrm>
            <a:prstGeom prst="triangle">
              <a:avLst/>
            </a:prstGeom>
            <a:gradFill>
              <a:gsLst>
                <a:gs pos="0">
                  <a:srgbClr val="B00020"/>
                </a:gs>
                <a:gs pos="100000">
                  <a:srgbClr val="B00020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</p:grp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F4731011-9E92-4E62-E7E6-3CEC6938403B}"/>
              </a:ext>
            </a:extLst>
          </p:cNvPr>
          <p:cNvSpPr/>
          <p:nvPr/>
        </p:nvSpPr>
        <p:spPr>
          <a:xfrm>
            <a:off x="6772325" y="1567237"/>
            <a:ext cx="3279997" cy="3450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GPT </a:t>
            </a:r>
            <a:r>
              <a:rPr lang="ko-KR" altLang="en-US" sz="1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모델을 활용한 자연스러운 보험 상담</a:t>
            </a: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6DC04312-46A6-BC0B-8E33-199D74A76423}"/>
              </a:ext>
            </a:extLst>
          </p:cNvPr>
          <p:cNvSpPr/>
          <p:nvPr/>
        </p:nvSpPr>
        <p:spPr>
          <a:xfrm>
            <a:off x="8722477" y="3760804"/>
            <a:ext cx="3279997" cy="3450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보험 약관 데이터베이스와 연동된 정확한 정보 제공</a:t>
            </a: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C7EF1D5F-BFBC-620D-65C4-18CE4B8A197B}"/>
              </a:ext>
            </a:extLst>
          </p:cNvPr>
          <p:cNvSpPr/>
          <p:nvPr/>
        </p:nvSpPr>
        <p:spPr>
          <a:xfrm>
            <a:off x="7894582" y="5805276"/>
            <a:ext cx="3279997" cy="3450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사용자 프로필 기반 머신러닝 추천 시스템</a:t>
            </a: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069A94F9-7DF6-469F-A359-6DC9A910C986}"/>
              </a:ext>
            </a:extLst>
          </p:cNvPr>
          <p:cNvSpPr/>
          <p:nvPr/>
        </p:nvSpPr>
        <p:spPr>
          <a:xfrm>
            <a:off x="1140022" y="5805276"/>
            <a:ext cx="3279997" cy="3450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1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확장 가능하고 안정적인 웹 서비스 구축</a:t>
            </a: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3647E047-4D12-9DED-7E3E-A71F98288444}"/>
              </a:ext>
            </a:extLst>
          </p:cNvPr>
          <p:cNvSpPr/>
          <p:nvPr/>
        </p:nvSpPr>
        <p:spPr>
          <a:xfrm>
            <a:off x="261751" y="3662872"/>
            <a:ext cx="3279997" cy="3450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LLM</a:t>
            </a:r>
            <a:r>
              <a:rPr lang="ko-KR" altLang="en-US" sz="1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과 외부 도구의 효율적 연동</a:t>
            </a:r>
          </a:p>
        </p:txBody>
      </p:sp>
    </p:spTree>
    <p:extLst>
      <p:ext uri="{BB962C8B-B14F-4D97-AF65-F5344CB8AC3E}">
        <p14:creationId xmlns:p14="http://schemas.microsoft.com/office/powerpoint/2010/main" val="2864980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4FE70-63E1-AC6B-F47E-EF63A7A16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DD694509-383E-2068-B9AB-09E64944EA56}"/>
              </a:ext>
            </a:extLst>
          </p:cNvPr>
          <p:cNvGrpSpPr/>
          <p:nvPr/>
        </p:nvGrpSpPr>
        <p:grpSpPr>
          <a:xfrm>
            <a:off x="408972" y="273830"/>
            <a:ext cx="2098558" cy="536875"/>
            <a:chOff x="381000" y="577850"/>
            <a:chExt cx="2098558" cy="706458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95461250-22BD-B4ED-5771-267D47F03B32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Ⅰ</a:t>
              </a:r>
              <a:endParaRPr lang="ko-KR" altLang="en-US" sz="20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FB514DAF-729C-9B21-F163-DF36548B7C19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서론</a:t>
              </a: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ECC1C3D3-D75D-C863-2CBA-346E73626FCF}"/>
                </a:ext>
              </a:extLst>
            </p:cNvPr>
            <p:cNvSpPr/>
            <p:nvPr/>
          </p:nvSpPr>
          <p:spPr>
            <a:xfrm>
              <a:off x="698827" y="977901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2. </a:t>
              </a:r>
              <a:r>
                <a:rPr lang="ko-KR" altLang="en-US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데이터 수집</a:t>
              </a: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3072F093-05FE-85A5-88BA-B654C7A819FD}"/>
              </a:ext>
            </a:extLst>
          </p:cNvPr>
          <p:cNvGrpSpPr/>
          <p:nvPr/>
        </p:nvGrpSpPr>
        <p:grpSpPr>
          <a:xfrm>
            <a:off x="593783" y="1369060"/>
            <a:ext cx="3522244" cy="389445"/>
            <a:chOff x="408972" y="1295400"/>
            <a:chExt cx="3858228" cy="596900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F53FA2C5-C842-7787-FEE5-2242F02B47AF}"/>
                </a:ext>
              </a:extLst>
            </p:cNvPr>
            <p:cNvSpPr/>
            <p:nvPr/>
          </p:nvSpPr>
          <p:spPr>
            <a:xfrm>
              <a:off x="408972" y="1295400"/>
              <a:ext cx="3858228" cy="596900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84759A4-738C-78F0-C2F2-14D4C4E3F0A1}"/>
                </a:ext>
              </a:extLst>
            </p:cNvPr>
            <p:cNvSpPr txBox="1"/>
            <p:nvPr/>
          </p:nvSpPr>
          <p:spPr>
            <a:xfrm>
              <a:off x="548673" y="1334399"/>
              <a:ext cx="3578828" cy="51890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16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손해보험협회 보험사별 약관 데이터 수집</a:t>
              </a:r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AF0CE370-5ABE-B8ED-D7F5-FB6A6656B225}"/>
              </a:ext>
            </a:extLst>
          </p:cNvPr>
          <p:cNvGrpSpPr/>
          <p:nvPr/>
        </p:nvGrpSpPr>
        <p:grpSpPr>
          <a:xfrm>
            <a:off x="593784" y="1916810"/>
            <a:ext cx="11004432" cy="4675576"/>
            <a:chOff x="593785" y="1916810"/>
            <a:chExt cx="11004429" cy="4675576"/>
          </a:xfrm>
        </p:grpSpPr>
        <p:pic>
          <p:nvPicPr>
            <p:cNvPr id="41" name="그림 40">
              <a:extLst>
                <a:ext uri="{FF2B5EF4-FFF2-40B4-BE49-F238E27FC236}">
                  <a16:creationId xmlns:a16="http://schemas.microsoft.com/office/drawing/2014/main" id="{81D360C3-518D-7F02-E043-28B150042D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24997"/>
            <a:stretch>
              <a:fillRect/>
            </a:stretch>
          </p:blipFill>
          <p:spPr>
            <a:xfrm>
              <a:off x="10140507" y="4549328"/>
              <a:ext cx="1457706" cy="2041968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401FF0C5-4B59-CCD8-1023-FBB76BBD5E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3785" y="1916810"/>
              <a:ext cx="5401607" cy="4255388"/>
            </a:xfrm>
            <a:prstGeom prst="rect">
              <a:avLst/>
            </a:prstGeom>
          </p:spPr>
        </p:pic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0DB69EBA-F37B-064A-F0A2-CAFDC57E07B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05561" y="2206179"/>
              <a:ext cx="1457707" cy="2041970"/>
            </a:xfrm>
            <a:prstGeom prst="rect">
              <a:avLst/>
            </a:prstGeom>
          </p:spPr>
        </p:pic>
        <p:pic>
          <p:nvPicPr>
            <p:cNvPr id="30" name="그림 29">
              <a:extLst>
                <a:ext uri="{FF2B5EF4-FFF2-40B4-BE49-F238E27FC236}">
                  <a16:creationId xmlns:a16="http://schemas.microsoft.com/office/drawing/2014/main" id="{9752B646-2803-96EE-079F-703966E2DB8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273035" y="2206180"/>
              <a:ext cx="1459645" cy="2041970"/>
            </a:xfrm>
            <a:prstGeom prst="rect">
              <a:avLst/>
            </a:prstGeom>
          </p:spPr>
        </p:pic>
        <p:pic>
          <p:nvPicPr>
            <p:cNvPr id="33" name="그림 32">
              <a:extLst>
                <a:ext uri="{FF2B5EF4-FFF2-40B4-BE49-F238E27FC236}">
                  <a16:creationId xmlns:a16="http://schemas.microsoft.com/office/drawing/2014/main" id="{E9BF5BBF-F8AB-5D8F-D97C-D62BE08C0C3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140507" y="2206179"/>
              <a:ext cx="1457707" cy="2068264"/>
            </a:xfrm>
            <a:prstGeom prst="rect">
              <a:avLst/>
            </a:prstGeom>
          </p:spPr>
        </p:pic>
        <p:pic>
          <p:nvPicPr>
            <p:cNvPr id="36" name="그림 35">
              <a:extLst>
                <a:ext uri="{FF2B5EF4-FFF2-40B4-BE49-F238E27FC236}">
                  <a16:creationId xmlns:a16="http://schemas.microsoft.com/office/drawing/2014/main" id="{C9BB229B-95BC-A035-C614-7BCD84C963C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405562" y="4549329"/>
              <a:ext cx="1465141" cy="2041969"/>
            </a:xfrm>
            <a:prstGeom prst="rect">
              <a:avLst/>
            </a:prstGeom>
          </p:spPr>
        </p:pic>
        <p:pic>
          <p:nvPicPr>
            <p:cNvPr id="39" name="그림 38">
              <a:extLst>
                <a:ext uri="{FF2B5EF4-FFF2-40B4-BE49-F238E27FC236}">
                  <a16:creationId xmlns:a16="http://schemas.microsoft.com/office/drawing/2014/main" id="{567E5436-642B-DCF3-CD4B-704F6147681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273036" y="4549331"/>
              <a:ext cx="1457706" cy="204305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212259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2285C-28B6-49AF-0B89-1EAACCED7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B70F335D-6CCE-022E-9431-F51665F589C3}"/>
              </a:ext>
            </a:extLst>
          </p:cNvPr>
          <p:cNvGrpSpPr/>
          <p:nvPr/>
        </p:nvGrpSpPr>
        <p:grpSpPr>
          <a:xfrm>
            <a:off x="408972" y="273830"/>
            <a:ext cx="2098558" cy="536875"/>
            <a:chOff x="381000" y="577850"/>
            <a:chExt cx="2098558" cy="706458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1B3B13FA-1C16-B2C3-C715-AB409E469A92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Ⅰ</a:t>
              </a:r>
              <a:endParaRPr lang="ko-KR" altLang="en-US" sz="20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29DF3B7F-0619-9822-1CA6-FE169148BF8D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서론</a:t>
              </a: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E426B11B-55B0-D937-239C-65A17066B5CE}"/>
                </a:ext>
              </a:extLst>
            </p:cNvPr>
            <p:cNvSpPr/>
            <p:nvPr/>
          </p:nvSpPr>
          <p:spPr>
            <a:xfrm>
              <a:off x="698827" y="977901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2. </a:t>
              </a:r>
              <a:r>
                <a:rPr lang="ko-KR" altLang="en-US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데이터 수집</a:t>
              </a: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F3DBBD9B-F97D-237E-2203-0D5425B8A5EC}"/>
              </a:ext>
            </a:extLst>
          </p:cNvPr>
          <p:cNvGrpSpPr/>
          <p:nvPr/>
        </p:nvGrpSpPr>
        <p:grpSpPr>
          <a:xfrm>
            <a:off x="593783" y="1369060"/>
            <a:ext cx="1625542" cy="389445"/>
            <a:chOff x="408972" y="1295400"/>
            <a:chExt cx="1780601" cy="596900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63929355-D20E-A080-E2BC-2D45E139AF1C}"/>
                </a:ext>
              </a:extLst>
            </p:cNvPr>
            <p:cNvSpPr/>
            <p:nvPr/>
          </p:nvSpPr>
          <p:spPr>
            <a:xfrm>
              <a:off x="408972" y="1295400"/>
              <a:ext cx="1780601" cy="596900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962F445-249B-228D-DBBF-F97E3E33D1C6}"/>
                </a:ext>
              </a:extLst>
            </p:cNvPr>
            <p:cNvSpPr txBox="1"/>
            <p:nvPr/>
          </p:nvSpPr>
          <p:spPr>
            <a:xfrm>
              <a:off x="548672" y="1334399"/>
              <a:ext cx="1515698" cy="51890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16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데이터 수집 방안</a:t>
              </a: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2AEBD9BB-355A-80E2-DAB2-F632206A666A}"/>
              </a:ext>
            </a:extLst>
          </p:cNvPr>
          <p:cNvGrpSpPr/>
          <p:nvPr/>
        </p:nvGrpSpPr>
        <p:grpSpPr>
          <a:xfrm>
            <a:off x="593783" y="3816046"/>
            <a:ext cx="1625542" cy="389445"/>
            <a:chOff x="408972" y="1295400"/>
            <a:chExt cx="1780601" cy="596900"/>
          </a:xfrm>
        </p:grpSpPr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F8C25E70-6547-6227-6A3F-16A0224775D5}"/>
                </a:ext>
              </a:extLst>
            </p:cNvPr>
            <p:cNvSpPr/>
            <p:nvPr/>
          </p:nvSpPr>
          <p:spPr>
            <a:xfrm>
              <a:off x="408972" y="1295400"/>
              <a:ext cx="1780601" cy="596900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3F794E0-FF9A-A119-2B10-676AF3D02856}"/>
                </a:ext>
              </a:extLst>
            </p:cNvPr>
            <p:cNvSpPr txBox="1"/>
            <p:nvPr/>
          </p:nvSpPr>
          <p:spPr>
            <a:xfrm>
              <a:off x="548672" y="1334399"/>
              <a:ext cx="1515698" cy="51890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16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데이터 전처리</a:t>
              </a:r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D072423B-DC8B-904D-7A02-A9427E0C6E65}"/>
              </a:ext>
            </a:extLst>
          </p:cNvPr>
          <p:cNvGrpSpPr/>
          <p:nvPr/>
        </p:nvGrpSpPr>
        <p:grpSpPr>
          <a:xfrm>
            <a:off x="1240822" y="2028573"/>
            <a:ext cx="9889226" cy="1018249"/>
            <a:chOff x="1240822" y="2028573"/>
            <a:chExt cx="9889226" cy="1018249"/>
          </a:xfrm>
        </p:grpSpPr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F7D560FA-395B-B80B-A69D-F7A68864EFEC}"/>
                </a:ext>
              </a:extLst>
            </p:cNvPr>
            <p:cNvSpPr/>
            <p:nvPr/>
          </p:nvSpPr>
          <p:spPr>
            <a:xfrm>
              <a:off x="1240822" y="2052609"/>
              <a:ext cx="2801732" cy="99421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28600" dist="50800" dir="900000" algn="ctr" rotWithShape="0">
                <a:srgbClr val="2D3142">
                  <a:alpha val="67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C325B154-FBD7-4B88-CD9C-F45D77139A51}"/>
                </a:ext>
              </a:extLst>
            </p:cNvPr>
            <p:cNvSpPr/>
            <p:nvPr/>
          </p:nvSpPr>
          <p:spPr>
            <a:xfrm>
              <a:off x="4784569" y="2052609"/>
              <a:ext cx="2801732" cy="99421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28600" dist="50800" dir="900000" algn="ctr" rotWithShape="0">
                <a:srgbClr val="2D3142">
                  <a:alpha val="67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25" name="사각형: 둥근 모서리 24">
              <a:extLst>
                <a:ext uri="{FF2B5EF4-FFF2-40B4-BE49-F238E27FC236}">
                  <a16:creationId xmlns:a16="http://schemas.microsoft.com/office/drawing/2014/main" id="{1D05FFAE-6E1B-4BB3-0873-DE4625A6FCEA}"/>
                </a:ext>
              </a:extLst>
            </p:cNvPr>
            <p:cNvSpPr/>
            <p:nvPr/>
          </p:nvSpPr>
          <p:spPr>
            <a:xfrm>
              <a:off x="8328316" y="2052609"/>
              <a:ext cx="2801732" cy="99421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28600" dist="50800" dir="900000" algn="ctr" rotWithShape="0">
                <a:srgbClr val="2D3142">
                  <a:alpha val="67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pic>
          <p:nvPicPr>
            <p:cNvPr id="27" name="그래픽 26">
              <a:extLst>
                <a:ext uri="{FF2B5EF4-FFF2-40B4-BE49-F238E27FC236}">
                  <a16:creationId xmlns:a16="http://schemas.microsoft.com/office/drawing/2014/main" id="{AA483994-55BD-E337-8184-526D8F67821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234119" y="2366195"/>
              <a:ext cx="358884" cy="367040"/>
            </a:xfrm>
            <a:prstGeom prst="rect">
              <a:avLst/>
            </a:prstGeom>
          </p:spPr>
        </p:pic>
        <p:pic>
          <p:nvPicPr>
            <p:cNvPr id="28" name="그래픽 27">
              <a:extLst>
                <a:ext uri="{FF2B5EF4-FFF2-40B4-BE49-F238E27FC236}">
                  <a16:creationId xmlns:a16="http://schemas.microsoft.com/office/drawing/2014/main" id="{ADE36B07-AD9A-133A-DAA4-E5C7EBA039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777866" y="2366195"/>
              <a:ext cx="358884" cy="367040"/>
            </a:xfrm>
            <a:prstGeom prst="rect">
              <a:avLst/>
            </a:prstGeom>
          </p:spPr>
        </p:pic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BF8CCD7F-2526-9C75-16AC-E97B43B0903A}"/>
                </a:ext>
              </a:extLst>
            </p:cNvPr>
            <p:cNvSpPr/>
            <p:nvPr/>
          </p:nvSpPr>
          <p:spPr>
            <a:xfrm>
              <a:off x="1432388" y="2028573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[</a:t>
              </a:r>
              <a:r>
                <a:rPr lang="ko-KR" altLang="en-US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웹 크롤링</a:t>
              </a:r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]</a:t>
              </a:r>
              <a:endParaRPr lang="ko-KR" altLang="en-US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8767649A-DAD3-11E0-61ED-D4D650FEB9C1}"/>
                </a:ext>
              </a:extLst>
            </p:cNvPr>
            <p:cNvSpPr/>
            <p:nvPr/>
          </p:nvSpPr>
          <p:spPr>
            <a:xfrm>
              <a:off x="4976135" y="2028573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[</a:t>
              </a:r>
              <a:r>
                <a:rPr lang="ko-KR" altLang="en-US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구조화 작업 </a:t>
              </a:r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]</a:t>
              </a:r>
              <a:endParaRPr lang="ko-KR" altLang="en-US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5A9544FD-A94D-4BA0-4578-AFC812DE36AB}"/>
                </a:ext>
              </a:extLst>
            </p:cNvPr>
            <p:cNvSpPr/>
            <p:nvPr/>
          </p:nvSpPr>
          <p:spPr>
            <a:xfrm>
              <a:off x="8519882" y="2028573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[</a:t>
              </a:r>
              <a:r>
                <a:rPr lang="ko-KR" altLang="en-US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데이터 검증</a:t>
              </a:r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]</a:t>
              </a:r>
              <a:endParaRPr lang="ko-KR" altLang="en-US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7AF4C9A9-1960-54F0-A37B-7302CD5B9C13}"/>
                </a:ext>
              </a:extLst>
            </p:cNvPr>
            <p:cNvSpPr/>
            <p:nvPr/>
          </p:nvSpPr>
          <p:spPr>
            <a:xfrm>
              <a:off x="1432388" y="2503961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각 보험사 공식 홈페이지 </a:t>
              </a:r>
              <a:endParaRPr lang="en-US" altLang="ko-KR" sz="160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  <a:p>
              <a:pPr algn="ctr"/>
              <a:r>
                <a:rPr lang="ko-KR" altLang="en-US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약관 데이터 수집 </a:t>
              </a: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DC5AED14-A914-FC5C-F380-48523985F271}"/>
                </a:ext>
              </a:extLst>
            </p:cNvPr>
            <p:cNvSpPr/>
            <p:nvPr/>
          </p:nvSpPr>
          <p:spPr>
            <a:xfrm>
              <a:off x="4976135" y="2503961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PDF / HTML </a:t>
              </a:r>
              <a:r>
                <a:rPr lang="ko-KR" altLang="en-US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문서를 </a:t>
              </a:r>
              <a:endParaRPr lang="en-US" altLang="ko-KR" sz="160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  <a:p>
              <a:pPr algn="ctr"/>
              <a:r>
                <a:rPr lang="ko-KR" altLang="en-US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구조화된 데이터 변환</a:t>
              </a: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7C61C511-77EC-0781-E32E-301E02A26C19}"/>
                </a:ext>
              </a:extLst>
            </p:cNvPr>
            <p:cNvSpPr/>
            <p:nvPr/>
          </p:nvSpPr>
          <p:spPr>
            <a:xfrm>
              <a:off x="8519882" y="2503961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수집된 약관의 </a:t>
              </a:r>
              <a:endParaRPr lang="en-US" altLang="ko-KR" sz="160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  <a:p>
              <a:pPr algn="ctr"/>
              <a:r>
                <a:rPr lang="ko-KR" altLang="en-US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정확성 및 최신성 검증</a:t>
              </a:r>
            </a:p>
          </p:txBody>
        </p:sp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DE9EA6B8-1E61-34EC-80B0-DFA26F1B1ED9}"/>
              </a:ext>
            </a:extLst>
          </p:cNvPr>
          <p:cNvGrpSpPr/>
          <p:nvPr/>
        </p:nvGrpSpPr>
        <p:grpSpPr>
          <a:xfrm>
            <a:off x="1240822" y="4708273"/>
            <a:ext cx="9889226" cy="1018249"/>
            <a:chOff x="1240822" y="2028573"/>
            <a:chExt cx="9889226" cy="1018249"/>
          </a:xfrm>
        </p:grpSpPr>
        <p:sp>
          <p:nvSpPr>
            <p:cNvPr id="55" name="사각형: 둥근 모서리 54">
              <a:extLst>
                <a:ext uri="{FF2B5EF4-FFF2-40B4-BE49-F238E27FC236}">
                  <a16:creationId xmlns:a16="http://schemas.microsoft.com/office/drawing/2014/main" id="{D6EE4337-6713-94A1-C78F-3FE35A1F950A}"/>
                </a:ext>
              </a:extLst>
            </p:cNvPr>
            <p:cNvSpPr/>
            <p:nvPr/>
          </p:nvSpPr>
          <p:spPr>
            <a:xfrm>
              <a:off x="1240822" y="2052609"/>
              <a:ext cx="2801732" cy="99421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28600" dist="50800" dir="900000" algn="ctr" rotWithShape="0">
                <a:srgbClr val="2D3142">
                  <a:alpha val="67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56" name="사각형: 둥근 모서리 55">
              <a:extLst>
                <a:ext uri="{FF2B5EF4-FFF2-40B4-BE49-F238E27FC236}">
                  <a16:creationId xmlns:a16="http://schemas.microsoft.com/office/drawing/2014/main" id="{93CBF606-BAEE-9D92-4693-8447CA377E7F}"/>
                </a:ext>
              </a:extLst>
            </p:cNvPr>
            <p:cNvSpPr/>
            <p:nvPr/>
          </p:nvSpPr>
          <p:spPr>
            <a:xfrm>
              <a:off x="4784569" y="2052609"/>
              <a:ext cx="2801732" cy="99421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28600" dist="50800" dir="900000" algn="ctr" rotWithShape="0">
                <a:srgbClr val="2D3142">
                  <a:alpha val="67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57" name="사각형: 둥근 모서리 56">
              <a:extLst>
                <a:ext uri="{FF2B5EF4-FFF2-40B4-BE49-F238E27FC236}">
                  <a16:creationId xmlns:a16="http://schemas.microsoft.com/office/drawing/2014/main" id="{62F06FCE-6B54-7171-046E-1E2D8089440E}"/>
                </a:ext>
              </a:extLst>
            </p:cNvPr>
            <p:cNvSpPr/>
            <p:nvPr/>
          </p:nvSpPr>
          <p:spPr>
            <a:xfrm>
              <a:off x="8328316" y="2052609"/>
              <a:ext cx="2801732" cy="99421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28600" dist="50800" dir="900000" algn="ctr" rotWithShape="0">
                <a:srgbClr val="2D3142">
                  <a:alpha val="67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pic>
          <p:nvPicPr>
            <p:cNvPr id="58" name="그래픽 57">
              <a:extLst>
                <a:ext uri="{FF2B5EF4-FFF2-40B4-BE49-F238E27FC236}">
                  <a16:creationId xmlns:a16="http://schemas.microsoft.com/office/drawing/2014/main" id="{9CBD195D-1742-20AF-79CE-2B26588595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234119" y="2366195"/>
              <a:ext cx="358884" cy="367040"/>
            </a:xfrm>
            <a:prstGeom prst="rect">
              <a:avLst/>
            </a:prstGeom>
          </p:spPr>
        </p:pic>
        <p:pic>
          <p:nvPicPr>
            <p:cNvPr id="59" name="그래픽 58">
              <a:extLst>
                <a:ext uri="{FF2B5EF4-FFF2-40B4-BE49-F238E27FC236}">
                  <a16:creationId xmlns:a16="http://schemas.microsoft.com/office/drawing/2014/main" id="{2AC3CF25-6A6C-4CF3-298A-72D85561C71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777866" y="2366195"/>
              <a:ext cx="358884" cy="367040"/>
            </a:xfrm>
            <a:prstGeom prst="rect">
              <a:avLst/>
            </a:prstGeom>
          </p:spPr>
        </p:pic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FB331865-E1C8-ED1D-815A-FAAA9FA96449}"/>
                </a:ext>
              </a:extLst>
            </p:cNvPr>
            <p:cNvSpPr/>
            <p:nvPr/>
          </p:nvSpPr>
          <p:spPr>
            <a:xfrm>
              <a:off x="1432388" y="2028573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[</a:t>
              </a:r>
              <a:r>
                <a:rPr lang="ko-KR" altLang="en-US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텍스트 정제</a:t>
              </a:r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]</a:t>
              </a:r>
              <a:endParaRPr lang="ko-KR" altLang="en-US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25BF1347-F5DF-60A4-6363-1FDB2E8DEF0C}"/>
                </a:ext>
              </a:extLst>
            </p:cNvPr>
            <p:cNvSpPr/>
            <p:nvPr/>
          </p:nvSpPr>
          <p:spPr>
            <a:xfrm>
              <a:off x="4976135" y="2028573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[</a:t>
              </a:r>
              <a:r>
                <a:rPr lang="ko-KR" altLang="en-US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백터화</a:t>
              </a:r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]</a:t>
              </a:r>
              <a:endParaRPr lang="ko-KR" altLang="en-US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A51B0140-1ECB-6C96-01A3-859CDF690A2E}"/>
                </a:ext>
              </a:extLst>
            </p:cNvPr>
            <p:cNvSpPr/>
            <p:nvPr/>
          </p:nvSpPr>
          <p:spPr>
            <a:xfrm>
              <a:off x="8519882" y="2028573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[</a:t>
              </a:r>
              <a:r>
                <a:rPr lang="ko-KR" altLang="en-US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인덱싱</a:t>
              </a:r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]</a:t>
              </a:r>
              <a:endParaRPr lang="ko-KR" altLang="en-US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8D38617D-0B40-133D-C473-CCF08971D8F0}"/>
                </a:ext>
              </a:extLst>
            </p:cNvPr>
            <p:cNvSpPr/>
            <p:nvPr/>
          </p:nvSpPr>
          <p:spPr>
            <a:xfrm>
              <a:off x="1432388" y="2503961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불필요한 서식 제거 및 표준화</a:t>
              </a:r>
            </a:p>
          </p:txBody>
        </p: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D6F932B5-9455-9FDB-3825-DC3DE476A2FA}"/>
                </a:ext>
              </a:extLst>
            </p:cNvPr>
            <p:cNvSpPr/>
            <p:nvPr/>
          </p:nvSpPr>
          <p:spPr>
            <a:xfrm>
              <a:off x="4976135" y="2503961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약관 텍스트의 임베딩 생성</a:t>
              </a:r>
            </a:p>
          </p:txBody>
        </p:sp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4CEF7BCB-A657-B64E-0AF8-25EB5236B4D8}"/>
                </a:ext>
              </a:extLst>
            </p:cNvPr>
            <p:cNvSpPr/>
            <p:nvPr/>
          </p:nvSpPr>
          <p:spPr>
            <a:xfrm>
              <a:off x="8519882" y="2503961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Pinecone</a:t>
              </a:r>
              <a:r>
                <a:rPr lang="ko-KR" altLang="en-US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을 활용한 </a:t>
              </a:r>
              <a:endParaRPr lang="en-US" altLang="ko-KR" sz="160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  <a:p>
              <a:pPr algn="ctr"/>
              <a:r>
                <a:rPr lang="ko-KR" altLang="en-US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백터 데이터베이스 구축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472929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A5C34-C046-F4E0-E59E-8DF63F96E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6FC29683-A3EE-A936-6AFE-A2A1D7DA33AC}"/>
              </a:ext>
            </a:extLst>
          </p:cNvPr>
          <p:cNvGrpSpPr/>
          <p:nvPr/>
        </p:nvGrpSpPr>
        <p:grpSpPr>
          <a:xfrm>
            <a:off x="408972" y="273830"/>
            <a:ext cx="2098558" cy="536875"/>
            <a:chOff x="381000" y="577850"/>
            <a:chExt cx="2098558" cy="706458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F111F7D9-43C1-0389-1D49-28008A756E6E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Ⅰ</a:t>
              </a:r>
              <a:endParaRPr lang="ko-KR" altLang="en-US" sz="20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92E02F79-E1A4-ED02-D585-66937AB9CFE3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서론</a:t>
              </a: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6AA97C47-7AAD-CB8B-A9FB-AE3E28BE0CEE}"/>
                </a:ext>
              </a:extLst>
            </p:cNvPr>
            <p:cNvSpPr/>
            <p:nvPr/>
          </p:nvSpPr>
          <p:spPr>
            <a:xfrm>
              <a:off x="698827" y="977901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3. </a:t>
              </a:r>
              <a:r>
                <a:rPr lang="ko-KR" altLang="en-US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프로젝트 업무분장</a:t>
              </a:r>
            </a:p>
          </p:txBody>
        </p:sp>
      </p:grpSp>
      <p:sp>
        <p:nvSpPr>
          <p:cNvPr id="1050" name="Rectangle 5">
            <a:extLst>
              <a:ext uri="{FF2B5EF4-FFF2-40B4-BE49-F238E27FC236}">
                <a16:creationId xmlns:a16="http://schemas.microsoft.com/office/drawing/2014/main" id="{51BC4505-E5EF-04B5-C974-AA2ED308855F}"/>
              </a:ext>
            </a:extLst>
          </p:cNvPr>
          <p:cNvSpPr/>
          <p:nvPr/>
        </p:nvSpPr>
        <p:spPr>
          <a:xfrm>
            <a:off x="5118017" y="3064678"/>
            <a:ext cx="1955969" cy="27451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51" name="Round Same Side Corner Rectangle 3">
            <a:extLst>
              <a:ext uri="{FF2B5EF4-FFF2-40B4-BE49-F238E27FC236}">
                <a16:creationId xmlns:a16="http://schemas.microsoft.com/office/drawing/2014/main" id="{3B1F1ADA-7370-752A-FF3B-52CF024DB693}"/>
              </a:ext>
            </a:extLst>
          </p:cNvPr>
          <p:cNvSpPr/>
          <p:nvPr/>
        </p:nvSpPr>
        <p:spPr>
          <a:xfrm>
            <a:off x="5118017" y="2332629"/>
            <a:ext cx="1955969" cy="915061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52" name="Oval 6">
            <a:extLst>
              <a:ext uri="{FF2B5EF4-FFF2-40B4-BE49-F238E27FC236}">
                <a16:creationId xmlns:a16="http://schemas.microsoft.com/office/drawing/2014/main" id="{5FD1A690-2747-29B9-40DA-B0B692F64E7D}"/>
              </a:ext>
            </a:extLst>
          </p:cNvPr>
          <p:cNvSpPr/>
          <p:nvPr/>
        </p:nvSpPr>
        <p:spPr>
          <a:xfrm>
            <a:off x="5585749" y="1692085"/>
            <a:ext cx="1020506" cy="1020294"/>
          </a:xfrm>
          <a:prstGeom prst="ellipse">
            <a:avLst/>
          </a:prstGeom>
          <a:solidFill>
            <a:srgbClr val="2D3142"/>
          </a:solidFill>
          <a:ln>
            <a:solidFill>
              <a:schemeClr val="bg1"/>
            </a:solidFill>
          </a:ln>
          <a:effectLst>
            <a:outerShdw blurRad="127000" dist="63500" dir="5400000" algn="t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53" name="Rectangle 9">
            <a:extLst>
              <a:ext uri="{FF2B5EF4-FFF2-40B4-BE49-F238E27FC236}">
                <a16:creationId xmlns:a16="http://schemas.microsoft.com/office/drawing/2014/main" id="{369E2C91-6978-7CA3-4D61-C6A34D82A69C}"/>
              </a:ext>
            </a:extLst>
          </p:cNvPr>
          <p:cNvSpPr/>
          <p:nvPr/>
        </p:nvSpPr>
        <p:spPr>
          <a:xfrm>
            <a:off x="3112246" y="3064678"/>
            <a:ext cx="1955969" cy="27451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54" name="Round Same Side Corner Rectangle 10">
            <a:extLst>
              <a:ext uri="{FF2B5EF4-FFF2-40B4-BE49-F238E27FC236}">
                <a16:creationId xmlns:a16="http://schemas.microsoft.com/office/drawing/2014/main" id="{A9AAE95B-51BC-43D5-AE0C-C845347CD6A5}"/>
              </a:ext>
            </a:extLst>
          </p:cNvPr>
          <p:cNvSpPr/>
          <p:nvPr/>
        </p:nvSpPr>
        <p:spPr>
          <a:xfrm>
            <a:off x="3112246" y="2332629"/>
            <a:ext cx="1955969" cy="915061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55" name="Oval 11">
            <a:extLst>
              <a:ext uri="{FF2B5EF4-FFF2-40B4-BE49-F238E27FC236}">
                <a16:creationId xmlns:a16="http://schemas.microsoft.com/office/drawing/2014/main" id="{4F40E6B6-402D-E63C-F565-CEDCC7F830DC}"/>
              </a:ext>
            </a:extLst>
          </p:cNvPr>
          <p:cNvSpPr/>
          <p:nvPr/>
        </p:nvSpPr>
        <p:spPr>
          <a:xfrm>
            <a:off x="3579979" y="1692085"/>
            <a:ext cx="1020506" cy="1020294"/>
          </a:xfrm>
          <a:prstGeom prst="ellipse">
            <a:avLst/>
          </a:prstGeom>
          <a:solidFill>
            <a:srgbClr val="2D3142"/>
          </a:solidFill>
          <a:ln>
            <a:solidFill>
              <a:schemeClr val="bg1"/>
            </a:solidFill>
          </a:ln>
          <a:effectLst>
            <a:outerShdw blurRad="127000" dist="63500" dir="5400000" algn="t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56" name="Rectangle 13">
            <a:extLst>
              <a:ext uri="{FF2B5EF4-FFF2-40B4-BE49-F238E27FC236}">
                <a16:creationId xmlns:a16="http://schemas.microsoft.com/office/drawing/2014/main" id="{D425522B-2217-0A54-4F71-8C5AE726403C}"/>
              </a:ext>
            </a:extLst>
          </p:cNvPr>
          <p:cNvSpPr/>
          <p:nvPr/>
        </p:nvSpPr>
        <p:spPr>
          <a:xfrm>
            <a:off x="1106476" y="3064678"/>
            <a:ext cx="1955969" cy="27451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57" name="Round Same Side Corner Rectangle 14">
            <a:extLst>
              <a:ext uri="{FF2B5EF4-FFF2-40B4-BE49-F238E27FC236}">
                <a16:creationId xmlns:a16="http://schemas.microsoft.com/office/drawing/2014/main" id="{1703E812-2E29-ABB5-8054-38DEBEC968A8}"/>
              </a:ext>
            </a:extLst>
          </p:cNvPr>
          <p:cNvSpPr/>
          <p:nvPr/>
        </p:nvSpPr>
        <p:spPr>
          <a:xfrm>
            <a:off x="1106476" y="2332629"/>
            <a:ext cx="1955969" cy="915061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58" name="Oval 15">
            <a:extLst>
              <a:ext uri="{FF2B5EF4-FFF2-40B4-BE49-F238E27FC236}">
                <a16:creationId xmlns:a16="http://schemas.microsoft.com/office/drawing/2014/main" id="{7261C785-8E73-4A68-96B7-B14969C52052}"/>
              </a:ext>
            </a:extLst>
          </p:cNvPr>
          <p:cNvSpPr/>
          <p:nvPr/>
        </p:nvSpPr>
        <p:spPr>
          <a:xfrm>
            <a:off x="1574209" y="1692085"/>
            <a:ext cx="1020506" cy="1020294"/>
          </a:xfrm>
          <a:prstGeom prst="ellipse">
            <a:avLst/>
          </a:prstGeom>
          <a:solidFill>
            <a:srgbClr val="2D3142"/>
          </a:solidFill>
          <a:ln>
            <a:solidFill>
              <a:schemeClr val="bg1"/>
            </a:solidFill>
          </a:ln>
          <a:effectLst>
            <a:outerShdw blurRad="127000" dist="63500" dir="5400000" algn="t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59" name="Rectangle 17">
            <a:extLst>
              <a:ext uri="{FF2B5EF4-FFF2-40B4-BE49-F238E27FC236}">
                <a16:creationId xmlns:a16="http://schemas.microsoft.com/office/drawing/2014/main" id="{80E8C88C-6D13-9E2D-9515-F40324388442}"/>
              </a:ext>
            </a:extLst>
          </p:cNvPr>
          <p:cNvSpPr/>
          <p:nvPr/>
        </p:nvSpPr>
        <p:spPr>
          <a:xfrm>
            <a:off x="7123787" y="3064678"/>
            <a:ext cx="1955969" cy="27451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60" name="Round Same Side Corner Rectangle 18">
            <a:extLst>
              <a:ext uri="{FF2B5EF4-FFF2-40B4-BE49-F238E27FC236}">
                <a16:creationId xmlns:a16="http://schemas.microsoft.com/office/drawing/2014/main" id="{1D516385-7F35-E014-BE95-55365A22AB6B}"/>
              </a:ext>
            </a:extLst>
          </p:cNvPr>
          <p:cNvSpPr/>
          <p:nvPr/>
        </p:nvSpPr>
        <p:spPr>
          <a:xfrm>
            <a:off x="7123787" y="2332629"/>
            <a:ext cx="1955969" cy="915061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61" name="Oval 19">
            <a:extLst>
              <a:ext uri="{FF2B5EF4-FFF2-40B4-BE49-F238E27FC236}">
                <a16:creationId xmlns:a16="http://schemas.microsoft.com/office/drawing/2014/main" id="{532ABB50-3895-142C-10AA-97DCFEB92C27}"/>
              </a:ext>
            </a:extLst>
          </p:cNvPr>
          <p:cNvSpPr/>
          <p:nvPr/>
        </p:nvSpPr>
        <p:spPr>
          <a:xfrm>
            <a:off x="7591520" y="1692085"/>
            <a:ext cx="1020506" cy="1020294"/>
          </a:xfrm>
          <a:prstGeom prst="ellipse">
            <a:avLst/>
          </a:prstGeom>
          <a:solidFill>
            <a:srgbClr val="2D3142"/>
          </a:solidFill>
          <a:ln>
            <a:solidFill>
              <a:schemeClr val="bg1"/>
            </a:solidFill>
          </a:ln>
          <a:effectLst>
            <a:outerShdw blurRad="127000" dist="63500" dir="5400000" algn="t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62" name="Rectangle 21">
            <a:extLst>
              <a:ext uri="{FF2B5EF4-FFF2-40B4-BE49-F238E27FC236}">
                <a16:creationId xmlns:a16="http://schemas.microsoft.com/office/drawing/2014/main" id="{2DCC3741-F686-12B1-B53A-A3FB1D8D380A}"/>
              </a:ext>
            </a:extLst>
          </p:cNvPr>
          <p:cNvSpPr/>
          <p:nvPr/>
        </p:nvSpPr>
        <p:spPr>
          <a:xfrm>
            <a:off x="9129556" y="3064678"/>
            <a:ext cx="1955969" cy="27451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63" name="Round Same Side Corner Rectangle 22">
            <a:extLst>
              <a:ext uri="{FF2B5EF4-FFF2-40B4-BE49-F238E27FC236}">
                <a16:creationId xmlns:a16="http://schemas.microsoft.com/office/drawing/2014/main" id="{DB145B58-2C6D-8C69-EAF9-5AF4E7721A47}"/>
              </a:ext>
            </a:extLst>
          </p:cNvPr>
          <p:cNvSpPr/>
          <p:nvPr/>
        </p:nvSpPr>
        <p:spPr>
          <a:xfrm>
            <a:off x="9129556" y="2332629"/>
            <a:ext cx="1955969" cy="915061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64" name="Oval 23">
            <a:extLst>
              <a:ext uri="{FF2B5EF4-FFF2-40B4-BE49-F238E27FC236}">
                <a16:creationId xmlns:a16="http://schemas.microsoft.com/office/drawing/2014/main" id="{2EFD5094-8A88-F802-0D27-9875B41977C4}"/>
              </a:ext>
            </a:extLst>
          </p:cNvPr>
          <p:cNvSpPr/>
          <p:nvPr/>
        </p:nvSpPr>
        <p:spPr>
          <a:xfrm>
            <a:off x="9597289" y="1692085"/>
            <a:ext cx="1020506" cy="1020294"/>
          </a:xfrm>
          <a:prstGeom prst="ellipse">
            <a:avLst/>
          </a:prstGeom>
          <a:solidFill>
            <a:srgbClr val="2D3142"/>
          </a:solidFill>
          <a:ln>
            <a:solidFill>
              <a:schemeClr val="bg1"/>
            </a:solidFill>
          </a:ln>
          <a:effectLst>
            <a:outerShdw blurRad="127000" dist="63500" dir="5400000" algn="t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65" name="Rectangle 28">
            <a:extLst>
              <a:ext uri="{FF2B5EF4-FFF2-40B4-BE49-F238E27FC236}">
                <a16:creationId xmlns:a16="http://schemas.microsoft.com/office/drawing/2014/main" id="{B72D91C2-F7F5-C80D-076C-C243D78CE69F}"/>
              </a:ext>
            </a:extLst>
          </p:cNvPr>
          <p:cNvSpPr/>
          <p:nvPr/>
        </p:nvSpPr>
        <p:spPr>
          <a:xfrm>
            <a:off x="3235238" y="3413389"/>
            <a:ext cx="1828928" cy="184665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프론트엔드 개발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백엔드 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API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연동 및 상태 관리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사용좌 화면 구현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[UI/UX]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와이어프레임 및 프로토타입 설계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웹페이지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메인 페이지 제작 및 전체 검수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웹 페이지 디자인 제작 관리 총괄</a:t>
            </a:r>
            <a:endParaRPr lang="ko-KR" altLang="en-US" sz="12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066" name="Rectangle 29">
            <a:extLst>
              <a:ext uri="{FF2B5EF4-FFF2-40B4-BE49-F238E27FC236}">
                <a16:creationId xmlns:a16="http://schemas.microsoft.com/office/drawing/2014/main" id="{05F40D34-F993-64CA-9FB7-F9A6D1EF01DD}"/>
              </a:ext>
            </a:extLst>
          </p:cNvPr>
          <p:cNvSpPr/>
          <p:nvPr/>
        </p:nvSpPr>
        <p:spPr>
          <a:xfrm>
            <a:off x="3265026" y="2763438"/>
            <a:ext cx="629905" cy="246221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dist"/>
            <a:r>
              <a:rPr lang="ko-KR" altLang="en-US" sz="1600" b="1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김민준</a:t>
            </a:r>
            <a:endParaRPr lang="en-US" altLang="x-none" sz="1600" b="1" dirty="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068" name="Round Same Side Corner Rectangle 31">
            <a:extLst>
              <a:ext uri="{FF2B5EF4-FFF2-40B4-BE49-F238E27FC236}">
                <a16:creationId xmlns:a16="http://schemas.microsoft.com/office/drawing/2014/main" id="{FDF6A574-82B6-F3C5-6F64-F488EB572D48}"/>
              </a:ext>
            </a:extLst>
          </p:cNvPr>
          <p:cNvSpPr/>
          <p:nvPr/>
        </p:nvSpPr>
        <p:spPr>
          <a:xfrm rot="10800000">
            <a:off x="1106475" y="5665653"/>
            <a:ext cx="1955969" cy="209787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69" name="Round Same Side Corner Rectangle 32">
            <a:extLst>
              <a:ext uri="{FF2B5EF4-FFF2-40B4-BE49-F238E27FC236}">
                <a16:creationId xmlns:a16="http://schemas.microsoft.com/office/drawing/2014/main" id="{015289E3-A1D1-B287-5CE1-72843ECD95B4}"/>
              </a:ext>
            </a:extLst>
          </p:cNvPr>
          <p:cNvSpPr/>
          <p:nvPr/>
        </p:nvSpPr>
        <p:spPr>
          <a:xfrm rot="10800000">
            <a:off x="3108197" y="5665653"/>
            <a:ext cx="1955969" cy="209787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70" name="Round Same Side Corner Rectangle 33">
            <a:extLst>
              <a:ext uri="{FF2B5EF4-FFF2-40B4-BE49-F238E27FC236}">
                <a16:creationId xmlns:a16="http://schemas.microsoft.com/office/drawing/2014/main" id="{EB430C68-7C2D-5A11-243A-1E4E7D5C92A6}"/>
              </a:ext>
            </a:extLst>
          </p:cNvPr>
          <p:cNvSpPr/>
          <p:nvPr/>
        </p:nvSpPr>
        <p:spPr>
          <a:xfrm rot="10800000">
            <a:off x="5118016" y="5665653"/>
            <a:ext cx="1955969" cy="209787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71" name="Round Same Side Corner Rectangle 34">
            <a:extLst>
              <a:ext uri="{FF2B5EF4-FFF2-40B4-BE49-F238E27FC236}">
                <a16:creationId xmlns:a16="http://schemas.microsoft.com/office/drawing/2014/main" id="{4519B098-2DC7-125F-B4D8-2A498F2F3E40}"/>
              </a:ext>
            </a:extLst>
          </p:cNvPr>
          <p:cNvSpPr/>
          <p:nvPr/>
        </p:nvSpPr>
        <p:spPr>
          <a:xfrm rot="10800000">
            <a:off x="7123786" y="5665653"/>
            <a:ext cx="1955969" cy="209787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72" name="Round Same Side Corner Rectangle 35">
            <a:extLst>
              <a:ext uri="{FF2B5EF4-FFF2-40B4-BE49-F238E27FC236}">
                <a16:creationId xmlns:a16="http://schemas.microsoft.com/office/drawing/2014/main" id="{B8F18BC3-3059-7E04-6FD8-E1708BE3D759}"/>
              </a:ext>
            </a:extLst>
          </p:cNvPr>
          <p:cNvSpPr/>
          <p:nvPr/>
        </p:nvSpPr>
        <p:spPr>
          <a:xfrm rot="10800000">
            <a:off x="9129555" y="5665653"/>
            <a:ext cx="1955969" cy="209787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73" name="Rectangle 36">
            <a:extLst>
              <a:ext uri="{FF2B5EF4-FFF2-40B4-BE49-F238E27FC236}">
                <a16:creationId xmlns:a16="http://schemas.microsoft.com/office/drawing/2014/main" id="{BD0ED4E9-EC1A-7925-189C-64DE2E113F92}"/>
              </a:ext>
            </a:extLst>
          </p:cNvPr>
          <p:cNvSpPr/>
          <p:nvPr/>
        </p:nvSpPr>
        <p:spPr>
          <a:xfrm>
            <a:off x="1229468" y="3413389"/>
            <a:ext cx="1814927" cy="147732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프로젝트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프로젝트 총괄 관리 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백엔드 개발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서버 로직 구현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회원가입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/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로그인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)</a:t>
            </a:r>
          </a:p>
          <a:p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 </a:t>
            </a:r>
            <a:endParaRPr lang="en-US" altLang="ko-KR" sz="1200">
              <a:latin typeface="프리젠테이션 8 ExtraBold" pitchFamily="2" charset="-127"/>
              <a:ea typeface="프리젠테이션 8 ExtraBold" pitchFamily="2" charset="-127"/>
            </a:endParaRPr>
          </a:p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웹페이지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DB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 관리</a:t>
            </a:r>
            <a:endParaRPr lang="ko-KR" altLang="en-US" sz="12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074" name="Rectangle 37">
            <a:extLst>
              <a:ext uri="{FF2B5EF4-FFF2-40B4-BE49-F238E27FC236}">
                <a16:creationId xmlns:a16="http://schemas.microsoft.com/office/drawing/2014/main" id="{B8CED28B-B401-1884-6B2F-6933B6ECE725}"/>
              </a:ext>
            </a:extLst>
          </p:cNvPr>
          <p:cNvSpPr/>
          <p:nvPr/>
        </p:nvSpPr>
        <p:spPr>
          <a:xfrm>
            <a:off x="1259256" y="2763438"/>
            <a:ext cx="629905" cy="246221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dist"/>
            <a:r>
              <a:rPr lang="ko-KR" altLang="en-US" sz="1600" b="1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김진경</a:t>
            </a:r>
            <a:endParaRPr lang="en-US" altLang="x-none" sz="1600" b="1" dirty="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076" name="Rectangle 39">
            <a:extLst>
              <a:ext uri="{FF2B5EF4-FFF2-40B4-BE49-F238E27FC236}">
                <a16:creationId xmlns:a16="http://schemas.microsoft.com/office/drawing/2014/main" id="{017F1F40-03BE-C701-F4C4-238411B37D20}"/>
              </a:ext>
            </a:extLst>
          </p:cNvPr>
          <p:cNvSpPr/>
          <p:nvPr/>
        </p:nvSpPr>
        <p:spPr>
          <a:xfrm>
            <a:off x="5241010" y="3413389"/>
            <a:ext cx="1829292" cy="184665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데이터 분석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서비스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/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사용자 로그데이터 분석 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  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및 인사이트 도출 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모델링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모델 설계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,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학습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,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평가 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모델 서빙 및 서비스 연동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웹페이지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회원가입 페이지 제작 </a:t>
            </a:r>
            <a:endParaRPr lang="ko-KR" altLang="en-US" sz="12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077" name="Rectangle 40">
            <a:extLst>
              <a:ext uri="{FF2B5EF4-FFF2-40B4-BE49-F238E27FC236}">
                <a16:creationId xmlns:a16="http://schemas.microsoft.com/office/drawing/2014/main" id="{30B74A16-3679-7012-B4F7-80FFBD860EF5}"/>
              </a:ext>
            </a:extLst>
          </p:cNvPr>
          <p:cNvSpPr/>
          <p:nvPr/>
        </p:nvSpPr>
        <p:spPr>
          <a:xfrm>
            <a:off x="5270797" y="2763438"/>
            <a:ext cx="629905" cy="246221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dist"/>
            <a:r>
              <a:rPr lang="ko-KR" altLang="en-US" sz="1600" b="1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장선호</a:t>
            </a:r>
            <a:endParaRPr lang="en-US" altLang="x-none" sz="1600" b="1" dirty="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079" name="Rectangle 42">
            <a:extLst>
              <a:ext uri="{FF2B5EF4-FFF2-40B4-BE49-F238E27FC236}">
                <a16:creationId xmlns:a16="http://schemas.microsoft.com/office/drawing/2014/main" id="{97407892-339B-289C-5539-5209ED25689A}"/>
              </a:ext>
            </a:extLst>
          </p:cNvPr>
          <p:cNvSpPr/>
          <p:nvPr/>
        </p:nvSpPr>
        <p:spPr>
          <a:xfrm>
            <a:off x="7246780" y="3413389"/>
            <a:ext cx="1656498" cy="203132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데이터 수집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공공 데이터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,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오픈 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API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를 통한</a:t>
            </a:r>
            <a:b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</a:b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  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데이터 수집 및 정제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크롤링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웹 크롤러 개발 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자동화 스크립트를 통한</a:t>
            </a:r>
            <a:b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</a:b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  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데이터 수집 및 학습 스케쥴링  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웹페이지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상담페이지 제작</a:t>
            </a:r>
            <a:endParaRPr lang="ko-KR" altLang="en-US" sz="12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080" name="Rectangle 43">
            <a:extLst>
              <a:ext uri="{FF2B5EF4-FFF2-40B4-BE49-F238E27FC236}">
                <a16:creationId xmlns:a16="http://schemas.microsoft.com/office/drawing/2014/main" id="{315AB00D-212C-15FD-93AF-1392C939A80E}"/>
              </a:ext>
            </a:extLst>
          </p:cNvPr>
          <p:cNvSpPr/>
          <p:nvPr/>
        </p:nvSpPr>
        <p:spPr>
          <a:xfrm>
            <a:off x="7276567" y="2763438"/>
            <a:ext cx="629905" cy="246221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dist"/>
            <a:r>
              <a:rPr lang="ko-KR" altLang="en-US" sz="1600" b="1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한창희</a:t>
            </a:r>
            <a:endParaRPr lang="en-US" altLang="x-none" sz="1600" b="1" dirty="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082" name="Rectangle 45">
            <a:extLst>
              <a:ext uri="{FF2B5EF4-FFF2-40B4-BE49-F238E27FC236}">
                <a16:creationId xmlns:a16="http://schemas.microsoft.com/office/drawing/2014/main" id="{17D80DF0-7866-DB78-D290-C5E6EA0BAEC1}"/>
              </a:ext>
            </a:extLst>
          </p:cNvPr>
          <p:cNvSpPr/>
          <p:nvPr/>
        </p:nvSpPr>
        <p:spPr>
          <a:xfrm>
            <a:off x="9252549" y="3413389"/>
            <a:ext cx="1656498" cy="166199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데이터베이스 설계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DB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스키마 설계 및 관계 설정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성능 최적화 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[API 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개발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인증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/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권한 관리와 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API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문서화 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웹페이지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비교 페이지 제작</a:t>
            </a:r>
            <a:endParaRPr lang="ko-KR" altLang="en-US" sz="12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083" name="Rectangle 46">
            <a:extLst>
              <a:ext uri="{FF2B5EF4-FFF2-40B4-BE49-F238E27FC236}">
                <a16:creationId xmlns:a16="http://schemas.microsoft.com/office/drawing/2014/main" id="{E623A397-AC21-3329-B989-23F0B2311333}"/>
              </a:ext>
            </a:extLst>
          </p:cNvPr>
          <p:cNvSpPr/>
          <p:nvPr/>
        </p:nvSpPr>
        <p:spPr>
          <a:xfrm>
            <a:off x="9282336" y="2763438"/>
            <a:ext cx="629905" cy="246221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dist"/>
            <a:r>
              <a:rPr lang="ko-KR" altLang="en-US" sz="1600" b="1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유성미</a:t>
            </a:r>
            <a:endParaRPr lang="en-US" altLang="x-none" sz="1600" b="1" dirty="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176" name="Rectangle 29">
            <a:extLst>
              <a:ext uri="{FF2B5EF4-FFF2-40B4-BE49-F238E27FC236}">
                <a16:creationId xmlns:a16="http://schemas.microsoft.com/office/drawing/2014/main" id="{871FA496-040D-516B-83A8-653169C37DDA}"/>
              </a:ext>
            </a:extLst>
          </p:cNvPr>
          <p:cNvSpPr/>
          <p:nvPr/>
        </p:nvSpPr>
        <p:spPr>
          <a:xfrm>
            <a:off x="3180095" y="2994270"/>
            <a:ext cx="1820271" cy="215444"/>
          </a:xfrm>
          <a:prstGeom prst="rect">
            <a:avLst/>
          </a:prstGeom>
        </p:spPr>
        <p:txBody>
          <a:bodyPr wrap="square" lIns="72000" tIns="0" rIns="0" bIns="0" anchor="ctr">
            <a:spAutoFit/>
          </a:bodyPr>
          <a:lstStyle/>
          <a:p>
            <a:r>
              <a:rPr lang="ko-KR" altLang="en-US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프론트엔드 개발 </a:t>
            </a:r>
            <a:r>
              <a:rPr lang="en-US" altLang="ko-KR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/ UI/UX</a:t>
            </a:r>
            <a:endParaRPr lang="en-US" altLang="x-none" sz="1400" spc="-8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177" name="Rectangle 37">
            <a:extLst>
              <a:ext uri="{FF2B5EF4-FFF2-40B4-BE49-F238E27FC236}">
                <a16:creationId xmlns:a16="http://schemas.microsoft.com/office/drawing/2014/main" id="{33CD983D-ED6C-BDC4-443F-CF4175EBE47D}"/>
              </a:ext>
            </a:extLst>
          </p:cNvPr>
          <p:cNvSpPr/>
          <p:nvPr/>
        </p:nvSpPr>
        <p:spPr>
          <a:xfrm>
            <a:off x="1174325" y="2994270"/>
            <a:ext cx="1820271" cy="215444"/>
          </a:xfrm>
          <a:prstGeom prst="rect">
            <a:avLst/>
          </a:prstGeom>
        </p:spPr>
        <p:txBody>
          <a:bodyPr wrap="square" lIns="72000" tIns="0" rIns="0" bIns="0" anchor="ctr">
            <a:spAutoFit/>
          </a:bodyPr>
          <a:lstStyle/>
          <a:p>
            <a:r>
              <a:rPr lang="ko-KR" altLang="en-US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프로젝트 매니저 </a:t>
            </a:r>
            <a:r>
              <a:rPr lang="en-US" altLang="ko-KR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/ </a:t>
            </a:r>
            <a:r>
              <a:rPr lang="ko-KR" altLang="en-US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백엔드 개발</a:t>
            </a:r>
            <a:endParaRPr lang="en-US" altLang="x-none" sz="1400" spc="-8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178" name="Rectangle 40">
            <a:extLst>
              <a:ext uri="{FF2B5EF4-FFF2-40B4-BE49-F238E27FC236}">
                <a16:creationId xmlns:a16="http://schemas.microsoft.com/office/drawing/2014/main" id="{0E75F30D-C4ED-3C52-090C-0A4E5D5795BB}"/>
              </a:ext>
            </a:extLst>
          </p:cNvPr>
          <p:cNvSpPr/>
          <p:nvPr/>
        </p:nvSpPr>
        <p:spPr>
          <a:xfrm>
            <a:off x="5185866" y="2994270"/>
            <a:ext cx="1820271" cy="215444"/>
          </a:xfrm>
          <a:prstGeom prst="rect">
            <a:avLst/>
          </a:prstGeom>
        </p:spPr>
        <p:txBody>
          <a:bodyPr wrap="square" lIns="72000" tIns="0" rIns="0" bIns="0" anchor="ctr">
            <a:spAutoFit/>
          </a:bodyPr>
          <a:lstStyle/>
          <a:p>
            <a:r>
              <a:rPr lang="ko-KR" altLang="en-US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데이터 분석 </a:t>
            </a:r>
            <a:r>
              <a:rPr lang="en-US" altLang="ko-KR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/ AI </a:t>
            </a:r>
            <a:r>
              <a:rPr lang="ko-KR" altLang="en-US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모델링</a:t>
            </a:r>
            <a:endParaRPr lang="en-US" altLang="x-none" sz="1400" spc="-8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179" name="Rectangle 43">
            <a:extLst>
              <a:ext uri="{FF2B5EF4-FFF2-40B4-BE49-F238E27FC236}">
                <a16:creationId xmlns:a16="http://schemas.microsoft.com/office/drawing/2014/main" id="{4D1CB83F-7CFF-25EC-7781-6730EA468360}"/>
              </a:ext>
            </a:extLst>
          </p:cNvPr>
          <p:cNvSpPr/>
          <p:nvPr/>
        </p:nvSpPr>
        <p:spPr>
          <a:xfrm>
            <a:off x="7191636" y="2994270"/>
            <a:ext cx="1820271" cy="215444"/>
          </a:xfrm>
          <a:prstGeom prst="rect">
            <a:avLst/>
          </a:prstGeom>
        </p:spPr>
        <p:txBody>
          <a:bodyPr wrap="square" lIns="72000" tIns="0" rIns="0" bIns="0" anchor="ctr">
            <a:spAutoFit/>
          </a:bodyPr>
          <a:lstStyle/>
          <a:p>
            <a:r>
              <a:rPr lang="ko-KR" altLang="en-US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데이터 수집  </a:t>
            </a:r>
            <a:r>
              <a:rPr lang="en-US" altLang="ko-KR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/ </a:t>
            </a:r>
            <a:r>
              <a:rPr lang="ko-KR" altLang="en-US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크롤링</a:t>
            </a:r>
            <a:endParaRPr lang="en-US" altLang="x-none" sz="1400" spc="-8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180" name="Rectangle 46">
            <a:extLst>
              <a:ext uri="{FF2B5EF4-FFF2-40B4-BE49-F238E27FC236}">
                <a16:creationId xmlns:a16="http://schemas.microsoft.com/office/drawing/2014/main" id="{254A619C-C5C7-1CF8-F16C-3226C0820A08}"/>
              </a:ext>
            </a:extLst>
          </p:cNvPr>
          <p:cNvSpPr/>
          <p:nvPr/>
        </p:nvSpPr>
        <p:spPr>
          <a:xfrm>
            <a:off x="9197405" y="2994270"/>
            <a:ext cx="1820271" cy="215444"/>
          </a:xfrm>
          <a:prstGeom prst="rect">
            <a:avLst/>
          </a:prstGeom>
        </p:spPr>
        <p:txBody>
          <a:bodyPr wrap="square" lIns="72000" tIns="0" rIns="0" bIns="0" anchor="ctr">
            <a:spAutoFit/>
          </a:bodyPr>
          <a:lstStyle/>
          <a:p>
            <a:r>
              <a:rPr lang="ko-KR" altLang="en-US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데이터베이스 설계 </a:t>
            </a:r>
            <a:r>
              <a:rPr lang="en-US" altLang="ko-KR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/ API </a:t>
            </a:r>
            <a:r>
              <a:rPr lang="ko-KR" altLang="en-US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개발</a:t>
            </a:r>
            <a:endParaRPr lang="en-US" altLang="x-none" sz="1400" spc="-8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431531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F7E1E31-42BB-D24A-A940-50711AFF17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9688355"/>
              </p:ext>
            </p:extLst>
          </p:nvPr>
        </p:nvGraphicFramePr>
        <p:xfrm>
          <a:off x="304801" y="1271150"/>
          <a:ext cx="11582406" cy="52820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3218">
                  <a:extLst>
                    <a:ext uri="{9D8B030D-6E8A-4147-A177-3AD203B41FA5}">
                      <a16:colId xmlns:a16="http://schemas.microsoft.com/office/drawing/2014/main" val="2272385301"/>
                    </a:ext>
                  </a:extLst>
                </a:gridCol>
                <a:gridCol w="1086838">
                  <a:extLst>
                    <a:ext uri="{9D8B030D-6E8A-4147-A177-3AD203B41FA5}">
                      <a16:colId xmlns:a16="http://schemas.microsoft.com/office/drawing/2014/main" val="2854153201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884259614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199301109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2868926125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604209816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181228497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2596017582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756603516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98789661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865930286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2925960883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595019260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180966509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472031349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575944897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2308293221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816916304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479856701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2660523841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759608161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2236484665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339610121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539483003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1598660398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729568701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2036520802"/>
                    </a:ext>
                  </a:extLst>
                </a:gridCol>
              </a:tblGrid>
              <a:tr h="39094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구분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di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7/24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25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28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29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30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31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8/1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4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5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6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7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8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11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12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13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14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18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19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20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21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22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25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26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27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28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0302161"/>
                  </a:ext>
                </a:extLst>
              </a:tr>
              <a:tr h="390942"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기획 및 설계</a:t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주제 선정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6182183"/>
                  </a:ext>
                </a:extLst>
              </a:tr>
              <a:tr h="390942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세부 기능 정의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5243688"/>
                  </a:ext>
                </a:extLst>
              </a:tr>
              <a:tr h="390942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업무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,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일정 관리 </a:t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4673547"/>
                  </a:ext>
                </a:extLst>
              </a:tr>
              <a:tr h="390942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시스템 설계도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3910413"/>
                  </a:ext>
                </a:extLst>
              </a:tr>
              <a:tr h="46349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연구 모형 및 </a:t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조사 설계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연구 가설 설정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9492310"/>
                  </a:ext>
                </a:extLst>
              </a:tr>
              <a:tr h="390942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측정 항목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3573139"/>
                  </a:ext>
                </a:extLst>
              </a:tr>
              <a:tr h="390942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데이터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데이터 수집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&amp;</a:t>
                      </a:r>
                      <a:r>
                        <a:rPr lang="ko-KR" altLang="en-US" sz="1400" kern="1200" dirty="0" err="1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전처리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7898935"/>
                  </a:ext>
                </a:extLst>
              </a:tr>
              <a:tr h="390942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기술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2487972"/>
                  </a:ext>
                </a:extLst>
              </a:tr>
              <a:tr h="390942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연구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/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검증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기술 통계 분석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0944460"/>
                  </a:ext>
                </a:extLst>
              </a:tr>
              <a:tr h="390942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기술 검증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9060671"/>
                  </a:ext>
                </a:extLst>
              </a:tr>
              <a:tr h="3909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디자인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전체 디자인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590926"/>
                  </a:ext>
                </a:extLst>
              </a:tr>
              <a:tr h="3909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문서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프로젝트 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2311403"/>
                  </a:ext>
                </a:extLst>
              </a:tr>
            </a:tbl>
          </a:graphicData>
        </a:graphic>
      </p:graphicFrame>
      <p:grpSp>
        <p:nvGrpSpPr>
          <p:cNvPr id="40" name="그룹 39">
            <a:extLst>
              <a:ext uri="{FF2B5EF4-FFF2-40B4-BE49-F238E27FC236}">
                <a16:creationId xmlns:a16="http://schemas.microsoft.com/office/drawing/2014/main" id="{37B68782-CA32-1899-E6B2-891DAFA22F62}"/>
              </a:ext>
            </a:extLst>
          </p:cNvPr>
          <p:cNvGrpSpPr/>
          <p:nvPr/>
        </p:nvGrpSpPr>
        <p:grpSpPr>
          <a:xfrm>
            <a:off x="2552332" y="1729898"/>
            <a:ext cx="2505443" cy="282234"/>
            <a:chOff x="2552332" y="853598"/>
            <a:chExt cx="2505443" cy="282234"/>
          </a:xfrm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4345DA88-9130-64E5-4F72-CC2BA13EE7FE}"/>
                </a:ext>
              </a:extLst>
            </p:cNvPr>
            <p:cNvGrpSpPr/>
            <p:nvPr/>
          </p:nvGrpSpPr>
          <p:grpSpPr>
            <a:xfrm>
              <a:off x="2552332" y="933806"/>
              <a:ext cx="915136" cy="202026"/>
              <a:chOff x="2523757" y="960000"/>
              <a:chExt cx="915136" cy="202026"/>
            </a:xfrm>
          </p:grpSpPr>
          <p:cxnSp>
            <p:nvCxnSpPr>
              <p:cNvPr id="9" name="직선 화살표 연결선 8">
                <a:extLst>
                  <a:ext uri="{FF2B5EF4-FFF2-40B4-BE49-F238E27FC236}">
                    <a16:creationId xmlns:a16="http://schemas.microsoft.com/office/drawing/2014/main" id="{24524E15-4B75-89DD-DA03-2AF5A66BD4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23757" y="960000"/>
                <a:ext cx="915136" cy="0"/>
              </a:xfrm>
              <a:prstGeom prst="straightConnector1">
                <a:avLst/>
              </a:prstGeom>
              <a:ln w="28575">
                <a:solidFill>
                  <a:srgbClr val="6A4C93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69CB7AD9-D288-37F9-5483-22A10AA858A2}"/>
                  </a:ext>
                </a:extLst>
              </p:cNvPr>
              <p:cNvSpPr/>
              <p:nvPr/>
            </p:nvSpPr>
            <p:spPr>
              <a:xfrm>
                <a:off x="2585924" y="984226"/>
                <a:ext cx="790802" cy="1778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1100" dirty="0">
                    <a:solidFill>
                      <a:srgbClr val="6A4C93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아이디어 공모 </a:t>
                </a:r>
              </a:p>
            </p:txBody>
          </p:sp>
        </p:grp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7A9B662B-8E58-57D3-6CEF-6DEB791ECEC4}"/>
                </a:ext>
              </a:extLst>
            </p:cNvPr>
            <p:cNvGrpSpPr/>
            <p:nvPr/>
          </p:nvGrpSpPr>
          <p:grpSpPr>
            <a:xfrm>
              <a:off x="3530600" y="853598"/>
              <a:ext cx="1527175" cy="261257"/>
              <a:chOff x="3530600" y="853598"/>
              <a:chExt cx="1527175" cy="261257"/>
            </a:xfrm>
          </p:grpSpPr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D8D31B65-DF09-0940-5E83-35DA8624E583}"/>
                  </a:ext>
                </a:extLst>
              </p:cNvPr>
              <p:cNvSpPr/>
              <p:nvPr/>
            </p:nvSpPr>
            <p:spPr>
              <a:xfrm>
                <a:off x="3530600" y="853598"/>
                <a:ext cx="1527175" cy="261257"/>
              </a:xfrm>
              <a:prstGeom prst="rect">
                <a:avLst/>
              </a:prstGeom>
              <a:solidFill>
                <a:srgbClr val="6A4C9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AD7A88AB-F831-C03B-5FD4-2335FC042676}"/>
                  </a:ext>
                </a:extLst>
              </p:cNvPr>
              <p:cNvSpPr/>
              <p:nvPr/>
            </p:nvSpPr>
            <p:spPr>
              <a:xfrm>
                <a:off x="3898786" y="895326"/>
                <a:ext cx="790802" cy="1778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1100" dirty="0">
                    <a:solidFill>
                      <a:schemeClr val="bg1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최종 아이디어 확정 </a:t>
                </a:r>
              </a:p>
            </p:txBody>
          </p:sp>
        </p:grp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456878B7-E59D-5B45-4AA4-C50E30CCFABC}"/>
              </a:ext>
            </a:extLst>
          </p:cNvPr>
          <p:cNvGrpSpPr/>
          <p:nvPr/>
        </p:nvGrpSpPr>
        <p:grpSpPr>
          <a:xfrm>
            <a:off x="4659708" y="2189539"/>
            <a:ext cx="790802" cy="198385"/>
            <a:chOff x="2677970" y="960000"/>
            <a:chExt cx="790802" cy="198385"/>
          </a:xfrm>
        </p:grpSpPr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1AB915F7-644C-0ADE-3B80-75F17EF15DCB}"/>
                </a:ext>
              </a:extLst>
            </p:cNvPr>
            <p:cNvCxnSpPr>
              <a:cxnSpLocks/>
            </p:cNvCxnSpPr>
            <p:nvPr/>
          </p:nvCxnSpPr>
          <p:spPr>
            <a:xfrm>
              <a:off x="2707850" y="960000"/>
              <a:ext cx="731043" cy="0"/>
            </a:xfrm>
            <a:prstGeom prst="straightConnector1">
              <a:avLst/>
            </a:prstGeom>
            <a:ln w="28575">
              <a:solidFill>
                <a:srgbClr val="6A4C93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BD179CAB-2CCE-09D6-04B8-49FFBE7BDAEA}"/>
                </a:ext>
              </a:extLst>
            </p:cNvPr>
            <p:cNvSpPr/>
            <p:nvPr/>
          </p:nvSpPr>
          <p:spPr>
            <a:xfrm>
              <a:off x="2677970" y="980585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rgbClr val="6A4C93"/>
                  </a:solidFill>
                  <a:latin typeface="프리젠테이션 5 Medium" pitchFamily="2" charset="-127"/>
                  <a:ea typeface="프리젠테이션 5 Medium" pitchFamily="2" charset="-127"/>
                </a:rPr>
                <a:t>기능 구상</a:t>
              </a: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FB96BDE2-DF5C-A53C-50BB-0127DFAFF8BD}"/>
              </a:ext>
            </a:extLst>
          </p:cNvPr>
          <p:cNvGrpSpPr/>
          <p:nvPr/>
        </p:nvGrpSpPr>
        <p:grpSpPr>
          <a:xfrm>
            <a:off x="5425395" y="2111713"/>
            <a:ext cx="1144280" cy="261257"/>
            <a:chOff x="3530600" y="853598"/>
            <a:chExt cx="1527175" cy="261257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D84DBA05-1FA1-9A21-68D2-A1E5924E9D1D}"/>
                </a:ext>
              </a:extLst>
            </p:cNvPr>
            <p:cNvSpPr/>
            <p:nvPr/>
          </p:nvSpPr>
          <p:spPr>
            <a:xfrm>
              <a:off x="3530600" y="853598"/>
              <a:ext cx="1527175" cy="261257"/>
            </a:xfrm>
            <a:prstGeom prst="rect">
              <a:avLst/>
            </a:prstGeom>
            <a:solidFill>
              <a:srgbClr val="6A4C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B59DFD59-ADFB-5E4D-38E5-DD3F027A4C89}"/>
                </a:ext>
              </a:extLst>
            </p:cNvPr>
            <p:cNvSpPr/>
            <p:nvPr/>
          </p:nvSpPr>
          <p:spPr>
            <a:xfrm>
              <a:off x="3898786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시스템</a:t>
              </a:r>
              <a:r>
                <a:rPr lang="en-US" altLang="ko-KR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/ DB </a:t>
              </a:r>
              <a:r>
                <a:rPr lang="ko-KR" altLang="en-US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설계</a:t>
              </a:r>
              <a:endParaRPr lang="ko-KR" altLang="en-US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2CC44817-4E60-51E5-EC3A-8EBF966BF381}"/>
              </a:ext>
            </a:extLst>
          </p:cNvPr>
          <p:cNvGrpSpPr/>
          <p:nvPr/>
        </p:nvGrpSpPr>
        <p:grpSpPr>
          <a:xfrm>
            <a:off x="3530600" y="2587346"/>
            <a:ext cx="1527174" cy="202026"/>
            <a:chOff x="2523757" y="960000"/>
            <a:chExt cx="915136" cy="202026"/>
          </a:xfrm>
        </p:grpSpPr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3466F1B8-7F8E-CDE2-C59F-7899356E0860}"/>
                </a:ext>
              </a:extLst>
            </p:cNvPr>
            <p:cNvCxnSpPr>
              <a:cxnSpLocks/>
            </p:cNvCxnSpPr>
            <p:nvPr/>
          </p:nvCxnSpPr>
          <p:spPr>
            <a:xfrm>
              <a:off x="2523757" y="960000"/>
              <a:ext cx="915136" cy="0"/>
            </a:xfrm>
            <a:prstGeom prst="straightConnector1">
              <a:avLst/>
            </a:prstGeom>
            <a:ln w="28575">
              <a:solidFill>
                <a:srgbClr val="6A4C93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61D5364B-2501-426B-7A60-F3022B23AD5A}"/>
                </a:ext>
              </a:extLst>
            </p:cNvPr>
            <p:cNvSpPr/>
            <p:nvPr/>
          </p:nvSpPr>
          <p:spPr>
            <a:xfrm>
              <a:off x="2585924" y="9842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100" dirty="0">
                  <a:solidFill>
                    <a:srgbClr val="6A4C93"/>
                  </a:solidFill>
                  <a:latin typeface="프리젠테이션 5 Medium" pitchFamily="2" charset="-127"/>
                  <a:ea typeface="프리젠테이션 5 Medium" pitchFamily="2" charset="-127"/>
                </a:rPr>
                <a:t>1</a:t>
              </a:r>
              <a:r>
                <a:rPr lang="ko-KR" altLang="en-US" sz="1100">
                  <a:solidFill>
                    <a:srgbClr val="6A4C93"/>
                  </a:solidFill>
                  <a:latin typeface="프리젠테이션 5 Medium" pitchFamily="2" charset="-127"/>
                  <a:ea typeface="프리젠테이션 5 Medium" pitchFamily="2" charset="-127"/>
                </a:rPr>
                <a:t>차 일정 </a:t>
              </a:r>
              <a:r>
                <a:rPr lang="ko-KR" altLang="en-US" sz="1100" dirty="0">
                  <a:solidFill>
                    <a:srgbClr val="6A4C93"/>
                  </a:solidFill>
                  <a:latin typeface="프리젠테이션 5 Medium" pitchFamily="2" charset="-127"/>
                  <a:ea typeface="프리젠테이션 5 Medium" pitchFamily="2" charset="-127"/>
                </a:rPr>
                <a:t>조율</a:t>
              </a: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258340A3-3D66-8660-2FF0-C6E83DEEEA9B}"/>
              </a:ext>
            </a:extLst>
          </p:cNvPr>
          <p:cNvGrpSpPr/>
          <p:nvPr/>
        </p:nvGrpSpPr>
        <p:grpSpPr>
          <a:xfrm>
            <a:off x="5048759" y="2506859"/>
            <a:ext cx="1339001" cy="261257"/>
            <a:chOff x="3530600" y="853598"/>
            <a:chExt cx="1527175" cy="261257"/>
          </a:xfrm>
        </p:grpSpPr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11EF1E30-DFFC-C98B-C4C5-A27D1523BCF7}"/>
                </a:ext>
              </a:extLst>
            </p:cNvPr>
            <p:cNvSpPr/>
            <p:nvPr/>
          </p:nvSpPr>
          <p:spPr>
            <a:xfrm>
              <a:off x="3530600" y="853598"/>
              <a:ext cx="1527175" cy="261257"/>
            </a:xfrm>
            <a:prstGeom prst="rect">
              <a:avLst/>
            </a:prstGeom>
            <a:solidFill>
              <a:srgbClr val="6A4C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A11E4FD1-22AC-D42C-ABE9-FA42E8DECA29}"/>
                </a:ext>
              </a:extLst>
            </p:cNvPr>
            <p:cNvSpPr/>
            <p:nvPr/>
          </p:nvSpPr>
          <p:spPr>
            <a:xfrm>
              <a:off x="3898786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최종 일정 확정 </a:t>
              </a: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3D2198DC-858E-98A5-59B8-38E52EB4C5EC}"/>
              </a:ext>
            </a:extLst>
          </p:cNvPr>
          <p:cNvGrpSpPr/>
          <p:nvPr/>
        </p:nvGrpSpPr>
        <p:grpSpPr>
          <a:xfrm>
            <a:off x="4671320" y="2975734"/>
            <a:ext cx="790802" cy="198385"/>
            <a:chOff x="2677970" y="960000"/>
            <a:chExt cx="790802" cy="198385"/>
          </a:xfrm>
        </p:grpSpPr>
        <p:cxnSp>
          <p:nvCxnSpPr>
            <p:cNvPr id="34" name="직선 화살표 연결선 33">
              <a:extLst>
                <a:ext uri="{FF2B5EF4-FFF2-40B4-BE49-F238E27FC236}">
                  <a16:creationId xmlns:a16="http://schemas.microsoft.com/office/drawing/2014/main" id="{6B181E6F-E2A4-5F1E-1E1C-D42B64301DFC}"/>
                </a:ext>
              </a:extLst>
            </p:cNvPr>
            <p:cNvCxnSpPr>
              <a:cxnSpLocks/>
            </p:cNvCxnSpPr>
            <p:nvPr/>
          </p:nvCxnSpPr>
          <p:spPr>
            <a:xfrm>
              <a:off x="2707850" y="960000"/>
              <a:ext cx="731043" cy="0"/>
            </a:xfrm>
            <a:prstGeom prst="straightConnector1">
              <a:avLst/>
            </a:prstGeom>
            <a:ln w="28575">
              <a:solidFill>
                <a:srgbClr val="6A4C93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72F81466-8785-4D64-F604-89F9E7C4FFB9}"/>
                </a:ext>
              </a:extLst>
            </p:cNvPr>
            <p:cNvSpPr/>
            <p:nvPr/>
          </p:nvSpPr>
          <p:spPr>
            <a:xfrm>
              <a:off x="2677970" y="980585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100" dirty="0">
                  <a:solidFill>
                    <a:srgbClr val="6A4C93"/>
                  </a:solidFill>
                  <a:latin typeface="프리젠테이션 5 Medium" pitchFamily="2" charset="-127"/>
                  <a:ea typeface="프리젠테이션 5 Medium" pitchFamily="2" charset="-127"/>
                </a:rPr>
                <a:t>1</a:t>
              </a:r>
              <a:r>
                <a:rPr lang="ko-KR" altLang="en-US" sz="1100" dirty="0">
                  <a:solidFill>
                    <a:srgbClr val="6A4C93"/>
                  </a:solidFill>
                  <a:latin typeface="프리젠테이션 5 Medium" pitchFamily="2" charset="-127"/>
                  <a:ea typeface="프리젠테이션 5 Medium" pitchFamily="2" charset="-127"/>
                </a:rPr>
                <a:t>차 설계 구상</a:t>
              </a: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FB612FC2-C7E0-CC97-8962-1A59B206CA02}"/>
              </a:ext>
            </a:extLst>
          </p:cNvPr>
          <p:cNvGrpSpPr/>
          <p:nvPr/>
        </p:nvGrpSpPr>
        <p:grpSpPr>
          <a:xfrm>
            <a:off x="5430656" y="2897908"/>
            <a:ext cx="1144279" cy="261257"/>
            <a:chOff x="3530600" y="853598"/>
            <a:chExt cx="1527175" cy="261257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204CF682-5FB6-BB21-3280-217B5B31A787}"/>
                </a:ext>
              </a:extLst>
            </p:cNvPr>
            <p:cNvSpPr/>
            <p:nvPr/>
          </p:nvSpPr>
          <p:spPr>
            <a:xfrm>
              <a:off x="3530600" y="853598"/>
              <a:ext cx="1527175" cy="261257"/>
            </a:xfrm>
            <a:prstGeom prst="rect">
              <a:avLst/>
            </a:prstGeom>
            <a:solidFill>
              <a:srgbClr val="6A4C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0DD60B95-DA4D-F12C-81EC-691B845C0FE2}"/>
                </a:ext>
              </a:extLst>
            </p:cNvPr>
            <p:cNvSpPr/>
            <p:nvPr/>
          </p:nvSpPr>
          <p:spPr>
            <a:xfrm>
              <a:off x="3898786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최종  설계 확정</a:t>
              </a:r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D5F99D67-2DE5-FF96-2124-6A7C19CDC1B9}"/>
              </a:ext>
            </a:extLst>
          </p:cNvPr>
          <p:cNvGrpSpPr/>
          <p:nvPr/>
        </p:nvGrpSpPr>
        <p:grpSpPr>
          <a:xfrm>
            <a:off x="4101061" y="3404093"/>
            <a:ext cx="915136" cy="202026"/>
            <a:chOff x="3065321" y="960000"/>
            <a:chExt cx="915136" cy="202026"/>
          </a:xfrm>
        </p:grpSpPr>
        <p:cxnSp>
          <p:nvCxnSpPr>
            <p:cNvPr id="46" name="직선 화살표 연결선 45">
              <a:extLst>
                <a:ext uri="{FF2B5EF4-FFF2-40B4-BE49-F238E27FC236}">
                  <a16:creationId xmlns:a16="http://schemas.microsoft.com/office/drawing/2014/main" id="{6A181C7C-A85C-F9B1-4722-5578998876A6}"/>
                </a:ext>
              </a:extLst>
            </p:cNvPr>
            <p:cNvCxnSpPr>
              <a:cxnSpLocks/>
            </p:cNvCxnSpPr>
            <p:nvPr/>
          </p:nvCxnSpPr>
          <p:spPr>
            <a:xfrm>
              <a:off x="3065321" y="960000"/>
              <a:ext cx="915136" cy="0"/>
            </a:xfrm>
            <a:prstGeom prst="straightConnector1">
              <a:avLst/>
            </a:prstGeom>
            <a:ln w="28575">
              <a:solidFill>
                <a:srgbClr val="2D3142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3B67BCAD-8162-4178-E181-7A001C32ED56}"/>
                </a:ext>
              </a:extLst>
            </p:cNvPr>
            <p:cNvSpPr/>
            <p:nvPr/>
          </p:nvSpPr>
          <p:spPr>
            <a:xfrm>
              <a:off x="3127488" y="9842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연구 가설 설정</a:t>
              </a:r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11B02F01-2E11-F938-BBFD-69EC41E22781}"/>
              </a:ext>
            </a:extLst>
          </p:cNvPr>
          <p:cNvGrpSpPr/>
          <p:nvPr/>
        </p:nvGrpSpPr>
        <p:grpSpPr>
          <a:xfrm>
            <a:off x="5057774" y="3323885"/>
            <a:ext cx="1007166" cy="261257"/>
            <a:chOff x="4050609" y="853598"/>
            <a:chExt cx="1007166" cy="261257"/>
          </a:xfrm>
        </p:grpSpPr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C5C43C3B-C171-F6B4-B6B2-DEB74436EE7E}"/>
                </a:ext>
              </a:extLst>
            </p:cNvPr>
            <p:cNvSpPr/>
            <p:nvPr/>
          </p:nvSpPr>
          <p:spPr>
            <a:xfrm>
              <a:off x="4050609" y="853598"/>
              <a:ext cx="1007166" cy="261257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CA0167AA-4984-D0FB-8DF1-E6F6551A0C87}"/>
                </a:ext>
              </a:extLst>
            </p:cNvPr>
            <p:cNvSpPr/>
            <p:nvPr/>
          </p:nvSpPr>
          <p:spPr>
            <a:xfrm>
              <a:off x="4158791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최종 가설 선정 </a:t>
              </a: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895CA999-9A97-1743-540E-AF7863B870BE}"/>
              </a:ext>
            </a:extLst>
          </p:cNvPr>
          <p:cNvGrpSpPr/>
          <p:nvPr/>
        </p:nvGrpSpPr>
        <p:grpSpPr>
          <a:xfrm>
            <a:off x="4101061" y="3828503"/>
            <a:ext cx="915136" cy="202026"/>
            <a:chOff x="3065321" y="960000"/>
            <a:chExt cx="915136" cy="202026"/>
          </a:xfrm>
        </p:grpSpPr>
        <p:cxnSp>
          <p:nvCxnSpPr>
            <p:cNvPr id="49" name="직선 화살표 연결선 48">
              <a:extLst>
                <a:ext uri="{FF2B5EF4-FFF2-40B4-BE49-F238E27FC236}">
                  <a16:creationId xmlns:a16="http://schemas.microsoft.com/office/drawing/2014/main" id="{18557770-8585-C9D4-65EA-1F84011CBA20}"/>
                </a:ext>
              </a:extLst>
            </p:cNvPr>
            <p:cNvCxnSpPr>
              <a:cxnSpLocks/>
            </p:cNvCxnSpPr>
            <p:nvPr/>
          </p:nvCxnSpPr>
          <p:spPr>
            <a:xfrm>
              <a:off x="3065321" y="960000"/>
              <a:ext cx="915136" cy="0"/>
            </a:xfrm>
            <a:prstGeom prst="straightConnector1">
              <a:avLst/>
            </a:prstGeom>
            <a:ln w="28575">
              <a:solidFill>
                <a:srgbClr val="2D3142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DCEDB307-D1D0-9679-B6C6-A7F3868C6DC8}"/>
                </a:ext>
              </a:extLst>
            </p:cNvPr>
            <p:cNvSpPr/>
            <p:nvPr/>
          </p:nvSpPr>
          <p:spPr>
            <a:xfrm>
              <a:off x="3127488" y="9842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항목 설정</a:t>
              </a:r>
            </a:p>
          </p:txBody>
        </p: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8DEEAD29-0D62-4B96-D4FD-0EB1BE622DDC}"/>
              </a:ext>
            </a:extLst>
          </p:cNvPr>
          <p:cNvGrpSpPr/>
          <p:nvPr/>
        </p:nvGrpSpPr>
        <p:grpSpPr>
          <a:xfrm>
            <a:off x="5057774" y="3748295"/>
            <a:ext cx="1007166" cy="261257"/>
            <a:chOff x="4050609" y="853598"/>
            <a:chExt cx="1007166" cy="261257"/>
          </a:xfrm>
        </p:grpSpPr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8D63CC1B-D915-28AE-F69F-1F67B4E6F589}"/>
                </a:ext>
              </a:extLst>
            </p:cNvPr>
            <p:cNvSpPr/>
            <p:nvPr/>
          </p:nvSpPr>
          <p:spPr>
            <a:xfrm>
              <a:off x="4050609" y="853598"/>
              <a:ext cx="1007166" cy="261257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22D493BB-045B-5B8F-86D2-86600AC77FC5}"/>
                </a:ext>
              </a:extLst>
            </p:cNvPr>
            <p:cNvSpPr/>
            <p:nvPr/>
          </p:nvSpPr>
          <p:spPr>
            <a:xfrm>
              <a:off x="4158791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측정 항목 확정</a:t>
              </a:r>
            </a:p>
          </p:txBody>
        </p:sp>
      </p:grpSp>
      <p:grpSp>
        <p:nvGrpSpPr>
          <p:cNvPr id="1027" name="그룹 1026">
            <a:extLst>
              <a:ext uri="{FF2B5EF4-FFF2-40B4-BE49-F238E27FC236}">
                <a16:creationId xmlns:a16="http://schemas.microsoft.com/office/drawing/2014/main" id="{040BEADE-AE91-FC5E-0BED-B6CFCBFAC66D}"/>
              </a:ext>
            </a:extLst>
          </p:cNvPr>
          <p:cNvGrpSpPr/>
          <p:nvPr/>
        </p:nvGrpSpPr>
        <p:grpSpPr>
          <a:xfrm>
            <a:off x="3550236" y="4283988"/>
            <a:ext cx="712439" cy="202026"/>
            <a:chOff x="3550236" y="4283988"/>
            <a:chExt cx="712439" cy="202026"/>
          </a:xfrm>
        </p:grpSpPr>
        <p:cxnSp>
          <p:nvCxnSpPr>
            <p:cNvPr id="55" name="직선 화살표 연결선 54">
              <a:extLst>
                <a:ext uri="{FF2B5EF4-FFF2-40B4-BE49-F238E27FC236}">
                  <a16:creationId xmlns:a16="http://schemas.microsoft.com/office/drawing/2014/main" id="{F134F656-C1C6-3C34-CD3E-7DE6FB6985D7}"/>
                </a:ext>
              </a:extLst>
            </p:cNvPr>
            <p:cNvCxnSpPr>
              <a:cxnSpLocks/>
            </p:cNvCxnSpPr>
            <p:nvPr/>
          </p:nvCxnSpPr>
          <p:spPr>
            <a:xfrm>
              <a:off x="3550236" y="4283988"/>
              <a:ext cx="712439" cy="0"/>
            </a:xfrm>
            <a:prstGeom prst="straightConnector1">
              <a:avLst/>
            </a:prstGeom>
            <a:ln w="28575">
              <a:solidFill>
                <a:srgbClr val="B0002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9E58BDAC-6A12-A813-4BB0-9EA7DB5E4538}"/>
                </a:ext>
              </a:extLst>
            </p:cNvPr>
            <p:cNvSpPr/>
            <p:nvPr/>
          </p:nvSpPr>
          <p:spPr>
            <a:xfrm>
              <a:off x="3550236" y="4308214"/>
              <a:ext cx="712437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rgbClr val="B00020"/>
                  </a:solidFill>
                  <a:latin typeface="프리젠테이션 5 Medium" pitchFamily="2" charset="-127"/>
                  <a:ea typeface="프리젠테이션 5 Medium" pitchFamily="2" charset="-127"/>
                </a:rPr>
                <a:t>데이터 분석</a:t>
              </a:r>
            </a:p>
          </p:txBody>
        </p:sp>
      </p:grpSp>
      <p:grpSp>
        <p:nvGrpSpPr>
          <p:cNvPr id="1029" name="그룹 1028">
            <a:extLst>
              <a:ext uri="{FF2B5EF4-FFF2-40B4-BE49-F238E27FC236}">
                <a16:creationId xmlns:a16="http://schemas.microsoft.com/office/drawing/2014/main" id="{CE1583DF-1553-D3CF-7FDA-C7C173B638DD}"/>
              </a:ext>
            </a:extLst>
          </p:cNvPr>
          <p:cNvGrpSpPr/>
          <p:nvPr/>
        </p:nvGrpSpPr>
        <p:grpSpPr>
          <a:xfrm>
            <a:off x="5437464" y="4283988"/>
            <a:ext cx="1137471" cy="202026"/>
            <a:chOff x="5626837" y="4283988"/>
            <a:chExt cx="712439" cy="202026"/>
          </a:xfrm>
        </p:grpSpPr>
        <p:cxnSp>
          <p:nvCxnSpPr>
            <p:cNvPr id="61" name="직선 화살표 연결선 60">
              <a:extLst>
                <a:ext uri="{FF2B5EF4-FFF2-40B4-BE49-F238E27FC236}">
                  <a16:creationId xmlns:a16="http://schemas.microsoft.com/office/drawing/2014/main" id="{5C7E3FED-3E8C-B5FA-A1BB-15B1640FCE91}"/>
                </a:ext>
              </a:extLst>
            </p:cNvPr>
            <p:cNvCxnSpPr>
              <a:cxnSpLocks/>
            </p:cNvCxnSpPr>
            <p:nvPr/>
          </p:nvCxnSpPr>
          <p:spPr>
            <a:xfrm>
              <a:off x="5626837" y="4283988"/>
              <a:ext cx="712439" cy="0"/>
            </a:xfrm>
            <a:prstGeom prst="straightConnector1">
              <a:avLst/>
            </a:prstGeom>
            <a:ln w="28575">
              <a:solidFill>
                <a:srgbClr val="B0002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4DC9B087-94D2-4886-D0A0-3D57867D4266}"/>
                </a:ext>
              </a:extLst>
            </p:cNvPr>
            <p:cNvSpPr/>
            <p:nvPr/>
          </p:nvSpPr>
          <p:spPr>
            <a:xfrm>
              <a:off x="5626837" y="4308214"/>
              <a:ext cx="712437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rgbClr val="B00020"/>
                  </a:solidFill>
                  <a:latin typeface="프리젠테이션 5 Medium" pitchFamily="2" charset="-127"/>
                  <a:ea typeface="프리젠테이션 5 Medium" pitchFamily="2" charset="-127"/>
                </a:rPr>
                <a:t>데이터 활용 방안 탐구</a:t>
              </a:r>
            </a:p>
          </p:txBody>
        </p:sp>
      </p:grp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0F4C9695-1AA9-CE98-1B9C-3181D2C7CF63}"/>
              </a:ext>
            </a:extLst>
          </p:cNvPr>
          <p:cNvGrpSpPr/>
          <p:nvPr/>
        </p:nvGrpSpPr>
        <p:grpSpPr>
          <a:xfrm>
            <a:off x="4287838" y="4203501"/>
            <a:ext cx="1142818" cy="261257"/>
            <a:chOff x="3530600" y="853598"/>
            <a:chExt cx="1527175" cy="261257"/>
          </a:xfrm>
        </p:grpSpPr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7FE1FB84-EF03-11E2-FE20-A172FAF9C67E}"/>
                </a:ext>
              </a:extLst>
            </p:cNvPr>
            <p:cNvSpPr/>
            <p:nvPr/>
          </p:nvSpPr>
          <p:spPr>
            <a:xfrm>
              <a:off x="3530600" y="853598"/>
              <a:ext cx="1527175" cy="261257"/>
            </a:xfrm>
            <a:prstGeom prst="rect">
              <a:avLst/>
            </a:prstGeom>
            <a:solidFill>
              <a:srgbClr val="B000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E89509D8-F781-5F2A-8994-D2100E479E03}"/>
                </a:ext>
              </a:extLst>
            </p:cNvPr>
            <p:cNvSpPr/>
            <p:nvPr/>
          </p:nvSpPr>
          <p:spPr>
            <a:xfrm>
              <a:off x="3898786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데이터 확보 및 가공 </a:t>
              </a:r>
            </a:p>
          </p:txBody>
        </p:sp>
      </p:grpSp>
      <p:grpSp>
        <p:nvGrpSpPr>
          <p:cNvPr id="1033" name="그룹 1032">
            <a:extLst>
              <a:ext uri="{FF2B5EF4-FFF2-40B4-BE49-F238E27FC236}">
                <a16:creationId xmlns:a16="http://schemas.microsoft.com/office/drawing/2014/main" id="{A446571A-4E07-F531-D01D-759FDC8AEDA1}"/>
              </a:ext>
            </a:extLst>
          </p:cNvPr>
          <p:cNvGrpSpPr/>
          <p:nvPr/>
        </p:nvGrpSpPr>
        <p:grpSpPr>
          <a:xfrm>
            <a:off x="5057774" y="4738418"/>
            <a:ext cx="712439" cy="202026"/>
            <a:chOff x="3550236" y="4283988"/>
            <a:chExt cx="712439" cy="202026"/>
          </a:xfrm>
        </p:grpSpPr>
        <p:cxnSp>
          <p:nvCxnSpPr>
            <p:cNvPr id="1034" name="직선 화살표 연결선 1033">
              <a:extLst>
                <a:ext uri="{FF2B5EF4-FFF2-40B4-BE49-F238E27FC236}">
                  <a16:creationId xmlns:a16="http://schemas.microsoft.com/office/drawing/2014/main" id="{567C1C3E-8241-C201-F355-4F88C0016D22}"/>
                </a:ext>
              </a:extLst>
            </p:cNvPr>
            <p:cNvCxnSpPr>
              <a:cxnSpLocks/>
            </p:cNvCxnSpPr>
            <p:nvPr/>
          </p:nvCxnSpPr>
          <p:spPr>
            <a:xfrm>
              <a:off x="3550236" y="4283988"/>
              <a:ext cx="712439" cy="0"/>
            </a:xfrm>
            <a:prstGeom prst="straightConnector1">
              <a:avLst/>
            </a:prstGeom>
            <a:ln w="28575">
              <a:solidFill>
                <a:srgbClr val="B0002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5" name="직사각형 1034">
              <a:extLst>
                <a:ext uri="{FF2B5EF4-FFF2-40B4-BE49-F238E27FC236}">
                  <a16:creationId xmlns:a16="http://schemas.microsoft.com/office/drawing/2014/main" id="{C92B7E38-D1B9-8A3C-CDCA-33295A5E35E3}"/>
                </a:ext>
              </a:extLst>
            </p:cNvPr>
            <p:cNvSpPr/>
            <p:nvPr/>
          </p:nvSpPr>
          <p:spPr>
            <a:xfrm>
              <a:off x="3550236" y="4308214"/>
              <a:ext cx="712437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rgbClr val="B00020"/>
                  </a:solidFill>
                  <a:latin typeface="프리젠테이션 5 Medium" pitchFamily="2" charset="-127"/>
                  <a:ea typeface="프리젠테이션 5 Medium" pitchFamily="2" charset="-127"/>
                </a:rPr>
                <a:t>코딩</a:t>
              </a:r>
            </a:p>
          </p:txBody>
        </p:sp>
      </p:grpSp>
      <p:grpSp>
        <p:nvGrpSpPr>
          <p:cNvPr id="1036" name="그룹 1035">
            <a:extLst>
              <a:ext uri="{FF2B5EF4-FFF2-40B4-BE49-F238E27FC236}">
                <a16:creationId xmlns:a16="http://schemas.microsoft.com/office/drawing/2014/main" id="{C9B24716-2B2E-58E3-DA5E-341BCB8AD3A1}"/>
              </a:ext>
            </a:extLst>
          </p:cNvPr>
          <p:cNvGrpSpPr/>
          <p:nvPr/>
        </p:nvGrpSpPr>
        <p:grpSpPr>
          <a:xfrm>
            <a:off x="5795376" y="4657931"/>
            <a:ext cx="1142818" cy="261257"/>
            <a:chOff x="3530600" y="853598"/>
            <a:chExt cx="1527175" cy="261257"/>
          </a:xfrm>
        </p:grpSpPr>
        <p:sp>
          <p:nvSpPr>
            <p:cNvPr id="1037" name="직사각형 1036">
              <a:extLst>
                <a:ext uri="{FF2B5EF4-FFF2-40B4-BE49-F238E27FC236}">
                  <a16:creationId xmlns:a16="http://schemas.microsoft.com/office/drawing/2014/main" id="{FBF36372-DDE0-E144-BF45-3E01763BC063}"/>
                </a:ext>
              </a:extLst>
            </p:cNvPr>
            <p:cNvSpPr/>
            <p:nvPr/>
          </p:nvSpPr>
          <p:spPr>
            <a:xfrm>
              <a:off x="3530600" y="853598"/>
              <a:ext cx="1527175" cy="261257"/>
            </a:xfrm>
            <a:prstGeom prst="rect">
              <a:avLst/>
            </a:prstGeom>
            <a:solidFill>
              <a:srgbClr val="B000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038" name="직사각형 1037">
              <a:extLst>
                <a:ext uri="{FF2B5EF4-FFF2-40B4-BE49-F238E27FC236}">
                  <a16:creationId xmlns:a16="http://schemas.microsoft.com/office/drawing/2014/main" id="{4433B6FA-10B1-7B02-B215-74D8C29A0C7A}"/>
                </a:ext>
              </a:extLst>
            </p:cNvPr>
            <p:cNvSpPr/>
            <p:nvPr/>
          </p:nvSpPr>
          <p:spPr>
            <a:xfrm>
              <a:off x="3898786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RAG </a:t>
              </a:r>
              <a:r>
                <a:rPr lang="ko-KR" altLang="en-US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시스템 구축</a:t>
              </a:r>
              <a:endParaRPr lang="ko-KR" altLang="en-US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</p:grpSp>
      <p:grpSp>
        <p:nvGrpSpPr>
          <p:cNvPr id="1039" name="그룹 1038">
            <a:extLst>
              <a:ext uri="{FF2B5EF4-FFF2-40B4-BE49-F238E27FC236}">
                <a16:creationId xmlns:a16="http://schemas.microsoft.com/office/drawing/2014/main" id="{F0256376-62FC-5E5B-06C3-791C4B71030B}"/>
              </a:ext>
            </a:extLst>
          </p:cNvPr>
          <p:cNvGrpSpPr/>
          <p:nvPr/>
        </p:nvGrpSpPr>
        <p:grpSpPr>
          <a:xfrm>
            <a:off x="9266830" y="4738418"/>
            <a:ext cx="712439" cy="202026"/>
            <a:chOff x="3550236" y="4283988"/>
            <a:chExt cx="712439" cy="202026"/>
          </a:xfrm>
        </p:grpSpPr>
        <p:cxnSp>
          <p:nvCxnSpPr>
            <p:cNvPr id="1040" name="직선 화살표 연결선 1039">
              <a:extLst>
                <a:ext uri="{FF2B5EF4-FFF2-40B4-BE49-F238E27FC236}">
                  <a16:creationId xmlns:a16="http://schemas.microsoft.com/office/drawing/2014/main" id="{F9438236-77EA-19E9-091B-A8ECD89778A8}"/>
                </a:ext>
              </a:extLst>
            </p:cNvPr>
            <p:cNvCxnSpPr>
              <a:cxnSpLocks/>
            </p:cNvCxnSpPr>
            <p:nvPr/>
          </p:nvCxnSpPr>
          <p:spPr>
            <a:xfrm>
              <a:off x="3550236" y="4283988"/>
              <a:ext cx="712439" cy="0"/>
            </a:xfrm>
            <a:prstGeom prst="straightConnector1">
              <a:avLst/>
            </a:prstGeom>
            <a:ln w="28575">
              <a:solidFill>
                <a:srgbClr val="B0002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1" name="직사각형 1040">
              <a:extLst>
                <a:ext uri="{FF2B5EF4-FFF2-40B4-BE49-F238E27FC236}">
                  <a16:creationId xmlns:a16="http://schemas.microsoft.com/office/drawing/2014/main" id="{E3E3EAC7-BF19-0580-2025-C4E808BF2A01}"/>
                </a:ext>
              </a:extLst>
            </p:cNvPr>
            <p:cNvSpPr/>
            <p:nvPr/>
          </p:nvSpPr>
          <p:spPr>
            <a:xfrm>
              <a:off x="3550236" y="4308214"/>
              <a:ext cx="712437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rgbClr val="B00020"/>
                  </a:solidFill>
                  <a:latin typeface="프리젠테이션 5 Medium" pitchFamily="2" charset="-127"/>
                  <a:ea typeface="프리젠테이션 5 Medium" pitchFamily="2" charset="-127"/>
                </a:rPr>
                <a:t>웹 서비스 기획</a:t>
              </a:r>
            </a:p>
          </p:txBody>
        </p:sp>
      </p:grpSp>
      <p:grpSp>
        <p:nvGrpSpPr>
          <p:cNvPr id="1042" name="그룹 1041">
            <a:extLst>
              <a:ext uri="{FF2B5EF4-FFF2-40B4-BE49-F238E27FC236}">
                <a16:creationId xmlns:a16="http://schemas.microsoft.com/office/drawing/2014/main" id="{A3AC4DA8-1942-48BE-333C-044685028A87}"/>
              </a:ext>
            </a:extLst>
          </p:cNvPr>
          <p:cNvGrpSpPr/>
          <p:nvPr/>
        </p:nvGrpSpPr>
        <p:grpSpPr>
          <a:xfrm>
            <a:off x="9989087" y="4657931"/>
            <a:ext cx="1512352" cy="261257"/>
            <a:chOff x="3530600" y="853598"/>
            <a:chExt cx="1527175" cy="261257"/>
          </a:xfrm>
        </p:grpSpPr>
        <p:sp>
          <p:nvSpPr>
            <p:cNvPr id="1043" name="직사각형 1042">
              <a:extLst>
                <a:ext uri="{FF2B5EF4-FFF2-40B4-BE49-F238E27FC236}">
                  <a16:creationId xmlns:a16="http://schemas.microsoft.com/office/drawing/2014/main" id="{EDCB23C2-E4D8-B475-E606-687673D51307}"/>
                </a:ext>
              </a:extLst>
            </p:cNvPr>
            <p:cNvSpPr/>
            <p:nvPr/>
          </p:nvSpPr>
          <p:spPr>
            <a:xfrm>
              <a:off x="3530600" y="853598"/>
              <a:ext cx="1527175" cy="261257"/>
            </a:xfrm>
            <a:prstGeom prst="rect">
              <a:avLst/>
            </a:prstGeom>
            <a:solidFill>
              <a:srgbClr val="B000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044" name="직사각형 1043">
              <a:extLst>
                <a:ext uri="{FF2B5EF4-FFF2-40B4-BE49-F238E27FC236}">
                  <a16:creationId xmlns:a16="http://schemas.microsoft.com/office/drawing/2014/main" id="{435ED443-642E-C390-33B1-21C406969E0B}"/>
                </a:ext>
              </a:extLst>
            </p:cNvPr>
            <p:cNvSpPr/>
            <p:nvPr/>
          </p:nvSpPr>
          <p:spPr>
            <a:xfrm>
              <a:off x="3898786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Django </a:t>
              </a:r>
              <a:r>
                <a:rPr lang="ko-KR" altLang="en-US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프론트엔드개발</a:t>
              </a:r>
              <a:endParaRPr lang="ko-KR" altLang="en-US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</p:grpSp>
      <p:grpSp>
        <p:nvGrpSpPr>
          <p:cNvPr id="1045" name="그룹 1044">
            <a:extLst>
              <a:ext uri="{FF2B5EF4-FFF2-40B4-BE49-F238E27FC236}">
                <a16:creationId xmlns:a16="http://schemas.microsoft.com/office/drawing/2014/main" id="{4A9B5078-AFAF-9F68-1A03-D0F5B6892DC5}"/>
              </a:ext>
            </a:extLst>
          </p:cNvPr>
          <p:cNvGrpSpPr/>
          <p:nvPr/>
        </p:nvGrpSpPr>
        <p:grpSpPr>
          <a:xfrm>
            <a:off x="6948489" y="4738418"/>
            <a:ext cx="712439" cy="202026"/>
            <a:chOff x="3550236" y="4283988"/>
            <a:chExt cx="712439" cy="202026"/>
          </a:xfrm>
        </p:grpSpPr>
        <p:cxnSp>
          <p:nvCxnSpPr>
            <p:cNvPr id="1046" name="직선 화살표 연결선 1045">
              <a:extLst>
                <a:ext uri="{FF2B5EF4-FFF2-40B4-BE49-F238E27FC236}">
                  <a16:creationId xmlns:a16="http://schemas.microsoft.com/office/drawing/2014/main" id="{057BABD9-79F9-B295-AFF6-F4F6EE9B661A}"/>
                </a:ext>
              </a:extLst>
            </p:cNvPr>
            <p:cNvCxnSpPr>
              <a:cxnSpLocks/>
            </p:cNvCxnSpPr>
            <p:nvPr/>
          </p:nvCxnSpPr>
          <p:spPr>
            <a:xfrm>
              <a:off x="3550236" y="4283988"/>
              <a:ext cx="712439" cy="0"/>
            </a:xfrm>
            <a:prstGeom prst="straightConnector1">
              <a:avLst/>
            </a:prstGeom>
            <a:ln w="28575">
              <a:solidFill>
                <a:srgbClr val="B0002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7" name="직사각형 1046">
              <a:extLst>
                <a:ext uri="{FF2B5EF4-FFF2-40B4-BE49-F238E27FC236}">
                  <a16:creationId xmlns:a16="http://schemas.microsoft.com/office/drawing/2014/main" id="{CD38F26D-969B-2046-7B23-0F6039E3443B}"/>
                </a:ext>
              </a:extLst>
            </p:cNvPr>
            <p:cNvSpPr/>
            <p:nvPr/>
          </p:nvSpPr>
          <p:spPr>
            <a:xfrm>
              <a:off x="3550236" y="4308214"/>
              <a:ext cx="712437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100" dirty="0">
                  <a:solidFill>
                    <a:srgbClr val="B00020"/>
                  </a:solidFill>
                  <a:latin typeface="프리젠테이션 5 Medium" pitchFamily="2" charset="-127"/>
                  <a:ea typeface="프리젠테이션 5 Medium" pitchFamily="2" charset="-127"/>
                </a:rPr>
                <a:t>ML </a:t>
              </a:r>
              <a:r>
                <a:rPr lang="ko-KR" altLang="en-US" sz="1100" dirty="0">
                  <a:solidFill>
                    <a:srgbClr val="B00020"/>
                  </a:solidFill>
                  <a:latin typeface="프리젠테이션 5 Medium" pitchFamily="2" charset="-127"/>
                  <a:ea typeface="프리젠테이션 5 Medium" pitchFamily="2" charset="-127"/>
                </a:rPr>
                <a:t>기획</a:t>
              </a:r>
            </a:p>
          </p:txBody>
        </p:sp>
      </p:grpSp>
      <p:grpSp>
        <p:nvGrpSpPr>
          <p:cNvPr id="1048" name="그룹 1047">
            <a:extLst>
              <a:ext uri="{FF2B5EF4-FFF2-40B4-BE49-F238E27FC236}">
                <a16:creationId xmlns:a16="http://schemas.microsoft.com/office/drawing/2014/main" id="{14B31C6B-FD20-E898-C196-09E09CE71D97}"/>
              </a:ext>
            </a:extLst>
          </p:cNvPr>
          <p:cNvGrpSpPr/>
          <p:nvPr/>
        </p:nvGrpSpPr>
        <p:grpSpPr>
          <a:xfrm>
            <a:off x="7686091" y="4657931"/>
            <a:ext cx="1547694" cy="261257"/>
            <a:chOff x="3530600" y="853598"/>
            <a:chExt cx="1527175" cy="261257"/>
          </a:xfrm>
        </p:grpSpPr>
        <p:sp>
          <p:nvSpPr>
            <p:cNvPr id="1049" name="직사각형 1048">
              <a:extLst>
                <a:ext uri="{FF2B5EF4-FFF2-40B4-BE49-F238E27FC236}">
                  <a16:creationId xmlns:a16="http://schemas.microsoft.com/office/drawing/2014/main" id="{0CDBB265-B544-51B2-2A14-E9A6E794FC62}"/>
                </a:ext>
              </a:extLst>
            </p:cNvPr>
            <p:cNvSpPr/>
            <p:nvPr/>
          </p:nvSpPr>
          <p:spPr>
            <a:xfrm>
              <a:off x="3530600" y="853598"/>
              <a:ext cx="1527175" cy="261257"/>
            </a:xfrm>
            <a:prstGeom prst="rect">
              <a:avLst/>
            </a:prstGeom>
            <a:solidFill>
              <a:srgbClr val="B000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050" name="직사각형 1049">
              <a:extLst>
                <a:ext uri="{FF2B5EF4-FFF2-40B4-BE49-F238E27FC236}">
                  <a16:creationId xmlns:a16="http://schemas.microsoft.com/office/drawing/2014/main" id="{4B86ACE4-2765-2512-5304-110BEBCBF121}"/>
                </a:ext>
              </a:extLst>
            </p:cNvPr>
            <p:cNvSpPr/>
            <p:nvPr/>
          </p:nvSpPr>
          <p:spPr>
            <a:xfrm>
              <a:off x="3898786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LLM, LangChin  </a:t>
              </a:r>
              <a:r>
                <a:rPr lang="ko-KR" altLang="en-US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백엔드 개발 </a:t>
              </a:r>
              <a:endParaRPr lang="ko-KR" altLang="en-US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BD4EF667-1DFD-B8AD-3A59-FA16DF50110B}"/>
              </a:ext>
            </a:extLst>
          </p:cNvPr>
          <p:cNvGrpSpPr/>
          <p:nvPr/>
        </p:nvGrpSpPr>
        <p:grpSpPr>
          <a:xfrm>
            <a:off x="408972" y="273831"/>
            <a:ext cx="2098558" cy="536874"/>
            <a:chOff x="381000" y="577850"/>
            <a:chExt cx="2098558" cy="706457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E35F35BD-EE92-5E12-B556-1FE8B9CE632F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Ⅰ</a:t>
              </a:r>
              <a:endParaRPr lang="ko-KR" altLang="en-US" sz="20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AFA5FCC2-23A7-2701-FE0D-1314A34B1820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서론</a:t>
              </a: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E419489B-9535-59AA-71E7-578BDA62D926}"/>
                </a:ext>
              </a:extLst>
            </p:cNvPr>
            <p:cNvSpPr/>
            <p:nvPr/>
          </p:nvSpPr>
          <p:spPr>
            <a:xfrm>
              <a:off x="698827" y="977900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4. </a:t>
              </a:r>
              <a:r>
                <a:rPr lang="ko-KR" altLang="en-US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프로젝트 추진 일정표</a:t>
              </a: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6E4BA8A3-5D9D-E9C5-ED95-E5AB72675B3C}"/>
              </a:ext>
            </a:extLst>
          </p:cNvPr>
          <p:cNvGrpSpPr/>
          <p:nvPr/>
        </p:nvGrpSpPr>
        <p:grpSpPr>
          <a:xfrm>
            <a:off x="4659708" y="5914783"/>
            <a:ext cx="790802" cy="198385"/>
            <a:chOff x="2677970" y="960000"/>
            <a:chExt cx="790802" cy="198385"/>
          </a:xfrm>
        </p:grpSpPr>
        <p:cxnSp>
          <p:nvCxnSpPr>
            <p:cNvPr id="29" name="직선 화살표 연결선 28">
              <a:extLst>
                <a:ext uri="{FF2B5EF4-FFF2-40B4-BE49-F238E27FC236}">
                  <a16:creationId xmlns:a16="http://schemas.microsoft.com/office/drawing/2014/main" id="{FC9A885A-A5A1-8139-4E86-7C2BA6A8D08E}"/>
                </a:ext>
              </a:extLst>
            </p:cNvPr>
            <p:cNvCxnSpPr>
              <a:cxnSpLocks/>
            </p:cNvCxnSpPr>
            <p:nvPr/>
          </p:nvCxnSpPr>
          <p:spPr>
            <a:xfrm>
              <a:off x="2707850" y="960000"/>
              <a:ext cx="731043" cy="0"/>
            </a:xfrm>
            <a:prstGeom prst="straightConnector1">
              <a:avLst/>
            </a:prstGeom>
            <a:ln w="28575">
              <a:solidFill>
                <a:srgbClr val="6A4C93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2A534A26-7594-6BDE-6579-9F3B7BA956E4}"/>
                </a:ext>
              </a:extLst>
            </p:cNvPr>
            <p:cNvSpPr/>
            <p:nvPr/>
          </p:nvSpPr>
          <p:spPr>
            <a:xfrm>
              <a:off x="2677970" y="980585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rgbClr val="6A4C93"/>
                  </a:solidFill>
                  <a:latin typeface="프리젠테이션 5 Medium" pitchFamily="2" charset="-127"/>
                  <a:ea typeface="프리젠테이션 5 Medium" pitchFamily="2" charset="-127"/>
                </a:rPr>
                <a:t>기능 구상</a:t>
              </a: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58FC7D1A-70E9-1AE0-33F7-49CC14603D1F}"/>
              </a:ext>
            </a:extLst>
          </p:cNvPr>
          <p:cNvGrpSpPr/>
          <p:nvPr/>
        </p:nvGrpSpPr>
        <p:grpSpPr>
          <a:xfrm>
            <a:off x="5425395" y="5836957"/>
            <a:ext cx="1144280" cy="261257"/>
            <a:chOff x="3530600" y="853598"/>
            <a:chExt cx="1527175" cy="261257"/>
          </a:xfrm>
        </p:grpSpPr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F86FD1C2-C8AC-F169-6ACD-721DCDDC45EB}"/>
                </a:ext>
              </a:extLst>
            </p:cNvPr>
            <p:cNvSpPr/>
            <p:nvPr/>
          </p:nvSpPr>
          <p:spPr>
            <a:xfrm>
              <a:off x="3530600" y="853598"/>
              <a:ext cx="1527175" cy="261257"/>
            </a:xfrm>
            <a:prstGeom prst="rect">
              <a:avLst/>
            </a:prstGeom>
            <a:solidFill>
              <a:srgbClr val="6A4C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BAB8D526-3925-C168-EB74-3055CE4F5DF4}"/>
                </a:ext>
              </a:extLst>
            </p:cNvPr>
            <p:cNvSpPr/>
            <p:nvPr/>
          </p:nvSpPr>
          <p:spPr>
            <a:xfrm>
              <a:off x="3898786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UI,UX</a:t>
              </a:r>
              <a:r>
                <a:rPr lang="ko-KR" altLang="en-US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 프로토타입 제작</a:t>
              </a:r>
              <a:endParaRPr lang="ko-KR" altLang="en-US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348B8ED8-C5F2-0F17-B2F5-FB71FFEBFB4F}"/>
              </a:ext>
            </a:extLst>
          </p:cNvPr>
          <p:cNvGrpSpPr/>
          <p:nvPr/>
        </p:nvGrpSpPr>
        <p:grpSpPr>
          <a:xfrm>
            <a:off x="6938194" y="5485837"/>
            <a:ext cx="712439" cy="202026"/>
            <a:chOff x="3550236" y="4283988"/>
            <a:chExt cx="712439" cy="202026"/>
          </a:xfrm>
        </p:grpSpPr>
        <p:cxnSp>
          <p:nvCxnSpPr>
            <p:cNvPr id="1024" name="직선 화살표 연결선 1023">
              <a:extLst>
                <a:ext uri="{FF2B5EF4-FFF2-40B4-BE49-F238E27FC236}">
                  <a16:creationId xmlns:a16="http://schemas.microsoft.com/office/drawing/2014/main" id="{741C35A8-6090-6381-0D43-1045CB88E37C}"/>
                </a:ext>
              </a:extLst>
            </p:cNvPr>
            <p:cNvCxnSpPr>
              <a:cxnSpLocks/>
            </p:cNvCxnSpPr>
            <p:nvPr/>
          </p:nvCxnSpPr>
          <p:spPr>
            <a:xfrm>
              <a:off x="3550236" y="4283988"/>
              <a:ext cx="712439" cy="0"/>
            </a:xfrm>
            <a:prstGeom prst="straightConnector1">
              <a:avLst/>
            </a:prstGeom>
            <a:ln w="28575">
              <a:solidFill>
                <a:srgbClr val="B0002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5" name="직사각형 1024">
              <a:extLst>
                <a:ext uri="{FF2B5EF4-FFF2-40B4-BE49-F238E27FC236}">
                  <a16:creationId xmlns:a16="http://schemas.microsoft.com/office/drawing/2014/main" id="{6C700EEB-BD42-4920-308D-B71C5DF86218}"/>
                </a:ext>
              </a:extLst>
            </p:cNvPr>
            <p:cNvSpPr/>
            <p:nvPr/>
          </p:nvSpPr>
          <p:spPr>
            <a:xfrm>
              <a:off x="3550236" y="4308214"/>
              <a:ext cx="712437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rgbClr val="B00020"/>
                  </a:solidFill>
                  <a:latin typeface="프리젠테이션 5 Medium" pitchFamily="2" charset="-127"/>
                  <a:ea typeface="프리젠테이션 5 Medium" pitchFamily="2" charset="-127"/>
                </a:rPr>
                <a:t>웹 서비스 기획</a:t>
              </a:r>
            </a:p>
          </p:txBody>
        </p:sp>
      </p:grpSp>
      <p:grpSp>
        <p:nvGrpSpPr>
          <p:cNvPr id="1026" name="그룹 1025">
            <a:extLst>
              <a:ext uri="{FF2B5EF4-FFF2-40B4-BE49-F238E27FC236}">
                <a16:creationId xmlns:a16="http://schemas.microsoft.com/office/drawing/2014/main" id="{F1F1D792-90E4-648E-F969-EBE33E5F5C33}"/>
              </a:ext>
            </a:extLst>
          </p:cNvPr>
          <p:cNvGrpSpPr/>
          <p:nvPr/>
        </p:nvGrpSpPr>
        <p:grpSpPr>
          <a:xfrm>
            <a:off x="7660451" y="5405350"/>
            <a:ext cx="3840988" cy="261257"/>
            <a:chOff x="3530600" y="853598"/>
            <a:chExt cx="1527175" cy="261257"/>
          </a:xfrm>
        </p:grpSpPr>
        <p:sp>
          <p:nvSpPr>
            <p:cNvPr id="1028" name="직사각형 1027">
              <a:extLst>
                <a:ext uri="{FF2B5EF4-FFF2-40B4-BE49-F238E27FC236}">
                  <a16:creationId xmlns:a16="http://schemas.microsoft.com/office/drawing/2014/main" id="{7FA6413F-E7BE-068A-C1E9-C33190E5D606}"/>
                </a:ext>
              </a:extLst>
            </p:cNvPr>
            <p:cNvSpPr/>
            <p:nvPr/>
          </p:nvSpPr>
          <p:spPr>
            <a:xfrm>
              <a:off x="3530600" y="853598"/>
              <a:ext cx="1527175" cy="261257"/>
            </a:xfrm>
            <a:prstGeom prst="rect">
              <a:avLst/>
            </a:prstGeom>
            <a:solidFill>
              <a:srgbClr val="B000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030" name="직사각형 1029">
              <a:extLst>
                <a:ext uri="{FF2B5EF4-FFF2-40B4-BE49-F238E27FC236}">
                  <a16:creationId xmlns:a16="http://schemas.microsoft.com/office/drawing/2014/main" id="{14C63631-8661-45B0-D2B6-66D8BEDFBA51}"/>
                </a:ext>
              </a:extLst>
            </p:cNvPr>
            <p:cNvSpPr/>
            <p:nvPr/>
          </p:nvSpPr>
          <p:spPr>
            <a:xfrm>
              <a:off x="3898786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통합 테스트 및 버그 수정 </a:t>
              </a:r>
              <a:r>
                <a:rPr lang="en-US" altLang="ko-KR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/ </a:t>
              </a:r>
              <a:r>
                <a:rPr lang="ko-KR" altLang="en-US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성능 최적화 </a:t>
              </a:r>
              <a:r>
                <a:rPr lang="en-US" altLang="ko-KR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 / PythonAnywhere </a:t>
              </a:r>
              <a:r>
                <a:rPr lang="ko-KR" altLang="en-US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배포</a:t>
              </a:r>
              <a:endParaRPr lang="ko-KR" altLang="en-US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671786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AE4D6-D336-F792-F781-3DF1D327F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668660C5-D42A-B149-CB6C-06855748FF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3377"/>
              </p:ext>
            </p:extLst>
          </p:nvPr>
        </p:nvGraphicFramePr>
        <p:xfrm>
          <a:off x="558801" y="1271150"/>
          <a:ext cx="11074399" cy="32000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35199">
                  <a:extLst>
                    <a:ext uri="{9D8B030D-6E8A-4147-A177-3AD203B41FA5}">
                      <a16:colId xmlns:a16="http://schemas.microsoft.com/office/drawing/2014/main" val="2272385301"/>
                    </a:ext>
                  </a:extLst>
                </a:gridCol>
                <a:gridCol w="8839200">
                  <a:extLst>
                    <a:ext uri="{9D8B030D-6E8A-4147-A177-3AD203B41FA5}">
                      <a16:colId xmlns:a16="http://schemas.microsoft.com/office/drawing/2014/main" val="2854153201"/>
                    </a:ext>
                  </a:extLst>
                </a:gridCol>
              </a:tblGrid>
              <a:tr h="39094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개발 환경 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di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0302161"/>
                  </a:ext>
                </a:extLst>
              </a:tr>
              <a:tr h="4634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OS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Window 10 pro 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9492310"/>
                  </a:ext>
                </a:extLst>
              </a:tr>
              <a:tr h="3909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Language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Python 3.10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7898935"/>
                  </a:ext>
                </a:extLst>
              </a:tr>
              <a:tr h="3909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IDE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Anaconda Jupyter NoteBook, Vscode, Cursor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0944460"/>
                  </a:ext>
                </a:extLst>
              </a:tr>
              <a:tr h="3909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Backend &amp; AI Core Stack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Mock Server, LLM, LangChain, RAG, Django,ML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6150451"/>
                  </a:ext>
                </a:extLst>
              </a:tr>
              <a:tr h="3909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Database &amp; Vector Store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MySQL, PythonAnywhere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4737740"/>
                  </a:ext>
                </a:extLst>
              </a:tr>
              <a:tr h="3909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Data Processing &amp; ML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easycodefpy,Pandas, Numpy, Scikit-learn, NLTK/spaCy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6119858"/>
                  </a:ext>
                </a:extLst>
              </a:tr>
              <a:tr h="3909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Frontend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Django Templates, Bootstrap, JavaScript,Chart.js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377602"/>
                  </a:ext>
                </a:extLst>
              </a:tr>
            </a:tbl>
          </a:graphicData>
        </a:graphic>
      </p:graphicFrame>
      <p:grpSp>
        <p:nvGrpSpPr>
          <p:cNvPr id="10" name="그룹 9">
            <a:extLst>
              <a:ext uri="{FF2B5EF4-FFF2-40B4-BE49-F238E27FC236}">
                <a16:creationId xmlns:a16="http://schemas.microsoft.com/office/drawing/2014/main" id="{945D2038-ED20-0899-3D2E-1AA76CFE0F6F}"/>
              </a:ext>
            </a:extLst>
          </p:cNvPr>
          <p:cNvGrpSpPr/>
          <p:nvPr/>
        </p:nvGrpSpPr>
        <p:grpSpPr>
          <a:xfrm>
            <a:off x="408972" y="273831"/>
            <a:ext cx="2098558" cy="536874"/>
            <a:chOff x="381000" y="577850"/>
            <a:chExt cx="2098558" cy="706457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41F00293-70AB-346A-3156-F3B770895BC4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Ⅰ</a:t>
              </a:r>
              <a:endParaRPr lang="ko-KR" altLang="en-US" sz="20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C21F265B-B658-136D-8111-AB598E51B0C6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서론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EE8F33C9-53B1-26AE-AD3F-3E5CCED8DC14}"/>
                </a:ext>
              </a:extLst>
            </p:cNvPr>
            <p:cNvSpPr/>
            <p:nvPr/>
          </p:nvSpPr>
          <p:spPr>
            <a:xfrm>
              <a:off x="698827" y="977900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5. </a:t>
              </a:r>
              <a:r>
                <a:rPr lang="ko-KR" altLang="en-US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프로젝트 개발 환경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050483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15B99-D31A-BF25-BBDD-16D503E67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>
            <a:extLst>
              <a:ext uri="{FF2B5EF4-FFF2-40B4-BE49-F238E27FC236}">
                <a16:creationId xmlns:a16="http://schemas.microsoft.com/office/drawing/2014/main" id="{2118E15C-7BA6-D7E5-E7CB-99FF5F33B98B}"/>
              </a:ext>
            </a:extLst>
          </p:cNvPr>
          <p:cNvGrpSpPr/>
          <p:nvPr/>
        </p:nvGrpSpPr>
        <p:grpSpPr>
          <a:xfrm>
            <a:off x="408972" y="273831"/>
            <a:ext cx="2098558" cy="536874"/>
            <a:chOff x="381000" y="577850"/>
            <a:chExt cx="2098558" cy="706457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1AFD11D5-B04A-FF0B-FBFC-68E8A72F01DD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Ⅱ</a:t>
              </a:r>
              <a:endParaRPr lang="ko-KR" altLang="en-US" sz="20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4210D845-5D0C-96AD-0C67-D8579CDE57A8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프로젝트 세부 내용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A9B9C3B0-5600-0202-1BAE-51B3FF064D0A}"/>
                </a:ext>
              </a:extLst>
            </p:cNvPr>
            <p:cNvSpPr/>
            <p:nvPr/>
          </p:nvSpPr>
          <p:spPr>
            <a:xfrm>
              <a:off x="698827" y="977900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1. </a:t>
              </a:r>
              <a:r>
                <a:rPr lang="ko-KR" altLang="en-US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외부 서비스 연동</a:t>
              </a: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66A9B5A0-CC1F-357B-C065-9F2C6243AB9A}"/>
              </a:ext>
            </a:extLst>
          </p:cNvPr>
          <p:cNvGrpSpPr/>
          <p:nvPr/>
        </p:nvGrpSpPr>
        <p:grpSpPr>
          <a:xfrm>
            <a:off x="593783" y="1369060"/>
            <a:ext cx="3522244" cy="389445"/>
            <a:chOff x="408972" y="1295400"/>
            <a:chExt cx="3858228" cy="596900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770A3F68-8623-5746-A14F-843107774F70}"/>
                </a:ext>
              </a:extLst>
            </p:cNvPr>
            <p:cNvSpPr/>
            <p:nvPr/>
          </p:nvSpPr>
          <p:spPr>
            <a:xfrm>
              <a:off x="408972" y="1295400"/>
              <a:ext cx="3858228" cy="596900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0F22C99-D7B9-2616-C334-3CADBA6B8E97}"/>
                </a:ext>
              </a:extLst>
            </p:cNvPr>
            <p:cNvSpPr txBox="1"/>
            <p:nvPr/>
          </p:nvSpPr>
          <p:spPr>
            <a:xfrm>
              <a:off x="548672" y="1334399"/>
              <a:ext cx="3578828" cy="51890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6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Mock </a:t>
              </a:r>
              <a:r>
                <a:rPr lang="ko-KR" altLang="en-US" sz="16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서버 기반 보험료 계산 시스템</a:t>
              </a: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6E9EC416-E0DA-2B1A-F973-B49CD23349FF}"/>
              </a:ext>
            </a:extLst>
          </p:cNvPr>
          <p:cNvGrpSpPr/>
          <p:nvPr/>
        </p:nvGrpSpPr>
        <p:grpSpPr>
          <a:xfrm>
            <a:off x="593783" y="2549715"/>
            <a:ext cx="5023246" cy="1742061"/>
            <a:chOff x="6030791" y="1457756"/>
            <a:chExt cx="5023246" cy="1742061"/>
          </a:xfrm>
        </p:grpSpPr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0D965C57-CB67-FDCB-7BB8-9106467F42B0}"/>
                </a:ext>
              </a:extLst>
            </p:cNvPr>
            <p:cNvSpPr/>
            <p:nvPr/>
          </p:nvSpPr>
          <p:spPr>
            <a:xfrm>
              <a:off x="6030791" y="1582243"/>
              <a:ext cx="5023246" cy="1617574"/>
            </a:xfrm>
            <a:prstGeom prst="roundRect">
              <a:avLst>
                <a:gd name="adj" fmla="val 11217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5" name="Rounded Rectangle 2">
              <a:extLst>
                <a:ext uri="{FF2B5EF4-FFF2-40B4-BE49-F238E27FC236}">
                  <a16:creationId xmlns:a16="http://schemas.microsoft.com/office/drawing/2014/main" id="{52754805-8548-A122-8505-C6E603C28867}"/>
                </a:ext>
              </a:extLst>
            </p:cNvPr>
            <p:cNvSpPr/>
            <p:nvPr/>
          </p:nvSpPr>
          <p:spPr>
            <a:xfrm>
              <a:off x="6097902" y="1457756"/>
              <a:ext cx="1980706" cy="358511"/>
            </a:xfrm>
            <a:prstGeom prst="roundRect">
              <a:avLst/>
            </a:prstGeom>
            <a:gradFill>
              <a:gsLst>
                <a:gs pos="0">
                  <a:srgbClr val="6A4C93"/>
                </a:gs>
                <a:gs pos="100000">
                  <a:srgbClr val="B00020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Mock  </a:t>
              </a:r>
              <a:r>
                <a:rPr lang="ko-KR" altLang="en-US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서버 선택 배경</a:t>
              </a:r>
            </a:p>
          </p:txBody>
        </p:sp>
      </p:grp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E241E3E-1912-8015-A25E-F919737072B2}"/>
              </a:ext>
            </a:extLst>
          </p:cNvPr>
          <p:cNvSpPr/>
          <p:nvPr/>
        </p:nvSpPr>
        <p:spPr>
          <a:xfrm>
            <a:off x="871027" y="2908226"/>
            <a:ext cx="4452378" cy="13835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CODEF API </a:t>
            </a:r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정식 서비스 신청 시 사업자등록증 필요</a:t>
            </a:r>
            <a:endParaRPr lang="en-US" altLang="ko-KR" spc="-80">
              <a:solidFill>
                <a:srgbClr val="2D3142"/>
              </a:solidFill>
              <a:latin typeface="프리젠테이션 8 ExtraBold" pitchFamily="2" charset="-127"/>
              <a:ea typeface="프리젠테이션 8 ExtraBold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개발 초기 단계에서 외부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API </a:t>
            </a:r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의존성 제거</a:t>
            </a:r>
            <a:endParaRPr lang="en-US" altLang="ko-KR" spc="-80">
              <a:solidFill>
                <a:srgbClr val="2D3142"/>
              </a:solidFill>
              <a:latin typeface="프리젠테이션 8 ExtraBold" pitchFamily="2" charset="-127"/>
              <a:ea typeface="프리젠테이션 8 ExtraBold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팀원 모두가 동일한 환경에서 개발 가능 </a:t>
            </a:r>
            <a:endParaRPr lang="en-US" altLang="ko-KR" spc="-80">
              <a:solidFill>
                <a:srgbClr val="2D3142"/>
              </a:solidFill>
              <a:latin typeface="프리젠테이션 8 ExtraBold" pitchFamily="2" charset="-127"/>
              <a:ea typeface="프리젠테이션 8 ExtraBold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API </a:t>
            </a:r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호출 비용 및 제한 없는 무제한 테스트</a:t>
            </a: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9B39EE47-8097-5E61-10AC-65A59E9CFE83}"/>
              </a:ext>
            </a:extLst>
          </p:cNvPr>
          <p:cNvGrpSpPr/>
          <p:nvPr/>
        </p:nvGrpSpPr>
        <p:grpSpPr>
          <a:xfrm>
            <a:off x="778595" y="4525800"/>
            <a:ext cx="1383032" cy="1358549"/>
            <a:chOff x="569300" y="4445275"/>
            <a:chExt cx="1383032" cy="1358549"/>
          </a:xfrm>
        </p:grpSpPr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8ACB33D4-CA48-0715-C25A-21CE63B5A71A}"/>
                </a:ext>
              </a:extLst>
            </p:cNvPr>
            <p:cNvGrpSpPr/>
            <p:nvPr/>
          </p:nvGrpSpPr>
          <p:grpSpPr>
            <a:xfrm>
              <a:off x="569300" y="4445275"/>
              <a:ext cx="1383032" cy="1358549"/>
              <a:chOff x="2877869" y="5054875"/>
              <a:chExt cx="1383032" cy="1358549"/>
            </a:xfrm>
          </p:grpSpPr>
          <p:sp>
            <p:nvSpPr>
              <p:cNvPr id="28" name="타원 27">
                <a:extLst>
                  <a:ext uri="{FF2B5EF4-FFF2-40B4-BE49-F238E27FC236}">
                    <a16:creationId xmlns:a16="http://schemas.microsoft.com/office/drawing/2014/main" id="{1DE36124-D1A6-7262-7EC2-8C4CF662F4EA}"/>
                  </a:ext>
                </a:extLst>
              </p:cNvPr>
              <p:cNvSpPr/>
              <p:nvPr/>
            </p:nvSpPr>
            <p:spPr>
              <a:xfrm>
                <a:off x="2902352" y="5054875"/>
                <a:ext cx="1358549" cy="1358549"/>
              </a:xfrm>
              <a:prstGeom prst="ellipse">
                <a:avLst/>
              </a:prstGeom>
              <a:gradFill>
                <a:gsLst>
                  <a:gs pos="0">
                    <a:srgbClr val="6A4C93"/>
                  </a:gs>
                  <a:gs pos="100000">
                    <a:srgbClr val="B00020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  <p:sp>
            <p:nvSpPr>
              <p:cNvPr id="29" name="타원 28">
                <a:extLst>
                  <a:ext uri="{FF2B5EF4-FFF2-40B4-BE49-F238E27FC236}">
                    <a16:creationId xmlns:a16="http://schemas.microsoft.com/office/drawing/2014/main" id="{A3C8A2BC-32E5-E927-4094-FF380C1FED0F}"/>
                  </a:ext>
                </a:extLst>
              </p:cNvPr>
              <p:cNvSpPr/>
              <p:nvPr/>
            </p:nvSpPr>
            <p:spPr>
              <a:xfrm>
                <a:off x="3024961" y="5177484"/>
                <a:ext cx="1113331" cy="1113331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4EE5EF6E-EB96-B159-CCF3-4D20496EC339}"/>
                  </a:ext>
                </a:extLst>
              </p:cNvPr>
              <p:cNvSpPr/>
              <p:nvPr/>
            </p:nvSpPr>
            <p:spPr>
              <a:xfrm>
                <a:off x="2877869" y="5360243"/>
                <a:ext cx="1383032" cy="3040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spc="-80">
                    <a:solidFill>
                      <a:srgbClr val="2D3142"/>
                    </a:solidFill>
                    <a:latin typeface="프리젠테이션 8 ExtraBold" pitchFamily="2" charset="-127"/>
                    <a:ea typeface="프리젠테이션 8 ExtraBold" pitchFamily="2" charset="-127"/>
                  </a:rPr>
                  <a:t>Mock </a:t>
                </a:r>
                <a:r>
                  <a:rPr lang="ko-KR" altLang="en-US" sz="1200" spc="-80">
                    <a:solidFill>
                      <a:srgbClr val="2D3142"/>
                    </a:solidFill>
                    <a:latin typeface="프리젠테이션 8 ExtraBold" pitchFamily="2" charset="-127"/>
                    <a:ea typeface="프리젠테이션 8 ExtraBold" pitchFamily="2" charset="-127"/>
                  </a:rPr>
                  <a:t>데이터 설계 </a:t>
                </a:r>
              </a:p>
            </p:txBody>
          </p:sp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20A294AA-8E10-933E-35D6-38542381B14A}"/>
                  </a:ext>
                </a:extLst>
              </p:cNvPr>
              <p:cNvSpPr/>
              <p:nvPr/>
            </p:nvSpPr>
            <p:spPr>
              <a:xfrm>
                <a:off x="2877869" y="5695011"/>
                <a:ext cx="1383032" cy="52196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실제 보험료 </a:t>
                </a:r>
                <a:endParaRPr lang="en-US" altLang="ko-KR" sz="1200" spc="-8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endParaRPr>
              </a:p>
              <a:p>
                <a:pPr algn="ctr"/>
                <a:r>
                  <a:rPr lang="ko-KR" altLang="en-US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계산 로직과 유사한 </a:t>
                </a:r>
                <a:endParaRPr lang="en-US" altLang="ko-KR" sz="1200" spc="-8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endParaRPr>
              </a:p>
              <a:p>
                <a:pPr algn="ctr"/>
                <a:r>
                  <a:rPr lang="ko-KR" altLang="en-US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알고리즘 구현</a:t>
                </a:r>
              </a:p>
            </p:txBody>
          </p:sp>
        </p:grp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D14D2F36-1747-878E-A5CB-3B10E25AF960}"/>
                </a:ext>
              </a:extLst>
            </p:cNvPr>
            <p:cNvCxnSpPr>
              <a:cxnSpLocks/>
            </p:cNvCxnSpPr>
            <p:nvPr/>
          </p:nvCxnSpPr>
          <p:spPr>
            <a:xfrm>
              <a:off x="780957" y="5029085"/>
              <a:ext cx="959718" cy="0"/>
            </a:xfrm>
            <a:prstGeom prst="line">
              <a:avLst/>
            </a:prstGeom>
            <a:ln w="25400">
              <a:solidFill>
                <a:srgbClr val="2D3142"/>
              </a:solidFill>
              <a:prstDash val="sysDot"/>
              <a:headEnd type="diamond"/>
              <a:tail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A669C711-7806-913B-1239-5AA0C4DB88DE}"/>
              </a:ext>
            </a:extLst>
          </p:cNvPr>
          <p:cNvGrpSpPr/>
          <p:nvPr/>
        </p:nvGrpSpPr>
        <p:grpSpPr>
          <a:xfrm>
            <a:off x="2422003" y="4525800"/>
            <a:ext cx="1383032" cy="1358549"/>
            <a:chOff x="569300" y="4445275"/>
            <a:chExt cx="1383032" cy="1358549"/>
          </a:xfrm>
        </p:grpSpPr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B2E16CCB-0EAE-98E4-D9AA-BF5FFB1E67F7}"/>
                </a:ext>
              </a:extLst>
            </p:cNvPr>
            <p:cNvGrpSpPr/>
            <p:nvPr/>
          </p:nvGrpSpPr>
          <p:grpSpPr>
            <a:xfrm>
              <a:off x="569300" y="4445275"/>
              <a:ext cx="1383032" cy="1358549"/>
              <a:chOff x="2877869" y="5054875"/>
              <a:chExt cx="1383032" cy="1358549"/>
            </a:xfrm>
          </p:grpSpPr>
          <p:sp>
            <p:nvSpPr>
              <p:cNvPr id="39" name="타원 38">
                <a:extLst>
                  <a:ext uri="{FF2B5EF4-FFF2-40B4-BE49-F238E27FC236}">
                    <a16:creationId xmlns:a16="http://schemas.microsoft.com/office/drawing/2014/main" id="{000DF3D6-E64B-A63C-E704-FC81652E529D}"/>
                  </a:ext>
                </a:extLst>
              </p:cNvPr>
              <p:cNvSpPr/>
              <p:nvPr/>
            </p:nvSpPr>
            <p:spPr>
              <a:xfrm>
                <a:off x="2902352" y="5054875"/>
                <a:ext cx="1358549" cy="1358549"/>
              </a:xfrm>
              <a:prstGeom prst="ellipse">
                <a:avLst/>
              </a:prstGeom>
              <a:gradFill>
                <a:gsLst>
                  <a:gs pos="0">
                    <a:srgbClr val="6A4C93"/>
                  </a:gs>
                  <a:gs pos="100000">
                    <a:srgbClr val="B00020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  <p:sp>
            <p:nvSpPr>
              <p:cNvPr id="40" name="타원 39">
                <a:extLst>
                  <a:ext uri="{FF2B5EF4-FFF2-40B4-BE49-F238E27FC236}">
                    <a16:creationId xmlns:a16="http://schemas.microsoft.com/office/drawing/2014/main" id="{4CE48F26-570B-D3E0-81CC-47E2B6BB31F2}"/>
                  </a:ext>
                </a:extLst>
              </p:cNvPr>
              <p:cNvSpPr/>
              <p:nvPr/>
            </p:nvSpPr>
            <p:spPr>
              <a:xfrm>
                <a:off x="3024961" y="5177484"/>
                <a:ext cx="1113331" cy="1113331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  <p:sp>
            <p:nvSpPr>
              <p:cNvPr id="41" name="직사각형 40">
                <a:extLst>
                  <a:ext uri="{FF2B5EF4-FFF2-40B4-BE49-F238E27FC236}">
                    <a16:creationId xmlns:a16="http://schemas.microsoft.com/office/drawing/2014/main" id="{97D1BFDE-D870-FD5C-E0D7-AFF8CF29360B}"/>
                  </a:ext>
                </a:extLst>
              </p:cNvPr>
              <p:cNvSpPr/>
              <p:nvPr/>
            </p:nvSpPr>
            <p:spPr>
              <a:xfrm>
                <a:off x="2877869" y="5360243"/>
                <a:ext cx="1383032" cy="3040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spc="-80">
                    <a:solidFill>
                      <a:srgbClr val="2D3142"/>
                    </a:solidFill>
                    <a:latin typeface="프리젠테이션 8 ExtraBold" pitchFamily="2" charset="-127"/>
                    <a:ea typeface="프리젠테이션 8 ExtraBold" pitchFamily="2" charset="-127"/>
                  </a:rPr>
                  <a:t>환경별 전환 지원</a:t>
                </a:r>
              </a:p>
            </p:txBody>
          </p:sp>
          <p:sp>
            <p:nvSpPr>
              <p:cNvPr id="42" name="직사각형 41">
                <a:extLst>
                  <a:ext uri="{FF2B5EF4-FFF2-40B4-BE49-F238E27FC236}">
                    <a16:creationId xmlns:a16="http://schemas.microsoft.com/office/drawing/2014/main" id="{C8D781D4-8B7C-B2D6-19E2-1E549F7179EC}"/>
                  </a:ext>
                </a:extLst>
              </p:cNvPr>
              <p:cNvSpPr/>
              <p:nvPr/>
            </p:nvSpPr>
            <p:spPr>
              <a:xfrm>
                <a:off x="2877869" y="5695011"/>
                <a:ext cx="1383032" cy="52196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 개발용 </a:t>
                </a:r>
                <a:r>
                  <a:rPr lang="en-US" altLang="ko-KR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Mock →</a:t>
                </a:r>
              </a:p>
              <a:p>
                <a:pPr algn="ctr"/>
                <a:r>
                  <a:rPr lang="en-US" altLang="ko-KR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 </a:t>
                </a:r>
                <a:r>
                  <a:rPr lang="ko-KR" altLang="en-US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운영용 실제 </a:t>
                </a:r>
                <a:r>
                  <a:rPr lang="en-US" altLang="ko-KR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API </a:t>
                </a:r>
              </a:p>
              <a:p>
                <a:pPr algn="ctr"/>
                <a:r>
                  <a:rPr lang="ko-KR" altLang="en-US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쉬운 전환</a:t>
                </a:r>
              </a:p>
            </p:txBody>
          </p:sp>
        </p:grpSp>
        <p:cxnSp>
          <p:nvCxnSpPr>
            <p:cNvPr id="38" name="직선 연결선 37">
              <a:extLst>
                <a:ext uri="{FF2B5EF4-FFF2-40B4-BE49-F238E27FC236}">
                  <a16:creationId xmlns:a16="http://schemas.microsoft.com/office/drawing/2014/main" id="{E3F2C7EE-1EE2-6177-2C0D-D0535765E3AE}"/>
                </a:ext>
              </a:extLst>
            </p:cNvPr>
            <p:cNvCxnSpPr>
              <a:cxnSpLocks/>
            </p:cNvCxnSpPr>
            <p:nvPr/>
          </p:nvCxnSpPr>
          <p:spPr>
            <a:xfrm>
              <a:off x="780957" y="5029085"/>
              <a:ext cx="959718" cy="0"/>
            </a:xfrm>
            <a:prstGeom prst="line">
              <a:avLst/>
            </a:prstGeom>
            <a:ln w="25400">
              <a:solidFill>
                <a:srgbClr val="2D3142"/>
              </a:solidFill>
              <a:prstDash val="sysDot"/>
              <a:headEnd type="diamond"/>
              <a:tail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513D8E18-684D-DAAB-2AE1-39634300D71D}"/>
              </a:ext>
            </a:extLst>
          </p:cNvPr>
          <p:cNvGrpSpPr/>
          <p:nvPr/>
        </p:nvGrpSpPr>
        <p:grpSpPr>
          <a:xfrm>
            <a:off x="4065411" y="4525800"/>
            <a:ext cx="1383032" cy="1358549"/>
            <a:chOff x="569300" y="4445275"/>
            <a:chExt cx="1383032" cy="1358549"/>
          </a:xfrm>
        </p:grpSpPr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EB9B6EE3-6CA5-3F40-1EB6-CC244B7B6023}"/>
                </a:ext>
              </a:extLst>
            </p:cNvPr>
            <p:cNvGrpSpPr/>
            <p:nvPr/>
          </p:nvGrpSpPr>
          <p:grpSpPr>
            <a:xfrm>
              <a:off x="569300" y="4445275"/>
              <a:ext cx="1383032" cy="1358549"/>
              <a:chOff x="2877869" y="5054875"/>
              <a:chExt cx="1383032" cy="1358549"/>
            </a:xfrm>
          </p:grpSpPr>
          <p:sp>
            <p:nvSpPr>
              <p:cNvPr id="46" name="타원 45">
                <a:extLst>
                  <a:ext uri="{FF2B5EF4-FFF2-40B4-BE49-F238E27FC236}">
                    <a16:creationId xmlns:a16="http://schemas.microsoft.com/office/drawing/2014/main" id="{2FC1E687-285C-6A4D-E5D2-DB570BD46355}"/>
                  </a:ext>
                </a:extLst>
              </p:cNvPr>
              <p:cNvSpPr/>
              <p:nvPr/>
            </p:nvSpPr>
            <p:spPr>
              <a:xfrm>
                <a:off x="2902352" y="5054875"/>
                <a:ext cx="1358549" cy="1358549"/>
              </a:xfrm>
              <a:prstGeom prst="ellipse">
                <a:avLst/>
              </a:prstGeom>
              <a:gradFill>
                <a:gsLst>
                  <a:gs pos="0">
                    <a:srgbClr val="6A4C93"/>
                  </a:gs>
                  <a:gs pos="100000">
                    <a:srgbClr val="B00020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  <p:sp>
            <p:nvSpPr>
              <p:cNvPr id="47" name="타원 46">
                <a:extLst>
                  <a:ext uri="{FF2B5EF4-FFF2-40B4-BE49-F238E27FC236}">
                    <a16:creationId xmlns:a16="http://schemas.microsoft.com/office/drawing/2014/main" id="{55B8EA0C-7059-ABD3-4B2C-A92A37961E83}"/>
                  </a:ext>
                </a:extLst>
              </p:cNvPr>
              <p:cNvSpPr/>
              <p:nvPr/>
            </p:nvSpPr>
            <p:spPr>
              <a:xfrm>
                <a:off x="3024961" y="5177484"/>
                <a:ext cx="1113331" cy="1113331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  <p:sp>
            <p:nvSpPr>
              <p:cNvPr id="48" name="직사각형 47">
                <a:extLst>
                  <a:ext uri="{FF2B5EF4-FFF2-40B4-BE49-F238E27FC236}">
                    <a16:creationId xmlns:a16="http://schemas.microsoft.com/office/drawing/2014/main" id="{6C4697AB-C887-3386-B56E-4DFDFCEF0703}"/>
                  </a:ext>
                </a:extLst>
              </p:cNvPr>
              <p:cNvSpPr/>
              <p:nvPr/>
            </p:nvSpPr>
            <p:spPr>
              <a:xfrm>
                <a:off x="2877869" y="5360243"/>
                <a:ext cx="1383032" cy="3040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spc="-80">
                    <a:solidFill>
                      <a:srgbClr val="2D3142"/>
                    </a:solidFill>
                    <a:latin typeface="프리젠테이션 8 ExtraBold" pitchFamily="2" charset="-127"/>
                    <a:ea typeface="프리젠테이션 8 ExtraBold" pitchFamily="2" charset="-127"/>
                  </a:rPr>
                  <a:t>완전한 기능 구현</a:t>
                </a:r>
              </a:p>
            </p:txBody>
          </p:sp>
          <p:sp>
            <p:nvSpPr>
              <p:cNvPr id="49" name="직사각형 48">
                <a:extLst>
                  <a:ext uri="{FF2B5EF4-FFF2-40B4-BE49-F238E27FC236}">
                    <a16:creationId xmlns:a16="http://schemas.microsoft.com/office/drawing/2014/main" id="{88260A9F-1A29-8032-E83E-63FB62DDC30D}"/>
                  </a:ext>
                </a:extLst>
              </p:cNvPr>
              <p:cNvSpPr/>
              <p:nvPr/>
            </p:nvSpPr>
            <p:spPr>
              <a:xfrm>
                <a:off x="2877869" y="5695011"/>
                <a:ext cx="1383032" cy="52196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Mock </a:t>
                </a:r>
                <a:r>
                  <a:rPr lang="ko-KR" altLang="en-US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환경에서도 </a:t>
                </a:r>
                <a:endParaRPr lang="en-US" altLang="ko-KR" sz="1200" spc="-8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endParaRPr>
              </a:p>
              <a:p>
                <a:pPr algn="ctr"/>
                <a:r>
                  <a:rPr lang="ko-KR" altLang="en-US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모든 시스템 기능 </a:t>
                </a:r>
                <a:endParaRPr lang="en-US" altLang="ko-KR" sz="1200" spc="-8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endParaRPr>
              </a:p>
              <a:p>
                <a:pPr algn="ctr"/>
                <a:r>
                  <a:rPr lang="ko-KR" altLang="en-US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완벽 구현</a:t>
                </a:r>
              </a:p>
            </p:txBody>
          </p:sp>
        </p:grpSp>
        <p:cxnSp>
          <p:nvCxnSpPr>
            <p:cNvPr id="45" name="직선 연결선 44">
              <a:extLst>
                <a:ext uri="{FF2B5EF4-FFF2-40B4-BE49-F238E27FC236}">
                  <a16:creationId xmlns:a16="http://schemas.microsoft.com/office/drawing/2014/main" id="{8F4058C7-230A-8C06-D7EA-C734082FF7D9}"/>
                </a:ext>
              </a:extLst>
            </p:cNvPr>
            <p:cNvCxnSpPr>
              <a:cxnSpLocks/>
            </p:cNvCxnSpPr>
            <p:nvPr/>
          </p:nvCxnSpPr>
          <p:spPr>
            <a:xfrm>
              <a:off x="780957" y="5029085"/>
              <a:ext cx="959718" cy="0"/>
            </a:xfrm>
            <a:prstGeom prst="line">
              <a:avLst/>
            </a:prstGeom>
            <a:ln w="25400">
              <a:solidFill>
                <a:srgbClr val="2D3142"/>
              </a:solidFill>
              <a:prstDash val="sysDot"/>
              <a:headEnd type="diamond"/>
              <a:tail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F3AD576E-C368-BA24-630D-88E4B460C6D3}"/>
              </a:ext>
            </a:extLst>
          </p:cNvPr>
          <p:cNvGrpSpPr/>
          <p:nvPr/>
        </p:nvGrpSpPr>
        <p:grpSpPr>
          <a:xfrm>
            <a:off x="7466370" y="1136649"/>
            <a:ext cx="3735378" cy="5536487"/>
            <a:chOff x="6041253" y="-2012467"/>
            <a:chExt cx="5847183" cy="8666554"/>
          </a:xfrm>
        </p:grpSpPr>
        <p:pic>
          <p:nvPicPr>
            <p:cNvPr id="53" name="그림 52">
              <a:extLst>
                <a:ext uri="{FF2B5EF4-FFF2-40B4-BE49-F238E27FC236}">
                  <a16:creationId xmlns:a16="http://schemas.microsoft.com/office/drawing/2014/main" id="{E8B31EA7-DD04-00FD-AD09-025B592CB5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58741" y="1733058"/>
              <a:ext cx="5829695" cy="4921029"/>
            </a:xfrm>
            <a:prstGeom prst="rect">
              <a:avLst/>
            </a:prstGeom>
          </p:spPr>
        </p:pic>
        <p:pic>
          <p:nvPicPr>
            <p:cNvPr id="51" name="그림 50">
              <a:extLst>
                <a:ext uri="{FF2B5EF4-FFF2-40B4-BE49-F238E27FC236}">
                  <a16:creationId xmlns:a16="http://schemas.microsoft.com/office/drawing/2014/main" id="{5AA77F08-EC48-FA81-7D15-87C69FDA2E8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41253" y="-2012467"/>
              <a:ext cx="5648661" cy="357624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841380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3E5AB-1BB8-1BD0-640B-3E7B6D346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>
            <a:extLst>
              <a:ext uri="{FF2B5EF4-FFF2-40B4-BE49-F238E27FC236}">
                <a16:creationId xmlns:a16="http://schemas.microsoft.com/office/drawing/2014/main" id="{99264FD5-DFBB-A4FB-0807-CB7171DD3B26}"/>
              </a:ext>
            </a:extLst>
          </p:cNvPr>
          <p:cNvGrpSpPr/>
          <p:nvPr/>
        </p:nvGrpSpPr>
        <p:grpSpPr>
          <a:xfrm>
            <a:off x="408972" y="273831"/>
            <a:ext cx="2098558" cy="536874"/>
            <a:chOff x="381000" y="577850"/>
            <a:chExt cx="2098558" cy="706457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D9306AB8-6D20-355D-36DC-0616D5E807C0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Ⅱ</a:t>
              </a:r>
              <a:endParaRPr lang="ko-KR" altLang="en-US" sz="20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08B2D745-3D54-6D32-736B-F66B36946879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프로젝트 세부 내용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B7FF11E5-DE31-4E20-1602-A092EA49CB36}"/>
                </a:ext>
              </a:extLst>
            </p:cNvPr>
            <p:cNvSpPr/>
            <p:nvPr/>
          </p:nvSpPr>
          <p:spPr>
            <a:xfrm>
              <a:off x="698827" y="977900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2. </a:t>
              </a:r>
              <a:r>
                <a:rPr lang="ko-KR" altLang="en-US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시스템 아키텍처</a:t>
              </a: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85D6FE67-8BC7-7FAE-1DD3-8FEE0B722C20}"/>
              </a:ext>
            </a:extLst>
          </p:cNvPr>
          <p:cNvGrpSpPr/>
          <p:nvPr/>
        </p:nvGrpSpPr>
        <p:grpSpPr>
          <a:xfrm>
            <a:off x="593783" y="1369060"/>
            <a:ext cx="3522244" cy="389445"/>
            <a:chOff x="408972" y="1295400"/>
            <a:chExt cx="3858228" cy="596900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4B4976D7-87DB-CC37-8FF8-A01613072B24}"/>
                </a:ext>
              </a:extLst>
            </p:cNvPr>
            <p:cNvSpPr/>
            <p:nvPr/>
          </p:nvSpPr>
          <p:spPr>
            <a:xfrm>
              <a:off x="408972" y="1295400"/>
              <a:ext cx="3858228" cy="596900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AC6E006-E172-095A-CCDE-607CE701BAC7}"/>
                </a:ext>
              </a:extLst>
            </p:cNvPr>
            <p:cNvSpPr txBox="1"/>
            <p:nvPr/>
          </p:nvSpPr>
          <p:spPr>
            <a:xfrm>
              <a:off x="548672" y="1334399"/>
              <a:ext cx="3578828" cy="51890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16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전체 시스템 구조</a:t>
              </a:r>
            </a:p>
          </p:txBody>
        </p:sp>
      </p:grp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8BFD866-699A-CE09-0770-1EADB526BFA0}"/>
              </a:ext>
            </a:extLst>
          </p:cNvPr>
          <p:cNvSpPr/>
          <p:nvPr/>
        </p:nvSpPr>
        <p:spPr>
          <a:xfrm>
            <a:off x="562353" y="2316860"/>
            <a:ext cx="1585395" cy="542642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사용자 입력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47C95D7-AE65-D669-E2BC-D815F7176F9F}"/>
              </a:ext>
            </a:extLst>
          </p:cNvPr>
          <p:cNvSpPr/>
          <p:nvPr/>
        </p:nvSpPr>
        <p:spPr>
          <a:xfrm>
            <a:off x="4803483" y="4344581"/>
            <a:ext cx="1856560" cy="542642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MY SQL </a:t>
            </a:r>
            <a:endParaRPr lang="ko-KR" altLang="en-US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D659E48-8F81-DC3C-EFB3-E4B804A40BD2}"/>
              </a:ext>
            </a:extLst>
          </p:cNvPr>
          <p:cNvSpPr/>
          <p:nvPr/>
        </p:nvSpPr>
        <p:spPr>
          <a:xfrm>
            <a:off x="562353" y="3198603"/>
            <a:ext cx="1585395" cy="542642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frontend </a:t>
            </a:r>
            <a:endParaRPr lang="ko-KR" altLang="en-US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46415A3-B0CA-2092-80F4-A6B2B39706C8}"/>
              </a:ext>
            </a:extLst>
          </p:cNvPr>
          <p:cNvSpPr/>
          <p:nvPr/>
        </p:nvSpPr>
        <p:spPr>
          <a:xfrm>
            <a:off x="562353" y="4344581"/>
            <a:ext cx="1585395" cy="542642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api </a:t>
            </a:r>
            <a:r>
              <a:rPr lang="ko-KR" altLang="en-US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호출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51186C0-C650-3A70-D79B-D31581B4A877}"/>
              </a:ext>
            </a:extLst>
          </p:cNvPr>
          <p:cNvSpPr/>
          <p:nvPr/>
        </p:nvSpPr>
        <p:spPr>
          <a:xfrm>
            <a:off x="2826816" y="5503909"/>
            <a:ext cx="1585395" cy="542642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LangChain Framework</a:t>
            </a:r>
            <a:endParaRPr lang="ko-KR" altLang="en-US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701760A-F4D5-4AE0-7F60-60B4FAE57B08}"/>
              </a:ext>
            </a:extLst>
          </p:cNvPr>
          <p:cNvSpPr/>
          <p:nvPr/>
        </p:nvSpPr>
        <p:spPr>
          <a:xfrm>
            <a:off x="4803483" y="5503909"/>
            <a:ext cx="1856560" cy="542642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LLM + RAG</a:t>
            </a:r>
            <a:endParaRPr lang="ko-KR" altLang="en-US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1AFA29B0-5468-1604-ED4C-460BB835D4BF}"/>
              </a:ext>
            </a:extLst>
          </p:cNvPr>
          <p:cNvSpPr/>
          <p:nvPr/>
        </p:nvSpPr>
        <p:spPr>
          <a:xfrm>
            <a:off x="6825862" y="4344581"/>
            <a:ext cx="1856560" cy="542642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User Profile </a:t>
            </a:r>
            <a:endParaRPr lang="ko-KR" altLang="en-US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094F391-3010-2702-E7DF-554D23F9887C}"/>
              </a:ext>
            </a:extLst>
          </p:cNvPr>
          <p:cNvSpPr/>
          <p:nvPr/>
        </p:nvSpPr>
        <p:spPr>
          <a:xfrm>
            <a:off x="6825862" y="5503909"/>
            <a:ext cx="1856560" cy="542642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Vector DB</a:t>
            </a:r>
            <a:endParaRPr lang="ko-KR" altLang="en-US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92A26C1F-AE17-F251-F386-D47D5C938B6A}"/>
              </a:ext>
            </a:extLst>
          </p:cNvPr>
          <p:cNvSpPr/>
          <p:nvPr/>
        </p:nvSpPr>
        <p:spPr>
          <a:xfrm>
            <a:off x="9017796" y="4344581"/>
            <a:ext cx="2361404" cy="542642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ML Recommendation</a:t>
            </a:r>
            <a:endParaRPr lang="ko-KR" altLang="en-US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69535D15-D16F-C3DA-FEF0-8223F727B635}"/>
              </a:ext>
            </a:extLst>
          </p:cNvPr>
          <p:cNvSpPr/>
          <p:nvPr/>
        </p:nvSpPr>
        <p:spPr>
          <a:xfrm>
            <a:off x="9017796" y="5503909"/>
            <a:ext cx="2361404" cy="542642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Insurance Data</a:t>
            </a:r>
            <a:endParaRPr lang="ko-KR" altLang="en-US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D65B023F-6943-3E43-D053-AC4E0D6D1855}"/>
              </a:ext>
            </a:extLst>
          </p:cNvPr>
          <p:cNvCxnSpPr>
            <a:stCxn id="18" idx="2"/>
          </p:cNvCxnSpPr>
          <p:nvPr/>
        </p:nvCxnSpPr>
        <p:spPr>
          <a:xfrm flipH="1">
            <a:off x="1355050" y="2859502"/>
            <a:ext cx="1" cy="339101"/>
          </a:xfrm>
          <a:prstGeom prst="straightConnector1">
            <a:avLst/>
          </a:prstGeom>
          <a:ln>
            <a:solidFill>
              <a:srgbClr val="26212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D1FFC00A-939B-E837-9B0E-30815819B490}"/>
              </a:ext>
            </a:extLst>
          </p:cNvPr>
          <p:cNvCxnSpPr>
            <a:cxnSpLocks/>
            <a:stCxn id="22" idx="2"/>
            <a:endCxn id="24" idx="0"/>
          </p:cNvCxnSpPr>
          <p:nvPr/>
        </p:nvCxnSpPr>
        <p:spPr>
          <a:xfrm>
            <a:off x="1355051" y="3741245"/>
            <a:ext cx="0" cy="603336"/>
          </a:xfrm>
          <a:prstGeom prst="straightConnector1">
            <a:avLst/>
          </a:prstGeom>
          <a:ln>
            <a:solidFill>
              <a:srgbClr val="26212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BE866727-D6A5-556B-5226-B55CEF8A1332}"/>
              </a:ext>
            </a:extLst>
          </p:cNvPr>
          <p:cNvGrpSpPr/>
          <p:nvPr/>
        </p:nvGrpSpPr>
        <p:grpSpPr>
          <a:xfrm>
            <a:off x="1355050" y="4887223"/>
            <a:ext cx="1471768" cy="944079"/>
            <a:chOff x="1355050" y="4672950"/>
            <a:chExt cx="1471768" cy="944079"/>
          </a:xfrm>
        </p:grpSpPr>
        <p:cxnSp>
          <p:nvCxnSpPr>
            <p:cNvPr id="70" name="직선 연결선 69">
              <a:extLst>
                <a:ext uri="{FF2B5EF4-FFF2-40B4-BE49-F238E27FC236}">
                  <a16:creationId xmlns:a16="http://schemas.microsoft.com/office/drawing/2014/main" id="{180D652B-A880-A7C8-35C7-8A104720A4EC}"/>
                </a:ext>
              </a:extLst>
            </p:cNvPr>
            <p:cNvCxnSpPr>
              <a:cxnSpLocks/>
            </p:cNvCxnSpPr>
            <p:nvPr/>
          </p:nvCxnSpPr>
          <p:spPr>
            <a:xfrm>
              <a:off x="1355050" y="4672950"/>
              <a:ext cx="0" cy="944079"/>
            </a:xfrm>
            <a:prstGeom prst="line">
              <a:avLst/>
            </a:prstGeom>
            <a:ln>
              <a:solidFill>
                <a:srgbClr val="26212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직선 연결선 71">
              <a:extLst>
                <a:ext uri="{FF2B5EF4-FFF2-40B4-BE49-F238E27FC236}">
                  <a16:creationId xmlns:a16="http://schemas.microsoft.com/office/drawing/2014/main" id="{49B7EE28-937D-DC05-A9F8-F8CA49131118}"/>
                </a:ext>
              </a:extLst>
            </p:cNvPr>
            <p:cNvCxnSpPr>
              <a:cxnSpLocks/>
            </p:cNvCxnSpPr>
            <p:nvPr/>
          </p:nvCxnSpPr>
          <p:spPr>
            <a:xfrm>
              <a:off x="1355051" y="5617029"/>
              <a:ext cx="1471767" cy="0"/>
            </a:xfrm>
            <a:prstGeom prst="line">
              <a:avLst/>
            </a:prstGeom>
            <a:ln>
              <a:solidFill>
                <a:srgbClr val="26212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2E2B7B65-AD1E-0369-8BC3-E520A26EEA5F}"/>
              </a:ext>
            </a:extLst>
          </p:cNvPr>
          <p:cNvCxnSpPr>
            <a:cxnSpLocks/>
            <a:stCxn id="24" idx="3"/>
            <a:endCxn id="20" idx="1"/>
          </p:cNvCxnSpPr>
          <p:nvPr/>
        </p:nvCxnSpPr>
        <p:spPr>
          <a:xfrm>
            <a:off x="2147748" y="4615902"/>
            <a:ext cx="2655735" cy="0"/>
          </a:xfrm>
          <a:prstGeom prst="line">
            <a:avLst/>
          </a:prstGeom>
          <a:ln>
            <a:solidFill>
              <a:srgbClr val="26212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848EA9D6-0C17-A9BD-7074-295D015CEC57}"/>
              </a:ext>
            </a:extLst>
          </p:cNvPr>
          <p:cNvCxnSpPr>
            <a:cxnSpLocks/>
            <a:stCxn id="20" idx="2"/>
            <a:endCxn id="26" idx="0"/>
          </p:cNvCxnSpPr>
          <p:nvPr/>
        </p:nvCxnSpPr>
        <p:spPr>
          <a:xfrm>
            <a:off x="5731763" y="4887223"/>
            <a:ext cx="0" cy="616686"/>
          </a:xfrm>
          <a:prstGeom prst="straightConnector1">
            <a:avLst/>
          </a:prstGeom>
          <a:ln>
            <a:solidFill>
              <a:srgbClr val="262122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17B865E0-6C06-928A-CFD0-65DB273FB320}"/>
              </a:ext>
            </a:extLst>
          </p:cNvPr>
          <p:cNvCxnSpPr>
            <a:cxnSpLocks/>
            <a:stCxn id="27" idx="2"/>
            <a:endCxn id="33" idx="0"/>
          </p:cNvCxnSpPr>
          <p:nvPr/>
        </p:nvCxnSpPr>
        <p:spPr>
          <a:xfrm>
            <a:off x="7754142" y="4887223"/>
            <a:ext cx="0" cy="616686"/>
          </a:xfrm>
          <a:prstGeom prst="straightConnector1">
            <a:avLst/>
          </a:prstGeom>
          <a:ln>
            <a:solidFill>
              <a:srgbClr val="262122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5044AE36-3ACD-FBCD-8CBB-4FA9D64EAAF3}"/>
              </a:ext>
            </a:extLst>
          </p:cNvPr>
          <p:cNvCxnSpPr>
            <a:cxnSpLocks/>
            <a:stCxn id="50" idx="2"/>
            <a:endCxn id="52" idx="0"/>
          </p:cNvCxnSpPr>
          <p:nvPr/>
        </p:nvCxnSpPr>
        <p:spPr>
          <a:xfrm>
            <a:off x="10198498" y="4887223"/>
            <a:ext cx="0" cy="616686"/>
          </a:xfrm>
          <a:prstGeom prst="straightConnector1">
            <a:avLst/>
          </a:prstGeom>
          <a:ln>
            <a:solidFill>
              <a:srgbClr val="262122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808DB79D-4578-1468-3659-2A5202207BCF}"/>
              </a:ext>
            </a:extLst>
          </p:cNvPr>
          <p:cNvCxnSpPr>
            <a:cxnSpLocks/>
            <a:stCxn id="20" idx="3"/>
            <a:endCxn id="27" idx="1"/>
          </p:cNvCxnSpPr>
          <p:nvPr/>
        </p:nvCxnSpPr>
        <p:spPr>
          <a:xfrm>
            <a:off x="6660043" y="4615902"/>
            <a:ext cx="165819" cy="0"/>
          </a:xfrm>
          <a:prstGeom prst="line">
            <a:avLst/>
          </a:prstGeom>
          <a:ln>
            <a:solidFill>
              <a:srgbClr val="26212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8898E799-8B5B-893A-3DE6-773CD1D7CC13}"/>
              </a:ext>
            </a:extLst>
          </p:cNvPr>
          <p:cNvCxnSpPr>
            <a:cxnSpLocks/>
            <a:stCxn id="26" idx="3"/>
            <a:endCxn id="33" idx="1"/>
          </p:cNvCxnSpPr>
          <p:nvPr/>
        </p:nvCxnSpPr>
        <p:spPr>
          <a:xfrm>
            <a:off x="6660043" y="5775230"/>
            <a:ext cx="165819" cy="0"/>
          </a:xfrm>
          <a:prstGeom prst="line">
            <a:avLst/>
          </a:prstGeom>
          <a:ln>
            <a:solidFill>
              <a:srgbClr val="26212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CD735A66-7603-788A-1D59-7039762EC226}"/>
              </a:ext>
            </a:extLst>
          </p:cNvPr>
          <p:cNvCxnSpPr>
            <a:cxnSpLocks/>
            <a:stCxn id="27" idx="3"/>
            <a:endCxn id="50" idx="1"/>
          </p:cNvCxnSpPr>
          <p:nvPr/>
        </p:nvCxnSpPr>
        <p:spPr>
          <a:xfrm>
            <a:off x="8682422" y="4615902"/>
            <a:ext cx="335374" cy="0"/>
          </a:xfrm>
          <a:prstGeom prst="line">
            <a:avLst/>
          </a:prstGeom>
          <a:ln>
            <a:solidFill>
              <a:srgbClr val="26212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F3E0403E-7479-DA2D-E506-50F892598169}"/>
              </a:ext>
            </a:extLst>
          </p:cNvPr>
          <p:cNvCxnSpPr>
            <a:cxnSpLocks/>
            <a:stCxn id="33" idx="3"/>
            <a:endCxn id="52" idx="1"/>
          </p:cNvCxnSpPr>
          <p:nvPr/>
        </p:nvCxnSpPr>
        <p:spPr>
          <a:xfrm>
            <a:off x="8682422" y="5775230"/>
            <a:ext cx="335374" cy="0"/>
          </a:xfrm>
          <a:prstGeom prst="line">
            <a:avLst/>
          </a:prstGeom>
          <a:ln>
            <a:solidFill>
              <a:srgbClr val="26212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D726CF35-96A0-3F62-928F-9BCEF23831A3}"/>
              </a:ext>
            </a:extLst>
          </p:cNvPr>
          <p:cNvCxnSpPr>
            <a:cxnSpLocks/>
            <a:stCxn id="50" idx="0"/>
            <a:endCxn id="55" idx="2"/>
          </p:cNvCxnSpPr>
          <p:nvPr/>
        </p:nvCxnSpPr>
        <p:spPr>
          <a:xfrm flipH="1" flipV="1">
            <a:off x="10198497" y="3966483"/>
            <a:ext cx="1" cy="378098"/>
          </a:xfrm>
          <a:prstGeom prst="line">
            <a:avLst/>
          </a:prstGeom>
          <a:ln>
            <a:solidFill>
              <a:srgbClr val="26212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6" name="그룹 105">
            <a:extLst>
              <a:ext uri="{FF2B5EF4-FFF2-40B4-BE49-F238E27FC236}">
                <a16:creationId xmlns:a16="http://schemas.microsoft.com/office/drawing/2014/main" id="{661EF2B7-DAE2-352D-67F6-7649E13DBC29}"/>
              </a:ext>
            </a:extLst>
          </p:cNvPr>
          <p:cNvGrpSpPr/>
          <p:nvPr/>
        </p:nvGrpSpPr>
        <p:grpSpPr>
          <a:xfrm rot="10800000">
            <a:off x="2163831" y="2551339"/>
            <a:ext cx="8034664" cy="1143824"/>
            <a:chOff x="1355050" y="4672950"/>
            <a:chExt cx="1471768" cy="944079"/>
          </a:xfrm>
        </p:grpSpPr>
        <p:cxnSp>
          <p:nvCxnSpPr>
            <p:cNvPr id="107" name="직선 연결선 106">
              <a:extLst>
                <a:ext uri="{FF2B5EF4-FFF2-40B4-BE49-F238E27FC236}">
                  <a16:creationId xmlns:a16="http://schemas.microsoft.com/office/drawing/2014/main" id="{EE77C332-1C35-0A13-69C0-BD26ADEBFB9E}"/>
                </a:ext>
              </a:extLst>
            </p:cNvPr>
            <p:cNvCxnSpPr>
              <a:cxnSpLocks/>
            </p:cNvCxnSpPr>
            <p:nvPr/>
          </p:nvCxnSpPr>
          <p:spPr>
            <a:xfrm>
              <a:off x="1355050" y="4672950"/>
              <a:ext cx="0" cy="944079"/>
            </a:xfrm>
            <a:prstGeom prst="line">
              <a:avLst/>
            </a:prstGeom>
            <a:ln>
              <a:solidFill>
                <a:srgbClr val="26212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직선 연결선 107">
              <a:extLst>
                <a:ext uri="{FF2B5EF4-FFF2-40B4-BE49-F238E27FC236}">
                  <a16:creationId xmlns:a16="http://schemas.microsoft.com/office/drawing/2014/main" id="{A7715986-9BB4-9BC0-D396-1B97667E678F}"/>
                </a:ext>
              </a:extLst>
            </p:cNvPr>
            <p:cNvCxnSpPr>
              <a:cxnSpLocks/>
            </p:cNvCxnSpPr>
            <p:nvPr/>
          </p:nvCxnSpPr>
          <p:spPr>
            <a:xfrm>
              <a:off x="1355051" y="5617029"/>
              <a:ext cx="1471767" cy="0"/>
            </a:xfrm>
            <a:prstGeom prst="line">
              <a:avLst/>
            </a:prstGeom>
            <a:ln>
              <a:solidFill>
                <a:srgbClr val="26212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4021C304-F53C-DEE6-8F8E-BAFD50CA3B1E}"/>
              </a:ext>
            </a:extLst>
          </p:cNvPr>
          <p:cNvSpPr/>
          <p:nvPr/>
        </p:nvSpPr>
        <p:spPr>
          <a:xfrm>
            <a:off x="9017795" y="3423841"/>
            <a:ext cx="2361403" cy="542642"/>
          </a:xfrm>
          <a:prstGeom prst="rect">
            <a:avLst/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Mock Server</a:t>
            </a:r>
            <a:endParaRPr lang="ko-KR" altLang="en-US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107243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B8679-67A4-BA45-0E2E-8374C27B7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>
            <a:extLst>
              <a:ext uri="{FF2B5EF4-FFF2-40B4-BE49-F238E27FC236}">
                <a16:creationId xmlns:a16="http://schemas.microsoft.com/office/drawing/2014/main" id="{D650F5BE-3C94-FB90-983C-A45B7BC54D82}"/>
              </a:ext>
            </a:extLst>
          </p:cNvPr>
          <p:cNvGrpSpPr/>
          <p:nvPr/>
        </p:nvGrpSpPr>
        <p:grpSpPr>
          <a:xfrm>
            <a:off x="408972" y="273831"/>
            <a:ext cx="2098558" cy="536874"/>
            <a:chOff x="381000" y="577850"/>
            <a:chExt cx="2098558" cy="706457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987101F1-7139-8F93-AE5E-2C427886C3B0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Ⅱ</a:t>
              </a:r>
              <a:endParaRPr lang="ko-KR" altLang="en-US" sz="20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B3CF6A09-F172-35DF-46D8-944C01600E85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프로젝트 세부 내용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94EC1767-626E-24E4-6813-7A92830F4B2F}"/>
                </a:ext>
              </a:extLst>
            </p:cNvPr>
            <p:cNvSpPr/>
            <p:nvPr/>
          </p:nvSpPr>
          <p:spPr>
            <a:xfrm>
              <a:off x="698827" y="977900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2. </a:t>
              </a:r>
              <a:r>
                <a:rPr lang="ko-KR" altLang="en-US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시스템 아키텍처</a:t>
              </a: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25FF9AF8-4A30-9CCA-7CC7-29C4654D3EE5}"/>
              </a:ext>
            </a:extLst>
          </p:cNvPr>
          <p:cNvGrpSpPr/>
          <p:nvPr/>
        </p:nvGrpSpPr>
        <p:grpSpPr>
          <a:xfrm>
            <a:off x="593783" y="1369060"/>
            <a:ext cx="3522244" cy="389445"/>
            <a:chOff x="408972" y="1295400"/>
            <a:chExt cx="3858228" cy="596900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2BC57A2C-69D6-AA37-F997-6B9AC7258464}"/>
                </a:ext>
              </a:extLst>
            </p:cNvPr>
            <p:cNvSpPr/>
            <p:nvPr/>
          </p:nvSpPr>
          <p:spPr>
            <a:xfrm>
              <a:off x="408972" y="1295400"/>
              <a:ext cx="3858228" cy="596900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C49C454-5829-D159-B3E8-8E044187D5DA}"/>
                </a:ext>
              </a:extLst>
            </p:cNvPr>
            <p:cNvSpPr txBox="1"/>
            <p:nvPr/>
          </p:nvSpPr>
          <p:spPr>
            <a:xfrm>
              <a:off x="548672" y="1334399"/>
              <a:ext cx="3578828" cy="51890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16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회원 관리 시스템</a:t>
              </a: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88B775EE-EF7E-B06E-3F84-F7323AF6D849}"/>
              </a:ext>
            </a:extLst>
          </p:cNvPr>
          <p:cNvGrpSpPr/>
          <p:nvPr/>
        </p:nvGrpSpPr>
        <p:grpSpPr>
          <a:xfrm>
            <a:off x="593783" y="2549715"/>
            <a:ext cx="5023246" cy="1400060"/>
            <a:chOff x="6030791" y="1457756"/>
            <a:chExt cx="5023246" cy="1400060"/>
          </a:xfrm>
        </p:grpSpPr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41439747-4C73-EC01-2A89-AD44EE4E9F93}"/>
                </a:ext>
              </a:extLst>
            </p:cNvPr>
            <p:cNvSpPr/>
            <p:nvPr/>
          </p:nvSpPr>
          <p:spPr>
            <a:xfrm>
              <a:off x="6030791" y="1582243"/>
              <a:ext cx="5023246" cy="1275573"/>
            </a:xfrm>
            <a:prstGeom prst="roundRect">
              <a:avLst>
                <a:gd name="adj" fmla="val 11217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7" name="Rounded Rectangle 2">
              <a:extLst>
                <a:ext uri="{FF2B5EF4-FFF2-40B4-BE49-F238E27FC236}">
                  <a16:creationId xmlns:a16="http://schemas.microsoft.com/office/drawing/2014/main" id="{52924078-9DE4-9807-3B6E-A46D67A7AB44}"/>
                </a:ext>
              </a:extLst>
            </p:cNvPr>
            <p:cNvSpPr/>
            <p:nvPr/>
          </p:nvSpPr>
          <p:spPr>
            <a:xfrm>
              <a:off x="6097902" y="1457756"/>
              <a:ext cx="1980706" cy="358511"/>
            </a:xfrm>
            <a:prstGeom prst="roundRect">
              <a:avLst/>
            </a:prstGeom>
            <a:gradFill>
              <a:gsLst>
                <a:gs pos="0">
                  <a:srgbClr val="6A4C93"/>
                </a:gs>
                <a:gs pos="100000">
                  <a:srgbClr val="B00020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사용자 입력 필수 정보</a:t>
              </a:r>
            </a:p>
          </p:txBody>
        </p: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EF438859-99BD-F9F7-396B-49F3B6F6FA7A}"/>
              </a:ext>
            </a:extLst>
          </p:cNvPr>
          <p:cNvSpPr/>
          <p:nvPr/>
        </p:nvSpPr>
        <p:spPr>
          <a:xfrm>
            <a:off x="871027" y="2908226"/>
            <a:ext cx="4452378" cy="9156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아이디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로그인 식별자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비밀번호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암호화 저장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(Django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기본 해시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)</a:t>
            </a: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생년월일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보험료 계산 및 위험도 평가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CFFFEFF0-C3F2-281A-B5E8-0ACC46654959}"/>
              </a:ext>
            </a:extLst>
          </p:cNvPr>
          <p:cNvGrpSpPr/>
          <p:nvPr/>
        </p:nvGrpSpPr>
        <p:grpSpPr>
          <a:xfrm>
            <a:off x="6507860" y="2549715"/>
            <a:ext cx="5023246" cy="3867414"/>
            <a:chOff x="6030791" y="1457756"/>
            <a:chExt cx="5023246" cy="3867414"/>
          </a:xfrm>
        </p:grpSpPr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78CC19C7-13E1-E748-2D4C-0A9B1E6EDEAF}"/>
                </a:ext>
              </a:extLst>
            </p:cNvPr>
            <p:cNvSpPr/>
            <p:nvPr/>
          </p:nvSpPr>
          <p:spPr>
            <a:xfrm>
              <a:off x="6030791" y="1582243"/>
              <a:ext cx="5023246" cy="3742927"/>
            </a:xfrm>
            <a:prstGeom prst="roundRect">
              <a:avLst>
                <a:gd name="adj" fmla="val 5982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5" name="Rounded Rectangle 2">
              <a:extLst>
                <a:ext uri="{FF2B5EF4-FFF2-40B4-BE49-F238E27FC236}">
                  <a16:creationId xmlns:a16="http://schemas.microsoft.com/office/drawing/2014/main" id="{CB55139F-3D30-5DF8-4301-4F82E124304C}"/>
                </a:ext>
              </a:extLst>
            </p:cNvPr>
            <p:cNvSpPr/>
            <p:nvPr/>
          </p:nvSpPr>
          <p:spPr>
            <a:xfrm>
              <a:off x="6097902" y="1457756"/>
              <a:ext cx="1980706" cy="358511"/>
            </a:xfrm>
            <a:prstGeom prst="roundRect">
              <a:avLst/>
            </a:prstGeom>
            <a:gradFill>
              <a:gsLst>
                <a:gs pos="0">
                  <a:srgbClr val="6A4C93"/>
                </a:gs>
                <a:gs pos="100000">
                  <a:srgbClr val="B00020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사용자 입력 선택 정보</a:t>
              </a:r>
            </a:p>
          </p:txBody>
        </p:sp>
      </p:grp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B131006-FBB2-6ADC-E096-5343CB6ED9BE}"/>
              </a:ext>
            </a:extLst>
          </p:cNvPr>
          <p:cNvSpPr/>
          <p:nvPr/>
        </p:nvSpPr>
        <p:spPr>
          <a:xfrm>
            <a:off x="6785104" y="2908226"/>
            <a:ext cx="4452378" cy="31333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자동차 번호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차량 정보 자동 조회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운전 경력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면허 취득일 또는 운전 연수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성별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보험료 산정 요소 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직업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위험도 평가 요소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거주지역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지역별 보험료 차등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연간 주행거리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사용자 패턴 분석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사고 이력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과거 보험 사고 여부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차량 정보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연식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,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배기량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,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차종 등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보험 가입 이력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현재 가입 보험 및 만료일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421345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8D286-2BBB-DDF2-1A43-3ABBDCF82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>
            <a:extLst>
              <a:ext uri="{FF2B5EF4-FFF2-40B4-BE49-F238E27FC236}">
                <a16:creationId xmlns:a16="http://schemas.microsoft.com/office/drawing/2014/main" id="{1BB78F17-7D3A-D5AE-B554-9445EF32B112}"/>
              </a:ext>
            </a:extLst>
          </p:cNvPr>
          <p:cNvGrpSpPr/>
          <p:nvPr/>
        </p:nvGrpSpPr>
        <p:grpSpPr>
          <a:xfrm>
            <a:off x="408972" y="273831"/>
            <a:ext cx="2098558" cy="536874"/>
            <a:chOff x="381000" y="577850"/>
            <a:chExt cx="2098558" cy="706457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C76D22A0-A8B7-D0C5-A381-9ED9A0AD0AC3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Ⅱ</a:t>
              </a:r>
              <a:endParaRPr lang="ko-KR" altLang="en-US" sz="20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E2AC0F01-882E-4DBD-2450-33100D6AF616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프로젝트 세부 내용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8FB7325F-0A59-00D5-F997-CD1D1C0DEA5C}"/>
                </a:ext>
              </a:extLst>
            </p:cNvPr>
            <p:cNvSpPr/>
            <p:nvPr/>
          </p:nvSpPr>
          <p:spPr>
            <a:xfrm>
              <a:off x="698827" y="977900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3. </a:t>
              </a:r>
              <a:r>
                <a:rPr lang="ko-KR" altLang="en-US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예상 결과물</a:t>
              </a: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07451EBC-1C23-F389-C3CC-FA7CDA959634}"/>
              </a:ext>
            </a:extLst>
          </p:cNvPr>
          <p:cNvGrpSpPr/>
          <p:nvPr/>
        </p:nvGrpSpPr>
        <p:grpSpPr>
          <a:xfrm>
            <a:off x="593783" y="1369060"/>
            <a:ext cx="3522244" cy="389445"/>
            <a:chOff x="408972" y="1295400"/>
            <a:chExt cx="3858228" cy="596900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1C2AA66D-BAF5-CE3A-8A81-E2BA6725D572}"/>
                </a:ext>
              </a:extLst>
            </p:cNvPr>
            <p:cNvSpPr/>
            <p:nvPr/>
          </p:nvSpPr>
          <p:spPr>
            <a:xfrm>
              <a:off x="408972" y="1295400"/>
              <a:ext cx="3858228" cy="596900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7AD7FFD-A9B9-5575-1F57-939BB5A1064D}"/>
                </a:ext>
              </a:extLst>
            </p:cNvPr>
            <p:cNvSpPr txBox="1"/>
            <p:nvPr/>
          </p:nvSpPr>
          <p:spPr>
            <a:xfrm>
              <a:off x="548672" y="1334399"/>
              <a:ext cx="3578828" cy="51890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16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웹 애플리 케이션</a:t>
              </a: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F184A284-4F03-AEEE-D863-53B60B7A463A}"/>
              </a:ext>
            </a:extLst>
          </p:cNvPr>
          <p:cNvGrpSpPr/>
          <p:nvPr/>
        </p:nvGrpSpPr>
        <p:grpSpPr>
          <a:xfrm>
            <a:off x="593783" y="2549715"/>
            <a:ext cx="5023246" cy="1961325"/>
            <a:chOff x="6030791" y="1457756"/>
            <a:chExt cx="5023246" cy="1961325"/>
          </a:xfrm>
        </p:grpSpPr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id="{AFBB7406-0620-AAE5-EBB7-C3A6BBD01D62}"/>
                </a:ext>
              </a:extLst>
            </p:cNvPr>
            <p:cNvSpPr/>
            <p:nvPr/>
          </p:nvSpPr>
          <p:spPr>
            <a:xfrm>
              <a:off x="6030791" y="1582243"/>
              <a:ext cx="5023246" cy="1836838"/>
            </a:xfrm>
            <a:prstGeom prst="roundRect">
              <a:avLst>
                <a:gd name="adj" fmla="val 11217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28" name="Rounded Rectangle 2">
              <a:extLst>
                <a:ext uri="{FF2B5EF4-FFF2-40B4-BE49-F238E27FC236}">
                  <a16:creationId xmlns:a16="http://schemas.microsoft.com/office/drawing/2014/main" id="{992C0188-D42C-8A48-0E84-549B0E95558D}"/>
                </a:ext>
              </a:extLst>
            </p:cNvPr>
            <p:cNvSpPr/>
            <p:nvPr/>
          </p:nvSpPr>
          <p:spPr>
            <a:xfrm>
              <a:off x="6097902" y="1457756"/>
              <a:ext cx="1980706" cy="358511"/>
            </a:xfrm>
            <a:prstGeom prst="roundRect">
              <a:avLst/>
            </a:prstGeom>
            <a:gradFill>
              <a:gsLst>
                <a:gs pos="0">
                  <a:srgbClr val="6A4C93"/>
                </a:gs>
                <a:gs pos="100000">
                  <a:srgbClr val="B00020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웹용 기능 목표 페이지</a:t>
              </a:r>
            </a:p>
          </p:txBody>
        </p: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88BF986-9BF9-342F-003A-D37DDBA91964}"/>
              </a:ext>
            </a:extLst>
          </p:cNvPr>
          <p:cNvSpPr/>
          <p:nvPr/>
        </p:nvSpPr>
        <p:spPr>
          <a:xfrm>
            <a:off x="871027" y="2908226"/>
            <a:ext cx="4452378" cy="13835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회원가입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/</a:t>
            </a:r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로그인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사용자 인증 및 프로필 관리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메인 페이지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서비스 소개 및 간단 견적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상담 페이지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AI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챗봇 상담 인터페이스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비교 페이지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보험 상품 상세 비교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마이페이지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개인정보 및 보험 이력 관리</a:t>
            </a: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064E3AA0-F3E9-7D62-9010-E817E9A9DA60}"/>
              </a:ext>
            </a:extLst>
          </p:cNvPr>
          <p:cNvGrpSpPr/>
          <p:nvPr/>
        </p:nvGrpSpPr>
        <p:grpSpPr>
          <a:xfrm>
            <a:off x="6591351" y="1369060"/>
            <a:ext cx="3522244" cy="389445"/>
            <a:chOff x="408972" y="1295400"/>
            <a:chExt cx="3858228" cy="596900"/>
          </a:xfrm>
        </p:grpSpPr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C679A19A-F2E9-4B05-DAEB-C943D383EBA6}"/>
                </a:ext>
              </a:extLst>
            </p:cNvPr>
            <p:cNvSpPr/>
            <p:nvPr/>
          </p:nvSpPr>
          <p:spPr>
            <a:xfrm>
              <a:off x="408972" y="1295400"/>
              <a:ext cx="3858228" cy="596900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0E4D9AF7-7244-B96D-07B3-B742BE351993}"/>
                </a:ext>
              </a:extLst>
            </p:cNvPr>
            <p:cNvSpPr txBox="1"/>
            <p:nvPr/>
          </p:nvSpPr>
          <p:spPr>
            <a:xfrm>
              <a:off x="548672" y="1334399"/>
              <a:ext cx="3578828" cy="51890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16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성과지표</a:t>
              </a: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6EF11721-7EA1-3CD1-E8E0-7B895642367F}"/>
              </a:ext>
            </a:extLst>
          </p:cNvPr>
          <p:cNvGrpSpPr/>
          <p:nvPr/>
        </p:nvGrpSpPr>
        <p:grpSpPr>
          <a:xfrm>
            <a:off x="6591351" y="2549715"/>
            <a:ext cx="5023246" cy="3197943"/>
            <a:chOff x="6030791" y="1457756"/>
            <a:chExt cx="5023246" cy="3197943"/>
          </a:xfrm>
        </p:grpSpPr>
        <p:sp>
          <p:nvSpPr>
            <p:cNvPr id="34" name="사각형: 둥근 모서리 33">
              <a:extLst>
                <a:ext uri="{FF2B5EF4-FFF2-40B4-BE49-F238E27FC236}">
                  <a16:creationId xmlns:a16="http://schemas.microsoft.com/office/drawing/2014/main" id="{10B200FF-0EC6-8D32-17AB-2C5BF42F4A11}"/>
                </a:ext>
              </a:extLst>
            </p:cNvPr>
            <p:cNvSpPr/>
            <p:nvPr/>
          </p:nvSpPr>
          <p:spPr>
            <a:xfrm>
              <a:off x="6030791" y="1582243"/>
              <a:ext cx="5023246" cy="3073456"/>
            </a:xfrm>
            <a:prstGeom prst="roundRect">
              <a:avLst>
                <a:gd name="adj" fmla="val 5064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35" name="Rounded Rectangle 2">
              <a:extLst>
                <a:ext uri="{FF2B5EF4-FFF2-40B4-BE49-F238E27FC236}">
                  <a16:creationId xmlns:a16="http://schemas.microsoft.com/office/drawing/2014/main" id="{11EF6914-0C33-9519-7E1F-227681E7BA40}"/>
                </a:ext>
              </a:extLst>
            </p:cNvPr>
            <p:cNvSpPr/>
            <p:nvPr/>
          </p:nvSpPr>
          <p:spPr>
            <a:xfrm>
              <a:off x="6097902" y="1457756"/>
              <a:ext cx="1980706" cy="358511"/>
            </a:xfrm>
            <a:prstGeom prst="roundRect">
              <a:avLst/>
            </a:prstGeom>
            <a:gradFill>
              <a:gsLst>
                <a:gs pos="0">
                  <a:srgbClr val="6A4C93"/>
                </a:gs>
                <a:gs pos="100000">
                  <a:srgbClr val="B00020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목표 성과 지표</a:t>
              </a:r>
            </a:p>
          </p:txBody>
        </p:sp>
      </p:grp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1D27EA58-06F0-9F04-DD0B-51A687202576}"/>
              </a:ext>
            </a:extLst>
          </p:cNvPr>
          <p:cNvSpPr/>
          <p:nvPr/>
        </p:nvSpPr>
        <p:spPr>
          <a:xfrm>
            <a:off x="6868595" y="2908226"/>
            <a:ext cx="4452378" cy="13835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ML </a:t>
            </a:r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추천 정확도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유사 사용자 기반 추천의 정확성 </a:t>
            </a:r>
            <a:b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</a:b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		(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목표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: 85%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이상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)</a:t>
            </a: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사용자 만족도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추천 보험상품에 대한 만족도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	</a:t>
            </a:r>
          </a:p>
          <a:p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		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목표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: 4.2/5.0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이상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)</a:t>
            </a: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추천 다양성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추천 상품의 다양성 지수 측정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응답 속도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LLM+RAG+ML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통합 응답 시간 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		(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목표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: 5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초 이내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)</a:t>
            </a: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Cold Start </a:t>
            </a:r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해결률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신규 사용자 대상 추천 성공률 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		(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목표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: 75%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이상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)</a:t>
            </a:r>
            <a:endParaRPr lang="ko-KR" altLang="en-US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943973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2차 프로젝트 PPT">
      <a:majorFont>
        <a:latin typeface="맑은 고딕"/>
        <a:ea typeface="프리젠테이션 8 ExtraBold"/>
        <a:cs typeface=""/>
      </a:majorFont>
      <a:minorFont>
        <a:latin typeface="맑은 고딕"/>
        <a:ea typeface="프리젠테이션 5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1451</TotalTime>
  <Words>2248</Words>
  <Application>Microsoft Office PowerPoint</Application>
  <PresentationFormat>와이드스크린</PresentationFormat>
  <Paragraphs>505</Paragraphs>
  <Slides>27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3" baseType="lpstr">
      <vt:lpstr>Arial</vt:lpstr>
      <vt:lpstr>프리젠테이션 5 Medium</vt:lpstr>
      <vt:lpstr>프리젠테이션 3 Light</vt:lpstr>
      <vt:lpstr>ONE 모바일고딕 Title</vt:lpstr>
      <vt:lpstr>프리젠테이션 8 ExtraBold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88</cp:revision>
  <dcterms:created xsi:type="dcterms:W3CDTF">2025-07-31T07:13:26Z</dcterms:created>
  <dcterms:modified xsi:type="dcterms:W3CDTF">2025-08-25T09:08:32Z</dcterms:modified>
</cp:coreProperties>
</file>