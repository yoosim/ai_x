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70" r:id="rId3"/>
    <p:sldId id="271" r:id="rId4"/>
    <p:sldId id="276" r:id="rId5"/>
    <p:sldId id="272" r:id="rId6"/>
    <p:sldId id="277" r:id="rId7"/>
    <p:sldId id="275" r:id="rId8"/>
    <p:sldId id="260" r:id="rId9"/>
    <p:sldId id="274" r:id="rId10"/>
    <p:sldId id="278" r:id="rId11"/>
    <p:sldId id="279" r:id="rId12"/>
    <p:sldId id="280" r:id="rId13"/>
    <p:sldId id="281" r:id="rId14"/>
    <p:sldId id="25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0020"/>
    <a:srgbClr val="262122"/>
    <a:srgbClr val="2D3142"/>
    <a:srgbClr val="D3D3D3"/>
    <a:srgbClr val="6A4C93"/>
    <a:srgbClr val="D8B4E2"/>
    <a:srgbClr val="F2E7AC"/>
    <a:srgbClr val="F2C4D5"/>
    <a:srgbClr val="F2A2C0"/>
    <a:srgbClr val="D936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36" y="1062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51E06-FB3C-4D01-947B-0172C099AC01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160FC-9A3C-48D0-89E5-2FC5FA707A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D62CC-E718-4152-8D68-1EE32F5BAE1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-11061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0AB9BD87-5BB2-4535-33FD-0B244E10BAE7}"/>
              </a:ext>
            </a:extLst>
          </p:cNvPr>
          <p:cNvSpPr/>
          <p:nvPr/>
        </p:nvSpPr>
        <p:spPr>
          <a:xfrm>
            <a:off x="6096000" y="1943101"/>
            <a:ext cx="4937760" cy="664978"/>
          </a:xfrm>
          <a:prstGeom prst="parallelogram">
            <a:avLst>
              <a:gd name="adj" fmla="val 29332"/>
            </a:avLst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3849005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코딩싹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118095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기업맞춤형 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AI-X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융복합 인재 양성 교육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10199322" cy="971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LLM-RAG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기반 </a:t>
            </a: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Django  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자동차보험 추천 플랫폼</a:t>
            </a:r>
            <a:endParaRPr lang="ko-KR" altLang="en-US" sz="4400" dirty="0">
              <a:solidFill>
                <a:schemeClr val="bg1"/>
              </a:solidFill>
              <a:effectLst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399" y="2719849"/>
            <a:ext cx="4848225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기술과 실무 비즈니스 요구사항을 결합한 실용적인 서비스 개발 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4115295"/>
            <a:ext cx="6050280" cy="510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 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ko-KR" sz="2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F6650B-A405-A157-0415-FDD9DFB32788}"/>
              </a:ext>
            </a:extLst>
          </p:cNvPr>
          <p:cNvSpPr/>
          <p:nvPr/>
        </p:nvSpPr>
        <p:spPr>
          <a:xfrm>
            <a:off x="914400" y="1355191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차 프로젝트 </a:t>
            </a: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DA68F1F-7135-15C3-13AD-93E22973C9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796A74-0134-2C0E-B8C9-229A7E3D18EC}"/>
              </a:ext>
            </a:extLst>
          </p:cNvPr>
          <p:cNvSpPr/>
          <p:nvPr/>
        </p:nvSpPr>
        <p:spPr>
          <a:xfrm>
            <a:off x="473262" y="627752"/>
            <a:ext cx="2226365" cy="861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index</a:t>
            </a:r>
            <a:endParaRPr lang="ko-KR" altLang="en-US" sz="6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4CA3995-FC6F-2A92-0E9B-5F6CEA2E6E07}"/>
              </a:ext>
            </a:extLst>
          </p:cNvPr>
          <p:cNvGrpSpPr/>
          <p:nvPr/>
        </p:nvGrpSpPr>
        <p:grpSpPr>
          <a:xfrm>
            <a:off x="-819150" y="1850194"/>
            <a:ext cx="6714766" cy="3331406"/>
            <a:chOff x="-819150" y="1850194"/>
            <a:chExt cx="6714766" cy="333140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E998BBB-032C-EC79-B240-1B6CD5137C67}"/>
                </a:ext>
              </a:extLst>
            </p:cNvPr>
            <p:cNvSpPr/>
            <p:nvPr/>
          </p:nvSpPr>
          <p:spPr>
            <a:xfrm>
              <a:off x="2850101" y="1850194"/>
              <a:ext cx="2226365" cy="3040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Ⅰ </a:t>
              </a:r>
              <a:r>
                <a:rPr lang="ko-KR" altLang="en-US" sz="20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서론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86B5A482-965D-132A-5550-F95FA2EEE114}"/>
                </a:ext>
              </a:extLst>
            </p:cNvPr>
            <p:cNvCxnSpPr>
              <a:cxnSpLocks/>
            </p:cNvCxnSpPr>
            <p:nvPr/>
          </p:nvCxnSpPr>
          <p:spPr>
            <a:xfrm>
              <a:off x="-819150" y="1981789"/>
              <a:ext cx="3551358" cy="0"/>
            </a:xfrm>
            <a:prstGeom prst="line">
              <a:avLst/>
            </a:prstGeom>
            <a:ln>
              <a:solidFill>
                <a:schemeClr val="bg1"/>
              </a:solidFill>
              <a:headEnd type="oval" w="med" len="med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9C8A6C3-2B78-C3B4-0339-A566BCCE1FB1}"/>
                </a:ext>
              </a:extLst>
            </p:cNvPr>
            <p:cNvSpPr/>
            <p:nvPr/>
          </p:nvSpPr>
          <p:spPr>
            <a:xfrm>
              <a:off x="3137777" y="2154213"/>
              <a:ext cx="2757839" cy="30273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업무분장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추진 일정표</a:t>
              </a:r>
              <a:endParaRPr lang="en-US" altLang="ko-KR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r>
                <a:rPr lang="en-US" altLang="ko-KR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개발환경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9655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59EB9C1-09CE-23F4-9F6F-B7635B3E0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DDEC5-4C92-D21F-AEA5-088D411693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>
                  <a:alpha val="85000"/>
                </a:schemeClr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5E2E09D-B0BA-F7FF-09C6-8B5FB24DFD56}"/>
              </a:ext>
            </a:extLst>
          </p:cNvPr>
          <p:cNvGrpSpPr/>
          <p:nvPr/>
        </p:nvGrpSpPr>
        <p:grpSpPr>
          <a:xfrm>
            <a:off x="437016" y="1617985"/>
            <a:ext cx="4468826" cy="4468826"/>
            <a:chOff x="910561" y="1826595"/>
            <a:chExt cx="4468826" cy="4468826"/>
          </a:xfrm>
        </p:grpSpPr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845705DE-C8C0-C8E9-C3F5-9D3323313711}"/>
                </a:ext>
              </a:extLst>
            </p:cNvPr>
            <p:cNvGrpSpPr/>
            <p:nvPr/>
          </p:nvGrpSpPr>
          <p:grpSpPr>
            <a:xfrm>
              <a:off x="1219784" y="2135818"/>
              <a:ext cx="3850380" cy="3850380"/>
              <a:chOff x="986520" y="1819352"/>
              <a:chExt cx="4289790" cy="4289790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FFA3A0C-A37A-EBD8-A3EF-EFAE882DD4B5}"/>
                  </a:ext>
                </a:extLst>
              </p:cNvPr>
              <p:cNvGrpSpPr/>
              <p:nvPr/>
            </p:nvGrpSpPr>
            <p:grpSpPr>
              <a:xfrm>
                <a:off x="986520" y="1819352"/>
                <a:ext cx="4289790" cy="4289790"/>
                <a:chOff x="-483660" y="2087312"/>
                <a:chExt cx="6979336" cy="6979336"/>
              </a:xfrm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4FFE1A6-6C2B-4CC7-CD1E-01F363EC316F}"/>
                    </a:ext>
                  </a:extLst>
                </p:cNvPr>
                <p:cNvSpPr/>
                <p:nvPr/>
              </p:nvSpPr>
              <p:spPr>
                <a:xfrm>
                  <a:off x="-483660" y="2087312"/>
                  <a:ext cx="6979336" cy="6979336"/>
                </a:xfrm>
                <a:prstGeom prst="ellipse">
                  <a:avLst/>
                </a:prstGeom>
                <a:solidFill>
                  <a:srgbClr val="D3D3D3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6149525-1735-658B-4EEA-CE2D1D79D31F}"/>
                    </a:ext>
                  </a:extLst>
                </p:cNvPr>
                <p:cNvGrpSpPr/>
                <p:nvPr/>
              </p:nvGrpSpPr>
              <p:grpSpPr>
                <a:xfrm>
                  <a:off x="-90120" y="2530108"/>
                  <a:ext cx="6192256" cy="6192256"/>
                  <a:chOff x="3480748" y="-3790376"/>
                  <a:chExt cx="2871296" cy="2871296"/>
                </a:xfrm>
              </p:grpSpPr>
              <p:sp>
                <p:nvSpPr>
                  <p:cNvPr id="38" name="타원 37">
                    <a:extLst>
                      <a:ext uri="{FF2B5EF4-FFF2-40B4-BE49-F238E27FC236}">
                        <a16:creationId xmlns:a16="http://schemas.microsoft.com/office/drawing/2014/main" id="{567AEFA2-7446-7114-8FCA-BD2CF17C090D}"/>
                      </a:ext>
                    </a:extLst>
                  </p:cNvPr>
                  <p:cNvSpPr/>
                  <p:nvPr/>
                </p:nvSpPr>
                <p:spPr>
                  <a:xfrm>
                    <a:off x="3480748" y="-3790376"/>
                    <a:ext cx="2871296" cy="2871296"/>
                  </a:xfrm>
                  <a:prstGeom prst="ellipse">
                    <a:avLst/>
                  </a:prstGeom>
                  <a:solidFill>
                    <a:srgbClr val="D3D3D3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/>
                  </a:p>
                </p:txBody>
              </p:sp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1CD8B19D-A0DE-E9CF-4D14-17CF51C4CEA4}"/>
                      </a:ext>
                    </a:extLst>
                  </p:cNvPr>
                  <p:cNvSpPr/>
                  <p:nvPr/>
                </p:nvSpPr>
                <p:spPr>
                  <a:xfrm>
                    <a:off x="3660911" y="-3610214"/>
                    <a:ext cx="2510972" cy="2510972"/>
                  </a:xfrm>
                  <a:prstGeom prst="ellipse">
                    <a:avLst/>
                  </a:prstGeom>
                  <a:solidFill>
                    <a:srgbClr val="6A4C9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/>
                  </a:p>
                </p:txBody>
              </p:sp>
            </p:grpSp>
          </p:grp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1D4238B-6D87-70EF-7AB1-BEDC90BA8FEA}"/>
                  </a:ext>
                </a:extLst>
              </p:cNvPr>
              <p:cNvSpPr/>
              <p:nvPr/>
            </p:nvSpPr>
            <p:spPr>
              <a:xfrm>
                <a:off x="2112971" y="3462171"/>
                <a:ext cx="2036888" cy="1004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프로젝트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주제 선정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배경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</p:grpSp>
        <p:sp>
          <p:nvSpPr>
            <p:cNvPr id="191" name="원호 190">
              <a:extLst>
                <a:ext uri="{FF2B5EF4-FFF2-40B4-BE49-F238E27FC236}">
                  <a16:creationId xmlns:a16="http://schemas.microsoft.com/office/drawing/2014/main" id="{84671E6F-267D-B431-2B1B-6A644689F007}"/>
                </a:ext>
              </a:extLst>
            </p:cNvPr>
            <p:cNvSpPr/>
            <p:nvPr/>
          </p:nvSpPr>
          <p:spPr>
            <a:xfrm>
              <a:off x="910561" y="1826595"/>
              <a:ext cx="4468826" cy="4468826"/>
            </a:xfrm>
            <a:prstGeom prst="arc">
              <a:avLst>
                <a:gd name="adj1" fmla="val 17303375"/>
                <a:gd name="adj2" fmla="val 4007311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49B2501-20DA-E631-B0C3-1DDA5EBD8086}"/>
              </a:ext>
            </a:extLst>
          </p:cNvPr>
          <p:cNvGrpSpPr/>
          <p:nvPr/>
        </p:nvGrpSpPr>
        <p:grpSpPr>
          <a:xfrm>
            <a:off x="6030791" y="1457756"/>
            <a:ext cx="4574954" cy="4387978"/>
            <a:chOff x="6030791" y="1457756"/>
            <a:chExt cx="4574954" cy="43879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3DA8728-B546-DF28-F294-4E8543F9DF88}"/>
                </a:ext>
              </a:extLst>
            </p:cNvPr>
            <p:cNvGrpSpPr/>
            <p:nvPr/>
          </p:nvGrpSpPr>
          <p:grpSpPr>
            <a:xfrm>
              <a:off x="6030791" y="1457756"/>
              <a:ext cx="4574954" cy="890981"/>
              <a:chOff x="6030791" y="1457756"/>
              <a:chExt cx="4574954" cy="890981"/>
            </a:xfrm>
          </p:grpSpPr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0C059DF3-1D46-A14F-EDFE-5A7B9C295E69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Rounded Rectangle 2">
                <a:extLst>
                  <a:ext uri="{FF2B5EF4-FFF2-40B4-BE49-F238E27FC236}">
                    <a16:creationId xmlns:a16="http://schemas.microsoft.com/office/drawing/2014/main" id="{0690E567-DE60-4DA3-EAEF-42C98E4457CF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기술적 도전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F36F5098-5382-3C97-CA6F-86907E0D10BB}"/>
                </a:ext>
              </a:extLst>
            </p:cNvPr>
            <p:cNvGrpSpPr/>
            <p:nvPr/>
          </p:nvGrpSpPr>
          <p:grpSpPr>
            <a:xfrm>
              <a:off x="6030791" y="2623422"/>
              <a:ext cx="4574954" cy="890981"/>
              <a:chOff x="6030791" y="1457756"/>
              <a:chExt cx="4574954" cy="890981"/>
            </a:xfrm>
          </p:grpSpPr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B4C1C971-CB04-A3A5-9D19-99F66CCD7F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4" name="Rounded Rectangle 2">
                <a:extLst>
                  <a:ext uri="{FF2B5EF4-FFF2-40B4-BE49-F238E27FC236}">
                    <a16:creationId xmlns:a16="http://schemas.microsoft.com/office/drawing/2014/main" id="{67CED3C0-EBCF-CDA1-1752-7C5B6028FC4B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고객 </a:t>
                </a:r>
                <a:r>
                  <a:rPr lang="en-US" altLang="ko-KR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Pain Point</a:t>
                </a:r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9C6114C-9BBF-8545-BB90-4149B9314D21}"/>
                </a:ext>
              </a:extLst>
            </p:cNvPr>
            <p:cNvGrpSpPr/>
            <p:nvPr/>
          </p:nvGrpSpPr>
          <p:grpSpPr>
            <a:xfrm>
              <a:off x="6030791" y="3789088"/>
              <a:ext cx="4574954" cy="890981"/>
              <a:chOff x="6030791" y="1457756"/>
              <a:chExt cx="4574954" cy="890981"/>
            </a:xfrm>
          </p:grpSpPr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73412C83-600B-F568-E7EF-8A994CB52C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2" name="Rounded Rectangle 2">
                <a:extLst>
                  <a:ext uri="{FF2B5EF4-FFF2-40B4-BE49-F238E27FC236}">
                    <a16:creationId xmlns:a16="http://schemas.microsoft.com/office/drawing/2014/main" id="{435F3F8F-9AB2-CA39-A0DA-417B6F8CA5E8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시장 필요성</a:t>
                </a: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F400A72B-F521-AB7D-4A70-FD55BC072FEF}"/>
                </a:ext>
              </a:extLst>
            </p:cNvPr>
            <p:cNvGrpSpPr/>
            <p:nvPr/>
          </p:nvGrpSpPr>
          <p:grpSpPr>
            <a:xfrm>
              <a:off x="6030791" y="4954753"/>
              <a:ext cx="4574954" cy="890981"/>
              <a:chOff x="6030791" y="1457756"/>
              <a:chExt cx="4574954" cy="890981"/>
            </a:xfrm>
          </p:grpSpPr>
          <p:sp>
            <p:nvSpPr>
              <p:cNvPr id="229" name="사각형: 둥근 모서리 228">
                <a:extLst>
                  <a:ext uri="{FF2B5EF4-FFF2-40B4-BE49-F238E27FC236}">
                    <a16:creationId xmlns:a16="http://schemas.microsoft.com/office/drawing/2014/main" id="{A79D47EF-93BE-0C29-C447-1102DC08BCA7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0" name="Rounded Rectangle 2">
                <a:extLst>
                  <a:ext uri="{FF2B5EF4-FFF2-40B4-BE49-F238E27FC236}">
                    <a16:creationId xmlns:a16="http://schemas.microsoft.com/office/drawing/2014/main" id="{469567D6-37F3-9D08-26CE-A845CFED134C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AI </a:t>
                </a:r>
                <a:r>
                  <a: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rPr>
                  <a:t>기술 활용</a:t>
                </a:r>
              </a:p>
            </p:txBody>
          </p:sp>
        </p:grp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9A04925-B8C0-D31B-1EF7-47CB57048A6A}"/>
              </a:ext>
            </a:extLst>
          </p:cNvPr>
          <p:cNvSpPr/>
          <p:nvPr/>
        </p:nvSpPr>
        <p:spPr>
          <a:xfrm>
            <a:off x="6308035" y="1819032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+ RAG + 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기술 융합 시스템 구현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FFDBB1FE-3DD7-FD7B-6B11-0BBCCB4EFD06}"/>
              </a:ext>
            </a:extLst>
          </p:cNvPr>
          <p:cNvSpPr/>
          <p:nvPr/>
        </p:nvSpPr>
        <p:spPr>
          <a:xfrm>
            <a:off x="6308035" y="2985041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복잡한 자동차보험 상품 비교의 어려움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44455A76-A132-A067-5219-8F857876C0E9}"/>
              </a:ext>
            </a:extLst>
          </p:cNvPr>
          <p:cNvSpPr/>
          <p:nvPr/>
        </p:nvSpPr>
        <p:spPr>
          <a:xfrm>
            <a:off x="6308035" y="4138485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기반 확장 가능한 개인 맞춤형 보험 추천 서비스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EFF20AE-B5BB-1A74-EDD8-2DC0A17F75C0}"/>
              </a:ext>
            </a:extLst>
          </p:cNvPr>
          <p:cNvSpPr/>
          <p:nvPr/>
        </p:nvSpPr>
        <p:spPr>
          <a:xfrm>
            <a:off x="6308035" y="5293268"/>
            <a:ext cx="4452378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LangChain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을 통한 실용적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애플리케이션 개발</a:t>
            </a: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9048227-9DFA-2027-2449-D91BE7FD518D}"/>
              </a:ext>
            </a:extLst>
          </p:cNvPr>
          <p:cNvCxnSpPr>
            <a:cxnSpLocks/>
          </p:cNvCxnSpPr>
          <p:nvPr/>
        </p:nvCxnSpPr>
        <p:spPr>
          <a:xfrm flipH="1">
            <a:off x="4333875" y="2009775"/>
            <a:ext cx="1696916" cy="338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1279595D-D986-A56D-AAE0-7DEC2500410E}"/>
              </a:ext>
            </a:extLst>
          </p:cNvPr>
          <p:cNvCxnSpPr>
            <a:cxnSpLocks/>
            <a:stCxn id="233" idx="1"/>
          </p:cNvCxnSpPr>
          <p:nvPr/>
        </p:nvCxnSpPr>
        <p:spPr>
          <a:xfrm flipH="1">
            <a:off x="4806752" y="3131156"/>
            <a:ext cx="1224039" cy="555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F995205-B257-011A-3F77-44B514547F44}"/>
              </a:ext>
            </a:extLst>
          </p:cNvPr>
          <p:cNvCxnSpPr>
            <a:cxnSpLocks/>
            <a:stCxn id="231" idx="1"/>
          </p:cNvCxnSpPr>
          <p:nvPr/>
        </p:nvCxnSpPr>
        <p:spPr>
          <a:xfrm flipH="1" flipV="1">
            <a:off x="4956118" y="4179094"/>
            <a:ext cx="1074673" cy="1177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16A71B46-25DE-91B8-41A2-45F17F861CE6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4415822" y="5168630"/>
            <a:ext cx="1614969" cy="2938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A713563-2151-F463-A523-CD45A89A8054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B09AB-3D9E-26B0-F248-CA0408F2E941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670D33-29F1-8B30-A6C2-307169BC92C7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FF8381-C4D4-FF02-29E1-2B52F2909C15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0C389-1FDB-8A41-B193-0485F91D5A48}"/>
              </a:ext>
            </a:extLst>
          </p:cNvPr>
          <p:cNvGrpSpPr/>
          <p:nvPr/>
        </p:nvGrpSpPr>
        <p:grpSpPr>
          <a:xfrm>
            <a:off x="3529507" y="1236373"/>
            <a:ext cx="5192970" cy="5002802"/>
            <a:chOff x="3176885" y="896663"/>
            <a:chExt cx="5898213" cy="568222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80EE870-C237-B3B6-AFF9-E5029ACFA717}"/>
                </a:ext>
              </a:extLst>
            </p:cNvPr>
            <p:cNvGrpSpPr/>
            <p:nvPr/>
          </p:nvGrpSpPr>
          <p:grpSpPr>
            <a:xfrm>
              <a:off x="3636246" y="1290744"/>
              <a:ext cx="4947318" cy="4947318"/>
              <a:chOff x="3636246" y="1290744"/>
              <a:chExt cx="4947318" cy="4947318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E8601DD-92B1-060D-DAF3-5FB8853E1E85}"/>
                  </a:ext>
                </a:extLst>
              </p:cNvPr>
              <p:cNvGrpSpPr/>
              <p:nvPr/>
            </p:nvGrpSpPr>
            <p:grpSpPr>
              <a:xfrm>
                <a:off x="3636246" y="1290744"/>
                <a:ext cx="4947318" cy="4947318"/>
                <a:chOff x="3636246" y="1290744"/>
                <a:chExt cx="4947318" cy="4947318"/>
              </a:xfrm>
            </p:grpSpPr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8A6ED15-DC27-3534-DF30-CCB0C2922E08}"/>
                    </a:ext>
                  </a:extLst>
                </p:cNvPr>
                <p:cNvSpPr/>
                <p:nvPr/>
              </p:nvSpPr>
              <p:spPr>
                <a:xfrm>
                  <a:off x="3636246" y="1290744"/>
                  <a:ext cx="4947318" cy="4947318"/>
                </a:xfrm>
                <a:prstGeom prst="ellipse">
                  <a:avLst/>
                </a:prstGeom>
                <a:solidFill>
                  <a:srgbClr val="2D3142">
                    <a:alpha val="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7F53736A-476C-3783-6612-320C58217EAE}"/>
                    </a:ext>
                  </a:extLst>
                </p:cNvPr>
                <p:cNvSpPr/>
                <p:nvPr/>
              </p:nvSpPr>
              <p:spPr>
                <a:xfrm>
                  <a:off x="3898077" y="1552575"/>
                  <a:ext cx="4423656" cy="4423656"/>
                </a:xfrm>
                <a:prstGeom prst="ellipse">
                  <a:avLst/>
                </a:prstGeom>
                <a:solidFill>
                  <a:srgbClr val="2D3142">
                    <a:alpha val="2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7E6F69F2-4A5B-6610-171B-017F1913C94C}"/>
                    </a:ext>
                  </a:extLst>
                </p:cNvPr>
                <p:cNvSpPr/>
                <p:nvPr/>
              </p:nvSpPr>
              <p:spPr>
                <a:xfrm>
                  <a:off x="4114191" y="1768689"/>
                  <a:ext cx="3991428" cy="3991428"/>
                </a:xfrm>
                <a:prstGeom prst="ellipse">
                  <a:avLst/>
                </a:prstGeom>
                <a:solidFill>
                  <a:srgbClr val="D3D3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BA009-4925-FE1A-A016-78B2034A1948}"/>
                  </a:ext>
                </a:extLst>
              </p:cNvPr>
              <p:cNvSpPr/>
              <p:nvPr/>
            </p:nvSpPr>
            <p:spPr>
              <a:xfrm>
                <a:off x="3819525" y="1474023"/>
                <a:ext cx="4580760" cy="4580760"/>
              </a:xfrm>
              <a:prstGeom prst="ellipse">
                <a:avLst/>
              </a:prstGeom>
              <a:noFill/>
              <a:ln w="19050">
                <a:solidFill>
                  <a:srgbClr val="B0002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22A7E6A-DE62-DFB6-759E-DEC12EA7C270}"/>
                </a:ext>
              </a:extLst>
            </p:cNvPr>
            <p:cNvGrpSpPr/>
            <p:nvPr/>
          </p:nvGrpSpPr>
          <p:grpSpPr>
            <a:xfrm>
              <a:off x="4069696" y="4940464"/>
              <a:ext cx="1543050" cy="1543050"/>
              <a:chOff x="4192373" y="4748271"/>
              <a:chExt cx="1543050" cy="1543050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17C1EA4-8504-E97C-C629-ADF11708C4A2}"/>
                  </a:ext>
                </a:extLst>
              </p:cNvPr>
              <p:cNvSpPr/>
              <p:nvPr/>
            </p:nvSpPr>
            <p:spPr>
              <a:xfrm>
                <a:off x="4192373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8CD5A7D5-0AD4-FBD6-75C6-CF7CAC55271F}"/>
                  </a:ext>
                </a:extLst>
              </p:cNvPr>
              <p:cNvSpPr/>
              <p:nvPr/>
            </p:nvSpPr>
            <p:spPr>
              <a:xfrm>
                <a:off x="4331633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4F3F5FA-5619-0ED6-E35B-C37BB39E5B1A}"/>
                </a:ext>
              </a:extLst>
            </p:cNvPr>
            <p:cNvGrpSpPr/>
            <p:nvPr/>
          </p:nvGrpSpPr>
          <p:grpSpPr>
            <a:xfrm>
              <a:off x="6577816" y="5035834"/>
              <a:ext cx="1543050" cy="1543050"/>
              <a:chOff x="6456578" y="4748271"/>
              <a:chExt cx="1543050" cy="154305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23A4E11-FCBD-7BA0-87CD-22F607F23ABB}"/>
                  </a:ext>
                </a:extLst>
              </p:cNvPr>
              <p:cNvSpPr/>
              <p:nvPr/>
            </p:nvSpPr>
            <p:spPr>
              <a:xfrm>
                <a:off x="6456578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AF941A-C78C-6E81-C410-976E38D282DF}"/>
                  </a:ext>
                </a:extLst>
              </p:cNvPr>
              <p:cNvSpPr/>
              <p:nvPr/>
            </p:nvSpPr>
            <p:spPr>
              <a:xfrm>
                <a:off x="6595838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AC16C7-E6EB-613A-30D2-AD2260631543}"/>
                </a:ext>
              </a:extLst>
            </p:cNvPr>
            <p:cNvSpPr/>
            <p:nvPr/>
          </p:nvSpPr>
          <p:spPr>
            <a:xfrm>
              <a:off x="5181600" y="3086885"/>
              <a:ext cx="1797013" cy="1408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AI </a:t>
              </a:r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보험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목적</a:t>
              </a: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B730097-CF04-DCA8-EA29-29479A650C2C}"/>
                </a:ext>
              </a:extLst>
            </p:cNvPr>
            <p:cNvGrpSpPr/>
            <p:nvPr/>
          </p:nvGrpSpPr>
          <p:grpSpPr>
            <a:xfrm>
              <a:off x="5338380" y="896663"/>
              <a:ext cx="1543050" cy="1543050"/>
              <a:chOff x="5338380" y="943905"/>
              <a:chExt cx="1543050" cy="154305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E504E95-A476-7D4E-519B-8E4B6D236E82}"/>
                  </a:ext>
                </a:extLst>
              </p:cNvPr>
              <p:cNvGrpSpPr/>
              <p:nvPr/>
            </p:nvGrpSpPr>
            <p:grpSpPr>
              <a:xfrm>
                <a:off x="5338380" y="943905"/>
                <a:ext cx="1543050" cy="1543050"/>
                <a:chOff x="5338380" y="1251390"/>
                <a:chExt cx="1543050" cy="15430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1810214E-21E4-A2DF-A667-FFD6927A7884}"/>
                    </a:ext>
                  </a:extLst>
                </p:cNvPr>
                <p:cNvSpPr/>
                <p:nvPr/>
              </p:nvSpPr>
              <p:spPr>
                <a:xfrm>
                  <a:off x="5338380" y="1251390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0D4EFCA9-EB3C-A801-CBE9-DE17EC3B817A}"/>
                    </a:ext>
                  </a:extLst>
                </p:cNvPr>
                <p:cNvSpPr/>
                <p:nvPr/>
              </p:nvSpPr>
              <p:spPr>
                <a:xfrm>
                  <a:off x="5477640" y="1390650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3E56809-326F-A904-6ABE-C0BA66165BA2}"/>
                  </a:ext>
                </a:extLst>
              </p:cNvPr>
              <p:cNvSpPr/>
              <p:nvPr/>
            </p:nvSpPr>
            <p:spPr>
              <a:xfrm>
                <a:off x="5477640" y="1290744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LLM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기반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개인화 상담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576B68A0-4E1E-E162-C8EA-3411C30830FE}"/>
                </a:ext>
              </a:extLst>
            </p:cNvPr>
            <p:cNvGrpSpPr/>
            <p:nvPr/>
          </p:nvGrpSpPr>
          <p:grpSpPr>
            <a:xfrm>
              <a:off x="4208956" y="2646343"/>
              <a:ext cx="4866142" cy="3529194"/>
              <a:chOff x="3802043" y="2780535"/>
              <a:chExt cx="4866142" cy="352919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86F48DA-0591-6646-F497-92991B13A3E7}"/>
                  </a:ext>
                </a:extLst>
              </p:cNvPr>
              <p:cNvGrpSpPr/>
              <p:nvPr/>
            </p:nvGrpSpPr>
            <p:grpSpPr>
              <a:xfrm>
                <a:off x="7125135" y="2780535"/>
                <a:ext cx="1543050" cy="1543050"/>
                <a:chOff x="7125135" y="2780535"/>
                <a:chExt cx="1543050" cy="1543050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CACB4BBC-6B15-6D59-9E59-C564B841C234}"/>
                    </a:ext>
                  </a:extLst>
                </p:cNvPr>
                <p:cNvSpPr/>
                <p:nvPr/>
              </p:nvSpPr>
              <p:spPr>
                <a:xfrm>
                  <a:off x="712513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F0B56322-7FE3-90C7-8EF6-8A6E51611E38}"/>
                    </a:ext>
                  </a:extLst>
                </p:cNvPr>
                <p:cNvSpPr/>
                <p:nvPr/>
              </p:nvSpPr>
              <p:spPr>
                <a:xfrm>
                  <a:off x="726439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09F0517-2550-D62F-D386-3CE44E32E648}"/>
                  </a:ext>
                </a:extLst>
              </p:cNvPr>
              <p:cNvSpPr/>
              <p:nvPr/>
            </p:nvSpPr>
            <p:spPr>
              <a:xfrm>
                <a:off x="7320013" y="3165246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RAG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시스템 구현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3CC3011C-85D1-A8C8-EF4F-D4D34B91FE7A}"/>
                  </a:ext>
                </a:extLst>
              </p:cNvPr>
              <p:cNvSpPr/>
              <p:nvPr/>
            </p:nvSpPr>
            <p:spPr>
              <a:xfrm>
                <a:off x="6324066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ML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추천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EE8E237-59BF-984B-321C-8EE12824EDDC}"/>
                  </a:ext>
                </a:extLst>
              </p:cNvPr>
              <p:cNvSpPr/>
              <p:nvPr/>
            </p:nvSpPr>
            <p:spPr>
              <a:xfrm>
                <a:off x="3802043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Django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웹 플랫폼 확장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67A4186-6ADA-83BD-AE33-858ADB793CF0}"/>
                </a:ext>
              </a:extLst>
            </p:cNvPr>
            <p:cNvGrpSpPr/>
            <p:nvPr/>
          </p:nvGrpSpPr>
          <p:grpSpPr>
            <a:xfrm>
              <a:off x="3176885" y="2646343"/>
              <a:ext cx="1543050" cy="1543050"/>
              <a:chOff x="3523815" y="2780535"/>
              <a:chExt cx="1543050" cy="154305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D403884C-AB12-1237-D44D-14C2EAFC4C63}"/>
                  </a:ext>
                </a:extLst>
              </p:cNvPr>
              <p:cNvGrpSpPr/>
              <p:nvPr/>
            </p:nvGrpSpPr>
            <p:grpSpPr>
              <a:xfrm>
                <a:off x="3523815" y="2780535"/>
                <a:ext cx="1543050" cy="1543050"/>
                <a:chOff x="3523815" y="2780535"/>
                <a:chExt cx="1543050" cy="1543050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488B630-02AD-2220-B504-9551C7F557AF}"/>
                    </a:ext>
                  </a:extLst>
                </p:cNvPr>
                <p:cNvSpPr/>
                <p:nvPr/>
              </p:nvSpPr>
              <p:spPr>
                <a:xfrm>
                  <a:off x="352381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525AAD1E-D4F4-2632-21D2-D167090C4F7F}"/>
                    </a:ext>
                  </a:extLst>
                </p:cNvPr>
                <p:cNvSpPr/>
                <p:nvPr/>
              </p:nvSpPr>
              <p:spPr>
                <a:xfrm>
                  <a:off x="366307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Freesentation 8 ExtraBold" pitchFamily="2" charset="-127"/>
                    <a:ea typeface="Freesentation 8 ExtraBold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24494D9-C565-9B95-B861-9CDF657372C7}"/>
                  </a:ext>
                </a:extLst>
              </p:cNvPr>
              <p:cNvSpPr/>
              <p:nvPr/>
            </p:nvSpPr>
            <p:spPr>
              <a:xfrm>
                <a:off x="3676979" y="3165247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LangChain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통합</a:t>
                </a:r>
              </a:p>
            </p:txBody>
          </p:sp>
        </p:grp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4A351122-551E-38BE-558E-A15E155550BE}"/>
                </a:ext>
              </a:extLst>
            </p:cNvPr>
            <p:cNvSpPr/>
            <p:nvPr/>
          </p:nvSpPr>
          <p:spPr>
            <a:xfrm rot="900000">
              <a:off x="7704516" y="2116710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33CBC501-5F74-9B04-D83B-8AD7B5F2A726}"/>
                </a:ext>
              </a:extLst>
            </p:cNvPr>
            <p:cNvSpPr/>
            <p:nvPr/>
          </p:nvSpPr>
          <p:spPr>
            <a:xfrm rot="5100000">
              <a:off x="8144339" y="4572162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099D0A77-B190-6C2F-018E-C3FCADC45B7F}"/>
                </a:ext>
              </a:extLst>
            </p:cNvPr>
            <p:cNvSpPr/>
            <p:nvPr/>
          </p:nvSpPr>
          <p:spPr>
            <a:xfrm rot="1800000">
              <a:off x="6033340" y="5937501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DA1E636D-3EC0-620A-05F1-1F005C4EA9C8}"/>
                </a:ext>
              </a:extLst>
            </p:cNvPr>
            <p:cNvSpPr/>
            <p:nvPr/>
          </p:nvSpPr>
          <p:spPr>
            <a:xfrm rot="6060000">
              <a:off x="3920194" y="4570044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5B0F2746-FEF9-1161-C54C-263B90118EB3}"/>
                </a:ext>
              </a:extLst>
            </p:cNvPr>
            <p:cNvSpPr/>
            <p:nvPr/>
          </p:nvSpPr>
          <p:spPr>
            <a:xfrm rot="3300000">
              <a:off x="4476388" y="1946826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731011-9E92-4E62-E7E6-3CEC6938403B}"/>
              </a:ext>
            </a:extLst>
          </p:cNvPr>
          <p:cNvSpPr/>
          <p:nvPr/>
        </p:nvSpPr>
        <p:spPr>
          <a:xfrm>
            <a:off x="6772325" y="1567237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GPT 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모델을 활용한 자연스러운 보험 상담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C04312-46A6-BC0B-8E33-199D74A76423}"/>
              </a:ext>
            </a:extLst>
          </p:cNvPr>
          <p:cNvSpPr/>
          <p:nvPr/>
        </p:nvSpPr>
        <p:spPr>
          <a:xfrm>
            <a:off x="8722477" y="3760804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약관 데이터베이스와 연동된 정확한 정보 제공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EF1D5F-BFBC-620D-65C4-18CE4B8A197B}"/>
              </a:ext>
            </a:extLst>
          </p:cNvPr>
          <p:cNvSpPr/>
          <p:nvPr/>
        </p:nvSpPr>
        <p:spPr>
          <a:xfrm>
            <a:off x="789458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프로필 기반 머신러닝 추천 시스템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9A94F9-7DF6-469F-A359-6DC9A910C986}"/>
              </a:ext>
            </a:extLst>
          </p:cNvPr>
          <p:cNvSpPr/>
          <p:nvPr/>
        </p:nvSpPr>
        <p:spPr>
          <a:xfrm>
            <a:off x="114002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확장 가능하고 안정적인 웹 서비스 구축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47E047-4D12-9DED-7E3E-A71F98288444}"/>
              </a:ext>
            </a:extLst>
          </p:cNvPr>
          <p:cNvSpPr/>
          <p:nvPr/>
        </p:nvSpPr>
        <p:spPr>
          <a:xfrm>
            <a:off x="261751" y="3662872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외부 도구의 효율적 연동</a:t>
            </a:r>
          </a:p>
        </p:txBody>
      </p:sp>
    </p:spTree>
    <p:extLst>
      <p:ext uri="{BB962C8B-B14F-4D97-AF65-F5344CB8AC3E}">
        <p14:creationId xmlns:p14="http://schemas.microsoft.com/office/powerpoint/2010/main" val="28649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72F093-05FE-85A5-88BA-B654C7A819FD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3FA2C5-C842-7787-FEE5-2242F02B47AF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759A4-738C-78F0-C2F2-14D4C4E3F0A1}"/>
                </a:ext>
              </a:extLst>
            </p:cNvPr>
            <p:cNvSpPr txBox="1"/>
            <p:nvPr/>
          </p:nvSpPr>
          <p:spPr>
            <a:xfrm>
              <a:off x="548673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손해보험협회 보험사별 약관 데이터 수집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F0CE370-5ABE-B8ED-D7F5-FB6A6656B225}"/>
              </a:ext>
            </a:extLst>
          </p:cNvPr>
          <p:cNvGrpSpPr/>
          <p:nvPr/>
        </p:nvGrpSpPr>
        <p:grpSpPr>
          <a:xfrm>
            <a:off x="593784" y="1916810"/>
            <a:ext cx="11004432" cy="4675576"/>
            <a:chOff x="593785" y="1916810"/>
            <a:chExt cx="11004429" cy="4675576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1D360C3-518D-7F02-E043-28B150042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997"/>
            <a:stretch>
              <a:fillRect/>
            </a:stretch>
          </p:blipFill>
          <p:spPr>
            <a:xfrm>
              <a:off x="10140507" y="4549328"/>
              <a:ext cx="1457706" cy="20419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85" y="1916810"/>
              <a:ext cx="5401607" cy="42553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69EBA-F37B-064A-F0A2-CAFDC57E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5561" y="2206179"/>
              <a:ext cx="1457707" cy="204197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752B646-2803-96EE-079F-703966E2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3035" y="2206180"/>
              <a:ext cx="1459645" cy="204197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9BF5BBF-F8AB-5D8F-D97C-D62BE08C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0507" y="2206179"/>
              <a:ext cx="1457707" cy="20682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9BB229B-95BC-A035-C614-7BCD84C9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5562" y="4549329"/>
              <a:ext cx="1465141" cy="204196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67E5436-642B-DCF3-CD4B-704F61476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3036" y="4549331"/>
              <a:ext cx="1457706" cy="2043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285C-28B6-49AF-0B89-1EAACCE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70F335D-6CCE-022E-9431-F51665F589C3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3B13FA-1C16-B2C3-C715-AB409E469A9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DF3B7F-0619-9822-1CA6-FE169148BF8D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6B11B-55B0-D937-239C-65A17066B5C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DBBD9B-F97D-237E-2203-0D5425B8A5EC}"/>
              </a:ext>
            </a:extLst>
          </p:cNvPr>
          <p:cNvGrpSpPr/>
          <p:nvPr/>
        </p:nvGrpSpPr>
        <p:grpSpPr>
          <a:xfrm>
            <a:off x="593783" y="1369060"/>
            <a:ext cx="1625542" cy="389445"/>
            <a:chOff x="408972" y="1295400"/>
            <a:chExt cx="1780601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929355-D20E-A080-E2BC-2D45E139AF1C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2F445-249B-228D-DBBF-F97E3E33D1C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방안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EBD9BB-355A-80E2-DAB2-F632206A666A}"/>
              </a:ext>
            </a:extLst>
          </p:cNvPr>
          <p:cNvGrpSpPr/>
          <p:nvPr/>
        </p:nvGrpSpPr>
        <p:grpSpPr>
          <a:xfrm>
            <a:off x="593783" y="3816046"/>
            <a:ext cx="1625542" cy="389445"/>
            <a:chOff x="408972" y="1295400"/>
            <a:chExt cx="1780601" cy="5969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C25E70-6547-6227-6A3F-16A0224775D5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794E0-FF9A-A119-2B10-676AF3D0285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2423B-DC8B-904D-7A02-A9427E0C6E65}"/>
              </a:ext>
            </a:extLst>
          </p:cNvPr>
          <p:cNvGrpSpPr/>
          <p:nvPr/>
        </p:nvGrpSpPr>
        <p:grpSpPr>
          <a:xfrm>
            <a:off x="1240822" y="2028573"/>
            <a:ext cx="9889226" cy="1018249"/>
            <a:chOff x="1240822" y="2028573"/>
            <a:chExt cx="9889226" cy="10182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7D560FA-395B-B80B-A69D-F7A68864EFEC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325B154-FBD7-4B88-CD9C-F45D77139A51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D05FFAE-6E1B-4BB3-0873-DE4625A6FCEA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AA483994-55BD-E337-8184-526D8F6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ADE36B07-AD9A-133A-DAA4-E5C7EBA03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8CCD7F-2526-9C75-16AC-E97B43B0903A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 크롤링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67649A-DAD3-11E0-61ED-D4D650FEB9C1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구조화 작업 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A9544FD-A94D-4BA0-4578-AFC812DE36AB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데이터 검증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F4C9A9-1960-54F0-A37B-7302CD5B9C13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각 보험사 공식 홈페이지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데이터 수집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5AED14-A914-FC5C-F380-48523985F271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PDF / HTML 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문서를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구조화된 데이터 변환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C61C511-77EC-0781-E32E-301E02A26C19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수집된 약관의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정확성 및 최신성 검증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9EA6B8-1E61-34EC-80B0-DFA26F1B1ED9}"/>
              </a:ext>
            </a:extLst>
          </p:cNvPr>
          <p:cNvGrpSpPr/>
          <p:nvPr/>
        </p:nvGrpSpPr>
        <p:grpSpPr>
          <a:xfrm>
            <a:off x="1240822" y="4708273"/>
            <a:ext cx="9889226" cy="1018249"/>
            <a:chOff x="1240822" y="2028573"/>
            <a:chExt cx="9889226" cy="101824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6EE4337-6713-94A1-C78F-3FE35A1F950A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3CBF606-BAEE-9D92-4693-8447CA377E7F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62F06FCE-6B54-7171-046E-1E2D8089440E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9CBD195D-1742-20AF-79CE-2B2658859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2AC3CF25-6A6C-4CF3-298A-72D85561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B331865-E1C8-ED1D-815A-FAAA9FA96449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텍스트 정제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BF1347-F5DF-60A4-6363-1FDB2E8DEF0C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백터화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1B0140-1ECB-6C96-01A3-859CDF690A2E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인덱싱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D38617D-0B40-133D-C473-CCF08971D8F0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불필요한 서식 제거 및 표준화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6F932B5-9455-9FDB-3825-DC3DE476A2FA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텍스트의 임베딩 생성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CEF7BCB-A657-B64E-0AF8-25EB5236B4D8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Pinecone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을 활용한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백터 데이터베이스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292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8" y="3413389"/>
            <a:ext cx="1828928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프론트엔드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백엔드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연동 및 상태 관리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사용좌 화면 구현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[UI/UX]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와이어프레임 및 프로토타입 설계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메인 페이지 제작 및 전체 검수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페이지 디자인 제작 관리 총괄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26502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/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8" y="3413389"/>
            <a:ext cx="1814927" cy="14773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프로젝트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프로젝트 총괄 관리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백엔드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서버 로직 구현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endParaRPr lang="en-US" altLang="ko-KR" sz="1200"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 관리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25925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413389"/>
            <a:ext cx="1829292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분석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서비스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사용자 로그데이터 분석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및 인사이트 도출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모델링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설계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평가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서빙 및 서비스 연동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 페이지 제작 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27079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413389"/>
            <a:ext cx="1656498" cy="20313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수집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공공 데이터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오픈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정제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크롤링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크롤러 개발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자동화 스크립트를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학습 스케쥴링 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상담페이지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27656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413389"/>
            <a:ext cx="165649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데이터베이스 설계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스키마 설계 및 관계 설정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성능 최적화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[API 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인증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권한 관리와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문서화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비교 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28233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76" name="Rectangle 29">
            <a:extLst>
              <a:ext uri="{FF2B5EF4-FFF2-40B4-BE49-F238E27FC236}">
                <a16:creationId xmlns:a16="http://schemas.microsoft.com/office/drawing/2014/main" id="{871FA496-040D-516B-83A8-653169C37DDA}"/>
              </a:ext>
            </a:extLst>
          </p:cNvPr>
          <p:cNvSpPr/>
          <p:nvPr/>
        </p:nvSpPr>
        <p:spPr>
          <a:xfrm>
            <a:off x="318009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프론트엔드 개발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UI/UX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Rectangle 37">
            <a:extLst>
              <a:ext uri="{FF2B5EF4-FFF2-40B4-BE49-F238E27FC236}">
                <a16:creationId xmlns:a16="http://schemas.microsoft.com/office/drawing/2014/main" id="{33CD983D-ED6C-BDC4-443F-CF4175EBE47D}"/>
              </a:ext>
            </a:extLst>
          </p:cNvPr>
          <p:cNvSpPr/>
          <p:nvPr/>
        </p:nvSpPr>
        <p:spPr>
          <a:xfrm>
            <a:off x="117432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매니저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백엔드 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Rectangle 40">
            <a:extLst>
              <a:ext uri="{FF2B5EF4-FFF2-40B4-BE49-F238E27FC236}">
                <a16:creationId xmlns:a16="http://schemas.microsoft.com/office/drawing/2014/main" id="{0E75F30D-C4ED-3C52-090C-0A4E5D5795BB}"/>
              </a:ext>
            </a:extLst>
          </p:cNvPr>
          <p:cNvSpPr/>
          <p:nvPr/>
        </p:nvSpPr>
        <p:spPr>
          <a:xfrm>
            <a:off x="518586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분석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9" name="Rectangle 43">
            <a:extLst>
              <a:ext uri="{FF2B5EF4-FFF2-40B4-BE49-F238E27FC236}">
                <a16:creationId xmlns:a16="http://schemas.microsoft.com/office/drawing/2014/main" id="{4D1CB83F-7CFF-25EC-7781-6730EA468360}"/>
              </a:ext>
            </a:extLst>
          </p:cNvPr>
          <p:cNvSpPr/>
          <p:nvPr/>
        </p:nvSpPr>
        <p:spPr>
          <a:xfrm>
            <a:off x="719163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크롤링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Rectangle 46">
            <a:extLst>
              <a:ext uri="{FF2B5EF4-FFF2-40B4-BE49-F238E27FC236}">
                <a16:creationId xmlns:a16="http://schemas.microsoft.com/office/drawing/2014/main" id="{254A619C-C5C7-1CF8-F16C-3226C0820A08}"/>
              </a:ext>
            </a:extLst>
          </p:cNvPr>
          <p:cNvSpPr/>
          <p:nvPr/>
        </p:nvSpPr>
        <p:spPr>
          <a:xfrm>
            <a:off x="919740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데이터베이스 설계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API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8355"/>
              </p:ext>
            </p:extLst>
          </p:nvPr>
        </p:nvGraphicFramePr>
        <p:xfrm>
          <a:off x="304801" y="1271150"/>
          <a:ext cx="11582406" cy="5282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전체 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0926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5" y="2111713"/>
            <a:ext cx="1144280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DB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RAG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구축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512352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Django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프론트엔드개발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LLM, LangChin 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 개발 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4BA8A3-5D9D-E9C5-ED95-E5AB72675B3C}"/>
              </a:ext>
            </a:extLst>
          </p:cNvPr>
          <p:cNvGrpSpPr/>
          <p:nvPr/>
        </p:nvGrpSpPr>
        <p:grpSpPr>
          <a:xfrm>
            <a:off x="4659708" y="5914783"/>
            <a:ext cx="790802" cy="198385"/>
            <a:chOff x="2677970" y="960000"/>
            <a:chExt cx="790802" cy="198385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C9A885A-A5A1-8139-4E86-7C2BA6A8D08E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534A26-7594-6BDE-6579-9F3B7BA956E4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8FC7D1A-70E9-1AE0-33F7-49CC14603D1F}"/>
              </a:ext>
            </a:extLst>
          </p:cNvPr>
          <p:cNvGrpSpPr/>
          <p:nvPr/>
        </p:nvGrpSpPr>
        <p:grpSpPr>
          <a:xfrm>
            <a:off x="5425395" y="5836957"/>
            <a:ext cx="1144280" cy="261257"/>
            <a:chOff x="3530600" y="853598"/>
            <a:chExt cx="1527175" cy="26125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86FD1C2-C8AC-F169-6ACD-721DCDDC45EB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AB8D526-3925-C168-EB74-3055CE4F5DF4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UI,UX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프로토타입 제작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48B8ED8-C5F2-0F17-B2F5-FB71FFEBFB4F}"/>
              </a:ext>
            </a:extLst>
          </p:cNvPr>
          <p:cNvGrpSpPr/>
          <p:nvPr/>
        </p:nvGrpSpPr>
        <p:grpSpPr>
          <a:xfrm>
            <a:off x="6938194" y="5485837"/>
            <a:ext cx="712439" cy="202026"/>
            <a:chOff x="3550236" y="4283988"/>
            <a:chExt cx="712439" cy="202026"/>
          </a:xfrm>
        </p:grpSpPr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741C35A8-6090-6381-0D43-1045CB88E37C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6C700EEB-BD42-4920-308D-B71C5DF8621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1F1D792-90E4-648E-F969-EBE33E5F5C33}"/>
              </a:ext>
            </a:extLst>
          </p:cNvPr>
          <p:cNvGrpSpPr/>
          <p:nvPr/>
        </p:nvGrpSpPr>
        <p:grpSpPr>
          <a:xfrm>
            <a:off x="7660451" y="5405350"/>
            <a:ext cx="3840988" cy="261257"/>
            <a:chOff x="3530600" y="853598"/>
            <a:chExt cx="1527175" cy="261257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7FA6413F-E7BE-068A-C1E9-C33190E5D606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14C63631-8661-45B0-D2B6-66D8BEDFBA5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통합 테스트 및 버그 수정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성능 최적화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/ PythonAnywhere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배포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7"/>
              </p:ext>
            </p:extLst>
          </p:nvPr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5B99-D31A-BF25-BBDD-16D503E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118E15C-7BA6-D7E5-E7CB-99FF5F33B98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FD11D5-B04A-FF0B-FBFC-68E8A72F01DD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10D845-5D0C-96AD-0C67-D8579CDE57A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B9C3B0-5600-0202-1BAE-51B3FF064D0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A9B5A0-CC1F-357B-C065-9F2C6243AB9A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70A3F68-8623-5746-A14F-843107774F70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F22C99-D7B9-2616-C334-3CADBA6B8E9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Mock </a:t>
              </a:r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서버 기반 보험료 계산 시스템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9EC416-E0DA-2B1A-F973-B49CD23349FF}"/>
              </a:ext>
            </a:extLst>
          </p:cNvPr>
          <p:cNvGrpSpPr/>
          <p:nvPr/>
        </p:nvGrpSpPr>
        <p:grpSpPr>
          <a:xfrm>
            <a:off x="593783" y="2549715"/>
            <a:ext cx="5023246" cy="1742061"/>
            <a:chOff x="6030791" y="1457756"/>
            <a:chExt cx="5023246" cy="174206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D965C57-CB67-FDCB-7BB8-9106467F42B0}"/>
                </a:ext>
              </a:extLst>
            </p:cNvPr>
            <p:cNvSpPr/>
            <p:nvPr/>
          </p:nvSpPr>
          <p:spPr>
            <a:xfrm>
              <a:off x="6030791" y="1582243"/>
              <a:ext cx="5023246" cy="1617574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52754805-8548-A122-8505-C6E603C28867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Mock  </a:t>
              </a:r>
              <a:r>
                <a: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서버 선택 배경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241E3E-1912-8015-A25E-F919737072B2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CODEF 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정식 서비스 신청 시 사업자등록증 필요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개발 초기 단계에서 외부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의존성 제거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팀원 모두가 동일한 환경에서 개발 가능 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호출 비용 및 제한 없는 무제한 테스트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B39EE47-8097-5E61-10AC-65A59E9CFE83}"/>
              </a:ext>
            </a:extLst>
          </p:cNvPr>
          <p:cNvGrpSpPr/>
          <p:nvPr/>
        </p:nvGrpSpPr>
        <p:grpSpPr>
          <a:xfrm>
            <a:off x="778595" y="4525800"/>
            <a:ext cx="1383032" cy="1358549"/>
            <a:chOff x="569300" y="4445275"/>
            <a:chExt cx="1383032" cy="1358549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ACB33D4-CA48-0715-C25A-21CE63B5A71A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1DE36124-D1A6-7262-7EC2-8C4CF662F4EA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3C8A2BC-32E5-E927-4094-FF380C1FED0F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EE5EF6E-EB96-B159-CCF3-4D20496EC339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데이터 설계 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20A294AA-8E10-933E-35D6-38542381B14A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실제 보험료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계산 로직과 유사한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 구현</a:t>
                </a:r>
              </a:p>
            </p:txBody>
          </p: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4D2F36-1747-878E-A5CB-3B10E25AF960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669C711-7806-913B-1239-5AA0C4DB88DE}"/>
              </a:ext>
            </a:extLst>
          </p:cNvPr>
          <p:cNvGrpSpPr/>
          <p:nvPr/>
        </p:nvGrpSpPr>
        <p:grpSpPr>
          <a:xfrm>
            <a:off x="2422003" y="4525800"/>
            <a:ext cx="1383032" cy="1358549"/>
            <a:chOff x="569300" y="4445275"/>
            <a:chExt cx="1383032" cy="135854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2E16CCB-0EAE-98E4-D9AA-BF5FFB1E67F7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00DF3D6-E64B-A63C-E704-FC81652E529D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CE48F26-570B-D3E0-81CC-47E2B6BB31F2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97D1BFDE-D870-FD5C-E0D7-AFF8CF29360B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환경별 전환 지원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C8D781D4-8B7C-B2D6-19E2-1E549F7179EC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개발용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→</a:t>
                </a:r>
              </a:p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운영용 실제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API </a:t>
                </a: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쉬운 전환</a:t>
                </a:r>
              </a:p>
            </p:txBody>
          </p:sp>
        </p:grp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3F2C7EE-1EE2-6177-2C0D-D0535765E3AE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13D8E18-684D-DAAB-2AE1-39634300D71D}"/>
              </a:ext>
            </a:extLst>
          </p:cNvPr>
          <p:cNvGrpSpPr/>
          <p:nvPr/>
        </p:nvGrpSpPr>
        <p:grpSpPr>
          <a:xfrm>
            <a:off x="4065411" y="4525800"/>
            <a:ext cx="1383032" cy="1358549"/>
            <a:chOff x="569300" y="4445275"/>
            <a:chExt cx="1383032" cy="1358549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B9B6EE3-6CA5-3F40-1EB6-CC244B7B6023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2FC1E687-285C-6A4D-E5D2-DB570BD46355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5B8EA0C-7059-ABD3-4B2C-A92A37961E83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C4697AB-C887-3386-B56E-4DFDFCEF0703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완전한 기능 구현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8260A9F-1A29-8032-E83E-63FB62DDC30D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환경에서도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모든 시스템 기능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완벽 구현</a:t>
                </a:r>
              </a:p>
            </p:txBody>
          </p:sp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F4058C7-230A-8C06-D7EA-C734082FF7D9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3AD576E-C368-BA24-630D-88E4B460C6D3}"/>
              </a:ext>
            </a:extLst>
          </p:cNvPr>
          <p:cNvGrpSpPr/>
          <p:nvPr/>
        </p:nvGrpSpPr>
        <p:grpSpPr>
          <a:xfrm>
            <a:off x="7466370" y="1136649"/>
            <a:ext cx="3735378" cy="5536487"/>
            <a:chOff x="6041253" y="-2012467"/>
            <a:chExt cx="5847183" cy="8666554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E8B31EA7-DD04-00FD-AD09-025B592CB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8741" y="1733058"/>
              <a:ext cx="5829695" cy="492102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5AA77F08-EC48-FA81-7D15-87C69FDA2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1253" y="-2012467"/>
              <a:ext cx="5648661" cy="3576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413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E5AB-1BB8-1BD0-640B-3E7B6D34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9264FD5-DFBB-A4FB-0807-CB7171DD3B26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306AB8-6D20-355D-36DC-0616D5E807C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8B2D745-3D54-6D32-736B-F66B3694687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FF11E5-DE31-4E20-1602-A092EA49CB3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D6FE67-8BC7-7FAE-1DD3-8FEE0B722C20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B4976D7-87DB-CC37-8FF8-A01613072B2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C6E006-E172-095A-CCDE-607CE701BAC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전체 시스템 구조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BFD866-699A-CE09-0770-1EADB526BFA0}"/>
              </a:ext>
            </a:extLst>
          </p:cNvPr>
          <p:cNvSpPr/>
          <p:nvPr/>
        </p:nvSpPr>
        <p:spPr>
          <a:xfrm>
            <a:off x="562353" y="2316860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7C95D7-AE65-D669-E2BC-D815F7176F9F}"/>
              </a:ext>
            </a:extLst>
          </p:cNvPr>
          <p:cNvSpPr/>
          <p:nvPr/>
        </p:nvSpPr>
        <p:spPr>
          <a:xfrm>
            <a:off x="4803483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MY SQL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659E48-8F81-DC3C-EFB3-E4B804A40BD2}"/>
              </a:ext>
            </a:extLst>
          </p:cNvPr>
          <p:cNvSpPr/>
          <p:nvPr/>
        </p:nvSpPr>
        <p:spPr>
          <a:xfrm>
            <a:off x="562353" y="3198603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frontend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6415A3-B0CA-2092-80F4-A6B2B39706C8}"/>
              </a:ext>
            </a:extLst>
          </p:cNvPr>
          <p:cNvSpPr/>
          <p:nvPr/>
        </p:nvSpPr>
        <p:spPr>
          <a:xfrm>
            <a:off x="562353" y="4344581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호출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1186C0-C650-3A70-D79B-D31581B4A877}"/>
              </a:ext>
            </a:extLst>
          </p:cNvPr>
          <p:cNvSpPr/>
          <p:nvPr/>
        </p:nvSpPr>
        <p:spPr>
          <a:xfrm>
            <a:off x="2826816" y="5503909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LangChain Framework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01760A-F4D5-4AE0-7F60-60B4FAE57B08}"/>
              </a:ext>
            </a:extLst>
          </p:cNvPr>
          <p:cNvSpPr/>
          <p:nvPr/>
        </p:nvSpPr>
        <p:spPr>
          <a:xfrm>
            <a:off x="4803483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 + RAG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FA29B0-5468-1604-ED4C-460BB835D4BF}"/>
              </a:ext>
            </a:extLst>
          </p:cNvPr>
          <p:cNvSpPr/>
          <p:nvPr/>
        </p:nvSpPr>
        <p:spPr>
          <a:xfrm>
            <a:off x="6825862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User Profile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94F391-3010-2702-E7DF-554D23F9887C}"/>
              </a:ext>
            </a:extLst>
          </p:cNvPr>
          <p:cNvSpPr/>
          <p:nvPr/>
        </p:nvSpPr>
        <p:spPr>
          <a:xfrm>
            <a:off x="6825862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Vector DB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2A26C1F-AE17-F251-F386-D47D5C938B6A}"/>
              </a:ext>
            </a:extLst>
          </p:cNvPr>
          <p:cNvSpPr/>
          <p:nvPr/>
        </p:nvSpPr>
        <p:spPr>
          <a:xfrm>
            <a:off x="9017796" y="4344581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ML Recommendation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535D15-D16F-C3DA-FEF0-8223F727B635}"/>
              </a:ext>
            </a:extLst>
          </p:cNvPr>
          <p:cNvSpPr/>
          <p:nvPr/>
        </p:nvSpPr>
        <p:spPr>
          <a:xfrm>
            <a:off x="9017796" y="5503909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Insurance Data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65B023F-6943-3E43-D053-AC4E0D6D1855}"/>
              </a:ext>
            </a:extLst>
          </p:cNvPr>
          <p:cNvCxnSpPr>
            <a:stCxn id="18" idx="2"/>
          </p:cNvCxnSpPr>
          <p:nvPr/>
        </p:nvCxnSpPr>
        <p:spPr>
          <a:xfrm flipH="1">
            <a:off x="1355050" y="2859502"/>
            <a:ext cx="1" cy="339101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1FFC00A-939B-E837-9B0E-30815819B490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1355051" y="3741245"/>
            <a:ext cx="0" cy="603336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E866727-D6A5-556B-5226-B55CEF8A1332}"/>
              </a:ext>
            </a:extLst>
          </p:cNvPr>
          <p:cNvGrpSpPr/>
          <p:nvPr/>
        </p:nvGrpSpPr>
        <p:grpSpPr>
          <a:xfrm>
            <a:off x="1355050" y="4887223"/>
            <a:ext cx="1471768" cy="944079"/>
            <a:chOff x="1355050" y="4672950"/>
            <a:chExt cx="1471768" cy="944079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180D652B-A880-A7C8-35C7-8A104720A4EC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49B7EE28-937D-DC05-A9F8-F8CA49131118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E2B7B65-AD1E-0369-8BC3-E520A26EEA5F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2147748" y="4615902"/>
            <a:ext cx="2655735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48EA9D6-0C17-A9BD-7074-295D015CEC5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5731763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7B865E0-6C06-928A-CFD0-65DB273FB320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7754142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044AE36-3ACD-FBCD-8CBB-4FA9D64EAAF3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>
            <a:off x="10198498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08DB79D-4578-1468-3659-2A5202207BCF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>
            <a:off x="6660043" y="4615902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898E799-8B5B-893A-3DE6-773CD1D7CC13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>
            <a:off x="6660043" y="5775230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CD735A66-7603-788A-1D59-7039762EC226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8682422" y="4615902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3E0403E-7479-DA2D-E506-50F892598169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8682422" y="5775230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D726CF35-96A0-3F62-928F-9BCEF23831A3}"/>
              </a:ext>
            </a:extLst>
          </p:cNvPr>
          <p:cNvCxnSpPr>
            <a:cxnSpLocks/>
            <a:stCxn id="50" idx="0"/>
            <a:endCxn id="55" idx="2"/>
          </p:cNvCxnSpPr>
          <p:nvPr/>
        </p:nvCxnSpPr>
        <p:spPr>
          <a:xfrm flipH="1" flipV="1">
            <a:off x="10198497" y="3966483"/>
            <a:ext cx="1" cy="378098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61EF2B7-DAE2-352D-67F6-7649E13DBC29}"/>
              </a:ext>
            </a:extLst>
          </p:cNvPr>
          <p:cNvGrpSpPr/>
          <p:nvPr/>
        </p:nvGrpSpPr>
        <p:grpSpPr>
          <a:xfrm rot="10800000">
            <a:off x="2163831" y="2551339"/>
            <a:ext cx="8034664" cy="1143824"/>
            <a:chOff x="1355050" y="4672950"/>
            <a:chExt cx="1471768" cy="944079"/>
          </a:xfrm>
        </p:grpSpPr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E77C332-1C35-0A13-69C0-BD26ADEBFB9E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A7715986-9BB4-9BC0-D396-1B97667E678F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021C304-F53C-DEE6-8F8E-BAFD50CA3B1E}"/>
              </a:ext>
            </a:extLst>
          </p:cNvPr>
          <p:cNvSpPr/>
          <p:nvPr/>
        </p:nvSpPr>
        <p:spPr>
          <a:xfrm>
            <a:off x="9017795" y="3423841"/>
            <a:ext cx="2361403" cy="54264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Mock Server</a:t>
            </a:r>
            <a:endParaRPr lang="ko-KR" altLang="en-US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724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8679-67A4-BA45-0E2E-8374C27B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650F5BE-3C94-FB90-983C-A45B7BC54D8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7101F1-7139-8F93-AE5E-2C427886C3B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3CF6A09-F172-35DF-46D8-944C01600E85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4EC1767-626E-24E4-6813-7A92830F4B2F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FF9AF8-4A30-9CCA-7CC7-29C4654D3EE5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BC57A2C-69D6-AA37-F997-6B9AC725846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49C454-5829-D159-B3E8-8E044187D5DA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회원 관리 시스템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8B775EE-EF7E-B06E-3F84-F7323AF6D849}"/>
              </a:ext>
            </a:extLst>
          </p:cNvPr>
          <p:cNvGrpSpPr/>
          <p:nvPr/>
        </p:nvGrpSpPr>
        <p:grpSpPr>
          <a:xfrm>
            <a:off x="593783" y="2549715"/>
            <a:ext cx="5023246" cy="1400060"/>
            <a:chOff x="6030791" y="1457756"/>
            <a:chExt cx="5023246" cy="140006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439747-4C73-EC01-2A89-AD44EE4E9F93}"/>
                </a:ext>
              </a:extLst>
            </p:cNvPr>
            <p:cNvSpPr/>
            <p:nvPr/>
          </p:nvSpPr>
          <p:spPr>
            <a:xfrm>
              <a:off x="6030791" y="1582243"/>
              <a:ext cx="5023246" cy="1275573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52924078-9DE4-9807-3B6E-A46D67A7AB44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사용자 입력 필수 정보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38859-99BD-F9F7-396B-49F3B6F6FA7A}"/>
              </a:ext>
            </a:extLst>
          </p:cNvPr>
          <p:cNvSpPr/>
          <p:nvPr/>
        </p:nvSpPr>
        <p:spPr>
          <a:xfrm>
            <a:off x="871027" y="2908226"/>
            <a:ext cx="4452378" cy="915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아이디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로그인 식별자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비밀번호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암호화 저장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(Django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기본 해시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생년월일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계산 및 위험도 평가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FFEFF0-C3F2-281A-B5E8-0ACC46654959}"/>
              </a:ext>
            </a:extLst>
          </p:cNvPr>
          <p:cNvGrpSpPr/>
          <p:nvPr/>
        </p:nvGrpSpPr>
        <p:grpSpPr>
          <a:xfrm>
            <a:off x="6507860" y="2549715"/>
            <a:ext cx="5023246" cy="3867414"/>
            <a:chOff x="6030791" y="1457756"/>
            <a:chExt cx="5023246" cy="386741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8CC19C7-13E1-E748-2D4C-0A9B1E6EDEAF}"/>
                </a:ext>
              </a:extLst>
            </p:cNvPr>
            <p:cNvSpPr/>
            <p:nvPr/>
          </p:nvSpPr>
          <p:spPr>
            <a:xfrm>
              <a:off x="6030791" y="1582243"/>
              <a:ext cx="5023246" cy="3742927"/>
            </a:xfrm>
            <a:prstGeom prst="roundRect">
              <a:avLst>
                <a:gd name="adj" fmla="val 598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CB55139F-3D30-5DF8-4301-4F82E124304C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사용자 입력 선택 정보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131006-FBB2-6ADC-E096-5343CB6ED9BE}"/>
              </a:ext>
            </a:extLst>
          </p:cNvPr>
          <p:cNvSpPr/>
          <p:nvPr/>
        </p:nvSpPr>
        <p:spPr>
          <a:xfrm>
            <a:off x="6785104" y="2908226"/>
            <a:ext cx="4452378" cy="3133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자동차 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차량 정보 자동 조회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운전 경력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면허 취득일 또는 운전 연수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성별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산정 요소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직업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위험도 평가 요소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거주지역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지역별 보험료 차등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연간 주행거리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패턴 분석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사고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과거 보험 사고 여부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차량 정보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연식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배기량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차종 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보험 가입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현재 가입 보험 및 만료일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134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D286-2BBB-DDF2-1A43-3ABBDCF8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1BB78F17-7D3A-D5AE-B554-9445EF32B11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76D22A0-A8B7-D0C5-A381-9ED9A0AD0AC3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2AC0F01-882E-4DBD-2450-33100D6AF61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FB7325F-0A59-00D5-F997-CD1D1C0DEA5C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예상 결과물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451EBC-1C23-F389-C3CC-FA7CDA959634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C2AA66D-BAF5-CE3A-8A81-E2BA6725D572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AD7FFD-A9B9-5575-1F57-939BB5A1064D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애플리 케이션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184A284-4F03-AEEE-D863-53B60B7A463A}"/>
              </a:ext>
            </a:extLst>
          </p:cNvPr>
          <p:cNvGrpSpPr/>
          <p:nvPr/>
        </p:nvGrpSpPr>
        <p:grpSpPr>
          <a:xfrm>
            <a:off x="593783" y="2549715"/>
            <a:ext cx="5023246" cy="1961325"/>
            <a:chOff x="6030791" y="1457756"/>
            <a:chExt cx="5023246" cy="1961325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FBB7406-0620-AAE5-EBB7-C3A6BBD01D62}"/>
                </a:ext>
              </a:extLst>
            </p:cNvPr>
            <p:cNvSpPr/>
            <p:nvPr/>
          </p:nvSpPr>
          <p:spPr>
            <a:xfrm>
              <a:off x="6030791" y="1582243"/>
              <a:ext cx="5023246" cy="1836838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Rounded Rectangle 2">
              <a:extLst>
                <a:ext uri="{FF2B5EF4-FFF2-40B4-BE49-F238E27FC236}">
                  <a16:creationId xmlns:a16="http://schemas.microsoft.com/office/drawing/2014/main" id="{992C0188-D42C-8A48-0E84-549B0E95558D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웹용 기능 목표 페이지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8BF986-9BF9-342F-003A-D37DDBA91964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회원가입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/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로그인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인증 및 프로필 관리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메인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서비스 소개 및 간단 견적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상담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챗봇 상담 인터페이스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비교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상품 상세 비교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마이페이지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개인정보 및 보험 이력 관리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64E3AA0-F3E9-7D62-9010-E817E9A9DA60}"/>
              </a:ext>
            </a:extLst>
          </p:cNvPr>
          <p:cNvGrpSpPr/>
          <p:nvPr/>
        </p:nvGrpSpPr>
        <p:grpSpPr>
          <a:xfrm>
            <a:off x="6591351" y="1369060"/>
            <a:ext cx="3522244" cy="389445"/>
            <a:chOff x="408972" y="1295400"/>
            <a:chExt cx="3858228" cy="5969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679A19A-F2E9-4B05-DAEB-C943D383EBA6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4D9AF7-7244-B96D-07B3-B742BE351993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성과지표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EF11721-7EA1-3CD1-E8E0-7B895642367F}"/>
              </a:ext>
            </a:extLst>
          </p:cNvPr>
          <p:cNvGrpSpPr/>
          <p:nvPr/>
        </p:nvGrpSpPr>
        <p:grpSpPr>
          <a:xfrm>
            <a:off x="6591351" y="2549715"/>
            <a:ext cx="5023246" cy="3197943"/>
            <a:chOff x="6030791" y="1457756"/>
            <a:chExt cx="5023246" cy="3197943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0B200FF-0EC6-8D32-17AB-2C5BF42F4A11}"/>
                </a:ext>
              </a:extLst>
            </p:cNvPr>
            <p:cNvSpPr/>
            <p:nvPr/>
          </p:nvSpPr>
          <p:spPr>
            <a:xfrm>
              <a:off x="6030791" y="1582243"/>
              <a:ext cx="5023246" cy="3073456"/>
            </a:xfrm>
            <a:prstGeom prst="roundRect">
              <a:avLst>
                <a:gd name="adj" fmla="val 50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11EF6914-0C33-9519-7E1F-227681E7BA40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Freesentation 8 ExtraBold" pitchFamily="2" charset="-127"/>
                  <a:ea typeface="Freesentation 8 ExtraBold" pitchFamily="2" charset="-127"/>
                </a:rPr>
                <a:t>목표 성과 지표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27EA58-06F0-9F04-DD0B-51A687202576}"/>
              </a:ext>
            </a:extLst>
          </p:cNvPr>
          <p:cNvSpPr/>
          <p:nvPr/>
        </p:nvSpPr>
        <p:spPr>
          <a:xfrm>
            <a:off x="6868595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추천 정확도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유사 사용자 기반 추천의 정확성 </a:t>
            </a:r>
            <a:b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85%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사용자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보험상품에 대한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</a:t>
            </a: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4.2/5.0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추천 다양성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상품의 다양성 지수 측정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응답 속도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LLM+RAG+ML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통합 응답 시간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5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초 이내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Cold Start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해결률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신규 사용자 대상 추천 성공률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75%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397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98925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1075929" y="3135963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126885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1159</Words>
  <Application>Microsoft Office PowerPoint</Application>
  <PresentationFormat>와이드스크린</PresentationFormat>
  <Paragraphs>321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Freesentation 8 ExtraBold</vt:lpstr>
      <vt:lpstr>맑은 고딕</vt:lpstr>
      <vt:lpstr>프리젠테이션 5 Medium</vt:lpstr>
      <vt:lpstr>프리젠테이션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57</cp:revision>
  <dcterms:created xsi:type="dcterms:W3CDTF">2025-07-31T07:13:26Z</dcterms:created>
  <dcterms:modified xsi:type="dcterms:W3CDTF">2025-08-04T07:56:54Z</dcterms:modified>
</cp:coreProperties>
</file>