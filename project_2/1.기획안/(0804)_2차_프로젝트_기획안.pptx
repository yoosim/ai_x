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9" r:id="rId5"/>
    <p:sldId id="270" r:id="rId6"/>
    <p:sldId id="271" r:id="rId7"/>
    <p:sldId id="272" r:id="rId8"/>
    <p:sldId id="273" r:id="rId9"/>
    <p:sldId id="260" r:id="rId10"/>
    <p:sldId id="261" r:id="rId11"/>
    <p:sldId id="266" r:id="rId12"/>
    <p:sldId id="262" r:id="rId13"/>
    <p:sldId id="263" r:id="rId14"/>
    <p:sldId id="264" r:id="rId15"/>
    <p:sldId id="265" r:id="rId16"/>
    <p:sldId id="267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262122"/>
    <a:srgbClr val="D3D3D3"/>
    <a:srgbClr val="B00020"/>
    <a:srgbClr val="6A4C93"/>
    <a:srgbClr val="D8B4E2"/>
    <a:srgbClr val="F2E7AC"/>
    <a:srgbClr val="F2C4D5"/>
    <a:srgbClr val="F2A2C0"/>
    <a:srgbClr val="D9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jpe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jpe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108734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839970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9029B-7A79-F234-D1AC-0C16CD29DBC7}"/>
              </a:ext>
            </a:extLst>
          </p:cNvPr>
          <p:cNvSpPr txBox="1"/>
          <p:nvPr/>
        </p:nvSpPr>
        <p:spPr>
          <a:xfrm>
            <a:off x="266700" y="1447800"/>
            <a:ext cx="11036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자동차 보험 </a:t>
            </a:r>
            <a:endParaRPr lang="en-US" altLang="ko-KR" dirty="0"/>
          </a:p>
          <a:p>
            <a:r>
              <a:rPr lang="ko-KR" altLang="en-US" dirty="0"/>
              <a:t>자동차 사고</a:t>
            </a:r>
            <a:endParaRPr lang="en-US" altLang="ko-KR" dirty="0"/>
          </a:p>
          <a:p>
            <a:r>
              <a:rPr lang="ko-KR" altLang="en-US" dirty="0"/>
              <a:t>자동차</a:t>
            </a:r>
            <a:endParaRPr lang="en-US" altLang="ko-KR" dirty="0"/>
          </a:p>
          <a:p>
            <a:r>
              <a:rPr lang="ko-KR" altLang="en-US" dirty="0"/>
              <a:t>운전자</a:t>
            </a:r>
            <a:endParaRPr lang="en-US" altLang="ko-KR" dirty="0"/>
          </a:p>
          <a:p>
            <a:r>
              <a:rPr lang="ko-KR" altLang="en-US" dirty="0"/>
              <a:t>보호</a:t>
            </a:r>
            <a:r>
              <a:rPr lang="en-US" altLang="ko-KR" dirty="0"/>
              <a:t>/</a:t>
            </a:r>
            <a:r>
              <a:rPr lang="ko-KR" altLang="en-US" dirty="0"/>
              <a:t>안전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방패</a:t>
            </a:r>
            <a:r>
              <a:rPr lang="en-US" altLang="ko-KR" dirty="0"/>
              <a:t>, </a:t>
            </a:r>
            <a:r>
              <a:rPr lang="ko-KR" altLang="en-US" dirty="0" err="1"/>
              <a:t>안전밸트</a:t>
            </a:r>
            <a:r>
              <a:rPr lang="en-US" altLang="ko-KR" dirty="0"/>
              <a:t>, </a:t>
            </a:r>
            <a:r>
              <a:rPr lang="ko-KR" altLang="en-US" dirty="0"/>
              <a:t>안전망 </a:t>
            </a:r>
            <a:r>
              <a:rPr lang="en-US" altLang="ko-KR" dirty="0"/>
              <a:t>: </a:t>
            </a:r>
            <a:r>
              <a:rPr lang="ko-KR" altLang="en-US" dirty="0"/>
              <a:t>나를 지켜준다</a:t>
            </a:r>
            <a:r>
              <a:rPr lang="en-US" altLang="ko-KR" dirty="0"/>
              <a:t>. </a:t>
            </a:r>
            <a:r>
              <a:rPr lang="ko-KR" altLang="en-US" dirty="0" err="1"/>
              <a:t>디팬스</a:t>
            </a:r>
            <a:r>
              <a:rPr lang="en-US" altLang="ko-KR" dirty="0"/>
              <a:t>, </a:t>
            </a:r>
            <a:r>
              <a:rPr lang="ko-KR" altLang="en-US" dirty="0"/>
              <a:t>보호 </a:t>
            </a:r>
            <a:endParaRPr lang="en-US" altLang="ko-KR" dirty="0"/>
          </a:p>
          <a:p>
            <a:r>
              <a:rPr lang="ko-KR" altLang="en-US" dirty="0"/>
              <a:t>사고</a:t>
            </a:r>
            <a:r>
              <a:rPr lang="en-US" altLang="ko-KR" dirty="0"/>
              <a:t>/</a:t>
            </a:r>
            <a:r>
              <a:rPr lang="ko-KR" altLang="en-US" dirty="0"/>
              <a:t>보상 </a:t>
            </a:r>
            <a:r>
              <a:rPr lang="en-US" altLang="ko-KR" dirty="0"/>
              <a:t>: </a:t>
            </a:r>
            <a:r>
              <a:rPr lang="ko-KR" altLang="en-US" dirty="0"/>
              <a:t>충돌</a:t>
            </a:r>
            <a:r>
              <a:rPr lang="en-US" altLang="ko-KR" dirty="0"/>
              <a:t>, </a:t>
            </a:r>
            <a:r>
              <a:rPr lang="ko-KR" altLang="en-US" dirty="0"/>
              <a:t>돈다발</a:t>
            </a:r>
            <a:r>
              <a:rPr lang="en-US" altLang="ko-KR" dirty="0"/>
              <a:t>, </a:t>
            </a:r>
            <a:r>
              <a:rPr lang="ko-KR" altLang="en-US" dirty="0"/>
              <a:t>계산기</a:t>
            </a:r>
            <a:r>
              <a:rPr lang="en-US" altLang="ko-KR" dirty="0"/>
              <a:t>+</a:t>
            </a:r>
            <a:r>
              <a:rPr lang="ko-KR" altLang="en-US" dirty="0"/>
              <a:t>청구서 </a:t>
            </a:r>
            <a:r>
              <a:rPr lang="en-US" altLang="ko-KR" dirty="0"/>
              <a:t>: </a:t>
            </a:r>
            <a:r>
              <a:rPr lang="ko-KR" altLang="en-US" dirty="0"/>
              <a:t>금전손실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돋보기 </a:t>
            </a:r>
            <a:r>
              <a:rPr lang="en-US" altLang="ko-KR" dirty="0"/>
              <a:t>+ </a:t>
            </a:r>
            <a:r>
              <a:rPr lang="ko-KR" altLang="en-US" dirty="0"/>
              <a:t>자동차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정보를 찾아서 대답해주고 가장 적절한 답 골라주는 안내 비서 </a:t>
            </a:r>
            <a:endParaRPr lang="en-US" altLang="ko-KR" dirty="0"/>
          </a:p>
          <a:p>
            <a:r>
              <a:rPr lang="ko-KR" altLang="en-US" dirty="0"/>
              <a:t>저울</a:t>
            </a:r>
            <a:r>
              <a:rPr lang="en-US" altLang="ko-KR" dirty="0"/>
              <a:t>( </a:t>
            </a:r>
            <a:r>
              <a:rPr lang="ko-KR" altLang="en-US" dirty="0"/>
              <a:t>보험 비교</a:t>
            </a:r>
            <a:r>
              <a:rPr lang="en-US" altLang="ko-KR" dirty="0"/>
              <a:t>) / </a:t>
            </a:r>
            <a:r>
              <a:rPr lang="ko-KR" altLang="en-US" dirty="0"/>
              <a:t>차 옆에 다양한 보험 그래프 </a:t>
            </a:r>
            <a:r>
              <a:rPr lang="en-US" altLang="ko-KR" dirty="0"/>
              <a:t>/ </a:t>
            </a:r>
            <a:r>
              <a:rPr lang="ko-KR" altLang="en-US" dirty="0"/>
              <a:t>두뇌 아이콘 </a:t>
            </a:r>
            <a:r>
              <a:rPr lang="en-US" altLang="ko-KR" dirty="0"/>
              <a:t>(</a:t>
            </a:r>
            <a:r>
              <a:rPr lang="en-US" altLang="ko-KR" dirty="0" err="1"/>
              <a:t>rag,llm</a:t>
            </a:r>
            <a:r>
              <a:rPr lang="ko-KR" altLang="en-US" dirty="0"/>
              <a:t>지능 표현</a:t>
            </a:r>
            <a:r>
              <a:rPr lang="en-US" altLang="ko-KR" dirty="0"/>
              <a:t>)</a:t>
            </a:r>
          </a:p>
        </p:txBody>
      </p:sp>
      <p:pic>
        <p:nvPicPr>
          <p:cNvPr id="3074" name="Picture 2" descr="생성된 이미지">
            <a:extLst>
              <a:ext uri="{FF2B5EF4-FFF2-40B4-BE49-F238E27FC236}">
                <a16:creationId xmlns:a16="http://schemas.microsoft.com/office/drawing/2014/main" id="{2A3B9693-CB8F-8254-7081-26BBC9E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171450"/>
            <a:ext cx="3905249" cy="390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1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DD79EF-93F7-8EEF-8C81-5D6F4A6942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B00020">
                  <a:alpha val="70000"/>
                </a:srgbClr>
              </a:gs>
              <a:gs pos="0">
                <a:srgbClr val="6A4C93">
                  <a:alpha val="7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39CAC2-8C43-CE9C-3FE6-F4E68D0DD2C3}"/>
              </a:ext>
            </a:extLst>
          </p:cNvPr>
          <p:cNvGrpSpPr/>
          <p:nvPr/>
        </p:nvGrpSpPr>
        <p:grpSpPr>
          <a:xfrm>
            <a:off x="1205064" y="-1938957"/>
            <a:ext cx="9781871" cy="1683657"/>
            <a:chOff x="1075929" y="3135963"/>
            <a:chExt cx="9781871" cy="168365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BE0FD4E-7B5F-B2BF-915F-91B0A112CDE1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A10530D-B4D3-1BEC-3213-096E4E980DA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8EDD748-7889-2B4E-FD29-7765DB6A6E03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F92A67-F22B-E287-8E8A-C528ACF5305C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E5B35AF-7C1F-C4ED-085C-4EF32E954F9A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 descr="최적화로 낭비를 줄이자, 자동차 보험료 절약하는 7가지 방법">
            <a:extLst>
              <a:ext uri="{FF2B5EF4-FFF2-40B4-BE49-F238E27FC236}">
                <a16:creationId xmlns:a16="http://schemas.microsoft.com/office/drawing/2014/main" id="{4C8B6F8A-9644-6DB0-66B3-25ABB9D24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9746974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연합뉴스TV">
            <a:extLst>
              <a:ext uri="{FF2B5EF4-FFF2-40B4-BE49-F238E27FC236}">
                <a16:creationId xmlns:a16="http://schemas.microsoft.com/office/drawing/2014/main" id="{7E714360-5F34-8736-8DD4-A88E99A3B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98528" y="-9746974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내년 자동차보험료 1.5~2% 내릴 듯…인하 폭 곧 결정">
            <a:extLst>
              <a:ext uri="{FF2B5EF4-FFF2-40B4-BE49-F238E27FC236}">
                <a16:creationId xmlns:a16="http://schemas.microsoft.com/office/drawing/2014/main" id="{1CD6C1E4-0CB9-0CA8-428B-ED7FFBEE7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748214" y="-196980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F0F8D3A-E6DC-3DA6-A56F-B41AD6F7647C}"/>
              </a:ext>
            </a:extLst>
          </p:cNvPr>
          <p:cNvSpPr/>
          <p:nvPr/>
        </p:nvSpPr>
        <p:spPr>
          <a:xfrm>
            <a:off x="885179" y="504825"/>
            <a:ext cx="8077201" cy="584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/>
              <a:t>Ⅰ </a:t>
            </a:r>
            <a:r>
              <a:rPr lang="ko-KR" altLang="en-US" sz="1400" dirty="0"/>
              <a:t>프로젝트 개요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프로젝트 주제  </a:t>
            </a:r>
            <a:br>
              <a:rPr lang="en-US" altLang="ko-KR" sz="1400" dirty="0"/>
            </a:br>
            <a:r>
              <a:rPr lang="en-US" altLang="ko-KR" sz="1400" dirty="0"/>
              <a:t>1-1. </a:t>
            </a:r>
            <a:r>
              <a:rPr lang="ko-KR" altLang="en-US" sz="1400" dirty="0"/>
              <a:t>현황 </a:t>
            </a:r>
            <a:br>
              <a:rPr lang="en-US" altLang="ko-KR" sz="1400" dirty="0"/>
            </a:br>
            <a:r>
              <a:rPr lang="en-US" altLang="ko-KR" sz="1400" dirty="0"/>
              <a:t>1-2. </a:t>
            </a:r>
            <a:r>
              <a:rPr lang="ko-KR" altLang="en-US" sz="1400" dirty="0"/>
              <a:t>그렇다면 이 프로젝트가 왜 필요한가</a:t>
            </a:r>
            <a:r>
              <a:rPr lang="en-US" altLang="ko-KR" sz="1400" dirty="0"/>
              <a:t>? (</a:t>
            </a:r>
            <a:r>
              <a:rPr lang="ko-KR" altLang="en-US" sz="1400" dirty="0"/>
              <a:t>문제 인식 정의</a:t>
            </a:r>
            <a:r>
              <a:rPr lang="en-US" altLang="ko-KR" sz="1400" dirty="0"/>
              <a:t>, </a:t>
            </a:r>
            <a:r>
              <a:rPr lang="ko-KR" altLang="en-US" sz="1400" dirty="0"/>
              <a:t>필요성 어필</a:t>
            </a:r>
            <a:r>
              <a:rPr lang="en-US" altLang="ko-KR" sz="1400" dirty="0"/>
              <a:t>) : </a:t>
            </a:r>
            <a:r>
              <a:rPr lang="ko-KR" altLang="en-US" sz="1400" dirty="0"/>
              <a:t>페르소나 설정 </a:t>
            </a:r>
            <a:br>
              <a:rPr lang="en-US" altLang="ko-KR" sz="1400" dirty="0"/>
            </a:br>
            <a:r>
              <a:rPr lang="en-US" altLang="ko-KR" sz="1400" dirty="0"/>
              <a:t>1-3.</a:t>
            </a:r>
            <a:r>
              <a:rPr lang="ko-KR" altLang="en-US" sz="1400" dirty="0"/>
              <a:t>우리의 방향성 </a:t>
            </a:r>
            <a:r>
              <a:rPr lang="en-US" altLang="ko-KR" sz="1400" dirty="0"/>
              <a:t>(</a:t>
            </a:r>
            <a:r>
              <a:rPr lang="ko-KR" altLang="en-US" sz="1400" dirty="0"/>
              <a:t>목표</a:t>
            </a:r>
            <a:r>
              <a:rPr lang="en-US" altLang="ko-KR" sz="1400" dirty="0"/>
              <a:t>/</a:t>
            </a:r>
            <a:r>
              <a:rPr lang="ko-KR" altLang="en-US" sz="1400" dirty="0"/>
              <a:t>기획의도</a:t>
            </a:r>
            <a:r>
              <a:rPr lang="en-US" altLang="ko-KR" sz="1400" dirty="0"/>
              <a:t>) : </a:t>
            </a:r>
            <a:r>
              <a:rPr lang="ko-KR" altLang="en-US" sz="1400" dirty="0"/>
              <a:t>구체적 가치</a:t>
            </a:r>
            <a:r>
              <a:rPr lang="en-US" altLang="ko-KR" sz="1400" dirty="0"/>
              <a:t>/ </a:t>
            </a:r>
            <a:r>
              <a:rPr lang="ko-KR" altLang="en-US" sz="1400" dirty="0"/>
              <a:t>비전을 제시 </a:t>
            </a:r>
            <a:br>
              <a:rPr lang="en-US" altLang="ko-KR" sz="1400" dirty="0"/>
            </a:br>
            <a:r>
              <a:rPr lang="en-US" altLang="ko-KR" sz="1400" dirty="0"/>
              <a:t>1-4. </a:t>
            </a:r>
            <a:r>
              <a:rPr lang="ko-KR" altLang="en-US" sz="1400" dirty="0"/>
              <a:t>시장동향 분석하자면 아래와 같음</a:t>
            </a:r>
            <a:br>
              <a:rPr lang="en-US" altLang="ko-KR" sz="1400" dirty="0"/>
            </a:br>
            <a:r>
              <a:rPr lang="en-US" altLang="ko-KR" sz="1400" dirty="0"/>
              <a:t>	- </a:t>
            </a:r>
            <a:r>
              <a:rPr lang="ko-KR" altLang="en-US" sz="1400" dirty="0"/>
              <a:t>자동차는 특권이 아닌 필수 </a:t>
            </a:r>
            <a:r>
              <a:rPr lang="en-US" altLang="ko-KR" sz="1400" dirty="0"/>
              <a:t>( </a:t>
            </a:r>
            <a:r>
              <a:rPr lang="ko-KR" altLang="en-US" sz="1400" dirty="0"/>
              <a:t>자동차 보험 가입자 수치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	- </a:t>
            </a:r>
            <a:r>
              <a:rPr lang="ko-KR" altLang="en-US" sz="1400" dirty="0"/>
              <a:t>보험시장 </a:t>
            </a:r>
            <a:r>
              <a:rPr lang="en-US" altLang="ko-KR" sz="1400" dirty="0"/>
              <a:t>AI </a:t>
            </a:r>
            <a:r>
              <a:rPr lang="ko-KR" altLang="en-US" sz="1400" dirty="0"/>
              <a:t>도입 가속화 </a:t>
            </a:r>
            <a:r>
              <a:rPr lang="en-US" altLang="ko-KR" sz="1400" dirty="0"/>
              <a:t>(</a:t>
            </a:r>
            <a:r>
              <a:rPr lang="ko-KR" altLang="en-US" sz="1400" dirty="0"/>
              <a:t>보험회사들의 </a:t>
            </a:r>
            <a:r>
              <a:rPr lang="en-US" altLang="ko-KR" sz="1400" dirty="0"/>
              <a:t>AI </a:t>
            </a:r>
            <a:r>
              <a:rPr lang="ko-KR" altLang="en-US" sz="1400" dirty="0"/>
              <a:t>도입 현황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1-5. </a:t>
            </a:r>
            <a:r>
              <a:rPr lang="ko-KR" altLang="en-US" sz="1400" dirty="0"/>
              <a:t>그 시장속에서 차별화 포인트를 찾아본다면</a:t>
            </a:r>
            <a:r>
              <a:rPr lang="en-US" altLang="ko-KR" sz="1400" dirty="0"/>
              <a:t>?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en-US" altLang="ko-KR" sz="1400"/>
              <a:t>- </a:t>
            </a:r>
            <a:r>
              <a:rPr lang="ko-KR" altLang="en-US" sz="1400"/>
              <a:t>약관 </a:t>
            </a:r>
            <a:r>
              <a:rPr lang="ko-KR" altLang="en-US" sz="1400" dirty="0"/>
              <a:t>비교 안내  </a:t>
            </a:r>
            <a:r>
              <a:rPr lang="en-US" altLang="ko-KR" sz="1400" dirty="0"/>
              <a:t>/ </a:t>
            </a:r>
            <a:r>
              <a:rPr lang="ko-KR" altLang="en-US" sz="1400" dirty="0"/>
              <a:t>개인 맞춤형 보험 소개 </a:t>
            </a:r>
            <a:r>
              <a:rPr lang="en-US" altLang="ko-KR" sz="1400" dirty="0"/>
              <a:t>/ </a:t>
            </a:r>
            <a:r>
              <a:rPr lang="ko-KR" altLang="en-US" sz="1400" dirty="0"/>
              <a:t>사용자 경험 개선 </a:t>
            </a:r>
            <a:r>
              <a:rPr lang="en-US" altLang="ko-KR" sz="1400" dirty="0"/>
              <a:t>/ </a:t>
            </a:r>
            <a:r>
              <a:rPr lang="ko-KR" altLang="en-US" sz="1400" dirty="0"/>
              <a:t>확장 비즈니스 가능도 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업무분장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간트차트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일정 및 개발환경 </a:t>
            </a:r>
            <a:r>
              <a:rPr lang="en-US" altLang="ko-KR" sz="1400" dirty="0"/>
              <a:t> 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r>
              <a:rPr lang="en-US" altLang="ko-KR" sz="1400" dirty="0"/>
              <a:t>Ⅱ </a:t>
            </a:r>
            <a:r>
              <a:rPr lang="ko-KR" altLang="en-US" sz="1400" dirty="0"/>
              <a:t>세부 프로젝트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기술</a:t>
            </a:r>
            <a:br>
              <a:rPr lang="en-US" altLang="ko-KR" sz="1400" dirty="0"/>
            </a:br>
            <a:r>
              <a:rPr lang="en-US" altLang="ko-KR" sz="1400" dirty="0"/>
              <a:t>1-1. RAG </a:t>
            </a:r>
            <a:r>
              <a:rPr lang="ko-KR" altLang="en-US" sz="1400" dirty="0"/>
              <a:t>기반</a:t>
            </a:r>
            <a:br>
              <a:rPr lang="en-US" altLang="ko-KR" sz="1400" dirty="0"/>
            </a:br>
            <a:r>
              <a:rPr lang="en-US" altLang="ko-KR" sz="1400" dirty="0"/>
              <a:t>1-2. ML </a:t>
            </a:r>
            <a:r>
              <a:rPr lang="ko-KR" altLang="en-US" sz="1400" dirty="0"/>
              <a:t>기반 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데이터 </a:t>
            </a:r>
            <a:r>
              <a:rPr lang="ko-KR" altLang="en-US" sz="1400" dirty="0" err="1"/>
              <a:t>전처리</a:t>
            </a:r>
            <a:br>
              <a:rPr lang="en-US" altLang="ko-KR" sz="1400" dirty="0"/>
            </a:br>
            <a:r>
              <a:rPr lang="en-US" altLang="ko-KR" sz="1400" dirty="0"/>
              <a:t>2-1. </a:t>
            </a:r>
            <a:r>
              <a:rPr lang="ko-KR" altLang="en-US" sz="1400" dirty="0"/>
              <a:t>개념 정의</a:t>
            </a:r>
            <a:br>
              <a:rPr lang="en-US" altLang="ko-KR" sz="1400" dirty="0"/>
            </a:br>
            <a:r>
              <a:rPr lang="en-US" altLang="ko-KR" sz="1400" dirty="0"/>
              <a:t>2-2. </a:t>
            </a:r>
            <a:r>
              <a:rPr lang="ko-KR" altLang="en-US" sz="1400" dirty="0"/>
              <a:t>활용 데이터</a:t>
            </a:r>
            <a:br>
              <a:rPr lang="en-US" altLang="ko-KR" sz="1400" dirty="0"/>
            </a:br>
            <a:r>
              <a:rPr lang="en-US" altLang="ko-KR" sz="1400" dirty="0"/>
              <a:t>2-3. </a:t>
            </a:r>
            <a:r>
              <a:rPr lang="ko-KR" altLang="en-US" sz="1400" dirty="0"/>
              <a:t>자료 정제 및 </a:t>
            </a:r>
            <a:r>
              <a:rPr lang="ko-KR" altLang="en-US" sz="1400" dirty="0" err="1"/>
              <a:t>변합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서비스 구현 계획 </a:t>
            </a:r>
            <a:br>
              <a:rPr lang="en-US" altLang="ko-KR" sz="1400" dirty="0"/>
            </a:br>
            <a:r>
              <a:rPr lang="en-US" altLang="ko-KR" sz="1400" dirty="0"/>
              <a:t>3-1. UI/UX </a:t>
            </a:r>
            <a:r>
              <a:rPr lang="ko-KR" altLang="en-US" sz="1400" dirty="0"/>
              <a:t>디자인 </a:t>
            </a:r>
            <a:br>
              <a:rPr lang="en-US" altLang="ko-KR" sz="1400" dirty="0"/>
            </a:br>
            <a:r>
              <a:rPr lang="en-US" altLang="ko-KR" sz="1400" dirty="0"/>
              <a:t>3-2. </a:t>
            </a:r>
            <a:r>
              <a:rPr lang="ko-KR" altLang="en-US" sz="1400" dirty="0"/>
              <a:t>사용자 </a:t>
            </a:r>
            <a:r>
              <a:rPr lang="en-US" altLang="ko-KR" sz="1400" dirty="0"/>
              <a:t>FLOW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기대효과</a:t>
            </a:r>
            <a:endParaRPr lang="en-US" altLang="ko-KR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EC2BEB-AB36-F619-9537-41987157205E}"/>
              </a:ext>
            </a:extLst>
          </p:cNvPr>
          <p:cNvSpPr/>
          <p:nvPr/>
        </p:nvSpPr>
        <p:spPr>
          <a:xfrm>
            <a:off x="12844214" y="738289"/>
            <a:ext cx="8077201" cy="584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/>
              <a:t>페르소나 </a:t>
            </a:r>
            <a:r>
              <a:rPr lang="en-US" altLang="ko-KR" sz="1400" b="1" dirty="0"/>
              <a:t>A – </a:t>
            </a:r>
            <a:r>
              <a:rPr lang="ko-KR" altLang="en-US" sz="1400" b="1" dirty="0"/>
              <a:t>김하늘</a:t>
            </a:r>
            <a:r>
              <a:rPr lang="en-US" altLang="ko-KR" sz="1400" b="1" dirty="0"/>
              <a:t>(29</a:t>
            </a:r>
            <a:r>
              <a:rPr lang="ko-KR" altLang="en-US" sz="1400" b="1" dirty="0"/>
              <a:t>세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첫 차 구입</a:t>
            </a:r>
            <a:r>
              <a:rPr lang="en-US" altLang="ko-KR" sz="1400" b="1" dirty="0"/>
              <a:t>)</a:t>
            </a:r>
            <a:br>
              <a:rPr lang="ko-KR" altLang="en-US" sz="1400" dirty="0"/>
            </a:br>
            <a:r>
              <a:rPr lang="en-US" altLang="ko-KR" sz="1400" dirty="0"/>
              <a:t>: "</a:t>
            </a:r>
            <a:r>
              <a:rPr lang="ko-KR" altLang="en-US" sz="1400" dirty="0"/>
              <a:t>보험을 검색하면 광고밖에 안 나와요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추천받고</a:t>
            </a:r>
            <a:r>
              <a:rPr lang="ko-KR" altLang="en-US" sz="1400" dirty="0"/>
              <a:t> 싶은데 </a:t>
            </a:r>
            <a:r>
              <a:rPr lang="ko-KR" altLang="en-US" sz="1400" dirty="0" err="1"/>
              <a:t>누구한테</a:t>
            </a:r>
            <a:r>
              <a:rPr lang="ko-KR" altLang="en-US" sz="1400" dirty="0"/>
              <a:t> 물어봐야 할지도 모르겠어요</a:t>
            </a:r>
            <a:r>
              <a:rPr lang="en-US" altLang="ko-KR" sz="1400" dirty="0"/>
              <a:t>.“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페르소나 </a:t>
            </a:r>
            <a:r>
              <a:rPr lang="en-US" altLang="ko-KR" sz="1400" b="1" dirty="0"/>
              <a:t>B – </a:t>
            </a:r>
            <a:r>
              <a:rPr lang="ko-KR" altLang="en-US" sz="1400" b="1" dirty="0"/>
              <a:t>박정민</a:t>
            </a:r>
            <a:r>
              <a:rPr lang="en-US" altLang="ko-KR" sz="1400" b="1" dirty="0"/>
              <a:t>(38</a:t>
            </a:r>
            <a:r>
              <a:rPr lang="ko-KR" altLang="en-US" sz="1400" b="1" dirty="0"/>
              <a:t>세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바쁜 직장인</a:t>
            </a:r>
            <a:r>
              <a:rPr lang="en-US" altLang="ko-KR" sz="1400" b="1" dirty="0"/>
              <a:t>)</a:t>
            </a:r>
            <a:br>
              <a:rPr lang="ko-KR" altLang="en-US" sz="1400" dirty="0"/>
            </a:br>
            <a:r>
              <a:rPr lang="en-US" altLang="ko-KR" sz="1400" dirty="0"/>
              <a:t>: "</a:t>
            </a:r>
            <a:r>
              <a:rPr lang="ko-KR" altLang="en-US" sz="1400" dirty="0"/>
              <a:t>보험 만기일 다가올 때마다 매번 새로 비교하기 너무 귀찮아요</a:t>
            </a:r>
            <a:r>
              <a:rPr lang="en-US" altLang="ko-KR" sz="1400" dirty="0"/>
              <a:t>. </a:t>
            </a:r>
            <a:r>
              <a:rPr lang="ko-KR" altLang="en-US" sz="1400" dirty="0"/>
              <a:t>그냥 </a:t>
            </a:r>
            <a:r>
              <a:rPr lang="ko-KR" altLang="en-US" sz="1400" dirty="0" err="1"/>
              <a:t>챗봇이</a:t>
            </a:r>
            <a:r>
              <a:rPr lang="ko-KR" altLang="en-US" sz="1400" dirty="0"/>
              <a:t> 알아서 알려주면 안 되나</a:t>
            </a:r>
            <a:r>
              <a:rPr lang="en-US" altLang="ko-KR" sz="1400" dirty="0"/>
              <a:t>?“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정보 과잉</a:t>
            </a:r>
            <a:r>
              <a:rPr lang="en-US" altLang="ko-KR" sz="1400" dirty="0"/>
              <a:t>, </a:t>
            </a:r>
            <a:r>
              <a:rPr lang="ko-KR" altLang="en-US" sz="1400" dirty="0"/>
              <a:t>광고 편향</a:t>
            </a:r>
            <a:r>
              <a:rPr lang="en-US" altLang="ko-KR" sz="1400" dirty="0"/>
              <a:t>, </a:t>
            </a:r>
            <a:r>
              <a:rPr lang="ko-KR" altLang="en-US" sz="1400" dirty="0"/>
              <a:t>비교의 어려움</a:t>
            </a:r>
          </a:p>
          <a:p>
            <a:r>
              <a:rPr lang="ko-KR" altLang="en-US" sz="1400" dirty="0"/>
              <a:t>보험 설계사 의존 </a:t>
            </a:r>
            <a:r>
              <a:rPr lang="en-US" altLang="ko-KR" sz="1400" dirty="0"/>
              <a:t>vs </a:t>
            </a:r>
            <a:r>
              <a:rPr lang="ko-KR" altLang="en-US" sz="1400" dirty="0"/>
              <a:t>자율적 정보 탐색 부재</a:t>
            </a:r>
          </a:p>
          <a:p>
            <a:r>
              <a:rPr lang="ko-KR" altLang="en-US" sz="1400" dirty="0"/>
              <a:t>바쁜 현대인은 “스마트한 </a:t>
            </a:r>
            <a:r>
              <a:rPr lang="ko-KR" altLang="en-US" sz="1400" dirty="0" err="1"/>
              <a:t>보장”을</a:t>
            </a:r>
            <a:r>
              <a:rPr lang="ko-KR" altLang="en-US" sz="1400" dirty="0"/>
              <a:t> 원하지만 “스마트한 가입 </a:t>
            </a:r>
            <a:r>
              <a:rPr lang="ko-KR" altLang="en-US" sz="1400" dirty="0" err="1"/>
              <a:t>경험”은</a:t>
            </a:r>
            <a:r>
              <a:rPr lang="ko-KR" altLang="en-US" sz="1400" dirty="0"/>
              <a:t> 없음</a:t>
            </a:r>
          </a:p>
        </p:txBody>
      </p:sp>
    </p:spTree>
    <p:extLst>
      <p:ext uri="{BB962C8B-B14F-4D97-AF65-F5344CB8AC3E}">
        <p14:creationId xmlns:p14="http://schemas.microsoft.com/office/powerpoint/2010/main" val="225848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2" descr="최적화로 낭비를 줄이자, 자동차 보험료 절약하는 7가지 방법">
            <a:extLst>
              <a:ext uri="{FF2B5EF4-FFF2-40B4-BE49-F238E27FC236}">
                <a16:creationId xmlns:a16="http://schemas.microsoft.com/office/drawing/2014/main" id="{23BB7EE2-438C-8DC0-C6C4-DC95F0FF16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2"/>
          <a:stretch>
            <a:fillRect/>
          </a:stretch>
        </p:blipFill>
        <p:spPr bwMode="auto">
          <a:xfrm>
            <a:off x="-1887578" y="-8991600"/>
            <a:ext cx="90694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AECCD43-5C6D-DC2E-6FEE-50C5F1B3F783}"/>
              </a:ext>
            </a:extLst>
          </p:cNvPr>
          <p:cNvSpPr/>
          <p:nvPr/>
        </p:nvSpPr>
        <p:spPr>
          <a:xfrm>
            <a:off x="3887897" y="-10318966"/>
            <a:ext cx="7523052" cy="9638905"/>
          </a:xfrm>
          <a:custGeom>
            <a:avLst/>
            <a:gdLst>
              <a:gd name="connsiteX0" fmla="*/ 0 w 6686550"/>
              <a:gd name="connsiteY0" fmla="*/ 0 h 6858000"/>
              <a:gd name="connsiteX1" fmla="*/ 6686550 w 6686550"/>
              <a:gd name="connsiteY1" fmla="*/ 0 h 6858000"/>
              <a:gd name="connsiteX2" fmla="*/ 6686550 w 6686550"/>
              <a:gd name="connsiteY2" fmla="*/ 6858000 h 6858000"/>
              <a:gd name="connsiteX3" fmla="*/ 0 w 6686550"/>
              <a:gd name="connsiteY3" fmla="*/ 6858000 h 6858000"/>
              <a:gd name="connsiteX4" fmla="*/ 0 w 6686550"/>
              <a:gd name="connsiteY4" fmla="*/ 0 h 6858000"/>
              <a:gd name="connsiteX0" fmla="*/ 835818 w 7522368"/>
              <a:gd name="connsiteY0" fmla="*/ 0 h 7715250"/>
              <a:gd name="connsiteX1" fmla="*/ 7522368 w 7522368"/>
              <a:gd name="connsiteY1" fmla="*/ 0 h 7715250"/>
              <a:gd name="connsiteX2" fmla="*/ 7522368 w 7522368"/>
              <a:gd name="connsiteY2" fmla="*/ 6858000 h 7715250"/>
              <a:gd name="connsiteX3" fmla="*/ 835818 w 7522368"/>
              <a:gd name="connsiteY3" fmla="*/ 6858000 h 7715250"/>
              <a:gd name="connsiteX4" fmla="*/ 835818 w 7522368"/>
              <a:gd name="connsiteY4" fmla="*/ 0 h 7715250"/>
              <a:gd name="connsiteX0" fmla="*/ 835818 w 7522368"/>
              <a:gd name="connsiteY0" fmla="*/ 0 h 7715250"/>
              <a:gd name="connsiteX1" fmla="*/ 7522368 w 7522368"/>
              <a:gd name="connsiteY1" fmla="*/ 0 h 7715250"/>
              <a:gd name="connsiteX2" fmla="*/ 7522368 w 7522368"/>
              <a:gd name="connsiteY2" fmla="*/ 6858000 h 7715250"/>
              <a:gd name="connsiteX3" fmla="*/ 835818 w 7522368"/>
              <a:gd name="connsiteY3" fmla="*/ 6858000 h 7715250"/>
              <a:gd name="connsiteX4" fmla="*/ 835818 w 7522368"/>
              <a:gd name="connsiteY4" fmla="*/ 0 h 7715250"/>
              <a:gd name="connsiteX0" fmla="*/ 1286827 w 7973377"/>
              <a:gd name="connsiteY0" fmla="*/ 0 h 7715250"/>
              <a:gd name="connsiteX1" fmla="*/ 7973377 w 7973377"/>
              <a:gd name="connsiteY1" fmla="*/ 0 h 7715250"/>
              <a:gd name="connsiteX2" fmla="*/ 7973377 w 7973377"/>
              <a:gd name="connsiteY2" fmla="*/ 6858000 h 7715250"/>
              <a:gd name="connsiteX3" fmla="*/ 1286827 w 7973377"/>
              <a:gd name="connsiteY3" fmla="*/ 6858000 h 7715250"/>
              <a:gd name="connsiteX4" fmla="*/ 1286827 w 7973377"/>
              <a:gd name="connsiteY4" fmla="*/ 0 h 7715250"/>
              <a:gd name="connsiteX0" fmla="*/ 1777255 w 7331691"/>
              <a:gd name="connsiteY0" fmla="*/ 0 h 8904012"/>
              <a:gd name="connsiteX1" fmla="*/ 7331691 w 7331691"/>
              <a:gd name="connsiteY1" fmla="*/ 1117600 h 8904012"/>
              <a:gd name="connsiteX2" fmla="*/ 7331691 w 7331691"/>
              <a:gd name="connsiteY2" fmla="*/ 7975600 h 8904012"/>
              <a:gd name="connsiteX3" fmla="*/ 645141 w 7331691"/>
              <a:gd name="connsiteY3" fmla="*/ 7975600 h 8904012"/>
              <a:gd name="connsiteX4" fmla="*/ 1777255 w 7331691"/>
              <a:gd name="connsiteY4" fmla="*/ 0 h 8904012"/>
              <a:gd name="connsiteX0" fmla="*/ 1271396 w 6825832"/>
              <a:gd name="connsiteY0" fmla="*/ 1807002 h 10711014"/>
              <a:gd name="connsiteX1" fmla="*/ 6825832 w 6825832"/>
              <a:gd name="connsiteY1" fmla="*/ 2924602 h 10711014"/>
              <a:gd name="connsiteX2" fmla="*/ 6825832 w 6825832"/>
              <a:gd name="connsiteY2" fmla="*/ 9782602 h 10711014"/>
              <a:gd name="connsiteX3" fmla="*/ 139282 w 6825832"/>
              <a:gd name="connsiteY3" fmla="*/ 9782602 h 10711014"/>
              <a:gd name="connsiteX4" fmla="*/ 1271396 w 6825832"/>
              <a:gd name="connsiteY4" fmla="*/ 1807002 h 10711014"/>
              <a:gd name="connsiteX0" fmla="*/ 2086549 w 7640985"/>
              <a:gd name="connsiteY0" fmla="*/ 454474 h 10280946"/>
              <a:gd name="connsiteX1" fmla="*/ 7640985 w 7640985"/>
              <a:gd name="connsiteY1" fmla="*/ 1572074 h 10280946"/>
              <a:gd name="connsiteX2" fmla="*/ 7640985 w 7640985"/>
              <a:gd name="connsiteY2" fmla="*/ 8430074 h 10280946"/>
              <a:gd name="connsiteX3" fmla="*/ 287685 w 7640985"/>
              <a:gd name="connsiteY3" fmla="*/ 9763574 h 10280946"/>
              <a:gd name="connsiteX4" fmla="*/ 2086549 w 7640985"/>
              <a:gd name="connsiteY4" fmla="*/ 454474 h 10280946"/>
              <a:gd name="connsiteX0" fmla="*/ 1911502 w 7465938"/>
              <a:gd name="connsiteY0" fmla="*/ 1049397 h 10875869"/>
              <a:gd name="connsiteX1" fmla="*/ 7465938 w 7465938"/>
              <a:gd name="connsiteY1" fmla="*/ 2166997 h 10875869"/>
              <a:gd name="connsiteX2" fmla="*/ 7465938 w 7465938"/>
              <a:gd name="connsiteY2" fmla="*/ 9024997 h 10875869"/>
              <a:gd name="connsiteX3" fmla="*/ 112638 w 7465938"/>
              <a:gd name="connsiteY3" fmla="*/ 10358497 h 10875869"/>
              <a:gd name="connsiteX4" fmla="*/ 1911502 w 7465938"/>
              <a:gd name="connsiteY4" fmla="*/ 1049397 h 10875869"/>
              <a:gd name="connsiteX0" fmla="*/ 2050761 w 7605197"/>
              <a:gd name="connsiteY0" fmla="*/ 1049397 h 10875869"/>
              <a:gd name="connsiteX1" fmla="*/ 7605197 w 7605197"/>
              <a:gd name="connsiteY1" fmla="*/ 2166997 h 10875869"/>
              <a:gd name="connsiteX2" fmla="*/ 7605197 w 7605197"/>
              <a:gd name="connsiteY2" fmla="*/ 9024997 h 10875869"/>
              <a:gd name="connsiteX3" fmla="*/ 251897 w 7605197"/>
              <a:gd name="connsiteY3" fmla="*/ 10358497 h 10875869"/>
              <a:gd name="connsiteX4" fmla="*/ 1737797 w 7605197"/>
              <a:gd name="connsiteY4" fmla="*/ 6243698 h 10875869"/>
              <a:gd name="connsiteX5" fmla="*/ 2050761 w 7605197"/>
              <a:gd name="connsiteY5" fmla="*/ 1049397 h 10875869"/>
              <a:gd name="connsiteX0" fmla="*/ 1936825 w 7491261"/>
              <a:gd name="connsiteY0" fmla="*/ 236578 h 9638666"/>
              <a:gd name="connsiteX1" fmla="*/ 7491261 w 7491261"/>
              <a:gd name="connsiteY1" fmla="*/ 1354178 h 9638666"/>
              <a:gd name="connsiteX2" fmla="*/ 7491261 w 7491261"/>
              <a:gd name="connsiteY2" fmla="*/ 8212178 h 9638666"/>
              <a:gd name="connsiteX3" fmla="*/ 137961 w 7491261"/>
              <a:gd name="connsiteY3" fmla="*/ 9545678 h 9638666"/>
              <a:gd name="connsiteX4" fmla="*/ 2633511 w 7491261"/>
              <a:gd name="connsiteY4" fmla="*/ 6307179 h 9638666"/>
              <a:gd name="connsiteX5" fmla="*/ 1936825 w 7491261"/>
              <a:gd name="connsiteY5" fmla="*/ 236578 h 9638666"/>
              <a:gd name="connsiteX0" fmla="*/ 1968616 w 7523052"/>
              <a:gd name="connsiteY0" fmla="*/ 209766 h 9638905"/>
              <a:gd name="connsiteX1" fmla="*/ 7523052 w 7523052"/>
              <a:gd name="connsiteY1" fmla="*/ 1327366 h 9638905"/>
              <a:gd name="connsiteX2" fmla="*/ 7523052 w 7523052"/>
              <a:gd name="connsiteY2" fmla="*/ 8185366 h 9638905"/>
              <a:gd name="connsiteX3" fmla="*/ 169752 w 7523052"/>
              <a:gd name="connsiteY3" fmla="*/ 9518866 h 9638905"/>
              <a:gd name="connsiteX4" fmla="*/ 2322402 w 7523052"/>
              <a:gd name="connsiteY4" fmla="*/ 5861267 h 9638905"/>
              <a:gd name="connsiteX5" fmla="*/ 1968616 w 7523052"/>
              <a:gd name="connsiteY5" fmla="*/ 209766 h 9638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23052" h="9638905">
                <a:moveTo>
                  <a:pt x="1968616" y="209766"/>
                </a:moveTo>
                <a:cubicBezTo>
                  <a:pt x="2835391" y="-545884"/>
                  <a:pt x="5671573" y="954833"/>
                  <a:pt x="7523052" y="1327366"/>
                </a:cubicBezTo>
                <a:lnTo>
                  <a:pt x="7523052" y="8185366"/>
                </a:lnTo>
                <a:cubicBezTo>
                  <a:pt x="6408627" y="9328366"/>
                  <a:pt x="1036527" y="9906216"/>
                  <a:pt x="169752" y="9518866"/>
                </a:cubicBezTo>
                <a:cubicBezTo>
                  <a:pt x="-697023" y="9131516"/>
                  <a:pt x="2022591" y="7412784"/>
                  <a:pt x="2322402" y="5861267"/>
                </a:cubicBezTo>
                <a:cubicBezTo>
                  <a:pt x="2622213" y="4309750"/>
                  <a:pt x="1101841" y="965416"/>
                  <a:pt x="1968616" y="209766"/>
                </a:cubicBezTo>
                <a:close/>
              </a:path>
            </a:pathLst>
          </a:custGeom>
          <a:gradFill flip="none" rotWithShape="1">
            <a:gsLst>
              <a:gs pos="100000">
                <a:srgbClr val="B00020"/>
              </a:gs>
              <a:gs pos="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6" descr="연합뉴스TV">
            <a:extLst>
              <a:ext uri="{FF2B5EF4-FFF2-40B4-BE49-F238E27FC236}">
                <a16:creationId xmlns:a16="http://schemas.microsoft.com/office/drawing/2014/main" id="{D6E58211-186E-93DD-3B7F-96B78AC32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98528" y="-9746974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1133991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[ </a:t>
            </a:r>
            <a:r>
              <a:rPr lang="ko-KR" altLang="en-US" sz="2000" dirty="0" err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팀명</a:t>
            </a:r>
            <a:r>
              <a:rPr lang="ko-KR" altLang="en-US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]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482776"/>
            <a:ext cx="3829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팀 프로젝트 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소개글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우리팀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프로젝트가 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굳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~~~~~)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6267450" cy="1119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팀 프로젝트 이름 </a:t>
            </a:r>
            <a:r>
              <a:rPr lang="en-US" altLang="ko-KR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로고형태</a:t>
            </a:r>
            <a:r>
              <a:rPr lang="en-US" altLang="ko-KR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400" y="2719849"/>
            <a:ext cx="45529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요약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있어야 할까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? )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스마트 보험 가입으로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~~~~~~~ 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룰루랄라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3839447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[ </a:t>
            </a:r>
            <a:r>
              <a:rPr lang="ko-KR" altLang="en-US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팀원 </a:t>
            </a: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]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0626BEC-C5DB-AFFD-E607-7DB50B997682}"/>
              </a:ext>
            </a:extLst>
          </p:cNvPr>
          <p:cNvSpPr/>
          <p:nvPr/>
        </p:nvSpPr>
        <p:spPr>
          <a:xfrm>
            <a:off x="1763486" y="1267097"/>
            <a:ext cx="8151223" cy="4859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목차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5195B1-1FE2-B052-ABA0-858F718FA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1171575"/>
            <a:ext cx="103727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5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F82FD60-092B-E25F-9AF9-808F89CBF46E}"/>
              </a:ext>
            </a:extLst>
          </p:cNvPr>
          <p:cNvSpPr/>
          <p:nvPr/>
        </p:nvSpPr>
        <p:spPr>
          <a:xfrm>
            <a:off x="1763486" y="1267097"/>
            <a:ext cx="8151223" cy="4859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주제 선정 및 배경</a:t>
            </a:r>
          </a:p>
        </p:txBody>
      </p: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97A0574-14C9-3661-B0B8-583CAB3E5A8A}"/>
              </a:ext>
            </a:extLst>
          </p:cNvPr>
          <p:cNvSpPr/>
          <p:nvPr/>
        </p:nvSpPr>
        <p:spPr>
          <a:xfrm>
            <a:off x="1763486" y="1267097"/>
            <a:ext cx="8151223" cy="4859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프로젝트 목적과 필요성</a:t>
            </a:r>
          </a:p>
        </p:txBody>
      </p: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FCB2E-848B-D585-6532-D27F223D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7FB0A8-16E2-EAFF-1B98-082FBA0B66D7}"/>
              </a:ext>
            </a:extLst>
          </p:cNvPr>
          <p:cNvSpPr/>
          <p:nvPr/>
        </p:nvSpPr>
        <p:spPr>
          <a:xfrm>
            <a:off x="1763486" y="1267097"/>
            <a:ext cx="8151223" cy="4859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업무 분장</a:t>
            </a:r>
          </a:p>
        </p:txBody>
      </p:sp>
    </p:spTree>
    <p:extLst>
      <p:ext uri="{BB962C8B-B14F-4D97-AF65-F5344CB8AC3E}">
        <p14:creationId xmlns:p14="http://schemas.microsoft.com/office/powerpoint/2010/main" val="228588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77713"/>
              </p:ext>
            </p:extLst>
          </p:nvPr>
        </p:nvGraphicFramePr>
        <p:xfrm>
          <a:off x="304801" y="1271150"/>
          <a:ext cx="11582406" cy="4891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4" y="2111713"/>
            <a:ext cx="1523095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기능 확정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</a:t>
              </a:r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 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생성형챗봇</a:t>
              </a:r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만들기</a:t>
              </a: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142818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웹서비스 제작 및 시연</a:t>
              </a: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기술 구현</a:t>
              </a:r>
            </a:p>
          </p:txBody>
        </p:sp>
      </p:grpSp>
      <p:grpSp>
        <p:nvGrpSpPr>
          <p:cNvPr id="1053" name="그룹 1052">
            <a:extLst>
              <a:ext uri="{FF2B5EF4-FFF2-40B4-BE49-F238E27FC236}">
                <a16:creationId xmlns:a16="http://schemas.microsoft.com/office/drawing/2014/main" id="{F8B0EAF9-AFCA-95A2-EE91-9E5E82344B37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1052" name="직사각형 1051">
              <a:extLst>
                <a:ext uri="{FF2B5EF4-FFF2-40B4-BE49-F238E27FC236}">
                  <a16:creationId xmlns:a16="http://schemas.microsoft.com/office/drawing/2014/main" id="{CDC9C04E-1132-E29A-66CF-5E194AF80652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1" name="직사각형 1050">
              <a:extLst>
                <a:ext uri="{FF2B5EF4-FFF2-40B4-BE49-F238E27FC236}">
                  <a16:creationId xmlns:a16="http://schemas.microsoft.com/office/drawing/2014/main" id="{C27E61CB-21F4-4C5C-7782-FAACBEFD5542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추진 일정표 </a:t>
              </a:r>
              <a:r>
                <a:rPr lang="en-US" altLang="ko-KR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(</a:t>
              </a:r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안</a:t>
              </a:r>
              <a:r>
                <a:rPr lang="en-US" altLang="ko-KR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)</a:t>
              </a:r>
              <a:endParaRPr lang="ko-KR" altLang="en-US" sz="22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경험으로 익힌 교통사고 현장 사진 촬영요령 : 엔카 미디어">
            <a:extLst>
              <a:ext uri="{FF2B5EF4-FFF2-40B4-BE49-F238E27FC236}">
                <a16:creationId xmlns:a16="http://schemas.microsoft.com/office/drawing/2014/main" id="{276780AC-695C-F0E3-93CC-43DB6191F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" t="1674" r="1644" b="15611"/>
          <a:stretch>
            <a:fillRect/>
          </a:stretch>
        </p:blipFill>
        <p:spPr bwMode="auto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6BA5A1-D07F-754F-C718-83B2796C2710}"/>
              </a:ext>
            </a:extLst>
          </p:cNvPr>
          <p:cNvSpPr/>
          <p:nvPr/>
        </p:nvSpPr>
        <p:spPr>
          <a:xfrm>
            <a:off x="-30688" y="0"/>
            <a:ext cx="12192000" cy="6858000"/>
          </a:xfrm>
          <a:prstGeom prst="rect">
            <a:avLst/>
          </a:prstGeom>
          <a:gradFill>
            <a:gsLst>
              <a:gs pos="100000">
                <a:schemeClr val="tx1"/>
              </a:gs>
              <a:gs pos="0">
                <a:schemeClr val="tx1">
                  <a:alpha val="48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933C2A-EDF6-02C2-D2D1-92C29330334B}"/>
              </a:ext>
            </a:extLst>
          </p:cNvPr>
          <p:cNvSpPr/>
          <p:nvPr/>
        </p:nvSpPr>
        <p:spPr>
          <a:xfrm>
            <a:off x="8468660" y="-4749196"/>
            <a:ext cx="6038850" cy="419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 많은 보험 회사 나열  </a:t>
            </a:r>
            <a:endParaRPr lang="en-US" altLang="ko-KR" dirty="0"/>
          </a:p>
          <a:p>
            <a:pPr algn="ctr"/>
            <a:r>
              <a:rPr lang="ko-KR" altLang="en-US" dirty="0"/>
              <a:t>화살표를 통해 여기저기 방문 표시 </a:t>
            </a:r>
            <a:r>
              <a:rPr lang="en-US" altLang="ko-KR" dirty="0"/>
              <a:t>(</a:t>
            </a:r>
            <a:r>
              <a:rPr lang="ko-KR" altLang="en-US" dirty="0"/>
              <a:t>거미줄 형태</a:t>
            </a:r>
            <a:r>
              <a:rPr lang="en-US" altLang="ko-KR" dirty="0"/>
              <a:t>) </a:t>
            </a:r>
          </a:p>
          <a:p>
            <a:pPr algn="ctr"/>
            <a:r>
              <a:rPr lang="ko-KR" altLang="en-US" dirty="0"/>
              <a:t>물음표 표시</a:t>
            </a:r>
            <a:r>
              <a:rPr lang="en-US" altLang="ko-KR" dirty="0"/>
              <a:t>(?) 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1FE765-AE80-503F-D8C4-7846CDA07F2D}"/>
              </a:ext>
            </a:extLst>
          </p:cNvPr>
          <p:cNvSpPr/>
          <p:nvPr/>
        </p:nvSpPr>
        <p:spPr>
          <a:xfrm>
            <a:off x="-8816160" y="-6456803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현황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복잡하고 어려운 자동차 보험 </a:t>
            </a:r>
            <a:r>
              <a:rPr lang="ko-KR" altLang="en-US" dirty="0" err="1"/>
              <a:t>약관나한테</a:t>
            </a:r>
            <a:r>
              <a:rPr lang="ko-KR" altLang="en-US" dirty="0"/>
              <a:t> 딱 맞는 보험 찾기</a:t>
            </a:r>
            <a:r>
              <a:rPr lang="en-US" altLang="ko-KR" dirty="0"/>
              <a:t>, </a:t>
            </a:r>
            <a:r>
              <a:rPr lang="ko-KR" altLang="en-US" dirty="0"/>
              <a:t>넘 힘든 과정이해하기 쉬운 설명 </a:t>
            </a:r>
            <a:r>
              <a:rPr lang="en-US" altLang="ko-KR" dirty="0"/>
              <a:t>+ </a:t>
            </a:r>
            <a:r>
              <a:rPr lang="ko-KR" altLang="en-US" dirty="0"/>
              <a:t>개인별 맞춤 추천 필요</a:t>
            </a:r>
            <a:r>
              <a:rPr lang="en-US" altLang="ko-KR" dirty="0"/>
              <a:t>!</a:t>
            </a:r>
            <a:r>
              <a:rPr lang="ko-KR" altLang="en-US" dirty="0"/>
              <a:t>보험 약관은 법률 용어 범벅 </a:t>
            </a:r>
            <a:r>
              <a:rPr lang="en-US" altLang="ko-KR" dirty="0"/>
              <a:t>-&gt; </a:t>
            </a:r>
            <a:r>
              <a:rPr lang="ko-KR" altLang="en-US" dirty="0"/>
              <a:t>비전문가에게 매우 난해</a:t>
            </a:r>
            <a:r>
              <a:rPr lang="en-US" altLang="ko-KR" dirty="0"/>
              <a:t>(</a:t>
            </a:r>
            <a:r>
              <a:rPr lang="ko-KR" altLang="en-US" dirty="0"/>
              <a:t>어려움</a:t>
            </a:r>
            <a:r>
              <a:rPr lang="en-US" altLang="ko-KR" dirty="0"/>
              <a:t>)</a:t>
            </a:r>
            <a:r>
              <a:rPr lang="ko-KR" altLang="en-US" dirty="0"/>
              <a:t>각 보험사마다 다른 보장 방식 </a:t>
            </a:r>
            <a:r>
              <a:rPr lang="en-US" altLang="ko-KR" dirty="0"/>
              <a:t>-&gt; </a:t>
            </a:r>
            <a:r>
              <a:rPr lang="ko-KR" altLang="en-US" dirty="0"/>
              <a:t>직접 비교 어려움상담이 오래 걸리고 홈페이지도 불편 </a:t>
            </a:r>
            <a:r>
              <a:rPr lang="en-US" altLang="ko-KR" dirty="0"/>
              <a:t>-&gt; </a:t>
            </a:r>
            <a:r>
              <a:rPr lang="ko-KR" altLang="en-US" dirty="0"/>
              <a:t>사용자 서비스 저하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보험이 어려운 명분에 대한 증거 자료 </a:t>
            </a:r>
            <a:r>
              <a:rPr lang="en-US" altLang="ko-KR" dirty="0"/>
              <a:t>(</a:t>
            </a:r>
            <a:r>
              <a:rPr lang="ko-KR" altLang="en-US" dirty="0"/>
              <a:t>설문조사 등 지표 필요</a:t>
            </a:r>
            <a:r>
              <a:rPr lang="en-US" altLang="ko-KR" dirty="0"/>
              <a:t>, </a:t>
            </a:r>
            <a:r>
              <a:rPr lang="ko-KR" altLang="en-US" dirty="0"/>
              <a:t>사례 </a:t>
            </a:r>
            <a:r>
              <a:rPr lang="en-US" altLang="ko-KR" dirty="0"/>
              <a:t>- </a:t>
            </a:r>
            <a:r>
              <a:rPr lang="ko-KR" altLang="en-US" dirty="0"/>
              <a:t>뉴스 기사나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B2D9C38-6BFE-F429-10B0-AA6B1DFE4F23}"/>
              </a:ext>
            </a:extLst>
          </p:cNvPr>
          <p:cNvGrpSpPr/>
          <p:nvPr/>
        </p:nvGrpSpPr>
        <p:grpSpPr>
          <a:xfrm>
            <a:off x="-8412025" y="-1102343"/>
            <a:ext cx="4710074" cy="5663295"/>
            <a:chOff x="-4757768" y="-7217078"/>
            <a:chExt cx="4853019" cy="583516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A9834F6-6FE8-7AE4-7A55-723FA3FA1A2E}"/>
                </a:ext>
              </a:extLst>
            </p:cNvPr>
            <p:cNvSpPr/>
            <p:nvPr/>
          </p:nvSpPr>
          <p:spPr>
            <a:xfrm>
              <a:off x="-4205319" y="-7217078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E80CBCE-7741-581E-0DA8-6876840E3A56}"/>
                </a:ext>
              </a:extLst>
            </p:cNvPr>
            <p:cNvSpPr/>
            <p:nvPr/>
          </p:nvSpPr>
          <p:spPr>
            <a:xfrm>
              <a:off x="-2447372" y="-6446621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DFCCC5E-061F-5B42-5185-3529CEE39FF2}"/>
                </a:ext>
              </a:extLst>
            </p:cNvPr>
            <p:cNvSpPr/>
            <p:nvPr/>
          </p:nvSpPr>
          <p:spPr>
            <a:xfrm>
              <a:off x="-3634003" y="-5189321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F38AF34-F6CB-20E6-8B12-BF9D1AD14BD5}"/>
                </a:ext>
              </a:extLst>
            </p:cNvPr>
            <p:cNvSpPr/>
            <p:nvPr/>
          </p:nvSpPr>
          <p:spPr>
            <a:xfrm>
              <a:off x="-4757768" y="-5952289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F071CA8-D559-571A-AF4A-8F8325D3538A}"/>
                </a:ext>
              </a:extLst>
            </p:cNvPr>
            <p:cNvSpPr/>
            <p:nvPr/>
          </p:nvSpPr>
          <p:spPr>
            <a:xfrm>
              <a:off x="-3005720" y="-4257207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D10F68-9860-F322-48DA-BFD7CF2D5578}"/>
                </a:ext>
              </a:extLst>
            </p:cNvPr>
            <p:cNvSpPr/>
            <p:nvPr/>
          </p:nvSpPr>
          <p:spPr>
            <a:xfrm>
              <a:off x="-4700802" y="-4172634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E66EC9A-98B4-BCD5-288E-2060F58B3FF3}"/>
                </a:ext>
              </a:extLst>
            </p:cNvPr>
            <p:cNvSpPr/>
            <p:nvPr/>
          </p:nvSpPr>
          <p:spPr>
            <a:xfrm>
              <a:off x="-3148778" y="-3076991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50DAA8C-CBD6-1F08-4694-CA4EBC43FE49}"/>
                </a:ext>
              </a:extLst>
            </p:cNvPr>
            <p:cNvSpPr/>
            <p:nvPr/>
          </p:nvSpPr>
          <p:spPr>
            <a:xfrm>
              <a:off x="-1599831" y="-5229725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D8ED16D-32B8-A0E2-1A44-1D73B0F27D0B}"/>
                </a:ext>
              </a:extLst>
            </p:cNvPr>
            <p:cNvSpPr/>
            <p:nvPr/>
          </p:nvSpPr>
          <p:spPr>
            <a:xfrm>
              <a:off x="-1742889" y="-4049509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</p:grpSp>
      <p:pic>
        <p:nvPicPr>
          <p:cNvPr id="6148" name="Picture 4" descr="같은 그랜저인데…車보험사별 최대 48만원差 | 한국경제">
            <a:extLst>
              <a:ext uri="{FF2B5EF4-FFF2-40B4-BE49-F238E27FC236}">
                <a16:creationId xmlns:a16="http://schemas.microsoft.com/office/drawing/2014/main" id="{B1CDF6DB-9520-3A74-66B9-1A5E1691D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367" y="-12352372"/>
            <a:ext cx="6257949" cy="792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자동차보험 12곳 비교해보니…가장 싼 보험사는? | 비즈한국">
            <a:extLst>
              <a:ext uri="{FF2B5EF4-FFF2-40B4-BE49-F238E27FC236}">
                <a16:creationId xmlns:a16="http://schemas.microsoft.com/office/drawing/2014/main" id="{A408A075-1296-2CB2-082C-085FDBC6B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54701" y="-13288430"/>
            <a:ext cx="3905250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타원 43">
            <a:extLst>
              <a:ext uri="{FF2B5EF4-FFF2-40B4-BE49-F238E27FC236}">
                <a16:creationId xmlns:a16="http://schemas.microsoft.com/office/drawing/2014/main" id="{447460FF-391E-0A56-78E3-D7AE59DCDA5D}"/>
              </a:ext>
            </a:extLst>
          </p:cNvPr>
          <p:cNvSpPr/>
          <p:nvPr/>
        </p:nvSpPr>
        <p:spPr>
          <a:xfrm>
            <a:off x="-2200392" y="-1555179"/>
            <a:ext cx="1645154" cy="16451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6174" name="Picture 30" descr="네트워크 클립 아트 PNG, 일러스트, PSD 및 클립 아트에 대한 무료 다운로드 | Pngtree">
            <a:extLst>
              <a:ext uri="{FF2B5EF4-FFF2-40B4-BE49-F238E27FC236}">
                <a16:creationId xmlns:a16="http://schemas.microsoft.com/office/drawing/2014/main" id="{D87D7635-A489-DF8E-A7C9-BE90A6EDB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3680" y="351408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3D274BD-45AA-5891-4B23-E30F96D11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439" y="-4082446"/>
            <a:ext cx="3638550" cy="352425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D6808DA-A4EE-9748-C98D-798929836BE9}"/>
              </a:ext>
            </a:extLst>
          </p:cNvPr>
          <p:cNvGrpSpPr/>
          <p:nvPr/>
        </p:nvGrpSpPr>
        <p:grpSpPr>
          <a:xfrm>
            <a:off x="6808372" y="3937018"/>
            <a:ext cx="1409700" cy="518160"/>
            <a:chOff x="6305550" y="4186099"/>
            <a:chExt cx="1409700" cy="51816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4E347494-B9E5-3DC8-115E-58B376C81A9D}"/>
                </a:ext>
              </a:extLst>
            </p:cNvPr>
            <p:cNvSpPr/>
            <p:nvPr/>
          </p:nvSpPr>
          <p:spPr>
            <a:xfrm>
              <a:off x="6305550" y="4186099"/>
              <a:ext cx="1409700" cy="5181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4" name="그림 33" descr="텍스트, 스크린샷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535B66E-4EE3-59B0-4D61-E55F076E6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22" b="29186"/>
            <a:stretch>
              <a:fillRect/>
            </a:stretch>
          </p:blipFill>
          <p:spPr>
            <a:xfrm>
              <a:off x="6444616" y="4186099"/>
              <a:ext cx="1131568" cy="518160"/>
            </a:xfrm>
            <a:prstGeom prst="rect">
              <a:avLst/>
            </a:prstGeom>
          </p:spPr>
        </p:pic>
      </p:grpSp>
      <p:pic>
        <p:nvPicPr>
          <p:cNvPr id="6180" name="Picture 36" descr="원형 네트워크가 있는 추상 그림은 흰색 배경 기호 그림 인터넷 기술 벡터 일러스트 디자인 글로벌 네트워크 연결에 연결됩니다. 로열티  무료 사진, 그림, 이미지 그리고 스톡포토그래피. Image 168669279">
            <a:extLst>
              <a:ext uri="{FF2B5EF4-FFF2-40B4-BE49-F238E27FC236}">
                <a16:creationId xmlns:a16="http://schemas.microsoft.com/office/drawing/2014/main" id="{AECE3AB6-3222-D562-7437-5D310E72E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-873466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3" name="그룹 6162">
            <a:extLst>
              <a:ext uri="{FF2B5EF4-FFF2-40B4-BE49-F238E27FC236}">
                <a16:creationId xmlns:a16="http://schemas.microsoft.com/office/drawing/2014/main" id="{AD0A1D74-533A-3A05-896B-8A45193FE67D}"/>
              </a:ext>
            </a:extLst>
          </p:cNvPr>
          <p:cNvGrpSpPr/>
          <p:nvPr/>
        </p:nvGrpSpPr>
        <p:grpSpPr>
          <a:xfrm>
            <a:off x="9178484" y="5383637"/>
            <a:ext cx="1409700" cy="332204"/>
            <a:chOff x="8976311" y="4500146"/>
            <a:chExt cx="1409700" cy="332204"/>
          </a:xfrm>
        </p:grpSpPr>
        <p:sp>
          <p:nvSpPr>
            <p:cNvPr id="6145" name="사각형: 둥근 모서리 6144">
              <a:extLst>
                <a:ext uri="{FF2B5EF4-FFF2-40B4-BE49-F238E27FC236}">
                  <a16:creationId xmlns:a16="http://schemas.microsoft.com/office/drawing/2014/main" id="{D8F999E4-E490-89D8-A8E0-02E58352E751}"/>
                </a:ext>
              </a:extLst>
            </p:cNvPr>
            <p:cNvSpPr/>
            <p:nvPr/>
          </p:nvSpPr>
          <p:spPr>
            <a:xfrm>
              <a:off x="8976311" y="4500146"/>
              <a:ext cx="1409700" cy="3322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61" name="그림 6160" descr="폰트, 그래픽, 로고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DA68CFC-A024-7441-33B1-2765465F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1" t="35713" r="7888" b="36225"/>
            <a:stretch>
              <a:fillRect/>
            </a:stretch>
          </p:blipFill>
          <p:spPr>
            <a:xfrm>
              <a:off x="9024842" y="4534610"/>
              <a:ext cx="1294935" cy="258579"/>
            </a:xfrm>
            <a:prstGeom prst="rect">
              <a:avLst/>
            </a:prstGeom>
          </p:spPr>
        </p:pic>
      </p:grpSp>
      <p:grpSp>
        <p:nvGrpSpPr>
          <p:cNvPr id="6171" name="그룹 6170">
            <a:extLst>
              <a:ext uri="{FF2B5EF4-FFF2-40B4-BE49-F238E27FC236}">
                <a16:creationId xmlns:a16="http://schemas.microsoft.com/office/drawing/2014/main" id="{27695E39-2E07-BA97-A8AB-B476A0C5288A}"/>
              </a:ext>
            </a:extLst>
          </p:cNvPr>
          <p:cNvGrpSpPr/>
          <p:nvPr/>
        </p:nvGrpSpPr>
        <p:grpSpPr>
          <a:xfrm>
            <a:off x="5779944" y="5693569"/>
            <a:ext cx="1409700" cy="405632"/>
            <a:chOff x="6018921" y="5054802"/>
            <a:chExt cx="1409700" cy="405632"/>
          </a:xfrm>
        </p:grpSpPr>
        <p:sp>
          <p:nvSpPr>
            <p:cNvPr id="6151" name="사각형: 둥근 모서리 6150">
              <a:extLst>
                <a:ext uri="{FF2B5EF4-FFF2-40B4-BE49-F238E27FC236}">
                  <a16:creationId xmlns:a16="http://schemas.microsoft.com/office/drawing/2014/main" id="{02409063-4CE8-02FC-5F6D-42345F757B79}"/>
                </a:ext>
              </a:extLst>
            </p:cNvPr>
            <p:cNvSpPr/>
            <p:nvPr/>
          </p:nvSpPr>
          <p:spPr>
            <a:xfrm>
              <a:off x="6018921" y="5054802"/>
              <a:ext cx="1409700" cy="4056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69" name="그림 6168" descr="폰트, 텍스트, 그래픽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9030EB9-01CA-5992-F7C5-F7372889E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7709" y="5054802"/>
              <a:ext cx="1192125" cy="405632"/>
            </a:xfrm>
            <a:prstGeom prst="rect">
              <a:avLst/>
            </a:prstGeom>
          </p:spPr>
        </p:pic>
      </p:grpSp>
      <p:grpSp>
        <p:nvGrpSpPr>
          <p:cNvPr id="6175" name="그룹 6174">
            <a:extLst>
              <a:ext uri="{FF2B5EF4-FFF2-40B4-BE49-F238E27FC236}">
                <a16:creationId xmlns:a16="http://schemas.microsoft.com/office/drawing/2014/main" id="{8116254A-2CB2-E320-58E7-F62B9452E226}"/>
              </a:ext>
            </a:extLst>
          </p:cNvPr>
          <p:cNvGrpSpPr/>
          <p:nvPr/>
        </p:nvGrpSpPr>
        <p:grpSpPr>
          <a:xfrm>
            <a:off x="7817315" y="5997408"/>
            <a:ext cx="1409700" cy="442798"/>
            <a:chOff x="7644043" y="5600725"/>
            <a:chExt cx="1409700" cy="442798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439F2EF-98B1-DB5C-33FA-52158F6D6526}"/>
                </a:ext>
              </a:extLst>
            </p:cNvPr>
            <p:cNvSpPr/>
            <p:nvPr/>
          </p:nvSpPr>
          <p:spPr>
            <a:xfrm>
              <a:off x="7644043" y="5600725"/>
              <a:ext cx="1409700" cy="44279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73" name="그림 6172" descr="호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F1F5B0F-FB29-86E8-E663-FEB8A6FD7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308" y="5678826"/>
              <a:ext cx="1145170" cy="286596"/>
            </a:xfrm>
            <a:prstGeom prst="rect">
              <a:avLst/>
            </a:prstGeom>
          </p:spPr>
        </p:pic>
      </p:grpSp>
      <p:grpSp>
        <p:nvGrpSpPr>
          <p:cNvPr id="6176" name="그룹 6175">
            <a:extLst>
              <a:ext uri="{FF2B5EF4-FFF2-40B4-BE49-F238E27FC236}">
                <a16:creationId xmlns:a16="http://schemas.microsoft.com/office/drawing/2014/main" id="{F65316FC-5767-10C7-0128-26BEDEF32957}"/>
              </a:ext>
            </a:extLst>
          </p:cNvPr>
          <p:cNvGrpSpPr/>
          <p:nvPr/>
        </p:nvGrpSpPr>
        <p:grpSpPr>
          <a:xfrm>
            <a:off x="10239432" y="5799241"/>
            <a:ext cx="1409700" cy="510364"/>
            <a:chOff x="9657079" y="6199675"/>
            <a:chExt cx="1409700" cy="510364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47BB4A2C-151B-6D1D-E85C-BC332511C7CB}"/>
                </a:ext>
              </a:extLst>
            </p:cNvPr>
            <p:cNvSpPr/>
            <p:nvPr/>
          </p:nvSpPr>
          <p:spPr>
            <a:xfrm>
              <a:off x="9657079" y="6199675"/>
              <a:ext cx="1409700" cy="51036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6" name="그림 25" descr="그래픽, 폰트, 스크린샷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BA646FC-5525-D465-3932-CA56CD9C2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994" b="16994"/>
            <a:stretch>
              <a:fillRect/>
            </a:stretch>
          </p:blipFill>
          <p:spPr>
            <a:xfrm>
              <a:off x="9704232" y="6237775"/>
              <a:ext cx="1315395" cy="434164"/>
            </a:xfrm>
            <a:prstGeom prst="rect">
              <a:avLst/>
            </a:prstGeom>
          </p:spPr>
        </p:pic>
      </p:grpSp>
      <p:grpSp>
        <p:nvGrpSpPr>
          <p:cNvPr id="6181" name="그룹 6180">
            <a:extLst>
              <a:ext uri="{FF2B5EF4-FFF2-40B4-BE49-F238E27FC236}">
                <a16:creationId xmlns:a16="http://schemas.microsoft.com/office/drawing/2014/main" id="{939CCBD0-1B3F-AF0F-9E32-5CF9A930DC11}"/>
              </a:ext>
            </a:extLst>
          </p:cNvPr>
          <p:cNvGrpSpPr/>
          <p:nvPr/>
        </p:nvGrpSpPr>
        <p:grpSpPr>
          <a:xfrm>
            <a:off x="10386011" y="3977433"/>
            <a:ext cx="1409700" cy="442798"/>
            <a:chOff x="10362052" y="3731771"/>
            <a:chExt cx="1409700" cy="442798"/>
          </a:xfrm>
        </p:grpSpPr>
        <p:sp>
          <p:nvSpPr>
            <p:cNvPr id="6178" name="사각형: 둥근 모서리 6177">
              <a:extLst>
                <a:ext uri="{FF2B5EF4-FFF2-40B4-BE49-F238E27FC236}">
                  <a16:creationId xmlns:a16="http://schemas.microsoft.com/office/drawing/2014/main" id="{BA5290B1-FC57-E55E-4CD5-F183D99692B7}"/>
                </a:ext>
              </a:extLst>
            </p:cNvPr>
            <p:cNvSpPr/>
            <p:nvPr/>
          </p:nvSpPr>
          <p:spPr>
            <a:xfrm>
              <a:off x="10362052" y="3731771"/>
              <a:ext cx="1409700" cy="44279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0" name="그림 39" descr="그래픽, 그래픽 디자인, 다채로움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9DA837E-43B2-F182-920B-9B7582FC6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47118" y="3806943"/>
              <a:ext cx="1039568" cy="292455"/>
            </a:xfrm>
            <a:prstGeom prst="rect">
              <a:avLst/>
            </a:prstGeom>
          </p:spPr>
        </p:pic>
      </p:grpSp>
      <p:grpSp>
        <p:nvGrpSpPr>
          <p:cNvPr id="6185" name="그룹 6184">
            <a:extLst>
              <a:ext uri="{FF2B5EF4-FFF2-40B4-BE49-F238E27FC236}">
                <a16:creationId xmlns:a16="http://schemas.microsoft.com/office/drawing/2014/main" id="{17B92CDB-6672-8D09-BBC9-451239014435}"/>
              </a:ext>
            </a:extLst>
          </p:cNvPr>
          <p:cNvGrpSpPr/>
          <p:nvPr/>
        </p:nvGrpSpPr>
        <p:grpSpPr>
          <a:xfrm>
            <a:off x="4566911" y="4507732"/>
            <a:ext cx="1409700" cy="657225"/>
            <a:chOff x="10454046" y="4811925"/>
            <a:chExt cx="1409700" cy="657225"/>
          </a:xfrm>
        </p:grpSpPr>
        <p:sp>
          <p:nvSpPr>
            <p:cNvPr id="6183" name="사각형: 둥근 모서리 6182">
              <a:extLst>
                <a:ext uri="{FF2B5EF4-FFF2-40B4-BE49-F238E27FC236}">
                  <a16:creationId xmlns:a16="http://schemas.microsoft.com/office/drawing/2014/main" id="{5794A808-FAB6-752A-AE7B-B87D76F66FC0}"/>
                </a:ext>
              </a:extLst>
            </p:cNvPr>
            <p:cNvSpPr/>
            <p:nvPr/>
          </p:nvSpPr>
          <p:spPr>
            <a:xfrm>
              <a:off x="10454046" y="4811925"/>
              <a:ext cx="1409700" cy="65722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2" name="그림 31" descr="스크린샷, 그래픽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D31B5E7-751D-FD47-4FB4-604F8817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34" t="32725" r="25909" b="34584"/>
            <a:stretch>
              <a:fillRect/>
            </a:stretch>
          </p:blipFill>
          <p:spPr>
            <a:xfrm>
              <a:off x="10654651" y="4846018"/>
              <a:ext cx="1008490" cy="589038"/>
            </a:xfrm>
            <a:prstGeom prst="rect">
              <a:avLst/>
            </a:prstGeom>
          </p:spPr>
        </p:pic>
      </p:grpSp>
      <p:sp>
        <p:nvSpPr>
          <p:cNvPr id="6186" name="타원 6185">
            <a:extLst>
              <a:ext uri="{FF2B5EF4-FFF2-40B4-BE49-F238E27FC236}">
                <a16:creationId xmlns:a16="http://schemas.microsoft.com/office/drawing/2014/main" id="{91197B32-8E82-D289-6338-3E8E0E929189}"/>
              </a:ext>
            </a:extLst>
          </p:cNvPr>
          <p:cNvSpPr/>
          <p:nvPr/>
        </p:nvSpPr>
        <p:spPr>
          <a:xfrm>
            <a:off x="8804734" y="4317582"/>
            <a:ext cx="203366" cy="20336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88" name="타원 6187">
            <a:extLst>
              <a:ext uri="{FF2B5EF4-FFF2-40B4-BE49-F238E27FC236}">
                <a16:creationId xmlns:a16="http://schemas.microsoft.com/office/drawing/2014/main" id="{92941CB3-A23C-458F-FBBE-55406A8D5899}"/>
              </a:ext>
            </a:extLst>
          </p:cNvPr>
          <p:cNvSpPr/>
          <p:nvPr/>
        </p:nvSpPr>
        <p:spPr>
          <a:xfrm>
            <a:off x="7693232" y="5623691"/>
            <a:ext cx="173326" cy="17332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89" name="타원 6188">
            <a:extLst>
              <a:ext uri="{FF2B5EF4-FFF2-40B4-BE49-F238E27FC236}">
                <a16:creationId xmlns:a16="http://schemas.microsoft.com/office/drawing/2014/main" id="{6929C2CA-2C7B-410F-7FDC-036DAF7B274C}"/>
              </a:ext>
            </a:extLst>
          </p:cNvPr>
          <p:cNvSpPr/>
          <p:nvPr/>
        </p:nvSpPr>
        <p:spPr>
          <a:xfrm>
            <a:off x="11365525" y="4907233"/>
            <a:ext cx="245120" cy="245120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2" name="타원 6191">
            <a:extLst>
              <a:ext uri="{FF2B5EF4-FFF2-40B4-BE49-F238E27FC236}">
                <a16:creationId xmlns:a16="http://schemas.microsoft.com/office/drawing/2014/main" id="{516FFA53-CA55-F432-5CFC-15A3630F9A85}"/>
              </a:ext>
            </a:extLst>
          </p:cNvPr>
          <p:cNvSpPr/>
          <p:nvPr/>
        </p:nvSpPr>
        <p:spPr>
          <a:xfrm>
            <a:off x="9719756" y="6079564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3" name="타원 6192">
            <a:extLst>
              <a:ext uri="{FF2B5EF4-FFF2-40B4-BE49-F238E27FC236}">
                <a16:creationId xmlns:a16="http://schemas.microsoft.com/office/drawing/2014/main" id="{D01EF89D-A1A2-79A1-DEAF-B27A6B744761}"/>
              </a:ext>
            </a:extLst>
          </p:cNvPr>
          <p:cNvSpPr/>
          <p:nvPr/>
        </p:nvSpPr>
        <p:spPr>
          <a:xfrm>
            <a:off x="6962913" y="6577781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4" name="타원 6193">
            <a:extLst>
              <a:ext uri="{FF2B5EF4-FFF2-40B4-BE49-F238E27FC236}">
                <a16:creationId xmlns:a16="http://schemas.microsoft.com/office/drawing/2014/main" id="{719151E1-6AEE-7DDF-BE76-CF3600820AD2}"/>
              </a:ext>
            </a:extLst>
          </p:cNvPr>
          <p:cNvSpPr/>
          <p:nvPr/>
        </p:nvSpPr>
        <p:spPr>
          <a:xfrm>
            <a:off x="11695648" y="6499200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5" name="타원 6194">
            <a:extLst>
              <a:ext uri="{FF2B5EF4-FFF2-40B4-BE49-F238E27FC236}">
                <a16:creationId xmlns:a16="http://schemas.microsoft.com/office/drawing/2014/main" id="{4153DD5A-3137-2ED6-4982-AA56E8BC97EC}"/>
              </a:ext>
            </a:extLst>
          </p:cNvPr>
          <p:cNvSpPr/>
          <p:nvPr/>
        </p:nvSpPr>
        <p:spPr>
          <a:xfrm>
            <a:off x="5926579" y="3927401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99" name="직선 연결선 6198">
            <a:extLst>
              <a:ext uri="{FF2B5EF4-FFF2-40B4-BE49-F238E27FC236}">
                <a16:creationId xmlns:a16="http://schemas.microsoft.com/office/drawing/2014/main" id="{2D786CF2-55C6-3773-D5F4-28E1A240FFEF}"/>
              </a:ext>
            </a:extLst>
          </p:cNvPr>
          <p:cNvCxnSpPr>
            <a:cxnSpLocks/>
            <a:stCxn id="6195" idx="6"/>
            <a:endCxn id="59" idx="1"/>
          </p:cNvCxnSpPr>
          <p:nvPr/>
        </p:nvCxnSpPr>
        <p:spPr>
          <a:xfrm flipV="1">
            <a:off x="6026642" y="3567579"/>
            <a:ext cx="2113849" cy="40985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2" name="직선 연결선 6201">
            <a:extLst>
              <a:ext uri="{FF2B5EF4-FFF2-40B4-BE49-F238E27FC236}">
                <a16:creationId xmlns:a16="http://schemas.microsoft.com/office/drawing/2014/main" id="{74C381A2-28DD-14B4-B977-0FA819C890B2}"/>
              </a:ext>
            </a:extLst>
          </p:cNvPr>
          <p:cNvCxnSpPr>
            <a:cxnSpLocks/>
            <a:stCxn id="6195" idx="5"/>
            <a:endCxn id="6187" idx="1"/>
          </p:cNvCxnSpPr>
          <p:nvPr/>
        </p:nvCxnSpPr>
        <p:spPr>
          <a:xfrm>
            <a:off x="6011988" y="4012810"/>
            <a:ext cx="791734" cy="91390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7" name="직선 연결선 6206">
            <a:extLst>
              <a:ext uri="{FF2B5EF4-FFF2-40B4-BE49-F238E27FC236}">
                <a16:creationId xmlns:a16="http://schemas.microsoft.com/office/drawing/2014/main" id="{E5C8E74A-FFC9-89F7-E2D8-E95C5CD311D6}"/>
              </a:ext>
            </a:extLst>
          </p:cNvPr>
          <p:cNvCxnSpPr>
            <a:cxnSpLocks/>
            <a:stCxn id="6183" idx="0"/>
            <a:endCxn id="45" idx="1"/>
          </p:cNvCxnSpPr>
          <p:nvPr/>
        </p:nvCxnSpPr>
        <p:spPr>
          <a:xfrm flipV="1">
            <a:off x="5271761" y="4196098"/>
            <a:ext cx="1536611" cy="31163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5" name="직선 연결선 6214">
            <a:extLst>
              <a:ext uri="{FF2B5EF4-FFF2-40B4-BE49-F238E27FC236}">
                <a16:creationId xmlns:a16="http://schemas.microsoft.com/office/drawing/2014/main" id="{FDA703F7-28CF-8632-A269-380F64619623}"/>
              </a:ext>
            </a:extLst>
          </p:cNvPr>
          <p:cNvCxnSpPr>
            <a:cxnSpLocks/>
            <a:stCxn id="6183" idx="3"/>
            <a:endCxn id="6161" idx="1"/>
          </p:cNvCxnSpPr>
          <p:nvPr/>
        </p:nvCxnSpPr>
        <p:spPr>
          <a:xfrm>
            <a:off x="5976611" y="4836345"/>
            <a:ext cx="3250404" cy="71104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5" name="직선 연결선 6224">
            <a:extLst>
              <a:ext uri="{FF2B5EF4-FFF2-40B4-BE49-F238E27FC236}">
                <a16:creationId xmlns:a16="http://schemas.microsoft.com/office/drawing/2014/main" id="{E81F1ADB-286E-B986-41C4-82DAED8D3F96}"/>
              </a:ext>
            </a:extLst>
          </p:cNvPr>
          <p:cNvCxnSpPr>
            <a:cxnSpLocks/>
            <a:stCxn id="34" idx="2"/>
            <a:endCxn id="6169" idx="3"/>
          </p:cNvCxnSpPr>
          <p:nvPr/>
        </p:nvCxnSpPr>
        <p:spPr>
          <a:xfrm flipH="1">
            <a:off x="7080857" y="4455178"/>
            <a:ext cx="432365" cy="14412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8" name="직선 연결선 6227">
            <a:extLst>
              <a:ext uri="{FF2B5EF4-FFF2-40B4-BE49-F238E27FC236}">
                <a16:creationId xmlns:a16="http://schemas.microsoft.com/office/drawing/2014/main" id="{A7F487E8-B0F5-E82C-A459-B1151DE453E5}"/>
              </a:ext>
            </a:extLst>
          </p:cNvPr>
          <p:cNvCxnSpPr>
            <a:cxnSpLocks/>
            <a:stCxn id="6183" idx="2"/>
            <a:endCxn id="6151" idx="1"/>
          </p:cNvCxnSpPr>
          <p:nvPr/>
        </p:nvCxnSpPr>
        <p:spPr>
          <a:xfrm>
            <a:off x="5271761" y="5164957"/>
            <a:ext cx="508183" cy="73142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2" name="직선 연결선 6231">
            <a:extLst>
              <a:ext uri="{FF2B5EF4-FFF2-40B4-BE49-F238E27FC236}">
                <a16:creationId xmlns:a16="http://schemas.microsoft.com/office/drawing/2014/main" id="{EEE13189-D67A-9120-9F1D-DC525A6948F1}"/>
              </a:ext>
            </a:extLst>
          </p:cNvPr>
          <p:cNvCxnSpPr>
            <a:cxnSpLocks/>
          </p:cNvCxnSpPr>
          <p:nvPr/>
        </p:nvCxnSpPr>
        <p:spPr>
          <a:xfrm flipH="1">
            <a:off x="6099349" y="5130863"/>
            <a:ext cx="739869" cy="79769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5" name="직선 연결선 6234">
            <a:extLst>
              <a:ext uri="{FF2B5EF4-FFF2-40B4-BE49-F238E27FC236}">
                <a16:creationId xmlns:a16="http://schemas.microsoft.com/office/drawing/2014/main" id="{4D5D81B0-4981-E639-89B3-87EE9B19EBA7}"/>
              </a:ext>
            </a:extLst>
          </p:cNvPr>
          <p:cNvCxnSpPr>
            <a:cxnSpLocks/>
            <a:stCxn id="6169" idx="2"/>
            <a:endCxn id="6193" idx="1"/>
          </p:cNvCxnSpPr>
          <p:nvPr/>
        </p:nvCxnSpPr>
        <p:spPr>
          <a:xfrm>
            <a:off x="6484795" y="6099201"/>
            <a:ext cx="492772" cy="49323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0" name="직선 연결선 6239">
            <a:extLst>
              <a:ext uri="{FF2B5EF4-FFF2-40B4-BE49-F238E27FC236}">
                <a16:creationId xmlns:a16="http://schemas.microsoft.com/office/drawing/2014/main" id="{B05622BC-9114-E7BC-C79F-80C4D06DDA15}"/>
              </a:ext>
            </a:extLst>
          </p:cNvPr>
          <p:cNvCxnSpPr>
            <a:cxnSpLocks/>
            <a:stCxn id="6193" idx="7"/>
            <a:endCxn id="6188" idx="3"/>
          </p:cNvCxnSpPr>
          <p:nvPr/>
        </p:nvCxnSpPr>
        <p:spPr>
          <a:xfrm flipV="1">
            <a:off x="7048322" y="5771634"/>
            <a:ext cx="670293" cy="82080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4" name="직선 연결선 6243">
            <a:extLst>
              <a:ext uri="{FF2B5EF4-FFF2-40B4-BE49-F238E27FC236}">
                <a16:creationId xmlns:a16="http://schemas.microsoft.com/office/drawing/2014/main" id="{71D7C474-C8A6-4AB1-848C-355CA0882062}"/>
              </a:ext>
            </a:extLst>
          </p:cNvPr>
          <p:cNvCxnSpPr>
            <a:cxnSpLocks/>
            <a:stCxn id="6193" idx="6"/>
          </p:cNvCxnSpPr>
          <p:nvPr/>
        </p:nvCxnSpPr>
        <p:spPr>
          <a:xfrm flipV="1">
            <a:off x="7062976" y="6218807"/>
            <a:ext cx="754339" cy="409006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7" name="직선 연결선 6246">
            <a:extLst>
              <a:ext uri="{FF2B5EF4-FFF2-40B4-BE49-F238E27FC236}">
                <a16:creationId xmlns:a16="http://schemas.microsoft.com/office/drawing/2014/main" id="{7B67EA9D-3108-760A-FC92-1377C9641FE5}"/>
              </a:ext>
            </a:extLst>
          </p:cNvPr>
          <p:cNvCxnSpPr>
            <a:cxnSpLocks/>
            <a:stCxn id="6188" idx="6"/>
            <a:endCxn id="53" idx="0"/>
          </p:cNvCxnSpPr>
          <p:nvPr/>
        </p:nvCxnSpPr>
        <p:spPr>
          <a:xfrm>
            <a:off x="7866558" y="5710354"/>
            <a:ext cx="655607" cy="28705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3" name="직선 연결선 6252">
            <a:extLst>
              <a:ext uri="{FF2B5EF4-FFF2-40B4-BE49-F238E27FC236}">
                <a16:creationId xmlns:a16="http://schemas.microsoft.com/office/drawing/2014/main" id="{78A89F69-6A1E-38BF-4791-BD7FE5B6708F}"/>
              </a:ext>
            </a:extLst>
          </p:cNvPr>
          <p:cNvCxnSpPr>
            <a:cxnSpLocks/>
            <a:stCxn id="6188" idx="7"/>
            <a:endCxn id="59" idx="2"/>
          </p:cNvCxnSpPr>
          <p:nvPr/>
        </p:nvCxnSpPr>
        <p:spPr>
          <a:xfrm flipV="1">
            <a:off x="7841175" y="3806943"/>
            <a:ext cx="1004166" cy="184213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4" name="직선 연결선 6253">
            <a:extLst>
              <a:ext uri="{FF2B5EF4-FFF2-40B4-BE49-F238E27FC236}">
                <a16:creationId xmlns:a16="http://schemas.microsoft.com/office/drawing/2014/main" id="{6BFBF4FA-65EF-0FF8-2610-8D18D4ACA0EA}"/>
              </a:ext>
            </a:extLst>
          </p:cNvPr>
          <p:cNvCxnSpPr>
            <a:cxnSpLocks/>
          </p:cNvCxnSpPr>
          <p:nvPr/>
        </p:nvCxnSpPr>
        <p:spPr>
          <a:xfrm>
            <a:off x="8207255" y="6015154"/>
            <a:ext cx="619710" cy="28705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65" name="그룹 6164">
            <a:extLst>
              <a:ext uri="{FF2B5EF4-FFF2-40B4-BE49-F238E27FC236}">
                <a16:creationId xmlns:a16="http://schemas.microsoft.com/office/drawing/2014/main" id="{2F7F8914-BD22-8C21-92C3-92C168FCFE80}"/>
              </a:ext>
            </a:extLst>
          </p:cNvPr>
          <p:cNvGrpSpPr/>
          <p:nvPr/>
        </p:nvGrpSpPr>
        <p:grpSpPr>
          <a:xfrm>
            <a:off x="7513222" y="4944940"/>
            <a:ext cx="1409700" cy="317586"/>
            <a:chOff x="10364697" y="5098825"/>
            <a:chExt cx="1409700" cy="317586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5BC741C2-3B29-EBEC-2A47-9D652C22A0FE}"/>
                </a:ext>
              </a:extLst>
            </p:cNvPr>
            <p:cNvSpPr/>
            <p:nvPr/>
          </p:nvSpPr>
          <p:spPr>
            <a:xfrm>
              <a:off x="10364697" y="5098825"/>
              <a:ext cx="1409700" cy="31758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59" name="그림 6158" descr="폰트, 로고, 그래픽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BF7247-09A3-F8BA-D44F-D2FE4ECC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3763" y="5098825"/>
              <a:ext cx="1131568" cy="317586"/>
            </a:xfrm>
            <a:prstGeom prst="rect">
              <a:avLst/>
            </a:prstGeom>
          </p:spPr>
        </p:pic>
      </p:grpSp>
      <p:cxnSp>
        <p:nvCxnSpPr>
          <p:cNvPr id="6266" name="직선 연결선 6265">
            <a:extLst>
              <a:ext uri="{FF2B5EF4-FFF2-40B4-BE49-F238E27FC236}">
                <a16:creationId xmlns:a16="http://schemas.microsoft.com/office/drawing/2014/main" id="{96B32BCA-9959-3314-6805-A59A3D1DE0A0}"/>
              </a:ext>
            </a:extLst>
          </p:cNvPr>
          <p:cNvCxnSpPr>
            <a:cxnSpLocks/>
            <a:stCxn id="6186" idx="5"/>
            <a:endCxn id="6145" idx="0"/>
          </p:cNvCxnSpPr>
          <p:nvPr/>
        </p:nvCxnSpPr>
        <p:spPr>
          <a:xfrm>
            <a:off x="8978318" y="4491166"/>
            <a:ext cx="905016" cy="89247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9" name="직선 연결선 6268">
            <a:extLst>
              <a:ext uri="{FF2B5EF4-FFF2-40B4-BE49-F238E27FC236}">
                <a16:creationId xmlns:a16="http://schemas.microsoft.com/office/drawing/2014/main" id="{BDBE745D-85F2-7575-76F2-D9308C5F5CD9}"/>
              </a:ext>
            </a:extLst>
          </p:cNvPr>
          <p:cNvCxnSpPr>
            <a:cxnSpLocks/>
            <a:stCxn id="6186" idx="4"/>
          </p:cNvCxnSpPr>
          <p:nvPr/>
        </p:nvCxnSpPr>
        <p:spPr>
          <a:xfrm flipH="1">
            <a:off x="8552853" y="4520948"/>
            <a:ext cx="353564" cy="147646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2" name="직선 연결선 6271">
            <a:extLst>
              <a:ext uri="{FF2B5EF4-FFF2-40B4-BE49-F238E27FC236}">
                <a16:creationId xmlns:a16="http://schemas.microsoft.com/office/drawing/2014/main" id="{7C9A9C89-B74A-6386-8826-2382A27B9808}"/>
              </a:ext>
            </a:extLst>
          </p:cNvPr>
          <p:cNvCxnSpPr>
            <a:cxnSpLocks/>
            <a:endCxn id="6191" idx="4"/>
          </p:cNvCxnSpPr>
          <p:nvPr/>
        </p:nvCxnSpPr>
        <p:spPr>
          <a:xfrm flipV="1">
            <a:off x="9931806" y="3328215"/>
            <a:ext cx="71255" cy="2037676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5" name="직선 연결선 6274">
            <a:extLst>
              <a:ext uri="{FF2B5EF4-FFF2-40B4-BE49-F238E27FC236}">
                <a16:creationId xmlns:a16="http://schemas.microsoft.com/office/drawing/2014/main" id="{A07A1914-FC8C-A539-424E-5BCA9B3A6DCB}"/>
              </a:ext>
            </a:extLst>
          </p:cNvPr>
          <p:cNvCxnSpPr>
            <a:cxnSpLocks/>
            <a:stCxn id="6186" idx="7"/>
            <a:endCxn id="6191" idx="3"/>
          </p:cNvCxnSpPr>
          <p:nvPr/>
        </p:nvCxnSpPr>
        <p:spPr>
          <a:xfrm flipV="1">
            <a:off x="8978318" y="3313561"/>
            <a:ext cx="989365" cy="1033803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0" name="직선 연결선 6279">
            <a:extLst>
              <a:ext uri="{FF2B5EF4-FFF2-40B4-BE49-F238E27FC236}">
                <a16:creationId xmlns:a16="http://schemas.microsoft.com/office/drawing/2014/main" id="{39F5A855-BE55-E5EE-A5F2-1497A3D01C3F}"/>
              </a:ext>
            </a:extLst>
          </p:cNvPr>
          <p:cNvCxnSpPr>
            <a:cxnSpLocks/>
            <a:stCxn id="6195" idx="3"/>
            <a:endCxn id="6183" idx="0"/>
          </p:cNvCxnSpPr>
          <p:nvPr/>
        </p:nvCxnSpPr>
        <p:spPr>
          <a:xfrm flipH="1">
            <a:off x="5271761" y="4012810"/>
            <a:ext cx="669472" cy="49492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6" name="직선 연결선 6285">
            <a:extLst>
              <a:ext uri="{FF2B5EF4-FFF2-40B4-BE49-F238E27FC236}">
                <a16:creationId xmlns:a16="http://schemas.microsoft.com/office/drawing/2014/main" id="{71C1BE4A-251C-A0F6-7576-0C83432A18FF}"/>
              </a:ext>
            </a:extLst>
          </p:cNvPr>
          <p:cNvCxnSpPr>
            <a:cxnSpLocks/>
            <a:stCxn id="53" idx="3"/>
            <a:endCxn id="6192" idx="2"/>
          </p:cNvCxnSpPr>
          <p:nvPr/>
        </p:nvCxnSpPr>
        <p:spPr>
          <a:xfrm flipV="1">
            <a:off x="9227015" y="6129596"/>
            <a:ext cx="492741" cy="8921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9" name="직선 연결선 6288">
            <a:extLst>
              <a:ext uri="{FF2B5EF4-FFF2-40B4-BE49-F238E27FC236}">
                <a16:creationId xmlns:a16="http://schemas.microsoft.com/office/drawing/2014/main" id="{3CD843A6-6191-03EB-1E7A-3943BF131BA3}"/>
              </a:ext>
            </a:extLst>
          </p:cNvPr>
          <p:cNvCxnSpPr>
            <a:cxnSpLocks/>
            <a:stCxn id="6192" idx="6"/>
            <a:endCxn id="6194" idx="1"/>
          </p:cNvCxnSpPr>
          <p:nvPr/>
        </p:nvCxnSpPr>
        <p:spPr>
          <a:xfrm>
            <a:off x="9819819" y="6129596"/>
            <a:ext cx="1890483" cy="38425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3" name="직선 연결선 6292">
            <a:extLst>
              <a:ext uri="{FF2B5EF4-FFF2-40B4-BE49-F238E27FC236}">
                <a16:creationId xmlns:a16="http://schemas.microsoft.com/office/drawing/2014/main" id="{EF081E1D-3DF3-8E45-6FDD-DAE9030BD17D}"/>
              </a:ext>
            </a:extLst>
          </p:cNvPr>
          <p:cNvCxnSpPr>
            <a:cxnSpLocks/>
            <a:stCxn id="26" idx="3"/>
            <a:endCxn id="6194" idx="1"/>
          </p:cNvCxnSpPr>
          <p:nvPr/>
        </p:nvCxnSpPr>
        <p:spPr>
          <a:xfrm>
            <a:off x="11601980" y="6054423"/>
            <a:ext cx="108322" cy="45943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6" name="직선 연결선 6295">
            <a:extLst>
              <a:ext uri="{FF2B5EF4-FFF2-40B4-BE49-F238E27FC236}">
                <a16:creationId xmlns:a16="http://schemas.microsoft.com/office/drawing/2014/main" id="{5D9BE990-06F4-000F-BBD3-07C0E5D3E4B3}"/>
              </a:ext>
            </a:extLst>
          </p:cNvPr>
          <p:cNvCxnSpPr>
            <a:cxnSpLocks/>
            <a:stCxn id="6189" idx="4"/>
            <a:endCxn id="62" idx="0"/>
          </p:cNvCxnSpPr>
          <p:nvPr/>
        </p:nvCxnSpPr>
        <p:spPr>
          <a:xfrm flipH="1">
            <a:off x="10944282" y="5152353"/>
            <a:ext cx="543803" cy="6468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0" name="직선 연결선 6299">
            <a:extLst>
              <a:ext uri="{FF2B5EF4-FFF2-40B4-BE49-F238E27FC236}">
                <a16:creationId xmlns:a16="http://schemas.microsoft.com/office/drawing/2014/main" id="{9429FC5C-2905-8F5E-C12C-B8CD6AC80C7A}"/>
              </a:ext>
            </a:extLst>
          </p:cNvPr>
          <p:cNvCxnSpPr>
            <a:cxnSpLocks/>
            <a:stCxn id="6178" idx="2"/>
            <a:endCxn id="62" idx="0"/>
          </p:cNvCxnSpPr>
          <p:nvPr/>
        </p:nvCxnSpPr>
        <p:spPr>
          <a:xfrm flipH="1">
            <a:off x="10944282" y="4420231"/>
            <a:ext cx="146579" cy="137901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4" name="직선 연결선 6303">
            <a:extLst>
              <a:ext uri="{FF2B5EF4-FFF2-40B4-BE49-F238E27FC236}">
                <a16:creationId xmlns:a16="http://schemas.microsoft.com/office/drawing/2014/main" id="{6F69C1F8-01D8-5CF8-3F2A-101AA30AF006}"/>
              </a:ext>
            </a:extLst>
          </p:cNvPr>
          <p:cNvCxnSpPr>
            <a:cxnSpLocks/>
            <a:stCxn id="6178" idx="2"/>
            <a:endCxn id="6189" idx="0"/>
          </p:cNvCxnSpPr>
          <p:nvPr/>
        </p:nvCxnSpPr>
        <p:spPr>
          <a:xfrm>
            <a:off x="11090861" y="4420231"/>
            <a:ext cx="397224" cy="48700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7" name="직선 연결선 6306">
            <a:extLst>
              <a:ext uri="{FF2B5EF4-FFF2-40B4-BE49-F238E27FC236}">
                <a16:creationId xmlns:a16="http://schemas.microsoft.com/office/drawing/2014/main" id="{CEBC2B8D-0023-C7A5-98B5-003D8FE6AF22}"/>
              </a:ext>
            </a:extLst>
          </p:cNvPr>
          <p:cNvCxnSpPr>
            <a:cxnSpLocks/>
            <a:stCxn id="6178" idx="1"/>
            <a:endCxn id="6145" idx="0"/>
          </p:cNvCxnSpPr>
          <p:nvPr/>
        </p:nvCxnSpPr>
        <p:spPr>
          <a:xfrm flipH="1">
            <a:off x="9883334" y="4198832"/>
            <a:ext cx="502677" cy="118480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0" name="직선 연결선 6309">
            <a:extLst>
              <a:ext uri="{FF2B5EF4-FFF2-40B4-BE49-F238E27FC236}">
                <a16:creationId xmlns:a16="http://schemas.microsoft.com/office/drawing/2014/main" id="{543AF7A3-5F8A-A4EE-8515-44990F8ECD5F}"/>
              </a:ext>
            </a:extLst>
          </p:cNvPr>
          <p:cNvCxnSpPr>
            <a:cxnSpLocks/>
            <a:stCxn id="59" idx="3"/>
            <a:endCxn id="6178" idx="0"/>
          </p:cNvCxnSpPr>
          <p:nvPr/>
        </p:nvCxnSpPr>
        <p:spPr>
          <a:xfrm>
            <a:off x="9550191" y="3567579"/>
            <a:ext cx="1540670" cy="40985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87" name="타원 6186">
            <a:extLst>
              <a:ext uri="{FF2B5EF4-FFF2-40B4-BE49-F238E27FC236}">
                <a16:creationId xmlns:a16="http://schemas.microsoft.com/office/drawing/2014/main" id="{F0B48A6D-7914-D5D2-C61D-C29EDAC78355}"/>
              </a:ext>
            </a:extLst>
          </p:cNvPr>
          <p:cNvSpPr/>
          <p:nvPr/>
        </p:nvSpPr>
        <p:spPr>
          <a:xfrm>
            <a:off x="6767825" y="4890814"/>
            <a:ext cx="245120" cy="245120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19" name="직선 연결선 6318">
            <a:extLst>
              <a:ext uri="{FF2B5EF4-FFF2-40B4-BE49-F238E27FC236}">
                <a16:creationId xmlns:a16="http://schemas.microsoft.com/office/drawing/2014/main" id="{4739C7C6-CB27-EE91-BBAB-C4B4BAB98234}"/>
              </a:ext>
            </a:extLst>
          </p:cNvPr>
          <p:cNvCxnSpPr>
            <a:cxnSpLocks/>
            <a:stCxn id="59" idx="0"/>
            <a:endCxn id="45" idx="3"/>
          </p:cNvCxnSpPr>
          <p:nvPr/>
        </p:nvCxnSpPr>
        <p:spPr>
          <a:xfrm flipH="1">
            <a:off x="8218072" y="3328215"/>
            <a:ext cx="627269" cy="8678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64" name="그룹 6163">
            <a:extLst>
              <a:ext uri="{FF2B5EF4-FFF2-40B4-BE49-F238E27FC236}">
                <a16:creationId xmlns:a16="http://schemas.microsoft.com/office/drawing/2014/main" id="{C66358BB-17CD-D35D-6515-A61579BB1027}"/>
              </a:ext>
            </a:extLst>
          </p:cNvPr>
          <p:cNvGrpSpPr/>
          <p:nvPr/>
        </p:nvGrpSpPr>
        <p:grpSpPr>
          <a:xfrm>
            <a:off x="8140491" y="3328215"/>
            <a:ext cx="1409700" cy="478728"/>
            <a:chOff x="8734117" y="3387066"/>
            <a:chExt cx="1409700" cy="478728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C3A7F94-0F92-F273-DA70-ED6F62AF310C}"/>
                </a:ext>
              </a:extLst>
            </p:cNvPr>
            <p:cNvSpPr/>
            <p:nvPr/>
          </p:nvSpPr>
          <p:spPr>
            <a:xfrm>
              <a:off x="8734117" y="3387066"/>
              <a:ext cx="1409700" cy="47872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57" name="그림 6156" descr="폰트, 그래픽, 그래픽 디자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127286D-4332-F32E-BE45-23447580F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1588" y="3496890"/>
              <a:ext cx="1254759" cy="259080"/>
            </a:xfrm>
            <a:prstGeom prst="rect">
              <a:avLst/>
            </a:prstGeom>
          </p:spPr>
        </p:pic>
      </p:grpSp>
      <p:sp>
        <p:nvSpPr>
          <p:cNvPr id="6191" name="타원 6190">
            <a:extLst>
              <a:ext uri="{FF2B5EF4-FFF2-40B4-BE49-F238E27FC236}">
                <a16:creationId xmlns:a16="http://schemas.microsoft.com/office/drawing/2014/main" id="{5F399191-001D-AC40-189F-2D01548CC161}"/>
              </a:ext>
            </a:extLst>
          </p:cNvPr>
          <p:cNvSpPr/>
          <p:nvPr/>
        </p:nvSpPr>
        <p:spPr>
          <a:xfrm>
            <a:off x="9953029" y="3228152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23" name="그림 6322" descr="그래픽, 원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FB8F61-DC12-E02E-7504-32D9A98D39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296" y="2958116"/>
            <a:ext cx="3099231" cy="3099231"/>
          </a:xfrm>
          <a:prstGeom prst="rect">
            <a:avLst/>
          </a:prstGeom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39079DA-82D2-BAA7-2B8D-EA89B94277E5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1A7FEE9-829B-6691-E8FD-1B78CF2DABAD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8FA6026-42C2-32C7-A0E2-0B71EE6087FF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배경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0111C37-1D88-9A37-AF31-BFF6B9CF7587}"/>
              </a:ext>
            </a:extLst>
          </p:cNvPr>
          <p:cNvGrpSpPr/>
          <p:nvPr/>
        </p:nvGrpSpPr>
        <p:grpSpPr>
          <a:xfrm>
            <a:off x="6419850" y="1285992"/>
            <a:ext cx="5059659" cy="1782242"/>
            <a:chOff x="6419850" y="1285992"/>
            <a:chExt cx="5059659" cy="1782242"/>
          </a:xfrm>
        </p:grpSpPr>
        <p:sp>
          <p:nvSpPr>
            <p:cNvPr id="42" name="평행 사변형 41">
              <a:extLst>
                <a:ext uri="{FF2B5EF4-FFF2-40B4-BE49-F238E27FC236}">
                  <a16:creationId xmlns:a16="http://schemas.microsoft.com/office/drawing/2014/main" id="{125124E5-B26D-F262-5F51-D0A918615699}"/>
                </a:ext>
              </a:extLst>
            </p:cNvPr>
            <p:cNvSpPr/>
            <p:nvPr/>
          </p:nvSpPr>
          <p:spPr>
            <a:xfrm>
              <a:off x="6419850" y="2616207"/>
              <a:ext cx="5059659" cy="314552"/>
            </a:xfrm>
            <a:prstGeom prst="parallelogram">
              <a:avLst>
                <a:gd name="adj" fmla="val 40839"/>
              </a:avLst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C0D7E01-76B4-6006-9782-A3983E2720E9}"/>
                </a:ext>
              </a:extLst>
            </p:cNvPr>
            <p:cNvSpPr/>
            <p:nvPr/>
          </p:nvSpPr>
          <p:spPr>
            <a:xfrm>
              <a:off x="6444616" y="1285992"/>
              <a:ext cx="4857134" cy="1782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000" dirty="0">
                  <a:ln>
                    <a:solidFill>
                      <a:schemeClr val="bg1"/>
                    </a:solidFill>
                  </a:ln>
                  <a:solidFill>
                    <a:srgbClr val="6A4C93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복잡</a:t>
              </a:r>
              <a:r>
                <a:rPr lang="ko-KR" altLang="en-US" sz="40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하고 </a:t>
              </a:r>
              <a:r>
                <a:rPr lang="ko-KR" altLang="en-US" sz="4000" dirty="0">
                  <a:ln>
                    <a:solidFill>
                      <a:schemeClr val="bg1"/>
                    </a:solidFill>
                  </a:ln>
                  <a:solidFill>
                    <a:srgbClr val="6A4C93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어려운</a:t>
              </a:r>
              <a:r>
                <a:rPr lang="ko-KR" altLang="en-US" sz="40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 </a:t>
              </a:r>
              <a:endParaRPr lang="en-US" altLang="ko-KR" sz="4000" dirty="0">
                <a:solidFill>
                  <a:schemeClr val="bg1"/>
                </a:solidFill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  <a:p>
              <a:r>
                <a:rPr lang="ko-KR" altLang="en-US" sz="48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 보험 약관</a:t>
              </a:r>
              <a:r>
                <a:rPr lang="en-US" altLang="ko-KR" sz="48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!</a:t>
              </a:r>
              <a:endParaRPr lang="ko-KR" altLang="en-US" sz="4800" dirty="0">
                <a:solidFill>
                  <a:schemeClr val="bg1"/>
                </a:solidFill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553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032AF-D550-252E-10B0-35776EFD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경험으로 익힌 교통사고 현장 사진 촬영요령 : 엔카 미디어">
            <a:extLst>
              <a:ext uri="{FF2B5EF4-FFF2-40B4-BE49-F238E27FC236}">
                <a16:creationId xmlns:a16="http://schemas.microsoft.com/office/drawing/2014/main" id="{0653522F-C027-D8C9-B33A-044B8B77C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" t="1674" r="1644" b="15611"/>
          <a:stretch>
            <a:fillRect/>
          </a:stretch>
        </p:blipFill>
        <p:spPr bwMode="auto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9B6619-C8AD-0A3B-E9C0-C01C7217470E}"/>
              </a:ext>
            </a:extLst>
          </p:cNvPr>
          <p:cNvSpPr/>
          <p:nvPr/>
        </p:nvSpPr>
        <p:spPr>
          <a:xfrm>
            <a:off x="-30688" y="0"/>
            <a:ext cx="12192000" cy="6858000"/>
          </a:xfrm>
          <a:prstGeom prst="rect">
            <a:avLst/>
          </a:prstGeom>
          <a:gradFill>
            <a:gsLst>
              <a:gs pos="100000">
                <a:schemeClr val="tx1"/>
              </a:gs>
              <a:gs pos="0">
                <a:schemeClr val="tx1">
                  <a:alpha val="48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D88190-D4CF-F855-AC30-25B1F2D24C69}"/>
              </a:ext>
            </a:extLst>
          </p:cNvPr>
          <p:cNvSpPr/>
          <p:nvPr/>
        </p:nvSpPr>
        <p:spPr>
          <a:xfrm>
            <a:off x="8468660" y="-4749196"/>
            <a:ext cx="6038850" cy="419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 많은 보험 회사 나열  </a:t>
            </a:r>
            <a:endParaRPr lang="en-US" altLang="ko-KR" dirty="0"/>
          </a:p>
          <a:p>
            <a:pPr algn="ctr"/>
            <a:r>
              <a:rPr lang="ko-KR" altLang="en-US" dirty="0"/>
              <a:t>화살표를 통해 여기저기 방문 표시 </a:t>
            </a:r>
            <a:r>
              <a:rPr lang="en-US" altLang="ko-KR" dirty="0"/>
              <a:t>(</a:t>
            </a:r>
            <a:r>
              <a:rPr lang="ko-KR" altLang="en-US" dirty="0"/>
              <a:t>거미줄 형태</a:t>
            </a:r>
            <a:r>
              <a:rPr lang="en-US" altLang="ko-KR" dirty="0"/>
              <a:t>) </a:t>
            </a:r>
          </a:p>
          <a:p>
            <a:pPr algn="ctr"/>
            <a:r>
              <a:rPr lang="ko-KR" altLang="en-US" dirty="0"/>
              <a:t>물음표 표시</a:t>
            </a:r>
            <a:r>
              <a:rPr lang="en-US" altLang="ko-KR" dirty="0"/>
              <a:t>(?) 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2BBBF0-9359-B83D-F228-0106A026BB38}"/>
              </a:ext>
            </a:extLst>
          </p:cNvPr>
          <p:cNvSpPr/>
          <p:nvPr/>
        </p:nvSpPr>
        <p:spPr>
          <a:xfrm>
            <a:off x="-8816160" y="-6456803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현황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복잡하고 어려운 자동차 보험 </a:t>
            </a:r>
            <a:r>
              <a:rPr lang="ko-KR" altLang="en-US" dirty="0" err="1"/>
              <a:t>약관나한테</a:t>
            </a:r>
            <a:r>
              <a:rPr lang="ko-KR" altLang="en-US" dirty="0"/>
              <a:t> 딱 맞는 보험 찾기</a:t>
            </a:r>
            <a:r>
              <a:rPr lang="en-US" altLang="ko-KR" dirty="0"/>
              <a:t>, </a:t>
            </a:r>
            <a:r>
              <a:rPr lang="ko-KR" altLang="en-US" dirty="0"/>
              <a:t>넘 힘든 과정이해하기 쉬운 설명 </a:t>
            </a:r>
            <a:r>
              <a:rPr lang="en-US" altLang="ko-KR" dirty="0"/>
              <a:t>+ </a:t>
            </a:r>
            <a:r>
              <a:rPr lang="ko-KR" altLang="en-US" dirty="0"/>
              <a:t>개인별 맞춤 추천 필요</a:t>
            </a:r>
            <a:r>
              <a:rPr lang="en-US" altLang="ko-KR" dirty="0"/>
              <a:t>!</a:t>
            </a:r>
            <a:r>
              <a:rPr lang="ko-KR" altLang="en-US" dirty="0"/>
              <a:t>보험 약관은 법률 용어 범벅 </a:t>
            </a:r>
            <a:r>
              <a:rPr lang="en-US" altLang="ko-KR" dirty="0"/>
              <a:t>-&gt; </a:t>
            </a:r>
            <a:r>
              <a:rPr lang="ko-KR" altLang="en-US" dirty="0"/>
              <a:t>비전문가에게 매우 난해</a:t>
            </a:r>
            <a:r>
              <a:rPr lang="en-US" altLang="ko-KR" dirty="0"/>
              <a:t>(</a:t>
            </a:r>
            <a:r>
              <a:rPr lang="ko-KR" altLang="en-US" dirty="0"/>
              <a:t>어려움</a:t>
            </a:r>
            <a:r>
              <a:rPr lang="en-US" altLang="ko-KR" dirty="0"/>
              <a:t>)</a:t>
            </a:r>
            <a:r>
              <a:rPr lang="ko-KR" altLang="en-US" dirty="0"/>
              <a:t>각 보험사마다 다른 보장 방식 </a:t>
            </a:r>
            <a:r>
              <a:rPr lang="en-US" altLang="ko-KR" dirty="0"/>
              <a:t>-&gt; </a:t>
            </a:r>
            <a:r>
              <a:rPr lang="ko-KR" altLang="en-US" dirty="0"/>
              <a:t>직접 비교 어려움상담이 오래 걸리고 홈페이지도 불편 </a:t>
            </a:r>
            <a:r>
              <a:rPr lang="en-US" altLang="ko-KR" dirty="0"/>
              <a:t>-&gt; </a:t>
            </a:r>
            <a:r>
              <a:rPr lang="ko-KR" altLang="en-US" dirty="0"/>
              <a:t>사용자 서비스 저하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보험이 어려운 명분에 대한 증거 자료 </a:t>
            </a:r>
            <a:r>
              <a:rPr lang="en-US" altLang="ko-KR" dirty="0"/>
              <a:t>(</a:t>
            </a:r>
            <a:r>
              <a:rPr lang="ko-KR" altLang="en-US" dirty="0"/>
              <a:t>설문조사 등 지표 필요</a:t>
            </a:r>
            <a:r>
              <a:rPr lang="en-US" altLang="ko-KR" dirty="0"/>
              <a:t>, </a:t>
            </a:r>
            <a:r>
              <a:rPr lang="ko-KR" altLang="en-US" dirty="0"/>
              <a:t>사례 </a:t>
            </a:r>
            <a:r>
              <a:rPr lang="en-US" altLang="ko-KR" dirty="0"/>
              <a:t>- </a:t>
            </a:r>
            <a:r>
              <a:rPr lang="ko-KR" altLang="en-US" dirty="0"/>
              <a:t>뉴스 기사나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DB3B2FF-FBCD-0490-3BD9-6190360FCADF}"/>
              </a:ext>
            </a:extLst>
          </p:cNvPr>
          <p:cNvGrpSpPr/>
          <p:nvPr/>
        </p:nvGrpSpPr>
        <p:grpSpPr>
          <a:xfrm>
            <a:off x="-8412025" y="-1102343"/>
            <a:ext cx="4710074" cy="5663295"/>
            <a:chOff x="-4757768" y="-7217078"/>
            <a:chExt cx="4853019" cy="583516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D41E2C9-E65D-1CA7-D787-537A533C990C}"/>
                </a:ext>
              </a:extLst>
            </p:cNvPr>
            <p:cNvSpPr/>
            <p:nvPr/>
          </p:nvSpPr>
          <p:spPr>
            <a:xfrm>
              <a:off x="-4205319" y="-7217078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A2944A1-036D-EC65-A953-48F8630362D2}"/>
                </a:ext>
              </a:extLst>
            </p:cNvPr>
            <p:cNvSpPr/>
            <p:nvPr/>
          </p:nvSpPr>
          <p:spPr>
            <a:xfrm>
              <a:off x="-2447372" y="-6446621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9376A02-EED4-493E-D95E-F91508E8BD6E}"/>
                </a:ext>
              </a:extLst>
            </p:cNvPr>
            <p:cNvSpPr/>
            <p:nvPr/>
          </p:nvSpPr>
          <p:spPr>
            <a:xfrm>
              <a:off x="-3634003" y="-5189321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3990A03-FE5D-231F-43A1-BDB54742F9D5}"/>
                </a:ext>
              </a:extLst>
            </p:cNvPr>
            <p:cNvSpPr/>
            <p:nvPr/>
          </p:nvSpPr>
          <p:spPr>
            <a:xfrm>
              <a:off x="-4757768" y="-5952289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57E9D08-69B3-BE64-F548-22A82F07FE9B}"/>
                </a:ext>
              </a:extLst>
            </p:cNvPr>
            <p:cNvSpPr/>
            <p:nvPr/>
          </p:nvSpPr>
          <p:spPr>
            <a:xfrm>
              <a:off x="-3005720" y="-4257207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1A35AF9-88C2-FB6F-F5FF-B696683B66B5}"/>
                </a:ext>
              </a:extLst>
            </p:cNvPr>
            <p:cNvSpPr/>
            <p:nvPr/>
          </p:nvSpPr>
          <p:spPr>
            <a:xfrm>
              <a:off x="-4700802" y="-4172634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CCA6E92-20E6-E241-FD39-20ECD13F2BD7}"/>
                </a:ext>
              </a:extLst>
            </p:cNvPr>
            <p:cNvSpPr/>
            <p:nvPr/>
          </p:nvSpPr>
          <p:spPr>
            <a:xfrm>
              <a:off x="-3148778" y="-3076991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50C4A0A-2610-505A-F483-4FB7B0995B98}"/>
                </a:ext>
              </a:extLst>
            </p:cNvPr>
            <p:cNvSpPr/>
            <p:nvPr/>
          </p:nvSpPr>
          <p:spPr>
            <a:xfrm>
              <a:off x="-1599831" y="-5229725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CEF3DD1-9EAB-ECE9-DAF2-3AEDBABA5B78}"/>
                </a:ext>
              </a:extLst>
            </p:cNvPr>
            <p:cNvSpPr/>
            <p:nvPr/>
          </p:nvSpPr>
          <p:spPr>
            <a:xfrm>
              <a:off x="-1742889" y="-4049509"/>
              <a:ext cx="1695082" cy="16950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</p:grpSp>
      <p:pic>
        <p:nvPicPr>
          <p:cNvPr id="6148" name="Picture 4" descr="같은 그랜저인데…車보험사별 최대 48만원差 | 한국경제">
            <a:extLst>
              <a:ext uri="{FF2B5EF4-FFF2-40B4-BE49-F238E27FC236}">
                <a16:creationId xmlns:a16="http://schemas.microsoft.com/office/drawing/2014/main" id="{AA68EEC9-01F6-2115-5DDB-F46E61704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367" y="-12352372"/>
            <a:ext cx="6257949" cy="792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자동차보험 12곳 비교해보니…가장 싼 보험사는? | 비즈한국">
            <a:extLst>
              <a:ext uri="{FF2B5EF4-FFF2-40B4-BE49-F238E27FC236}">
                <a16:creationId xmlns:a16="http://schemas.microsoft.com/office/drawing/2014/main" id="{B1C323F3-6361-639E-8143-914523D2B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54701" y="-13288430"/>
            <a:ext cx="3905250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타원 43">
            <a:extLst>
              <a:ext uri="{FF2B5EF4-FFF2-40B4-BE49-F238E27FC236}">
                <a16:creationId xmlns:a16="http://schemas.microsoft.com/office/drawing/2014/main" id="{CB49921C-B5E5-5500-60E4-40D0BE556657}"/>
              </a:ext>
            </a:extLst>
          </p:cNvPr>
          <p:cNvSpPr/>
          <p:nvPr/>
        </p:nvSpPr>
        <p:spPr>
          <a:xfrm>
            <a:off x="-2200392" y="-1555179"/>
            <a:ext cx="1645154" cy="16451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6174" name="Picture 30" descr="네트워크 클립 아트 PNG, 일러스트, PSD 및 클립 아트에 대한 무료 다운로드 | Pngtree">
            <a:extLst>
              <a:ext uri="{FF2B5EF4-FFF2-40B4-BE49-F238E27FC236}">
                <a16:creationId xmlns:a16="http://schemas.microsoft.com/office/drawing/2014/main" id="{9A5A89EF-9866-AEA9-4720-3089F4B4F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3680" y="351408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E5E84D9-4061-E699-E396-7E52E6293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439" y="-4082446"/>
            <a:ext cx="3638550" cy="352425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2F443609-C60A-5E1E-AAAC-04D9B51678D2}"/>
              </a:ext>
            </a:extLst>
          </p:cNvPr>
          <p:cNvGrpSpPr/>
          <p:nvPr/>
        </p:nvGrpSpPr>
        <p:grpSpPr>
          <a:xfrm>
            <a:off x="6808372" y="3937018"/>
            <a:ext cx="1409700" cy="518160"/>
            <a:chOff x="6305550" y="4186099"/>
            <a:chExt cx="1409700" cy="51816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8417D3FD-0109-0ABB-C580-211EFB0F9CA3}"/>
                </a:ext>
              </a:extLst>
            </p:cNvPr>
            <p:cNvSpPr/>
            <p:nvPr/>
          </p:nvSpPr>
          <p:spPr>
            <a:xfrm>
              <a:off x="6305550" y="4186099"/>
              <a:ext cx="1409700" cy="5181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4" name="그림 33" descr="텍스트, 스크린샷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3F55B7A-71E4-4256-DA00-80C34B348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22" b="29186"/>
            <a:stretch>
              <a:fillRect/>
            </a:stretch>
          </p:blipFill>
          <p:spPr>
            <a:xfrm>
              <a:off x="6444616" y="4186099"/>
              <a:ext cx="1131568" cy="518160"/>
            </a:xfrm>
            <a:prstGeom prst="rect">
              <a:avLst/>
            </a:prstGeom>
          </p:spPr>
        </p:pic>
      </p:grpSp>
      <p:pic>
        <p:nvPicPr>
          <p:cNvPr id="6180" name="Picture 36" descr="원형 네트워크가 있는 추상 그림은 흰색 배경 기호 그림 인터넷 기술 벡터 일러스트 디자인 글로벌 네트워크 연결에 연결됩니다. 로열티  무료 사진, 그림, 이미지 그리고 스톡포토그래피. Image 168669279">
            <a:extLst>
              <a:ext uri="{FF2B5EF4-FFF2-40B4-BE49-F238E27FC236}">
                <a16:creationId xmlns:a16="http://schemas.microsoft.com/office/drawing/2014/main" id="{C85FE533-39EF-4DBB-D21D-77D3BC73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-873466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3" name="그룹 6162">
            <a:extLst>
              <a:ext uri="{FF2B5EF4-FFF2-40B4-BE49-F238E27FC236}">
                <a16:creationId xmlns:a16="http://schemas.microsoft.com/office/drawing/2014/main" id="{DCC8F48D-0BF8-6608-D9C5-6B5086D937B4}"/>
              </a:ext>
            </a:extLst>
          </p:cNvPr>
          <p:cNvGrpSpPr/>
          <p:nvPr/>
        </p:nvGrpSpPr>
        <p:grpSpPr>
          <a:xfrm>
            <a:off x="9178484" y="5383637"/>
            <a:ext cx="1409700" cy="332204"/>
            <a:chOff x="8976311" y="4500146"/>
            <a:chExt cx="1409700" cy="332204"/>
          </a:xfrm>
        </p:grpSpPr>
        <p:sp>
          <p:nvSpPr>
            <p:cNvPr id="6145" name="사각형: 둥근 모서리 6144">
              <a:extLst>
                <a:ext uri="{FF2B5EF4-FFF2-40B4-BE49-F238E27FC236}">
                  <a16:creationId xmlns:a16="http://schemas.microsoft.com/office/drawing/2014/main" id="{E38C7A35-8264-EB2B-15F1-C091C999B0E9}"/>
                </a:ext>
              </a:extLst>
            </p:cNvPr>
            <p:cNvSpPr/>
            <p:nvPr/>
          </p:nvSpPr>
          <p:spPr>
            <a:xfrm>
              <a:off x="8976311" y="4500146"/>
              <a:ext cx="1409700" cy="3322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61" name="그림 6160" descr="폰트, 그래픽, 로고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22586E5-528D-B75E-AC6C-F7A87A82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1" t="35713" r="7888" b="36225"/>
            <a:stretch>
              <a:fillRect/>
            </a:stretch>
          </p:blipFill>
          <p:spPr>
            <a:xfrm>
              <a:off x="9024842" y="4534610"/>
              <a:ext cx="1294935" cy="258579"/>
            </a:xfrm>
            <a:prstGeom prst="rect">
              <a:avLst/>
            </a:prstGeom>
          </p:spPr>
        </p:pic>
      </p:grpSp>
      <p:grpSp>
        <p:nvGrpSpPr>
          <p:cNvPr id="6171" name="그룹 6170">
            <a:extLst>
              <a:ext uri="{FF2B5EF4-FFF2-40B4-BE49-F238E27FC236}">
                <a16:creationId xmlns:a16="http://schemas.microsoft.com/office/drawing/2014/main" id="{828196D0-BFAF-43B8-45E2-7DA36B9893BC}"/>
              </a:ext>
            </a:extLst>
          </p:cNvPr>
          <p:cNvGrpSpPr/>
          <p:nvPr/>
        </p:nvGrpSpPr>
        <p:grpSpPr>
          <a:xfrm>
            <a:off x="5779944" y="5693569"/>
            <a:ext cx="1409700" cy="405632"/>
            <a:chOff x="6018921" y="5054802"/>
            <a:chExt cx="1409700" cy="405632"/>
          </a:xfrm>
        </p:grpSpPr>
        <p:sp>
          <p:nvSpPr>
            <p:cNvPr id="6151" name="사각형: 둥근 모서리 6150">
              <a:extLst>
                <a:ext uri="{FF2B5EF4-FFF2-40B4-BE49-F238E27FC236}">
                  <a16:creationId xmlns:a16="http://schemas.microsoft.com/office/drawing/2014/main" id="{5DFBEAD8-2C47-6810-8DEC-AA0D37D2F5CF}"/>
                </a:ext>
              </a:extLst>
            </p:cNvPr>
            <p:cNvSpPr/>
            <p:nvPr/>
          </p:nvSpPr>
          <p:spPr>
            <a:xfrm>
              <a:off x="6018921" y="5054802"/>
              <a:ext cx="1409700" cy="4056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69" name="그림 6168" descr="폰트, 텍스트, 그래픽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DF1F717-6133-A805-3A6E-4B3DD0F83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7709" y="5054802"/>
              <a:ext cx="1192125" cy="405632"/>
            </a:xfrm>
            <a:prstGeom prst="rect">
              <a:avLst/>
            </a:prstGeom>
          </p:spPr>
        </p:pic>
      </p:grpSp>
      <p:grpSp>
        <p:nvGrpSpPr>
          <p:cNvPr id="6175" name="그룹 6174">
            <a:extLst>
              <a:ext uri="{FF2B5EF4-FFF2-40B4-BE49-F238E27FC236}">
                <a16:creationId xmlns:a16="http://schemas.microsoft.com/office/drawing/2014/main" id="{88306D0B-8A3D-7576-E9CD-3E39672840A0}"/>
              </a:ext>
            </a:extLst>
          </p:cNvPr>
          <p:cNvGrpSpPr/>
          <p:nvPr/>
        </p:nvGrpSpPr>
        <p:grpSpPr>
          <a:xfrm>
            <a:off x="7817315" y="5997408"/>
            <a:ext cx="1409700" cy="442798"/>
            <a:chOff x="7644043" y="5600725"/>
            <a:chExt cx="1409700" cy="442798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0AE5AB3E-0B62-1A4A-7D6A-E250E0BB446B}"/>
                </a:ext>
              </a:extLst>
            </p:cNvPr>
            <p:cNvSpPr/>
            <p:nvPr/>
          </p:nvSpPr>
          <p:spPr>
            <a:xfrm>
              <a:off x="7644043" y="5600725"/>
              <a:ext cx="1409700" cy="44279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73" name="그림 6172" descr="호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A8F4A29-DD67-88E3-5911-F142A56CA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308" y="5678826"/>
              <a:ext cx="1145170" cy="286596"/>
            </a:xfrm>
            <a:prstGeom prst="rect">
              <a:avLst/>
            </a:prstGeom>
          </p:spPr>
        </p:pic>
      </p:grpSp>
      <p:grpSp>
        <p:nvGrpSpPr>
          <p:cNvPr id="6176" name="그룹 6175">
            <a:extLst>
              <a:ext uri="{FF2B5EF4-FFF2-40B4-BE49-F238E27FC236}">
                <a16:creationId xmlns:a16="http://schemas.microsoft.com/office/drawing/2014/main" id="{052A9EF9-2403-2B20-DEB2-D1E8159F27B6}"/>
              </a:ext>
            </a:extLst>
          </p:cNvPr>
          <p:cNvGrpSpPr/>
          <p:nvPr/>
        </p:nvGrpSpPr>
        <p:grpSpPr>
          <a:xfrm>
            <a:off x="10239432" y="5799241"/>
            <a:ext cx="1409700" cy="510364"/>
            <a:chOff x="9657079" y="6199675"/>
            <a:chExt cx="1409700" cy="510364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977D9A27-B81B-6290-AD8B-F71933DD702B}"/>
                </a:ext>
              </a:extLst>
            </p:cNvPr>
            <p:cNvSpPr/>
            <p:nvPr/>
          </p:nvSpPr>
          <p:spPr>
            <a:xfrm>
              <a:off x="9657079" y="6199675"/>
              <a:ext cx="1409700" cy="51036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6" name="그림 25" descr="그래픽, 폰트, 스크린샷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323BC09-6945-3282-B1E5-69B5FE552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994" b="16994"/>
            <a:stretch>
              <a:fillRect/>
            </a:stretch>
          </p:blipFill>
          <p:spPr>
            <a:xfrm>
              <a:off x="9704232" y="6237775"/>
              <a:ext cx="1315395" cy="434164"/>
            </a:xfrm>
            <a:prstGeom prst="rect">
              <a:avLst/>
            </a:prstGeom>
          </p:spPr>
        </p:pic>
      </p:grpSp>
      <p:grpSp>
        <p:nvGrpSpPr>
          <p:cNvPr id="6181" name="그룹 6180">
            <a:extLst>
              <a:ext uri="{FF2B5EF4-FFF2-40B4-BE49-F238E27FC236}">
                <a16:creationId xmlns:a16="http://schemas.microsoft.com/office/drawing/2014/main" id="{A732A432-5AE8-A238-51ED-28B4933D06B2}"/>
              </a:ext>
            </a:extLst>
          </p:cNvPr>
          <p:cNvGrpSpPr/>
          <p:nvPr/>
        </p:nvGrpSpPr>
        <p:grpSpPr>
          <a:xfrm>
            <a:off x="10386011" y="3977433"/>
            <a:ext cx="1409700" cy="442798"/>
            <a:chOff x="10362052" y="3731771"/>
            <a:chExt cx="1409700" cy="442798"/>
          </a:xfrm>
        </p:grpSpPr>
        <p:sp>
          <p:nvSpPr>
            <p:cNvPr id="6178" name="사각형: 둥근 모서리 6177">
              <a:extLst>
                <a:ext uri="{FF2B5EF4-FFF2-40B4-BE49-F238E27FC236}">
                  <a16:creationId xmlns:a16="http://schemas.microsoft.com/office/drawing/2014/main" id="{8C8FE049-5A8F-3533-9D06-27C449F49030}"/>
                </a:ext>
              </a:extLst>
            </p:cNvPr>
            <p:cNvSpPr/>
            <p:nvPr/>
          </p:nvSpPr>
          <p:spPr>
            <a:xfrm>
              <a:off x="10362052" y="3731771"/>
              <a:ext cx="1409700" cy="44279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0" name="그림 39" descr="그래픽, 그래픽 디자인, 다채로움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5BA678C-7DA3-A75D-F691-D778F1F3E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47118" y="3806943"/>
              <a:ext cx="1039568" cy="292455"/>
            </a:xfrm>
            <a:prstGeom prst="rect">
              <a:avLst/>
            </a:prstGeom>
          </p:spPr>
        </p:pic>
      </p:grpSp>
      <p:grpSp>
        <p:nvGrpSpPr>
          <p:cNvPr id="6185" name="그룹 6184">
            <a:extLst>
              <a:ext uri="{FF2B5EF4-FFF2-40B4-BE49-F238E27FC236}">
                <a16:creationId xmlns:a16="http://schemas.microsoft.com/office/drawing/2014/main" id="{ECDF3D45-5E3D-5DD4-FA22-4888DCE51094}"/>
              </a:ext>
            </a:extLst>
          </p:cNvPr>
          <p:cNvGrpSpPr/>
          <p:nvPr/>
        </p:nvGrpSpPr>
        <p:grpSpPr>
          <a:xfrm>
            <a:off x="4566911" y="4507732"/>
            <a:ext cx="1409700" cy="657225"/>
            <a:chOff x="10454046" y="4811925"/>
            <a:chExt cx="1409700" cy="657225"/>
          </a:xfrm>
        </p:grpSpPr>
        <p:sp>
          <p:nvSpPr>
            <p:cNvPr id="6183" name="사각형: 둥근 모서리 6182">
              <a:extLst>
                <a:ext uri="{FF2B5EF4-FFF2-40B4-BE49-F238E27FC236}">
                  <a16:creationId xmlns:a16="http://schemas.microsoft.com/office/drawing/2014/main" id="{B605C334-E061-500A-7258-963601A62634}"/>
                </a:ext>
              </a:extLst>
            </p:cNvPr>
            <p:cNvSpPr/>
            <p:nvPr/>
          </p:nvSpPr>
          <p:spPr>
            <a:xfrm>
              <a:off x="10454046" y="4811925"/>
              <a:ext cx="1409700" cy="65722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2" name="그림 31" descr="스크린샷, 그래픽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55DF01C-8C70-538B-A1A5-9E16D220B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34" t="32725" r="25909" b="34584"/>
            <a:stretch>
              <a:fillRect/>
            </a:stretch>
          </p:blipFill>
          <p:spPr>
            <a:xfrm>
              <a:off x="10654651" y="4846018"/>
              <a:ext cx="1008490" cy="589038"/>
            </a:xfrm>
            <a:prstGeom prst="rect">
              <a:avLst/>
            </a:prstGeom>
          </p:spPr>
        </p:pic>
      </p:grpSp>
      <p:sp>
        <p:nvSpPr>
          <p:cNvPr id="6186" name="타원 6185">
            <a:extLst>
              <a:ext uri="{FF2B5EF4-FFF2-40B4-BE49-F238E27FC236}">
                <a16:creationId xmlns:a16="http://schemas.microsoft.com/office/drawing/2014/main" id="{5DB9E248-00D5-EB69-61BF-DAC7E13EB2E4}"/>
              </a:ext>
            </a:extLst>
          </p:cNvPr>
          <p:cNvSpPr/>
          <p:nvPr/>
        </p:nvSpPr>
        <p:spPr>
          <a:xfrm>
            <a:off x="8804734" y="4317582"/>
            <a:ext cx="203366" cy="20336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88" name="타원 6187">
            <a:extLst>
              <a:ext uri="{FF2B5EF4-FFF2-40B4-BE49-F238E27FC236}">
                <a16:creationId xmlns:a16="http://schemas.microsoft.com/office/drawing/2014/main" id="{7C15A599-0BF0-6CE9-5A57-BAD57DEA812C}"/>
              </a:ext>
            </a:extLst>
          </p:cNvPr>
          <p:cNvSpPr/>
          <p:nvPr/>
        </p:nvSpPr>
        <p:spPr>
          <a:xfrm>
            <a:off x="7693232" y="5623691"/>
            <a:ext cx="173326" cy="173326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89" name="타원 6188">
            <a:extLst>
              <a:ext uri="{FF2B5EF4-FFF2-40B4-BE49-F238E27FC236}">
                <a16:creationId xmlns:a16="http://schemas.microsoft.com/office/drawing/2014/main" id="{F887DFC0-7DC5-2CF3-52FE-846EDB9035A1}"/>
              </a:ext>
            </a:extLst>
          </p:cNvPr>
          <p:cNvSpPr/>
          <p:nvPr/>
        </p:nvSpPr>
        <p:spPr>
          <a:xfrm>
            <a:off x="11365525" y="4907233"/>
            <a:ext cx="245120" cy="245120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2" name="타원 6191">
            <a:extLst>
              <a:ext uri="{FF2B5EF4-FFF2-40B4-BE49-F238E27FC236}">
                <a16:creationId xmlns:a16="http://schemas.microsoft.com/office/drawing/2014/main" id="{B7DF3477-0A65-DC8E-3855-4442CA3A009E}"/>
              </a:ext>
            </a:extLst>
          </p:cNvPr>
          <p:cNvSpPr/>
          <p:nvPr/>
        </p:nvSpPr>
        <p:spPr>
          <a:xfrm>
            <a:off x="9719756" y="6079564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3" name="타원 6192">
            <a:extLst>
              <a:ext uri="{FF2B5EF4-FFF2-40B4-BE49-F238E27FC236}">
                <a16:creationId xmlns:a16="http://schemas.microsoft.com/office/drawing/2014/main" id="{ABC0CCC4-17B8-3435-FC1A-B992690F341B}"/>
              </a:ext>
            </a:extLst>
          </p:cNvPr>
          <p:cNvSpPr/>
          <p:nvPr/>
        </p:nvSpPr>
        <p:spPr>
          <a:xfrm>
            <a:off x="6962913" y="6577781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4" name="타원 6193">
            <a:extLst>
              <a:ext uri="{FF2B5EF4-FFF2-40B4-BE49-F238E27FC236}">
                <a16:creationId xmlns:a16="http://schemas.microsoft.com/office/drawing/2014/main" id="{0A680EB7-5517-71BC-DC74-406E02DBC4E3}"/>
              </a:ext>
            </a:extLst>
          </p:cNvPr>
          <p:cNvSpPr/>
          <p:nvPr/>
        </p:nvSpPr>
        <p:spPr>
          <a:xfrm>
            <a:off x="11695648" y="6499200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5" name="타원 6194">
            <a:extLst>
              <a:ext uri="{FF2B5EF4-FFF2-40B4-BE49-F238E27FC236}">
                <a16:creationId xmlns:a16="http://schemas.microsoft.com/office/drawing/2014/main" id="{F03F0A66-4DDA-7536-E906-1431BD8BE2B8}"/>
              </a:ext>
            </a:extLst>
          </p:cNvPr>
          <p:cNvSpPr/>
          <p:nvPr/>
        </p:nvSpPr>
        <p:spPr>
          <a:xfrm>
            <a:off x="5926579" y="3927401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99" name="직선 연결선 6198">
            <a:extLst>
              <a:ext uri="{FF2B5EF4-FFF2-40B4-BE49-F238E27FC236}">
                <a16:creationId xmlns:a16="http://schemas.microsoft.com/office/drawing/2014/main" id="{4E242519-062B-38B6-9E42-12C0D4C36FC3}"/>
              </a:ext>
            </a:extLst>
          </p:cNvPr>
          <p:cNvCxnSpPr>
            <a:cxnSpLocks/>
            <a:stCxn id="6195" idx="6"/>
            <a:endCxn id="59" idx="1"/>
          </p:cNvCxnSpPr>
          <p:nvPr/>
        </p:nvCxnSpPr>
        <p:spPr>
          <a:xfrm flipV="1">
            <a:off x="6026642" y="3567579"/>
            <a:ext cx="2113849" cy="40985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2" name="직선 연결선 6201">
            <a:extLst>
              <a:ext uri="{FF2B5EF4-FFF2-40B4-BE49-F238E27FC236}">
                <a16:creationId xmlns:a16="http://schemas.microsoft.com/office/drawing/2014/main" id="{4356B4D9-19D3-FAB9-450D-07ABBBAD6244}"/>
              </a:ext>
            </a:extLst>
          </p:cNvPr>
          <p:cNvCxnSpPr>
            <a:cxnSpLocks/>
            <a:stCxn id="6195" idx="5"/>
            <a:endCxn id="6187" idx="1"/>
          </p:cNvCxnSpPr>
          <p:nvPr/>
        </p:nvCxnSpPr>
        <p:spPr>
          <a:xfrm>
            <a:off x="6011988" y="4012810"/>
            <a:ext cx="791734" cy="91390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7" name="직선 연결선 6206">
            <a:extLst>
              <a:ext uri="{FF2B5EF4-FFF2-40B4-BE49-F238E27FC236}">
                <a16:creationId xmlns:a16="http://schemas.microsoft.com/office/drawing/2014/main" id="{7D535865-4CF5-E1FC-F2F3-70F3E8934678}"/>
              </a:ext>
            </a:extLst>
          </p:cNvPr>
          <p:cNvCxnSpPr>
            <a:cxnSpLocks/>
            <a:stCxn id="6183" idx="0"/>
            <a:endCxn id="45" idx="1"/>
          </p:cNvCxnSpPr>
          <p:nvPr/>
        </p:nvCxnSpPr>
        <p:spPr>
          <a:xfrm flipV="1">
            <a:off x="5271761" y="4196098"/>
            <a:ext cx="1536611" cy="31163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5" name="직선 연결선 6214">
            <a:extLst>
              <a:ext uri="{FF2B5EF4-FFF2-40B4-BE49-F238E27FC236}">
                <a16:creationId xmlns:a16="http://schemas.microsoft.com/office/drawing/2014/main" id="{5EC32094-93EE-CAF1-BB60-30F994C8F05B}"/>
              </a:ext>
            </a:extLst>
          </p:cNvPr>
          <p:cNvCxnSpPr>
            <a:cxnSpLocks/>
            <a:stCxn id="6183" idx="3"/>
            <a:endCxn id="6161" idx="1"/>
          </p:cNvCxnSpPr>
          <p:nvPr/>
        </p:nvCxnSpPr>
        <p:spPr>
          <a:xfrm>
            <a:off x="5976611" y="4836345"/>
            <a:ext cx="3250404" cy="71104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5" name="직선 연결선 6224">
            <a:extLst>
              <a:ext uri="{FF2B5EF4-FFF2-40B4-BE49-F238E27FC236}">
                <a16:creationId xmlns:a16="http://schemas.microsoft.com/office/drawing/2014/main" id="{8B789D44-3525-DDCE-2E0D-E13E6879B2DF}"/>
              </a:ext>
            </a:extLst>
          </p:cNvPr>
          <p:cNvCxnSpPr>
            <a:cxnSpLocks/>
            <a:stCxn id="34" idx="2"/>
            <a:endCxn id="6169" idx="3"/>
          </p:cNvCxnSpPr>
          <p:nvPr/>
        </p:nvCxnSpPr>
        <p:spPr>
          <a:xfrm flipH="1">
            <a:off x="7080857" y="4455178"/>
            <a:ext cx="432365" cy="14412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8" name="직선 연결선 6227">
            <a:extLst>
              <a:ext uri="{FF2B5EF4-FFF2-40B4-BE49-F238E27FC236}">
                <a16:creationId xmlns:a16="http://schemas.microsoft.com/office/drawing/2014/main" id="{342ED199-6F76-D27D-0650-33A8D73D26E9}"/>
              </a:ext>
            </a:extLst>
          </p:cNvPr>
          <p:cNvCxnSpPr>
            <a:cxnSpLocks/>
            <a:stCxn id="6183" idx="2"/>
            <a:endCxn id="6151" idx="1"/>
          </p:cNvCxnSpPr>
          <p:nvPr/>
        </p:nvCxnSpPr>
        <p:spPr>
          <a:xfrm>
            <a:off x="5271761" y="5164957"/>
            <a:ext cx="508183" cy="73142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2" name="직선 연결선 6231">
            <a:extLst>
              <a:ext uri="{FF2B5EF4-FFF2-40B4-BE49-F238E27FC236}">
                <a16:creationId xmlns:a16="http://schemas.microsoft.com/office/drawing/2014/main" id="{040DA52B-5160-AD23-1065-4B7452177208}"/>
              </a:ext>
            </a:extLst>
          </p:cNvPr>
          <p:cNvCxnSpPr>
            <a:cxnSpLocks/>
          </p:cNvCxnSpPr>
          <p:nvPr/>
        </p:nvCxnSpPr>
        <p:spPr>
          <a:xfrm flipH="1">
            <a:off x="6099349" y="5130863"/>
            <a:ext cx="739869" cy="79769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5" name="직선 연결선 6234">
            <a:extLst>
              <a:ext uri="{FF2B5EF4-FFF2-40B4-BE49-F238E27FC236}">
                <a16:creationId xmlns:a16="http://schemas.microsoft.com/office/drawing/2014/main" id="{9E9AE2A9-25D2-29D2-E9CD-EAF50D1904EE}"/>
              </a:ext>
            </a:extLst>
          </p:cNvPr>
          <p:cNvCxnSpPr>
            <a:cxnSpLocks/>
            <a:stCxn id="6169" idx="2"/>
            <a:endCxn id="6193" idx="1"/>
          </p:cNvCxnSpPr>
          <p:nvPr/>
        </p:nvCxnSpPr>
        <p:spPr>
          <a:xfrm>
            <a:off x="6484795" y="6099201"/>
            <a:ext cx="492772" cy="49323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0" name="직선 연결선 6239">
            <a:extLst>
              <a:ext uri="{FF2B5EF4-FFF2-40B4-BE49-F238E27FC236}">
                <a16:creationId xmlns:a16="http://schemas.microsoft.com/office/drawing/2014/main" id="{47C7D6C2-932D-88CA-B85E-83CB7E2465C8}"/>
              </a:ext>
            </a:extLst>
          </p:cNvPr>
          <p:cNvCxnSpPr>
            <a:cxnSpLocks/>
            <a:stCxn id="6193" idx="7"/>
            <a:endCxn id="6188" idx="3"/>
          </p:cNvCxnSpPr>
          <p:nvPr/>
        </p:nvCxnSpPr>
        <p:spPr>
          <a:xfrm flipV="1">
            <a:off x="7048322" y="5771634"/>
            <a:ext cx="670293" cy="82080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4" name="직선 연결선 6243">
            <a:extLst>
              <a:ext uri="{FF2B5EF4-FFF2-40B4-BE49-F238E27FC236}">
                <a16:creationId xmlns:a16="http://schemas.microsoft.com/office/drawing/2014/main" id="{4BE36C15-B47F-D9CD-91DA-58A5C18DFB88}"/>
              </a:ext>
            </a:extLst>
          </p:cNvPr>
          <p:cNvCxnSpPr>
            <a:cxnSpLocks/>
            <a:stCxn id="6193" idx="6"/>
          </p:cNvCxnSpPr>
          <p:nvPr/>
        </p:nvCxnSpPr>
        <p:spPr>
          <a:xfrm flipV="1">
            <a:off x="7062976" y="6218807"/>
            <a:ext cx="754339" cy="409006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7" name="직선 연결선 6246">
            <a:extLst>
              <a:ext uri="{FF2B5EF4-FFF2-40B4-BE49-F238E27FC236}">
                <a16:creationId xmlns:a16="http://schemas.microsoft.com/office/drawing/2014/main" id="{6F414BE8-DEEF-9533-70D8-3007FA2BBB30}"/>
              </a:ext>
            </a:extLst>
          </p:cNvPr>
          <p:cNvCxnSpPr>
            <a:cxnSpLocks/>
            <a:stCxn id="6188" idx="6"/>
            <a:endCxn id="53" idx="0"/>
          </p:cNvCxnSpPr>
          <p:nvPr/>
        </p:nvCxnSpPr>
        <p:spPr>
          <a:xfrm>
            <a:off x="7866558" y="5710354"/>
            <a:ext cx="655607" cy="28705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3" name="직선 연결선 6252">
            <a:extLst>
              <a:ext uri="{FF2B5EF4-FFF2-40B4-BE49-F238E27FC236}">
                <a16:creationId xmlns:a16="http://schemas.microsoft.com/office/drawing/2014/main" id="{AA866470-C89C-C46F-8264-ECFA0AA0BBCF}"/>
              </a:ext>
            </a:extLst>
          </p:cNvPr>
          <p:cNvCxnSpPr>
            <a:cxnSpLocks/>
            <a:stCxn id="6188" idx="7"/>
            <a:endCxn id="59" idx="2"/>
          </p:cNvCxnSpPr>
          <p:nvPr/>
        </p:nvCxnSpPr>
        <p:spPr>
          <a:xfrm flipV="1">
            <a:off x="7841175" y="3806943"/>
            <a:ext cx="1004166" cy="184213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4" name="직선 연결선 6253">
            <a:extLst>
              <a:ext uri="{FF2B5EF4-FFF2-40B4-BE49-F238E27FC236}">
                <a16:creationId xmlns:a16="http://schemas.microsoft.com/office/drawing/2014/main" id="{ABAED852-0526-3B92-21CC-CD0C76578F55}"/>
              </a:ext>
            </a:extLst>
          </p:cNvPr>
          <p:cNvCxnSpPr>
            <a:cxnSpLocks/>
          </p:cNvCxnSpPr>
          <p:nvPr/>
        </p:nvCxnSpPr>
        <p:spPr>
          <a:xfrm>
            <a:off x="8207255" y="6015154"/>
            <a:ext cx="619710" cy="287054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65" name="그룹 6164">
            <a:extLst>
              <a:ext uri="{FF2B5EF4-FFF2-40B4-BE49-F238E27FC236}">
                <a16:creationId xmlns:a16="http://schemas.microsoft.com/office/drawing/2014/main" id="{14C2D010-6447-CB3B-C938-9BB428A79C5F}"/>
              </a:ext>
            </a:extLst>
          </p:cNvPr>
          <p:cNvGrpSpPr/>
          <p:nvPr/>
        </p:nvGrpSpPr>
        <p:grpSpPr>
          <a:xfrm>
            <a:off x="7513222" y="4944940"/>
            <a:ext cx="1409700" cy="317586"/>
            <a:chOff x="10364697" y="5098825"/>
            <a:chExt cx="1409700" cy="317586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57C7F9BF-7525-1057-D396-AFE9D468F623}"/>
                </a:ext>
              </a:extLst>
            </p:cNvPr>
            <p:cNvSpPr/>
            <p:nvPr/>
          </p:nvSpPr>
          <p:spPr>
            <a:xfrm>
              <a:off x="10364697" y="5098825"/>
              <a:ext cx="1409700" cy="31758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59" name="그림 6158" descr="폰트, 로고, 그래픽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250208E-5DD5-6BC8-8216-85FC8506C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3763" y="5098825"/>
              <a:ext cx="1131568" cy="317586"/>
            </a:xfrm>
            <a:prstGeom prst="rect">
              <a:avLst/>
            </a:prstGeom>
          </p:spPr>
        </p:pic>
      </p:grpSp>
      <p:cxnSp>
        <p:nvCxnSpPr>
          <p:cNvPr id="6266" name="직선 연결선 6265">
            <a:extLst>
              <a:ext uri="{FF2B5EF4-FFF2-40B4-BE49-F238E27FC236}">
                <a16:creationId xmlns:a16="http://schemas.microsoft.com/office/drawing/2014/main" id="{5CDC91C0-0CBA-E996-12C5-60BD582359E9}"/>
              </a:ext>
            </a:extLst>
          </p:cNvPr>
          <p:cNvCxnSpPr>
            <a:cxnSpLocks/>
            <a:stCxn id="6186" idx="5"/>
            <a:endCxn id="6145" idx="0"/>
          </p:cNvCxnSpPr>
          <p:nvPr/>
        </p:nvCxnSpPr>
        <p:spPr>
          <a:xfrm>
            <a:off x="8978318" y="4491166"/>
            <a:ext cx="905016" cy="89247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9" name="직선 연결선 6268">
            <a:extLst>
              <a:ext uri="{FF2B5EF4-FFF2-40B4-BE49-F238E27FC236}">
                <a16:creationId xmlns:a16="http://schemas.microsoft.com/office/drawing/2014/main" id="{2FE45CC0-5ABE-2DC2-F529-0B8E58EE5115}"/>
              </a:ext>
            </a:extLst>
          </p:cNvPr>
          <p:cNvCxnSpPr>
            <a:cxnSpLocks/>
            <a:stCxn id="6186" idx="4"/>
          </p:cNvCxnSpPr>
          <p:nvPr/>
        </p:nvCxnSpPr>
        <p:spPr>
          <a:xfrm flipH="1">
            <a:off x="8552853" y="4520948"/>
            <a:ext cx="353564" cy="147646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2" name="직선 연결선 6271">
            <a:extLst>
              <a:ext uri="{FF2B5EF4-FFF2-40B4-BE49-F238E27FC236}">
                <a16:creationId xmlns:a16="http://schemas.microsoft.com/office/drawing/2014/main" id="{FEF38121-EC2A-CF35-A797-75C0CBAE661F}"/>
              </a:ext>
            </a:extLst>
          </p:cNvPr>
          <p:cNvCxnSpPr>
            <a:cxnSpLocks/>
            <a:endCxn id="6191" idx="4"/>
          </p:cNvCxnSpPr>
          <p:nvPr/>
        </p:nvCxnSpPr>
        <p:spPr>
          <a:xfrm flipV="1">
            <a:off x="9931806" y="3328215"/>
            <a:ext cx="71255" cy="2037676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5" name="직선 연결선 6274">
            <a:extLst>
              <a:ext uri="{FF2B5EF4-FFF2-40B4-BE49-F238E27FC236}">
                <a16:creationId xmlns:a16="http://schemas.microsoft.com/office/drawing/2014/main" id="{2782E03B-1810-A566-AE0B-DB9F7D9E729A}"/>
              </a:ext>
            </a:extLst>
          </p:cNvPr>
          <p:cNvCxnSpPr>
            <a:cxnSpLocks/>
            <a:stCxn id="6186" idx="7"/>
            <a:endCxn id="6191" idx="3"/>
          </p:cNvCxnSpPr>
          <p:nvPr/>
        </p:nvCxnSpPr>
        <p:spPr>
          <a:xfrm flipV="1">
            <a:off x="8978318" y="3313561"/>
            <a:ext cx="989365" cy="1033803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0" name="직선 연결선 6279">
            <a:extLst>
              <a:ext uri="{FF2B5EF4-FFF2-40B4-BE49-F238E27FC236}">
                <a16:creationId xmlns:a16="http://schemas.microsoft.com/office/drawing/2014/main" id="{BA687CEE-9CA5-10C1-A686-3F011EC0D2BA}"/>
              </a:ext>
            </a:extLst>
          </p:cNvPr>
          <p:cNvCxnSpPr>
            <a:cxnSpLocks/>
            <a:stCxn id="6195" idx="3"/>
            <a:endCxn id="6183" idx="0"/>
          </p:cNvCxnSpPr>
          <p:nvPr/>
        </p:nvCxnSpPr>
        <p:spPr>
          <a:xfrm flipH="1">
            <a:off x="5271761" y="4012810"/>
            <a:ext cx="669472" cy="49492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6" name="직선 연결선 6285">
            <a:extLst>
              <a:ext uri="{FF2B5EF4-FFF2-40B4-BE49-F238E27FC236}">
                <a16:creationId xmlns:a16="http://schemas.microsoft.com/office/drawing/2014/main" id="{BB840B3F-B4DE-3F47-4A22-9D1FAF81D461}"/>
              </a:ext>
            </a:extLst>
          </p:cNvPr>
          <p:cNvCxnSpPr>
            <a:cxnSpLocks/>
            <a:stCxn id="53" idx="3"/>
            <a:endCxn id="6192" idx="2"/>
          </p:cNvCxnSpPr>
          <p:nvPr/>
        </p:nvCxnSpPr>
        <p:spPr>
          <a:xfrm flipV="1">
            <a:off x="9227015" y="6129596"/>
            <a:ext cx="492741" cy="8921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9" name="직선 연결선 6288">
            <a:extLst>
              <a:ext uri="{FF2B5EF4-FFF2-40B4-BE49-F238E27FC236}">
                <a16:creationId xmlns:a16="http://schemas.microsoft.com/office/drawing/2014/main" id="{5E4B166E-D93A-AE9B-B3B5-F4CBDA35B937}"/>
              </a:ext>
            </a:extLst>
          </p:cNvPr>
          <p:cNvCxnSpPr>
            <a:cxnSpLocks/>
            <a:stCxn id="6192" idx="6"/>
            <a:endCxn id="6194" idx="1"/>
          </p:cNvCxnSpPr>
          <p:nvPr/>
        </p:nvCxnSpPr>
        <p:spPr>
          <a:xfrm>
            <a:off x="9819819" y="6129596"/>
            <a:ext cx="1890483" cy="38425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3" name="직선 연결선 6292">
            <a:extLst>
              <a:ext uri="{FF2B5EF4-FFF2-40B4-BE49-F238E27FC236}">
                <a16:creationId xmlns:a16="http://schemas.microsoft.com/office/drawing/2014/main" id="{95162A46-820E-7E17-2AFC-E9AB4C361321}"/>
              </a:ext>
            </a:extLst>
          </p:cNvPr>
          <p:cNvCxnSpPr>
            <a:cxnSpLocks/>
            <a:stCxn id="26" idx="3"/>
            <a:endCxn id="6194" idx="1"/>
          </p:cNvCxnSpPr>
          <p:nvPr/>
        </p:nvCxnSpPr>
        <p:spPr>
          <a:xfrm>
            <a:off x="11601980" y="6054423"/>
            <a:ext cx="108322" cy="45943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6" name="직선 연결선 6295">
            <a:extLst>
              <a:ext uri="{FF2B5EF4-FFF2-40B4-BE49-F238E27FC236}">
                <a16:creationId xmlns:a16="http://schemas.microsoft.com/office/drawing/2014/main" id="{03112DFE-88D8-029F-7A83-5A99018B04AF}"/>
              </a:ext>
            </a:extLst>
          </p:cNvPr>
          <p:cNvCxnSpPr>
            <a:cxnSpLocks/>
            <a:stCxn id="6189" idx="4"/>
            <a:endCxn id="62" idx="0"/>
          </p:cNvCxnSpPr>
          <p:nvPr/>
        </p:nvCxnSpPr>
        <p:spPr>
          <a:xfrm flipH="1">
            <a:off x="10944282" y="5152353"/>
            <a:ext cx="543803" cy="6468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0" name="직선 연결선 6299">
            <a:extLst>
              <a:ext uri="{FF2B5EF4-FFF2-40B4-BE49-F238E27FC236}">
                <a16:creationId xmlns:a16="http://schemas.microsoft.com/office/drawing/2014/main" id="{D366A112-9976-023A-01BD-5FAEBBB9A028}"/>
              </a:ext>
            </a:extLst>
          </p:cNvPr>
          <p:cNvCxnSpPr>
            <a:cxnSpLocks/>
            <a:stCxn id="6178" idx="2"/>
            <a:endCxn id="62" idx="0"/>
          </p:cNvCxnSpPr>
          <p:nvPr/>
        </p:nvCxnSpPr>
        <p:spPr>
          <a:xfrm flipH="1">
            <a:off x="10944282" y="4420231"/>
            <a:ext cx="146579" cy="137901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4" name="직선 연결선 6303">
            <a:extLst>
              <a:ext uri="{FF2B5EF4-FFF2-40B4-BE49-F238E27FC236}">
                <a16:creationId xmlns:a16="http://schemas.microsoft.com/office/drawing/2014/main" id="{A0F3F725-D930-025A-28E4-314A6EBDE039}"/>
              </a:ext>
            </a:extLst>
          </p:cNvPr>
          <p:cNvCxnSpPr>
            <a:cxnSpLocks/>
            <a:stCxn id="6178" idx="2"/>
            <a:endCxn id="6189" idx="0"/>
          </p:cNvCxnSpPr>
          <p:nvPr/>
        </p:nvCxnSpPr>
        <p:spPr>
          <a:xfrm>
            <a:off x="11090861" y="4420231"/>
            <a:ext cx="397224" cy="48700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7" name="직선 연결선 6306">
            <a:extLst>
              <a:ext uri="{FF2B5EF4-FFF2-40B4-BE49-F238E27FC236}">
                <a16:creationId xmlns:a16="http://schemas.microsoft.com/office/drawing/2014/main" id="{74F3FA61-879F-9CA4-1FBE-0BC271B30ED5}"/>
              </a:ext>
            </a:extLst>
          </p:cNvPr>
          <p:cNvCxnSpPr>
            <a:cxnSpLocks/>
            <a:stCxn id="6178" idx="1"/>
            <a:endCxn id="6145" idx="0"/>
          </p:cNvCxnSpPr>
          <p:nvPr/>
        </p:nvCxnSpPr>
        <p:spPr>
          <a:xfrm flipH="1">
            <a:off x="9883334" y="4198832"/>
            <a:ext cx="502677" cy="118480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0" name="직선 연결선 6309">
            <a:extLst>
              <a:ext uri="{FF2B5EF4-FFF2-40B4-BE49-F238E27FC236}">
                <a16:creationId xmlns:a16="http://schemas.microsoft.com/office/drawing/2014/main" id="{074B6A3E-3237-F749-A491-6D49C0F95E02}"/>
              </a:ext>
            </a:extLst>
          </p:cNvPr>
          <p:cNvCxnSpPr>
            <a:cxnSpLocks/>
            <a:stCxn id="59" idx="3"/>
            <a:endCxn id="6178" idx="0"/>
          </p:cNvCxnSpPr>
          <p:nvPr/>
        </p:nvCxnSpPr>
        <p:spPr>
          <a:xfrm>
            <a:off x="9550191" y="3567579"/>
            <a:ext cx="1540670" cy="40985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87" name="타원 6186">
            <a:extLst>
              <a:ext uri="{FF2B5EF4-FFF2-40B4-BE49-F238E27FC236}">
                <a16:creationId xmlns:a16="http://schemas.microsoft.com/office/drawing/2014/main" id="{208D5440-429D-68CA-6E01-FEFDCAACC2C3}"/>
              </a:ext>
            </a:extLst>
          </p:cNvPr>
          <p:cNvSpPr/>
          <p:nvPr/>
        </p:nvSpPr>
        <p:spPr>
          <a:xfrm>
            <a:off x="6767825" y="4890814"/>
            <a:ext cx="245120" cy="245120"/>
          </a:xfrm>
          <a:prstGeom prst="ellipse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19" name="직선 연결선 6318">
            <a:extLst>
              <a:ext uri="{FF2B5EF4-FFF2-40B4-BE49-F238E27FC236}">
                <a16:creationId xmlns:a16="http://schemas.microsoft.com/office/drawing/2014/main" id="{6ABD4CC2-93EC-16C8-084D-F8F0DC6057F3}"/>
              </a:ext>
            </a:extLst>
          </p:cNvPr>
          <p:cNvCxnSpPr>
            <a:cxnSpLocks/>
            <a:stCxn id="59" idx="0"/>
            <a:endCxn id="45" idx="3"/>
          </p:cNvCxnSpPr>
          <p:nvPr/>
        </p:nvCxnSpPr>
        <p:spPr>
          <a:xfrm flipH="1">
            <a:off x="8218072" y="3328215"/>
            <a:ext cx="627269" cy="8678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64" name="그룹 6163">
            <a:extLst>
              <a:ext uri="{FF2B5EF4-FFF2-40B4-BE49-F238E27FC236}">
                <a16:creationId xmlns:a16="http://schemas.microsoft.com/office/drawing/2014/main" id="{A61F33C9-6916-4FB0-28D5-E8FCE1A21FFA}"/>
              </a:ext>
            </a:extLst>
          </p:cNvPr>
          <p:cNvGrpSpPr/>
          <p:nvPr/>
        </p:nvGrpSpPr>
        <p:grpSpPr>
          <a:xfrm>
            <a:off x="8140491" y="3328215"/>
            <a:ext cx="1409700" cy="478728"/>
            <a:chOff x="8734117" y="3387066"/>
            <a:chExt cx="1409700" cy="478728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DB1616B-E6BA-3691-E20E-C7600F089EC9}"/>
                </a:ext>
              </a:extLst>
            </p:cNvPr>
            <p:cNvSpPr/>
            <p:nvPr/>
          </p:nvSpPr>
          <p:spPr>
            <a:xfrm>
              <a:off x="8734117" y="3387066"/>
              <a:ext cx="1409700" cy="47872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157" name="그림 6156" descr="폰트, 그래픽, 그래픽 디자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D2DFCA-34BB-E72A-0BB6-B2403C373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1588" y="3496890"/>
              <a:ext cx="1254759" cy="259080"/>
            </a:xfrm>
            <a:prstGeom prst="rect">
              <a:avLst/>
            </a:prstGeom>
          </p:spPr>
        </p:pic>
      </p:grpSp>
      <p:sp>
        <p:nvSpPr>
          <p:cNvPr id="6191" name="타원 6190">
            <a:extLst>
              <a:ext uri="{FF2B5EF4-FFF2-40B4-BE49-F238E27FC236}">
                <a16:creationId xmlns:a16="http://schemas.microsoft.com/office/drawing/2014/main" id="{CFB897DB-2DBB-9CED-F6DE-B606C051ED60}"/>
              </a:ext>
            </a:extLst>
          </p:cNvPr>
          <p:cNvSpPr/>
          <p:nvPr/>
        </p:nvSpPr>
        <p:spPr>
          <a:xfrm>
            <a:off x="9953029" y="3228152"/>
            <a:ext cx="100063" cy="10006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24" name="직사각형 6323">
            <a:extLst>
              <a:ext uri="{FF2B5EF4-FFF2-40B4-BE49-F238E27FC236}">
                <a16:creationId xmlns:a16="http://schemas.microsoft.com/office/drawing/2014/main" id="{956212E1-205D-3514-E94F-8F9AE672AF91}"/>
              </a:ext>
            </a:extLst>
          </p:cNvPr>
          <p:cNvSpPr/>
          <p:nvPr/>
        </p:nvSpPr>
        <p:spPr>
          <a:xfrm>
            <a:off x="-30688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rgbClr val="000000"/>
              </a:gs>
              <a:gs pos="40000">
                <a:schemeClr val="tx1">
                  <a:alpha val="18000"/>
                </a:schemeClr>
              </a:gs>
              <a:gs pos="6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pic>
        <p:nvPicPr>
          <p:cNvPr id="6323" name="그림 6322" descr="그래픽, 원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E6DDB-F94A-7D00-62C3-D784B68BBC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296" y="2958116"/>
            <a:ext cx="3099231" cy="3099231"/>
          </a:xfrm>
          <a:prstGeom prst="rect">
            <a:avLst/>
          </a:prstGeom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18F89B3C-6271-D773-EB80-D16CFBD9ABBE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F8D7FB1-F38E-949A-5601-3BD9039F07D4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91684E2-D2DA-71CB-5B8F-2D1D4DDBC5E4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배경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FE9720D-4B27-EA52-ECF7-021668C88FD9}"/>
              </a:ext>
            </a:extLst>
          </p:cNvPr>
          <p:cNvGrpSpPr/>
          <p:nvPr/>
        </p:nvGrpSpPr>
        <p:grpSpPr>
          <a:xfrm>
            <a:off x="6419850" y="1285992"/>
            <a:ext cx="5059659" cy="1782242"/>
            <a:chOff x="6419850" y="1285992"/>
            <a:chExt cx="5059659" cy="1782242"/>
          </a:xfrm>
        </p:grpSpPr>
        <p:sp>
          <p:nvSpPr>
            <p:cNvPr id="42" name="평행 사변형 41">
              <a:extLst>
                <a:ext uri="{FF2B5EF4-FFF2-40B4-BE49-F238E27FC236}">
                  <a16:creationId xmlns:a16="http://schemas.microsoft.com/office/drawing/2014/main" id="{1E98D1A0-84AD-AF81-2B55-D2338FF4CE4C}"/>
                </a:ext>
              </a:extLst>
            </p:cNvPr>
            <p:cNvSpPr/>
            <p:nvPr/>
          </p:nvSpPr>
          <p:spPr>
            <a:xfrm>
              <a:off x="6419850" y="2616207"/>
              <a:ext cx="5059659" cy="314552"/>
            </a:xfrm>
            <a:prstGeom prst="parallelogram">
              <a:avLst>
                <a:gd name="adj" fmla="val 40839"/>
              </a:avLst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A286BE3-1ED0-4A05-A3EE-8AB4FDE5A2C5}"/>
                </a:ext>
              </a:extLst>
            </p:cNvPr>
            <p:cNvSpPr/>
            <p:nvPr/>
          </p:nvSpPr>
          <p:spPr>
            <a:xfrm>
              <a:off x="6444616" y="1285992"/>
              <a:ext cx="4857134" cy="1782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000" dirty="0">
                  <a:ln>
                    <a:solidFill>
                      <a:schemeClr val="bg1"/>
                    </a:solidFill>
                  </a:ln>
                  <a:solidFill>
                    <a:srgbClr val="6A4C93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복잡</a:t>
              </a:r>
              <a:r>
                <a:rPr lang="ko-KR" altLang="en-US" sz="40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하고 </a:t>
              </a:r>
              <a:r>
                <a:rPr lang="ko-KR" altLang="en-US" sz="4000" dirty="0">
                  <a:ln>
                    <a:solidFill>
                      <a:schemeClr val="bg1"/>
                    </a:solidFill>
                  </a:ln>
                  <a:solidFill>
                    <a:srgbClr val="6A4C93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어려운</a:t>
              </a:r>
              <a:r>
                <a:rPr lang="ko-KR" altLang="en-US" sz="40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 </a:t>
              </a:r>
              <a:endParaRPr lang="en-US" altLang="ko-KR" sz="4000" dirty="0">
                <a:solidFill>
                  <a:schemeClr val="bg1"/>
                </a:solidFill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  <a:p>
              <a:r>
                <a:rPr lang="ko-KR" altLang="en-US" sz="48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 보험 약관</a:t>
              </a:r>
              <a:r>
                <a:rPr lang="en-US" altLang="ko-KR" sz="4800" dirty="0">
                  <a:solidFill>
                    <a:schemeClr val="bg1"/>
                  </a:solidFill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!</a:t>
              </a:r>
              <a:endParaRPr lang="ko-KR" altLang="en-US" sz="4800" dirty="0">
                <a:solidFill>
                  <a:schemeClr val="bg1"/>
                </a:solidFill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147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15F5-15BB-EB4A-1912-DB168BA9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313B8EB-0175-B45A-A60B-B44E67BED01F}"/>
              </a:ext>
            </a:extLst>
          </p:cNvPr>
          <p:cNvSpPr/>
          <p:nvPr/>
        </p:nvSpPr>
        <p:spPr>
          <a:xfrm>
            <a:off x="0" y="-7016"/>
            <a:ext cx="12192000" cy="6865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평행 사변형 27">
            <a:extLst>
              <a:ext uri="{FF2B5EF4-FFF2-40B4-BE49-F238E27FC236}">
                <a16:creationId xmlns:a16="http://schemas.microsoft.com/office/drawing/2014/main" id="{A1878252-9A40-AA1C-8A18-806EDF574534}"/>
              </a:ext>
            </a:extLst>
          </p:cNvPr>
          <p:cNvSpPr/>
          <p:nvPr/>
        </p:nvSpPr>
        <p:spPr>
          <a:xfrm>
            <a:off x="5302997" y="-3509"/>
            <a:ext cx="1586006" cy="6865018"/>
          </a:xfrm>
          <a:prstGeom prst="parallelogram">
            <a:avLst>
              <a:gd name="adj" fmla="val 69170"/>
            </a:avLst>
          </a:prstGeom>
          <a:solidFill>
            <a:srgbClr val="262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2FBC48-4847-4B64-3E2B-8B7331AEEB63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2209A84-ACA2-0BB6-51AF-75BCAA1CEE9D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CB21D3E-04BA-B0C9-1CAB-75D9D8923897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목적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9F1EA7F-4DCA-A608-5A93-B58FA1337144}"/>
              </a:ext>
            </a:extLst>
          </p:cNvPr>
          <p:cNvSpPr txBox="1"/>
          <p:nvPr/>
        </p:nvSpPr>
        <p:spPr>
          <a:xfrm>
            <a:off x="13765603" y="1974559"/>
            <a:ext cx="62975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페르소나 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A –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김하늘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(29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세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,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첫 차 구입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):</a:t>
            </a:r>
            <a:endParaRPr lang="ko-KR" altLang="en-US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"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보험을 검색하면 광고밖에 안 나와요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추천받고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싶은데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누구한테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물어봐야 할지도 모르겠어요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.“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크으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..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첫차에 대한 설렘보다 보험 가입의 벽에 부딪히는 사회 초년생의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리얼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고통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! 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정보 과잉 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+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광고 편향 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+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비교의 어려움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 완전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이거지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!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딱 봐도 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광고만 오지게 뜨는데 뭐가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뭔지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모르겠어요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!'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하는 그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빡침이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느껴진다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페르소나 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B –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박정민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(38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세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,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바쁜 직장인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):</a:t>
            </a:r>
            <a:endParaRPr lang="ko-KR" altLang="en-US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"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보험 만기일 다가올 때마다 매번 새로 비교하기 너무 귀찮아요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그냥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챗봇이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알아서 알려주면 안 되나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?“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"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바쁜 현대인은 “스마트한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보장”을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원하지만 “스마트한 가입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경험”은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없음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"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이거 완전 명문 아니냐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?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보험 만기 때마다 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아 또 이거 언제 다 비교해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...' 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하는 직장인들의 피곤함이 눈에 선함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이거야말로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AI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가 나서서 해결해야 할 영역이라고 생각할 걸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?</a:t>
            </a:r>
          </a:p>
        </p:txBody>
      </p:sp>
      <p:pic>
        <p:nvPicPr>
          <p:cNvPr id="10" name="그림 9" descr="클립아트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75D682-4B43-1C65-817A-9254EAE30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331109"/>
            <a:ext cx="2526889" cy="2526889"/>
          </a:xfrm>
          <a:prstGeom prst="rect">
            <a:avLst/>
          </a:prstGeom>
        </p:spPr>
      </p:pic>
      <p:pic>
        <p:nvPicPr>
          <p:cNvPr id="12" name="그림 11" descr="만화 영화, 클립아트, 애니메이션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3E549-99BF-BB1B-DB9E-A61149961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337" y="4331404"/>
            <a:ext cx="2542489" cy="2542489"/>
          </a:xfrm>
          <a:prstGeom prst="rect">
            <a:avLst/>
          </a:prstGeom>
        </p:spPr>
      </p:pic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46F16E74-B811-8DD5-B1D0-49333AC75A11}"/>
              </a:ext>
            </a:extLst>
          </p:cNvPr>
          <p:cNvSpPr/>
          <p:nvPr/>
        </p:nvSpPr>
        <p:spPr>
          <a:xfrm>
            <a:off x="5385592" y="-7556114"/>
            <a:ext cx="6806408" cy="6865015"/>
          </a:xfrm>
          <a:custGeom>
            <a:avLst/>
            <a:gdLst>
              <a:gd name="connsiteX0" fmla="*/ 1203231 w 6806408"/>
              <a:gd name="connsiteY0" fmla="*/ 0 h 6865015"/>
              <a:gd name="connsiteX1" fmla="*/ 6806408 w 6806408"/>
              <a:gd name="connsiteY1" fmla="*/ 0 h 6865015"/>
              <a:gd name="connsiteX2" fmla="*/ 6806408 w 6806408"/>
              <a:gd name="connsiteY2" fmla="*/ 6865015 h 6865015"/>
              <a:gd name="connsiteX3" fmla="*/ 0 w 6806408"/>
              <a:gd name="connsiteY3" fmla="*/ 6865015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06408" h="6865015">
                <a:moveTo>
                  <a:pt x="1203231" y="0"/>
                </a:moveTo>
                <a:lnTo>
                  <a:pt x="6806408" y="0"/>
                </a:lnTo>
                <a:lnTo>
                  <a:pt x="6806408" y="6865015"/>
                </a:lnTo>
                <a:lnTo>
                  <a:pt x="0" y="6865015"/>
                </a:lnTo>
                <a:close/>
              </a:path>
            </a:pathLst>
          </a:custGeom>
          <a:solidFill>
            <a:srgbClr val="262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D617E0AD-E921-FA8F-B34A-CFF19C3224E3}"/>
              </a:ext>
            </a:extLst>
          </p:cNvPr>
          <p:cNvSpPr/>
          <p:nvPr/>
        </p:nvSpPr>
        <p:spPr>
          <a:xfrm>
            <a:off x="0" y="-7556113"/>
            <a:ext cx="6588823" cy="6865015"/>
          </a:xfrm>
          <a:custGeom>
            <a:avLst/>
            <a:gdLst>
              <a:gd name="connsiteX0" fmla="*/ 0 w 6588823"/>
              <a:gd name="connsiteY0" fmla="*/ 0 h 6865015"/>
              <a:gd name="connsiteX1" fmla="*/ 6588823 w 6588823"/>
              <a:gd name="connsiteY1" fmla="*/ 0 h 6865015"/>
              <a:gd name="connsiteX2" fmla="*/ 5385592 w 6588823"/>
              <a:gd name="connsiteY2" fmla="*/ 6865015 h 6865015"/>
              <a:gd name="connsiteX3" fmla="*/ 0 w 6588823"/>
              <a:gd name="connsiteY3" fmla="*/ 6865015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88823" h="6865015">
                <a:moveTo>
                  <a:pt x="0" y="0"/>
                </a:moveTo>
                <a:lnTo>
                  <a:pt x="6588823" y="0"/>
                </a:lnTo>
                <a:lnTo>
                  <a:pt x="5385592" y="6865015"/>
                </a:lnTo>
                <a:lnTo>
                  <a:pt x="0" y="68650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7AAC31B-9E62-1627-1422-A11ACEEFC190}"/>
              </a:ext>
            </a:extLst>
          </p:cNvPr>
          <p:cNvSpPr/>
          <p:nvPr/>
        </p:nvSpPr>
        <p:spPr>
          <a:xfrm>
            <a:off x="4655819" y="1348306"/>
            <a:ext cx="1933003" cy="407924"/>
          </a:xfrm>
          <a:prstGeom prst="roundRect">
            <a:avLst>
              <a:gd name="adj" fmla="val 47800"/>
            </a:avLst>
          </a:prstGeom>
          <a:solidFill>
            <a:srgbClr val="262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  생애 첫 차 구매자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C6C416D-BDB9-82EA-BCB6-DF9BE1838E09}"/>
              </a:ext>
            </a:extLst>
          </p:cNvPr>
          <p:cNvSpPr/>
          <p:nvPr/>
        </p:nvSpPr>
        <p:spPr>
          <a:xfrm>
            <a:off x="6096000" y="1770597"/>
            <a:ext cx="1557143" cy="407924"/>
          </a:xfrm>
          <a:prstGeom prst="roundRect">
            <a:avLst>
              <a:gd name="adj" fmla="val 47800"/>
            </a:avLst>
          </a:prstGeom>
          <a:solidFill>
            <a:srgbClr val="262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6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바쁜 직장인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97E2C-0CF7-FB5F-7996-7D1F090D1411}"/>
              </a:ext>
            </a:extLst>
          </p:cNvPr>
          <p:cNvSpPr txBox="1"/>
          <p:nvPr/>
        </p:nvSpPr>
        <p:spPr>
          <a:xfrm>
            <a:off x="596791" y="2284185"/>
            <a:ext cx="51027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"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보험을 검색하면 광고밖에 안 나와요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추천받고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싶은데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누구한테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물어봐야 할지도 모르겠어요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.“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ko-KR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첫차에 대한 설렘보다 보험 가입의 벽에 부딪히는 사회 초년생의 </a:t>
            </a:r>
            <a:r>
              <a:rPr lang="ko-KR" altLang="en-US" b="0" i="0" dirty="0" err="1">
                <a:effectLst/>
                <a:latin typeface="프리젠테이션 8 ExtraBold" pitchFamily="2" charset="-127"/>
                <a:ea typeface="프리젠테이션 8 ExtraBold" pitchFamily="2" charset="-127"/>
              </a:rPr>
              <a:t>리얼</a:t>
            </a:r>
            <a:r>
              <a:rPr lang="ko-KR" altLang="en-US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 고통</a:t>
            </a:r>
            <a:r>
              <a:rPr lang="en-US" altLang="ko-KR" b="0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! </a:t>
            </a:r>
            <a:endParaRPr lang="en-US" altLang="ko-KR" dirty="0"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ko-KR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정보 과잉 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+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광고 편향 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+ </a:t>
            </a:r>
            <a:r>
              <a:rPr lang="ko-KR" altLang="en-US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비교의 어려움</a:t>
            </a:r>
            <a:r>
              <a:rPr lang="en-US" altLang="ko-KR" b="1" i="0" dirty="0">
                <a:effectLst/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endParaRPr lang="en-US" altLang="ko-KR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213C1F-72AA-A219-7163-6DC77DD22C23}"/>
              </a:ext>
            </a:extLst>
          </p:cNvPr>
          <p:cNvSpPr txBox="1"/>
          <p:nvPr/>
        </p:nvSpPr>
        <p:spPr>
          <a:xfrm>
            <a:off x="6989147" y="1348306"/>
            <a:ext cx="51027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"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보험 만기일 다가올 때마다 매번 새로 비교하기 너무 귀찮아요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. 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그냥 </a:t>
            </a:r>
            <a:r>
              <a:rPr lang="ko-KR" altLang="en-US" dirty="0" err="1">
                <a:latin typeface="프리젠테이션 8 ExtraBold" pitchFamily="2" charset="-127"/>
                <a:ea typeface="프리젠테이션 8 ExtraBold" pitchFamily="2" charset="-127"/>
              </a:rPr>
              <a:t>챗봇이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 알아서 알려주면 안 되나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?“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"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바쁜 현대인은 “스마트한 </a:t>
            </a:r>
            <a:r>
              <a:rPr lang="ko-KR" altLang="en-US" dirty="0" err="1">
                <a:latin typeface="프리젠테이션 8 ExtraBold" pitchFamily="2" charset="-127"/>
                <a:ea typeface="프리젠테이션 8 ExtraBold" pitchFamily="2" charset="-127"/>
              </a:rPr>
              <a:t>보장”을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 원하지만 “스마트한 가입 </a:t>
            </a:r>
            <a:r>
              <a:rPr lang="ko-KR" altLang="en-US" dirty="0" err="1">
                <a:latin typeface="프리젠테이션 8 ExtraBold" pitchFamily="2" charset="-127"/>
                <a:ea typeface="프리젠테이션 8 ExtraBold" pitchFamily="2" charset="-127"/>
              </a:rPr>
              <a:t>경험”은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 없음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보험 만기 때마다 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'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아 또 이거 언제 다 비교해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...' 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하는 직장인들의 피곤함이 눈에 선함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. </a:t>
            </a:r>
            <a:r>
              <a:rPr lang="ko-KR" altLang="en-US" dirty="0" err="1">
                <a:latin typeface="프리젠테이션 8 ExtraBold" pitchFamily="2" charset="-127"/>
                <a:ea typeface="프리젠테이션 8 ExtraBold" pitchFamily="2" charset="-127"/>
              </a:rPr>
              <a:t>이거야말로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AI</a:t>
            </a: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가 나서서 해결해야 할 영역</a:t>
            </a:r>
            <a:endParaRPr lang="en-US" altLang="ko-KR" b="0" i="0" dirty="0">
              <a:effectLst/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F3ADBDBA-04C4-7DBA-ED9F-8F26836C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536" y="-5726293"/>
            <a:ext cx="7000875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064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707CC-86E1-1CBE-8451-E1E03E99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33924B3-AECF-6BA1-7B2A-EDE451A7BED7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4D5AA1E-FDD3-CF8B-9A0E-72E3093429B6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4F34406-D647-164D-FC8F-5ABBF0F3F2F5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14C348-4ACA-1B9D-D84C-B7B41330F469}"/>
              </a:ext>
            </a:extLst>
          </p:cNvPr>
          <p:cNvSpPr/>
          <p:nvPr/>
        </p:nvSpPr>
        <p:spPr>
          <a:xfrm>
            <a:off x="367666" y="1790700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고민필요</a:t>
            </a:r>
            <a:r>
              <a:rPr lang="en-US" altLang="ko-KR" dirty="0"/>
              <a:t>)</a:t>
            </a:r>
          </a:p>
          <a:p>
            <a:pPr algn="ctr"/>
            <a:r>
              <a:rPr lang="ko-KR" altLang="en-US" dirty="0"/>
              <a:t>우리의 </a:t>
            </a:r>
            <a:r>
              <a:rPr lang="ko-KR" altLang="en-US" dirty="0" err="1"/>
              <a:t>방향석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목표</a:t>
            </a:r>
            <a:r>
              <a:rPr lang="en-US" altLang="ko-KR" dirty="0"/>
              <a:t>/ </a:t>
            </a:r>
            <a:r>
              <a:rPr lang="ko-KR" altLang="en-US" dirty="0"/>
              <a:t>기획 의도 </a:t>
            </a:r>
            <a:r>
              <a:rPr lang="en-US" altLang="ko-KR" dirty="0"/>
              <a:t>= </a:t>
            </a:r>
            <a:r>
              <a:rPr lang="ko-KR" altLang="en-US" dirty="0"/>
              <a:t>구체적 가치 </a:t>
            </a:r>
            <a:r>
              <a:rPr lang="en-US" altLang="ko-KR" dirty="0"/>
              <a:t>/ </a:t>
            </a:r>
            <a:r>
              <a:rPr lang="ko-KR" altLang="en-US" dirty="0"/>
              <a:t>비전 제시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길고 긴 보험 약관 </a:t>
            </a:r>
            <a:r>
              <a:rPr lang="en-US" altLang="ko-KR" dirty="0"/>
              <a:t>-&gt; </a:t>
            </a:r>
            <a:r>
              <a:rPr lang="ko-KR" altLang="en-US" dirty="0"/>
              <a:t>필요한 정보만 제공 </a:t>
            </a:r>
            <a:endParaRPr lang="en-US" altLang="ko-KR" dirty="0"/>
          </a:p>
          <a:p>
            <a:pPr algn="ctr"/>
            <a:r>
              <a:rPr lang="ko-KR" altLang="en-US" dirty="0"/>
              <a:t>여기저기 </a:t>
            </a:r>
            <a:r>
              <a:rPr lang="ko-KR" altLang="en-US" dirty="0" err="1"/>
              <a:t>왔다갔다</a:t>
            </a:r>
            <a:r>
              <a:rPr lang="ko-KR" altLang="en-US" dirty="0"/>
              <a:t> 비교 </a:t>
            </a:r>
            <a:r>
              <a:rPr lang="en-US" altLang="ko-KR" dirty="0"/>
              <a:t>-&gt; </a:t>
            </a:r>
            <a:r>
              <a:rPr lang="ko-KR" altLang="en-US" dirty="0"/>
              <a:t>한번에 비교할 수 있게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0197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5AC4-EAA2-8E7D-1C8E-05963E47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0705744-8A09-DDDA-0FC0-9E8AAE02885D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B99063-81D0-90C1-2667-36FF8E8002D2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43BE7AA-E16D-C460-D34E-E1E45289C3D6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5EBED9-2DBE-1122-0BF8-4A105CFFF04B}"/>
              </a:ext>
            </a:extLst>
          </p:cNvPr>
          <p:cNvSpPr/>
          <p:nvPr/>
        </p:nvSpPr>
        <p:spPr>
          <a:xfrm>
            <a:off x="367666" y="1790700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시장 동향 분석 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자동차 보험 가입자 수치</a:t>
            </a:r>
            <a:endParaRPr lang="en-US" altLang="ko-KR" dirty="0"/>
          </a:p>
          <a:p>
            <a:pPr algn="ctr"/>
            <a:r>
              <a:rPr lang="en-US" altLang="ko-KR" dirty="0"/>
              <a:t>2. </a:t>
            </a:r>
            <a:r>
              <a:rPr lang="ko-KR" altLang="en-US" dirty="0"/>
              <a:t>보험회사들의 </a:t>
            </a:r>
            <a:r>
              <a:rPr lang="en-US" altLang="ko-KR" dirty="0"/>
              <a:t>AI </a:t>
            </a:r>
            <a:r>
              <a:rPr lang="ko-KR" altLang="en-US" dirty="0"/>
              <a:t>도입 현황</a:t>
            </a:r>
          </a:p>
        </p:txBody>
      </p:sp>
    </p:spTree>
    <p:extLst>
      <p:ext uri="{BB962C8B-B14F-4D97-AF65-F5344CB8AC3E}">
        <p14:creationId xmlns:p14="http://schemas.microsoft.com/office/powerpoint/2010/main" val="177596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A446-5EF2-4EA8-5E3F-45C6DCF0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86FB3B1-B2F1-00BB-E203-ABA9872D69B1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008A788-E6F5-3C46-CF46-2F5F769F7385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F9CF33C-A5CC-0938-B56A-597105BC9CB3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63C65E-CE8C-6486-D59C-46C46D5B08F1}"/>
              </a:ext>
            </a:extLst>
          </p:cNvPr>
          <p:cNvSpPr/>
          <p:nvPr/>
        </p:nvSpPr>
        <p:spPr>
          <a:xfrm>
            <a:off x="367666" y="1790700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우리의 차별화 포인트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약관 비교 안내  </a:t>
            </a:r>
            <a:r>
              <a:rPr lang="en-US" altLang="ko-KR" dirty="0"/>
              <a:t>(</a:t>
            </a:r>
            <a:r>
              <a:rPr lang="ko-KR" altLang="en-US" dirty="0"/>
              <a:t>요약 또는 비교</a:t>
            </a:r>
            <a:r>
              <a:rPr lang="en-US" altLang="ko-KR" dirty="0"/>
              <a:t>) 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개인 맞춤형 보험 소개</a:t>
            </a:r>
            <a:r>
              <a:rPr lang="en-US" altLang="ko-KR" dirty="0"/>
              <a:t>(</a:t>
            </a:r>
            <a:r>
              <a:rPr lang="ko-KR" altLang="en-US" dirty="0"/>
              <a:t>개인화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사용자 경험 개선</a:t>
            </a:r>
            <a:r>
              <a:rPr lang="en-US" altLang="ko-KR" dirty="0"/>
              <a:t>(24</a:t>
            </a:r>
            <a:r>
              <a:rPr lang="ko-KR" altLang="en-US" dirty="0"/>
              <a:t>시간 정보 제공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130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40FE-5033-19F3-80E9-F72ECD72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0D47F66-4492-5127-EDE0-88CD54F700C2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BB43F66-EF68-ECE9-68F1-6FCC6F236934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0F5DD8C-16A7-DBE8-544D-025E49BCA89A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6750F6-3BAF-7738-EDB9-1501C07E8ACE}"/>
              </a:ext>
            </a:extLst>
          </p:cNvPr>
          <p:cNvSpPr/>
          <p:nvPr/>
        </p:nvSpPr>
        <p:spPr>
          <a:xfrm>
            <a:off x="367666" y="1790700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업무 분장</a:t>
            </a:r>
          </a:p>
        </p:txBody>
      </p:sp>
    </p:spTree>
    <p:extLst>
      <p:ext uri="{BB962C8B-B14F-4D97-AF65-F5344CB8AC3E}">
        <p14:creationId xmlns:p14="http://schemas.microsoft.com/office/powerpoint/2010/main" val="1501082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5496-E1F0-43DD-66C8-74B9FFB0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AD3B9DF-6A19-EF26-7E03-4F2CC08389F9}"/>
              </a:ext>
            </a:extLst>
          </p:cNvPr>
          <p:cNvGrpSpPr/>
          <p:nvPr/>
        </p:nvGrpSpPr>
        <p:grpSpPr>
          <a:xfrm>
            <a:off x="304801" y="372307"/>
            <a:ext cx="2310396" cy="591154"/>
            <a:chOff x="304801" y="339716"/>
            <a:chExt cx="2310396" cy="5911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648CBFC-8862-D41A-573A-4BE73B4E20B7}"/>
                </a:ext>
              </a:extLst>
            </p:cNvPr>
            <p:cNvSpPr/>
            <p:nvPr/>
          </p:nvSpPr>
          <p:spPr>
            <a:xfrm>
              <a:off x="367666" y="399729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262122"/>
                </a:gs>
                <a:gs pos="100000">
                  <a:srgbClr val="26212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582FFA-6E45-0438-62BB-B78FDFF3CBF9}"/>
                </a:ext>
              </a:extLst>
            </p:cNvPr>
            <p:cNvSpPr/>
            <p:nvPr/>
          </p:nvSpPr>
          <p:spPr>
            <a:xfrm>
              <a:off x="304801" y="339716"/>
              <a:ext cx="2247531" cy="531141"/>
            </a:xfrm>
            <a:prstGeom prst="rect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1D4389-7EBB-21DC-8945-B10D9DBD45BF}"/>
              </a:ext>
            </a:extLst>
          </p:cNvPr>
          <p:cNvSpPr/>
          <p:nvPr/>
        </p:nvSpPr>
        <p:spPr>
          <a:xfrm>
            <a:off x="367666" y="1790700"/>
            <a:ext cx="11386184" cy="377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개발 환경 </a:t>
            </a:r>
          </a:p>
        </p:txBody>
      </p:sp>
    </p:spTree>
    <p:extLst>
      <p:ext uri="{BB962C8B-B14F-4D97-AF65-F5344CB8AC3E}">
        <p14:creationId xmlns:p14="http://schemas.microsoft.com/office/powerpoint/2010/main" val="193439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1126</Words>
  <Application>Microsoft Office PowerPoint</Application>
  <PresentationFormat>와이드스크린</PresentationFormat>
  <Paragraphs>206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ONE 모바일고딕 Title</vt:lpstr>
      <vt:lpstr>맑은 고딕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29</cp:revision>
  <dcterms:created xsi:type="dcterms:W3CDTF">2025-07-31T07:13:26Z</dcterms:created>
  <dcterms:modified xsi:type="dcterms:W3CDTF">2025-08-04T03:12:14Z</dcterms:modified>
</cp:coreProperties>
</file>