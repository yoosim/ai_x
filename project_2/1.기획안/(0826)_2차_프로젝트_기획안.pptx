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sldIdLst>
    <p:sldId id="257" r:id="rId2"/>
    <p:sldId id="269" r:id="rId3"/>
    <p:sldId id="293" r:id="rId4"/>
    <p:sldId id="287" r:id="rId5"/>
    <p:sldId id="288" r:id="rId6"/>
    <p:sldId id="290" r:id="rId7"/>
    <p:sldId id="286" r:id="rId8"/>
    <p:sldId id="289" r:id="rId9"/>
    <p:sldId id="297" r:id="rId10"/>
    <p:sldId id="302" r:id="rId11"/>
    <p:sldId id="303" r:id="rId12"/>
    <p:sldId id="295" r:id="rId13"/>
    <p:sldId id="294" r:id="rId14"/>
    <p:sldId id="304" r:id="rId15"/>
    <p:sldId id="309" r:id="rId16"/>
    <p:sldId id="305" r:id="rId17"/>
    <p:sldId id="306" r:id="rId18"/>
    <p:sldId id="307" r:id="rId19"/>
    <p:sldId id="308" r:id="rId20"/>
    <p:sldId id="283" r:id="rId21"/>
    <p:sldId id="296" r:id="rId22"/>
    <p:sldId id="298" r:id="rId23"/>
    <p:sldId id="301" r:id="rId24"/>
    <p:sldId id="299" r:id="rId25"/>
    <p:sldId id="300" r:id="rId26"/>
    <p:sldId id="271" r:id="rId27"/>
    <p:sldId id="276" r:id="rId28"/>
    <p:sldId id="272" r:id="rId29"/>
    <p:sldId id="277" r:id="rId30"/>
    <p:sldId id="275" r:id="rId31"/>
    <p:sldId id="260" r:id="rId32"/>
    <p:sldId id="274" r:id="rId33"/>
    <p:sldId id="278" r:id="rId34"/>
    <p:sldId id="279" r:id="rId35"/>
    <p:sldId id="280" r:id="rId36"/>
    <p:sldId id="281" r:id="rId37"/>
  </p:sldIdLst>
  <p:sldSz cx="12192000" cy="6858000"/>
  <p:notesSz cx="6858000" cy="9144000"/>
  <p:embeddedFontLst>
    <p:embeddedFont>
      <p:font typeface="ONE 모바일고딕 Title" panose="00000500000000000000" pitchFamily="2" charset="-127"/>
      <p:regular r:id="rId39"/>
    </p:embeddedFont>
    <p:embeddedFont>
      <p:font typeface="프리젠테이션 3 Light" pitchFamily="2" charset="-127"/>
      <p:regular r:id="rId40"/>
    </p:embeddedFont>
    <p:embeddedFont>
      <p:font typeface="프리젠테이션 5 Medium" pitchFamily="2" charset="-127"/>
      <p:regular r:id="rId41"/>
    </p:embeddedFont>
    <p:embeddedFont>
      <p:font typeface="프리젠테이션 8 ExtraBold" pitchFamily="2" charset="-127"/>
      <p:bold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AF1F11-EBE9-474F-B2DE-819A01AF99A4}">
          <p14:sldIdLst>
            <p14:sldId id="257"/>
            <p14:sldId id="269"/>
            <p14:sldId id="293"/>
            <p14:sldId id="287"/>
            <p14:sldId id="288"/>
            <p14:sldId id="290"/>
            <p14:sldId id="286"/>
            <p14:sldId id="289"/>
            <p14:sldId id="297"/>
            <p14:sldId id="302"/>
            <p14:sldId id="303"/>
            <p14:sldId id="295"/>
            <p14:sldId id="294"/>
            <p14:sldId id="304"/>
            <p14:sldId id="309"/>
            <p14:sldId id="305"/>
            <p14:sldId id="306"/>
            <p14:sldId id="307"/>
            <p14:sldId id="308"/>
            <p14:sldId id="283"/>
            <p14:sldId id="296"/>
            <p14:sldId id="298"/>
            <p14:sldId id="301"/>
            <p14:sldId id="299"/>
            <p14:sldId id="300"/>
          </p14:sldIdLst>
        </p14:section>
        <p14:section name="1차 제출용 PPT" id="{EB7AC183-87A0-4319-A5F1-3DBF456147F4}">
          <p14:sldIdLst>
            <p14:sldId id="271"/>
            <p14:sldId id="276"/>
            <p14:sldId id="272"/>
            <p14:sldId id="277"/>
            <p14:sldId id="275"/>
            <p14:sldId id="260"/>
            <p14:sldId id="274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orient="horz" pos="20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20"/>
    <a:srgbClr val="6A4C93"/>
    <a:srgbClr val="2D3142"/>
    <a:srgbClr val="777777"/>
    <a:srgbClr val="EEEEEE"/>
    <a:srgbClr val="D3D3D3"/>
    <a:srgbClr val="9F9F9F"/>
    <a:srgbClr val="7A4A91"/>
    <a:srgbClr val="262122"/>
    <a:srgbClr val="D8B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8" autoAdjust="0"/>
    <p:restoredTop sz="84034" autoAdjust="0"/>
  </p:normalViewPr>
  <p:slideViewPr>
    <p:cSldViewPr snapToGrid="0" showGuides="1">
      <p:cViewPr>
        <p:scale>
          <a:sx n="50" d="100"/>
          <a:sy n="50" d="100"/>
        </p:scale>
        <p:origin x="1398" y="342"/>
      </p:cViewPr>
      <p:guideLst>
        <p:guide pos="3840"/>
        <p:guide pos="665"/>
        <p:guide pos="2706"/>
        <p:guide orient="horz" pos="209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r>
              <a:rPr lang="ko-KR" altLang="en-US">
                <a:solidFill>
                  <a:srgbClr val="2D3142"/>
                </a:solidFill>
              </a:rPr>
              <a:t> 자동차 보험은 잠재적인 위험과 책임으로부터 차량 소유자를 보호하는 중요한 재정적 안전장치입니다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</a:p>
          <a:p>
            <a:r>
              <a:rPr lang="ko-KR" altLang="en-US">
                <a:solidFill>
                  <a:srgbClr val="2D3142"/>
                </a:solidFill>
              </a:rPr>
              <a:t>이 보험은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예상치 못한 사건으로 인해 발생하는 피보험 차량의 손해와 제</a:t>
            </a:r>
            <a:r>
              <a:rPr lang="en-US" altLang="ko-KR">
                <a:solidFill>
                  <a:srgbClr val="2D3142"/>
                </a:solidFill>
              </a:rPr>
              <a:t>3</a:t>
            </a:r>
            <a:r>
              <a:rPr lang="ko-KR" altLang="en-US">
                <a:solidFill>
                  <a:srgbClr val="2D3142"/>
                </a:solidFill>
              </a:rPr>
              <a:t>자 배상 책임을 보장합니다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종합 자동차 보험에는 일반적으로 피보험 차량의 물리적 손상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신체 상해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재산 피해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의료비 보장이 포함됩니다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보험 계약자는 보험사에 보험료를 지불하고 그 대가로 보험사는 보장된 손실 또는 손해에 대한 재정적 책임을 집니다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endParaRPr lang="en-US" altLang="ko-KR">
              <a:solidFill>
                <a:srgbClr val="2D3142"/>
              </a:solidFill>
            </a:endParaRPr>
          </a:p>
          <a:p>
            <a:r>
              <a:rPr lang="ko-KR" altLang="en-US">
                <a:solidFill>
                  <a:srgbClr val="2D3142"/>
                </a:solidFill>
              </a:rPr>
              <a:t>또한 차량 소유자는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  <a:endParaRPr lang="ko-KR" altLang="en-US">
              <a:solidFill>
                <a:srgbClr val="2D3142"/>
              </a:solidFill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943F-B9A0-B8D5-16D7-ABCE90EE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7F535-2DB0-E527-7614-126AA0C8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33BFB6-F4E4-2C5A-9240-29338A9CE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E4D31-D2F9-9490-CFEE-BD356BB75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19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56524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595464" y="3977792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77270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BBD85EE-26ED-0472-71EC-CB982645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6686" r="42044" b="22856"/>
          <a:stretch>
            <a:fillRect/>
          </a:stretch>
        </p:blipFill>
        <p:spPr>
          <a:xfrm>
            <a:off x="8369003" y="5075071"/>
            <a:ext cx="2488797" cy="168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FF1F8C-9589-1A38-C41B-9CAE552C56E3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언도상씨의 VIP를 위한 운전 스킬">
            <a:extLst>
              <a:ext uri="{FF2B5EF4-FFF2-40B4-BE49-F238E27FC236}">
                <a16:creationId xmlns:a16="http://schemas.microsoft.com/office/drawing/2014/main" id="{5F7D0787-D9F2-0307-889C-BF3BD063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029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5ABC6DC-97D7-E4E1-DA01-7E6D79682F25}"/>
              </a:ext>
            </a:extLst>
          </p:cNvPr>
          <p:cNvSpPr/>
          <p:nvPr/>
        </p:nvSpPr>
        <p:spPr>
          <a:xfrm>
            <a:off x="-16112" y="0"/>
            <a:ext cx="12208111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64000">
                <a:schemeClr val="tx1">
                  <a:alpha val="76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91CC00-6089-A2F5-FFD6-7663277E055B}"/>
              </a:ext>
            </a:extLst>
          </p:cNvPr>
          <p:cNvGrpSpPr/>
          <p:nvPr/>
        </p:nvGrpSpPr>
        <p:grpSpPr>
          <a:xfrm>
            <a:off x="463427" y="387350"/>
            <a:ext cx="1514268" cy="243278"/>
            <a:chOff x="1208851" y="2444967"/>
            <a:chExt cx="1514268" cy="24327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2F2F1FA-E836-8BB3-0436-9C7B77F2860F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0C85C4-FFD7-A7B2-D16E-FA023A682DE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Prologue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22D4B92-6F03-77FE-0394-A671FB00E8A4}"/>
              </a:ext>
            </a:extLst>
          </p:cNvPr>
          <p:cNvCxnSpPr>
            <a:cxnSpLocks/>
          </p:cNvCxnSpPr>
          <p:nvPr/>
        </p:nvCxnSpPr>
        <p:spPr>
          <a:xfrm>
            <a:off x="14418756" y="1314450"/>
            <a:ext cx="36195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DD5ADDF-2003-ADB2-A3B0-B2DF0864F5B1}"/>
              </a:ext>
            </a:extLst>
          </p:cNvPr>
          <p:cNvGrpSpPr/>
          <p:nvPr/>
        </p:nvGrpSpPr>
        <p:grpSpPr>
          <a:xfrm>
            <a:off x="6429830" y="2957590"/>
            <a:ext cx="5470822" cy="1089027"/>
            <a:chOff x="6429830" y="2957590"/>
            <a:chExt cx="5470822" cy="108902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4C4ED6-811B-36F9-8A70-C66683D0A49C}"/>
                </a:ext>
              </a:extLst>
            </p:cNvPr>
            <p:cNvSpPr/>
            <p:nvPr/>
          </p:nvSpPr>
          <p:spPr>
            <a:xfrm>
              <a:off x="6429830" y="2957590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자동차가 달리는 모든 순간이 아름다운 추억이 되도록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0A5F94-00D4-840C-62CA-57B95085DE5D}"/>
                </a:ext>
              </a:extLst>
            </p:cNvPr>
            <p:cNvSpPr/>
            <p:nvPr/>
          </p:nvSpPr>
          <p:spPr>
            <a:xfrm>
              <a:off x="6429830" y="3346528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나와 우리가 함께하는 이 길이 안전할 수 있도록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1C602E-2553-75BF-9C38-0F24944BCCC6}"/>
                </a:ext>
              </a:extLst>
            </p:cNvPr>
            <p:cNvSpPr/>
            <p:nvPr/>
          </p:nvSpPr>
          <p:spPr>
            <a:xfrm>
              <a:off x="6429830" y="3735467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마음과 마음이 이어지는 조용한 약속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D5E6F11-AA82-48B3-51A9-DD34DED28258}"/>
              </a:ext>
            </a:extLst>
          </p:cNvPr>
          <p:cNvGrpSpPr/>
          <p:nvPr/>
        </p:nvGrpSpPr>
        <p:grpSpPr>
          <a:xfrm>
            <a:off x="6786129" y="4157343"/>
            <a:ext cx="4758224" cy="1034177"/>
            <a:chOff x="6429830" y="4331481"/>
            <a:chExt cx="4758224" cy="103417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D0A8DA-64A4-6010-CB07-67D0EC36ED68}"/>
                </a:ext>
              </a:extLst>
            </p:cNvPr>
            <p:cNvSpPr/>
            <p:nvPr/>
          </p:nvSpPr>
          <p:spPr>
            <a:xfrm>
              <a:off x="7571274" y="4331481"/>
              <a:ext cx="3616780" cy="1034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400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</a:t>
              </a:r>
              <a:endParaRPr lang="en-US" altLang="ko-KR" sz="4400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004A414A-FBA0-7A20-13BA-F89A242697D8}"/>
                </a:ext>
              </a:extLst>
            </p:cNvPr>
            <p:cNvCxnSpPr>
              <a:cxnSpLocks/>
            </p:cNvCxnSpPr>
            <p:nvPr/>
          </p:nvCxnSpPr>
          <p:spPr>
            <a:xfrm>
              <a:off x="6429830" y="5238749"/>
              <a:ext cx="4161970" cy="0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47CA9256-8C3A-0D25-ADB7-8C14934F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7330" y="4451631"/>
              <a:ext cx="886870" cy="886870"/>
            </a:xfrm>
            <a:prstGeom prst="rect">
              <a:avLst/>
            </a:prstGeom>
          </p:spPr>
        </p:pic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BF1A783A-D016-06EF-3629-75A272FB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 flipH="1" flipV="1">
            <a:off x="6164900" y="2872116"/>
            <a:ext cx="280464" cy="280464"/>
          </a:xfrm>
          <a:prstGeom prst="rect">
            <a:avLst/>
          </a:prstGeom>
        </p:spPr>
      </p:pic>
      <p:pic>
        <p:nvPicPr>
          <p:cNvPr id="5121" name="그림 5120">
            <a:extLst>
              <a:ext uri="{FF2B5EF4-FFF2-40B4-BE49-F238E27FC236}">
                <a16:creationId xmlns:a16="http://schemas.microsoft.com/office/drawing/2014/main" id="{A991E866-9564-F666-0A8B-ECCF67AA2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10777657" y="4158728"/>
            <a:ext cx="280800" cy="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B12A02-C458-874D-7883-D2AF5DAB114D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4B2E808-D75A-A494-D959-181D543402AB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BA439E1-65E5-9BEF-E7BF-1BB9176FA75A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C496A0D-CEB0-B55A-9FC6-B9844A0FC0FB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EFB173F-7DCC-5D89-678B-0D49C4C354E3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9C73AF8-C41B-136E-53A9-6986D22867E0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FEE3C09-30BD-72B8-F369-DEFF56E4DEF3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12665CA-E547-EC3C-B484-CE3F9F47247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F3DFE88-1426-A365-A30D-672992EC63E7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0EA318D-8D58-6D9E-EB8E-F4EDFC151F93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5A6432D-9E88-474A-AE08-592F8BFECFFC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F78B836-35B2-0421-83C2-36EE168BBC54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30E29B5-E546-C1AE-46DF-04868B2D395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6FB62AC-50B9-5C92-0AF4-181B4493442D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76A5147-D4DF-9F5E-7143-E6AF03612300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FEE7E43-C75C-1C37-89E0-40F86AF79464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07AFC21-A57B-D2B7-4DB3-34DD4C0D992A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D8A2315-33BD-F3D9-BD7E-62FD88A25E3D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DC35DCF-1DD3-1F6D-DA81-8683BD35334C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541D6F5-0EDE-FB0D-0D3A-8769538E5DC5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EC735F6-B1F0-3143-93E0-48DBDC129AF5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A7F76453-B268-679A-DA6A-3A9ED477865B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E6921FD-3D14-D34D-F7C3-A6B4D4DBE77D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6E789F9-9BDD-AD50-72EA-65FAECED3FEB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546707DD-E63D-21F2-6B36-F1972313E0BF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94EDE145-1395-43A3-22DF-8A3C92092ADD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EAE14C52-F0EC-C67C-5296-CAD384760642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9446A184-928C-6E6B-81D2-C96D72FC0BCD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4DE48385-953B-0E73-644D-14B45FF14AAA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17534C8B-E9EB-73F7-7311-2161B10BCD6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560052B0-05C8-6284-138C-4B43F4242A3F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0E2398E2-734B-F872-08AE-5A3A9D6A9081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A600929-92D8-B948-5129-4CE864BDE4C8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02372AAE-7098-0644-62FF-4D25CE45CCC4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056AD3B-EE54-286F-5E39-84F82C9BE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EB9E5E9D-A780-21F4-403C-208A64875E8E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20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(24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D17F9B-432E-7950-707A-B2FF795CF2EA}"/>
              </a:ext>
            </a:extLst>
          </p:cNvPr>
          <p:cNvGrpSpPr/>
          <p:nvPr/>
        </p:nvGrpSpPr>
        <p:grpSpPr>
          <a:xfrm>
            <a:off x="5965256" y="2335449"/>
            <a:ext cx="1514268" cy="243278"/>
            <a:chOff x="1208851" y="2444967"/>
            <a:chExt cx="1514268" cy="24327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CF972C8-5BB1-4CDB-1742-F462994C817C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BA294-4761-203B-7768-0055502DAA29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보험 현황 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655AB0-17E6-3309-7223-839F2708773F}"/>
              </a:ext>
            </a:extLst>
          </p:cNvPr>
          <p:cNvSpPr/>
          <p:nvPr/>
        </p:nvSpPr>
        <p:spPr>
          <a:xfrm>
            <a:off x="12962891" y="804647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시장 현황</a:t>
            </a:r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55DA4-C0A5-9675-2C5C-9286BAEF0574}"/>
              </a:ext>
            </a:extLst>
          </p:cNvPr>
          <p:cNvSpPr/>
          <p:nvPr/>
        </p:nvSpPr>
        <p:spPr>
          <a:xfrm>
            <a:off x="0" y="2133600"/>
            <a:ext cx="12192000" cy="41751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7208327" y="1537335"/>
            <a:ext cx="2180314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4343401" y="1537335"/>
            <a:ext cx="165734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타겟 설정 </a:t>
            </a:r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페르소나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불특정한 다수들에게서 발견된 공통된 문제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</a:t>
            </a:r>
          </a:p>
          <a:p>
            <a:pPr defTabSz="720000"/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각각의 고객 여정을 살펴보면</a:t>
            </a:r>
            <a:r>
              <a:rPr lang="en-US" altLang="ko-KR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탐색 과정 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에서 발견된 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불편함과 피로도 향상 </a:t>
            </a:r>
          </a:p>
        </p:txBody>
      </p:sp>
      <p:pic>
        <p:nvPicPr>
          <p:cNvPr id="24" name="그림 23" descr="20대 (청년), 청년여자 (성인여자), 대학생, 여성 (성별) (jv13648617) - 게티이미지뱅크">
            <a:extLst>
              <a:ext uri="{FF2B5EF4-FFF2-40B4-BE49-F238E27FC236}">
                <a16:creationId xmlns:a16="http://schemas.microsoft.com/office/drawing/2014/main" id="{A323DA54-CD0F-6EC1-573B-0BE43480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t="10840" r="2802" b="26292"/>
          <a:stretch>
            <a:fillRect/>
          </a:stretch>
        </p:blipFill>
        <p:spPr bwMode="auto">
          <a:xfrm>
            <a:off x="2538299" y="3079817"/>
            <a:ext cx="958810" cy="95881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05145-1D50-E3BC-BC02-08E5D66AEFFB}"/>
              </a:ext>
            </a:extLst>
          </p:cNvPr>
          <p:cNvSpPr/>
          <p:nvPr/>
        </p:nvSpPr>
        <p:spPr>
          <a:xfrm>
            <a:off x="2691262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김초보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92BC8-F6EB-0722-4A1E-3EB5394FB69C}"/>
              </a:ext>
            </a:extLst>
          </p:cNvPr>
          <p:cNvSpPr/>
          <p:nvPr/>
        </p:nvSpPr>
        <p:spPr>
          <a:xfrm>
            <a:off x="2134422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20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신규 가입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51BB6B-C856-77DE-F7DB-66D291EE73CA}"/>
              </a:ext>
            </a:extLst>
          </p:cNvPr>
          <p:cNvSpPr/>
          <p:nvPr/>
        </p:nvSpPr>
        <p:spPr>
          <a:xfrm>
            <a:off x="2134422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CEF1D9-0245-8CB3-CF3D-02A1230D2052}"/>
              </a:ext>
            </a:extLst>
          </p:cNvPr>
          <p:cNvSpPr/>
          <p:nvPr/>
        </p:nvSpPr>
        <p:spPr>
          <a:xfrm>
            <a:off x="2134422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난생 처음 자차 보험 가입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약관이 너무 복잡하고 어려워요</a:t>
            </a:r>
            <a:r>
              <a:rPr lang="en-US" altLang="ko-KR" sz="1200" spc="-80">
                <a:solidFill>
                  <a:srgbClr val="2D3142"/>
                </a:solidFill>
              </a:rPr>
              <a:t>.</a:t>
            </a:r>
          </a:p>
          <a:p>
            <a:pPr algn="ctr"/>
            <a:endParaRPr lang="ko-KR" altLang="en-US" sz="1200" spc="-80">
              <a:solidFill>
                <a:srgbClr val="2D314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27D62E-C0AE-91D3-5217-C809D874FE25}"/>
              </a:ext>
            </a:extLst>
          </p:cNvPr>
          <p:cNvSpPr/>
          <p:nvPr/>
        </p:nvSpPr>
        <p:spPr>
          <a:xfrm>
            <a:off x="2228850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복잡한 용어 이해 부족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A180C2-1BB3-F9E5-D74C-64CE49FCCF1A}"/>
              </a:ext>
            </a:extLst>
          </p:cNvPr>
          <p:cNvSpPr/>
          <p:nvPr/>
        </p:nvSpPr>
        <p:spPr>
          <a:xfrm>
            <a:off x="2228850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개인맞춤형 보장 모름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847C45-931C-708D-490D-06683ADB4205}"/>
              </a:ext>
            </a:extLst>
          </p:cNvPr>
          <p:cNvSpPr/>
          <p:nvPr/>
        </p:nvSpPr>
        <p:spPr>
          <a:xfrm>
            <a:off x="5850359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박중년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DE91E7-7022-B914-E4A6-E8A38F96117E}"/>
              </a:ext>
            </a:extLst>
          </p:cNvPr>
          <p:cNvSpPr/>
          <p:nvPr/>
        </p:nvSpPr>
        <p:spPr>
          <a:xfrm>
            <a:off x="5293519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40</a:t>
            </a:r>
            <a:r>
              <a:rPr lang="ko-KR" altLang="en-US" sz="1200" spc="-80">
                <a:solidFill>
                  <a:srgbClr val="777777"/>
                </a:solidFill>
              </a:rPr>
              <a:t>대 초반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남성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보험 갱신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350C598-46FB-CD34-2D2C-5C8DCD4A037D}"/>
              </a:ext>
            </a:extLst>
          </p:cNvPr>
          <p:cNvSpPr/>
          <p:nvPr/>
        </p:nvSpPr>
        <p:spPr>
          <a:xfrm>
            <a:off x="5293519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A99FBB-FBEF-A929-9746-E0AE4C121165}"/>
              </a:ext>
            </a:extLst>
          </p:cNvPr>
          <p:cNvSpPr/>
          <p:nvPr/>
        </p:nvSpPr>
        <p:spPr>
          <a:xfrm>
            <a:off x="5293519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갱신 시점</a:t>
            </a:r>
            <a:r>
              <a:rPr lang="en-US" altLang="ko-KR" sz="1200" spc="-80">
                <a:solidFill>
                  <a:srgbClr val="2D3142"/>
                </a:solidFill>
              </a:rPr>
              <a:t>, </a:t>
            </a:r>
            <a:r>
              <a:rPr lang="ko-KR" altLang="en-US" sz="1200" spc="-80">
                <a:solidFill>
                  <a:srgbClr val="2D3142"/>
                </a:solidFill>
              </a:rPr>
              <a:t>여러회사 비교중</a:t>
            </a:r>
            <a:endParaRPr lang="en-US" altLang="ko-KR" sz="1200" spc="-80">
              <a:solidFill>
                <a:srgbClr val="2D3142"/>
              </a:solidFill>
            </a:endParaRP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비교 자료 정리 시간부족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34A6BB3-D947-9E91-D7D6-F791F63867F8}"/>
              </a:ext>
            </a:extLst>
          </p:cNvPr>
          <p:cNvSpPr/>
          <p:nvPr/>
        </p:nvSpPr>
        <p:spPr>
          <a:xfrm>
            <a:off x="5387947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상담원 연결의 비효율성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17CD0BA-E3E4-50BB-48DC-B8668EF8E91A}"/>
              </a:ext>
            </a:extLst>
          </p:cNvPr>
          <p:cNvSpPr/>
          <p:nvPr/>
        </p:nvSpPr>
        <p:spPr>
          <a:xfrm>
            <a:off x="5387947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정확한 비교 정보 부족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D766B3-34FD-900C-219B-2D7AAE10D839}"/>
              </a:ext>
            </a:extLst>
          </p:cNvPr>
          <p:cNvSpPr/>
          <p:nvPr/>
        </p:nvSpPr>
        <p:spPr>
          <a:xfrm>
            <a:off x="9009456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어르신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A83B3D5-B908-CF53-BB5B-B02A62D83C74}"/>
              </a:ext>
            </a:extLst>
          </p:cNvPr>
          <p:cNvSpPr/>
          <p:nvPr/>
        </p:nvSpPr>
        <p:spPr>
          <a:xfrm>
            <a:off x="8452616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60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ㅇㅇㅇㅇ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2F083DB-AA64-B767-26DA-9B98D6140BA2}"/>
              </a:ext>
            </a:extLst>
          </p:cNvPr>
          <p:cNvSpPr/>
          <p:nvPr/>
        </p:nvSpPr>
        <p:spPr>
          <a:xfrm>
            <a:off x="8452616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CDE374D-87D2-079C-A8FA-248A4C89B594}"/>
              </a:ext>
            </a:extLst>
          </p:cNvPr>
          <p:cNvSpPr/>
          <p:nvPr/>
        </p:nvSpPr>
        <p:spPr>
          <a:xfrm>
            <a:off x="8452616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나이가 들어 글씨도 안 보이고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어려운 단어는 이해가 안됨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34C8754-0D45-DAE0-3554-1A2D507B1E08}"/>
              </a:ext>
            </a:extLst>
          </p:cNvPr>
          <p:cNvSpPr/>
          <p:nvPr/>
        </p:nvSpPr>
        <p:spPr>
          <a:xfrm>
            <a:off x="8547044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디지털 소외 정보 불균형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49325F6-F5FB-53B7-A3B4-1A5A468C351D}"/>
              </a:ext>
            </a:extLst>
          </p:cNvPr>
          <p:cNvSpPr/>
          <p:nvPr/>
        </p:nvSpPr>
        <p:spPr>
          <a:xfrm>
            <a:off x="8547044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직접 상담이 어려움 </a:t>
            </a:r>
          </a:p>
        </p:txBody>
      </p:sp>
      <p:pic>
        <p:nvPicPr>
          <p:cNvPr id="63" name="그림 62" descr="건강 핫 스타 - 평생건강 지킴이! 건강보험 웹진">
            <a:extLst>
              <a:ext uri="{FF2B5EF4-FFF2-40B4-BE49-F238E27FC236}">
                <a16:creationId xmlns:a16="http://schemas.microsoft.com/office/drawing/2014/main" id="{60115212-7C2E-BCD6-F3D6-1834C537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t="2296" r="2296" b="2296"/>
          <a:stretch>
            <a:fillRect/>
          </a:stretch>
        </p:blipFill>
        <p:spPr bwMode="auto">
          <a:xfrm>
            <a:off x="5697396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D1B493C-2FA5-7A3E-67E2-DE7F6A9D2F1D}"/>
              </a:ext>
            </a:extLst>
          </p:cNvPr>
          <p:cNvSpPr/>
          <p:nvPr/>
        </p:nvSpPr>
        <p:spPr>
          <a:xfrm>
            <a:off x="5609289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9E5870-0EF0-F8F8-025F-7A09521FC41D}"/>
              </a:ext>
            </a:extLst>
          </p:cNvPr>
          <p:cNvGrpSpPr/>
          <p:nvPr/>
        </p:nvGrpSpPr>
        <p:grpSpPr>
          <a:xfrm>
            <a:off x="6229544" y="2643828"/>
            <a:ext cx="1121261" cy="554701"/>
            <a:chOff x="3070447" y="2914470"/>
            <a:chExt cx="1121261" cy="55470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5231EA2-644A-15BB-B17A-5070A615CF7D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7A07F510-0879-4C62-6FF7-DE432949C70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이등변 삼각형 12">
                <a:extLst>
                  <a:ext uri="{FF2B5EF4-FFF2-40B4-BE49-F238E27FC236}">
                    <a16:creationId xmlns:a16="http://schemas.microsoft.com/office/drawing/2014/main" id="{D39F6036-8058-2F49-D0FF-8116D5A104CA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9F2CE92-E2DB-A12A-AE8B-8473820677B8}"/>
                </a:ext>
              </a:extLst>
            </p:cNvPr>
            <p:cNvSpPr/>
            <p:nvPr/>
          </p:nvSpPr>
          <p:spPr>
            <a:xfrm>
              <a:off x="3070447" y="3028282"/>
              <a:ext cx="112126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베테랑 운전자</a:t>
              </a: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8EC9E007-854B-5E9D-D68B-7E12F424387A}"/>
              </a:ext>
            </a:extLst>
          </p:cNvPr>
          <p:cNvSpPr/>
          <p:nvPr/>
        </p:nvSpPr>
        <p:spPr>
          <a:xfrm>
            <a:off x="2450192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16B079-E1F0-094B-5280-2A1AC545FFFE}"/>
              </a:ext>
            </a:extLst>
          </p:cNvPr>
          <p:cNvGrpSpPr/>
          <p:nvPr/>
        </p:nvGrpSpPr>
        <p:grpSpPr>
          <a:xfrm>
            <a:off x="3070447" y="2643828"/>
            <a:ext cx="1121261" cy="554701"/>
            <a:chOff x="3070447" y="2914470"/>
            <a:chExt cx="1121261" cy="55470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9C893AF-2496-4779-FF7D-4F69A9D6A44F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4F7FAF4-5A25-291C-0C5A-550BF475A04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3CE57EEF-D9D3-6A65-5648-90A295E7ECFF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7896047-CE81-2272-C4B7-70B6240C750E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사회초년생</a:t>
              </a:r>
            </a:p>
          </p:txBody>
        </p:sp>
      </p:grpSp>
      <p:pic>
        <p:nvPicPr>
          <p:cNvPr id="3077" name="그림 3076" descr="이제 60살 할머니 나이인데 &quot;웬만한 30대 여배우만큼&quot; 예쁘다는 여배우 | 나도 알고 너도 알고">
            <a:extLst>
              <a:ext uri="{FF2B5EF4-FFF2-40B4-BE49-F238E27FC236}">
                <a16:creationId xmlns:a16="http://schemas.microsoft.com/office/drawing/2014/main" id="{32241D07-35A0-DAFD-FF9E-CDCFEDC21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5" r="16705" b="16"/>
          <a:stretch>
            <a:fillRect/>
          </a:stretch>
        </p:blipFill>
        <p:spPr bwMode="auto">
          <a:xfrm>
            <a:off x="8856493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8305703D-245F-54DE-48FA-41CC780BEEF4}"/>
              </a:ext>
            </a:extLst>
          </p:cNvPr>
          <p:cNvSpPr/>
          <p:nvPr/>
        </p:nvSpPr>
        <p:spPr>
          <a:xfrm>
            <a:off x="8768386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3CA7F-CC1C-92DD-6F54-943FF2190250}"/>
              </a:ext>
            </a:extLst>
          </p:cNvPr>
          <p:cNvGrpSpPr/>
          <p:nvPr/>
        </p:nvGrpSpPr>
        <p:grpSpPr>
          <a:xfrm>
            <a:off x="9388641" y="2643828"/>
            <a:ext cx="1121261" cy="554701"/>
            <a:chOff x="3070447" y="2914470"/>
            <a:chExt cx="1121261" cy="55470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0C2D9AC-C739-4926-6E79-606B133A61B5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FD3B6093-F109-29E2-FF83-ECCE67A53A2D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이등변 삼각형 12">
                <a:extLst>
                  <a:ext uri="{FF2B5EF4-FFF2-40B4-BE49-F238E27FC236}">
                    <a16:creationId xmlns:a16="http://schemas.microsoft.com/office/drawing/2014/main" id="{1D7A5F70-10BB-8A8A-D80A-FA5CD1381F7C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7841047-AADF-EDC5-EB12-3912D090DE42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정보취약계층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03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문제 정의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난감한 보험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다양한 보험 속에서 맞춤형 보험 안내</a:t>
            </a:r>
            <a:endParaRPr lang="en-US" altLang="ko-KR" sz="28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웩웩웩 수정하세요 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13379614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A72D280F-5D49-FFFF-5F95-A3F9D783CF37}"/>
              </a:ext>
            </a:extLst>
          </p:cNvPr>
          <p:cNvGrpSpPr/>
          <p:nvPr/>
        </p:nvGrpSpPr>
        <p:grpSpPr>
          <a:xfrm>
            <a:off x="1374874" y="4091157"/>
            <a:ext cx="299580" cy="299580"/>
            <a:chOff x="2944586" y="3684757"/>
            <a:chExt cx="299580" cy="299580"/>
          </a:xfrm>
        </p:grpSpPr>
        <p:sp>
          <p:nvSpPr>
            <p:cNvPr id="1042" name="타원 1041">
              <a:extLst>
                <a:ext uri="{FF2B5EF4-FFF2-40B4-BE49-F238E27FC236}">
                  <a16:creationId xmlns:a16="http://schemas.microsoft.com/office/drawing/2014/main" id="{AC1ED66A-3FE8-0948-75CC-4866B233028B}"/>
                </a:ext>
              </a:extLst>
            </p:cNvPr>
            <p:cNvSpPr/>
            <p:nvPr/>
          </p:nvSpPr>
          <p:spPr>
            <a:xfrm>
              <a:off x="2944586" y="3684757"/>
              <a:ext cx="299580" cy="299580"/>
            </a:xfrm>
            <a:prstGeom prst="ellipse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0" name="그룹 1049">
              <a:extLst>
                <a:ext uri="{FF2B5EF4-FFF2-40B4-BE49-F238E27FC236}">
                  <a16:creationId xmlns:a16="http://schemas.microsoft.com/office/drawing/2014/main" id="{A4E4130B-4CE0-B139-DBE5-C277DDD589D0}"/>
                </a:ext>
              </a:extLst>
            </p:cNvPr>
            <p:cNvGrpSpPr/>
            <p:nvPr/>
          </p:nvGrpSpPr>
          <p:grpSpPr>
            <a:xfrm rot="2700000">
              <a:off x="2984838" y="3725009"/>
              <a:ext cx="219076" cy="219076"/>
              <a:chOff x="3502766" y="3632659"/>
              <a:chExt cx="666292" cy="666292"/>
            </a:xfrm>
            <a:solidFill>
              <a:srgbClr val="2D3142"/>
            </a:solidFill>
          </p:grpSpPr>
          <p:sp>
            <p:nvSpPr>
              <p:cNvPr id="1044" name="사각형: 둥근 모서리 1043">
                <a:extLst>
                  <a:ext uri="{FF2B5EF4-FFF2-40B4-BE49-F238E27FC236}">
                    <a16:creationId xmlns:a16="http://schemas.microsoft.com/office/drawing/2014/main" id="{6AF5177E-2158-8834-5581-508C9BEB3C15}"/>
                  </a:ext>
                </a:extLst>
              </p:cNvPr>
              <p:cNvSpPr/>
              <p:nvPr/>
            </p:nvSpPr>
            <p:spPr>
              <a:xfrm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9" name="사각형: 둥근 모서리 1048">
                <a:extLst>
                  <a:ext uri="{FF2B5EF4-FFF2-40B4-BE49-F238E27FC236}">
                    <a16:creationId xmlns:a16="http://schemas.microsoft.com/office/drawing/2014/main" id="{585E2CD1-7C71-D5DD-BB30-BD516171AD63}"/>
                  </a:ext>
                </a:extLst>
              </p:cNvPr>
              <p:cNvSpPr/>
              <p:nvPr/>
            </p:nvSpPr>
            <p:spPr>
              <a:xfrm rot="5400000"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B64FC5B5-155A-900D-BE99-90FA72CCF186}"/>
              </a:ext>
            </a:extLst>
          </p:cNvPr>
          <p:cNvSpPr/>
          <p:nvPr/>
        </p:nvSpPr>
        <p:spPr>
          <a:xfrm>
            <a:off x="1668713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D3142"/>
                </a:solidFill>
                <a:latin typeface="+mj-ea"/>
                <a:ea typeface="+mj-ea"/>
              </a:rPr>
              <a:t>Pain Point</a:t>
            </a:r>
            <a:endParaRPr lang="ko-KR" altLang="en-US" sz="1600" spc="-80">
              <a:solidFill>
                <a:srgbClr val="2D3142"/>
              </a:solidFill>
              <a:latin typeface="+mj-ea"/>
              <a:ea typeface="+mj-ea"/>
            </a:endParaRPr>
          </a:p>
        </p:txBody>
      </p:sp>
      <p:grpSp>
        <p:nvGrpSpPr>
          <p:cNvPr id="1066" name="그룹 1065">
            <a:extLst>
              <a:ext uri="{FF2B5EF4-FFF2-40B4-BE49-F238E27FC236}">
                <a16:creationId xmlns:a16="http://schemas.microsoft.com/office/drawing/2014/main" id="{C370A0C2-E327-B608-FF9B-54F9CE88E610}"/>
              </a:ext>
            </a:extLst>
          </p:cNvPr>
          <p:cNvGrpSpPr/>
          <p:nvPr/>
        </p:nvGrpSpPr>
        <p:grpSpPr>
          <a:xfrm>
            <a:off x="1431825" y="4483100"/>
            <a:ext cx="4251325" cy="299580"/>
            <a:chOff x="2218682" y="4076700"/>
            <a:chExt cx="3877318" cy="299580"/>
          </a:xfrm>
        </p:grpSpPr>
        <p:sp>
          <p:nvSpPr>
            <p:cNvPr id="1061" name="사각형: 둥근 모서리 1060">
              <a:extLst>
                <a:ext uri="{FF2B5EF4-FFF2-40B4-BE49-F238E27FC236}">
                  <a16:creationId xmlns:a16="http://schemas.microsoft.com/office/drawing/2014/main" id="{801B5833-A3E6-A387-115F-64EC692CD3E5}"/>
                </a:ext>
              </a:extLst>
            </p:cNvPr>
            <p:cNvSpPr/>
            <p:nvPr/>
          </p:nvSpPr>
          <p:spPr>
            <a:xfrm>
              <a:off x="2230417" y="4089962"/>
              <a:ext cx="13029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57" name="직사각형 1056">
              <a:extLst>
                <a:ext uri="{FF2B5EF4-FFF2-40B4-BE49-F238E27FC236}">
                  <a16:creationId xmlns:a16="http://schemas.microsoft.com/office/drawing/2014/main" id="{751CE732-CA36-C9AC-9007-EB7CF0CDAE3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보험사별 정보 파편화</a:t>
              </a:r>
              <a:r>
                <a:rPr lang="en-US" altLang="ko-KR" sz="1400">
                  <a:solidFill>
                    <a:srgbClr val="2D3142"/>
                  </a:solidFill>
                  <a:latin typeface="+mn-ea"/>
                </a:rPr>
                <a:t>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흩어진 약관 정보로 인한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접근성이 낮음</a:t>
              </a:r>
            </a:p>
          </p:txBody>
        </p:sp>
      </p:grpSp>
      <p:grpSp>
        <p:nvGrpSpPr>
          <p:cNvPr id="1078" name="그룹 1077">
            <a:extLst>
              <a:ext uri="{FF2B5EF4-FFF2-40B4-BE49-F238E27FC236}">
                <a16:creationId xmlns:a16="http://schemas.microsoft.com/office/drawing/2014/main" id="{40F8E92B-97EA-36CC-C68F-DD5AB989E1E6}"/>
              </a:ext>
            </a:extLst>
          </p:cNvPr>
          <p:cNvGrpSpPr/>
          <p:nvPr/>
        </p:nvGrpSpPr>
        <p:grpSpPr>
          <a:xfrm>
            <a:off x="1431825" y="4926205"/>
            <a:ext cx="4251325" cy="299580"/>
            <a:chOff x="2218682" y="4076700"/>
            <a:chExt cx="3877318" cy="299580"/>
          </a:xfrm>
        </p:grpSpPr>
        <p:sp>
          <p:nvSpPr>
            <p:cNvPr id="1081" name="사각형: 둥근 모서리 1080">
              <a:extLst>
                <a:ext uri="{FF2B5EF4-FFF2-40B4-BE49-F238E27FC236}">
                  <a16:creationId xmlns:a16="http://schemas.microsoft.com/office/drawing/2014/main" id="{4D687731-42A6-8838-F78E-A7700076F761}"/>
                </a:ext>
              </a:extLst>
            </p:cNvPr>
            <p:cNvSpPr/>
            <p:nvPr/>
          </p:nvSpPr>
          <p:spPr>
            <a:xfrm>
              <a:off x="5083961" y="4089962"/>
              <a:ext cx="7688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79" name="사각형: 둥근 모서리 1078">
              <a:extLst>
                <a:ext uri="{FF2B5EF4-FFF2-40B4-BE49-F238E27FC236}">
                  <a16:creationId xmlns:a16="http://schemas.microsoft.com/office/drawing/2014/main" id="{A8BD8D98-54CE-AE89-4D97-340ED17DE012}"/>
                </a:ext>
              </a:extLst>
            </p:cNvPr>
            <p:cNvSpPr/>
            <p:nvPr/>
          </p:nvSpPr>
          <p:spPr>
            <a:xfrm>
              <a:off x="2230416" y="4089962"/>
              <a:ext cx="105098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0" name="직사각형 1079">
              <a:extLst>
                <a:ext uri="{FF2B5EF4-FFF2-40B4-BE49-F238E27FC236}">
                  <a16:creationId xmlns:a16="http://schemas.microsoft.com/office/drawing/2014/main" id="{788C1D3A-A463-1A25-1B70-66E5402D91AA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어려운 전문 용어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로 작성된 약관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비전문가들에게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  이해도 저하 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82" name="그룹 1081">
            <a:extLst>
              <a:ext uri="{FF2B5EF4-FFF2-40B4-BE49-F238E27FC236}">
                <a16:creationId xmlns:a16="http://schemas.microsoft.com/office/drawing/2014/main" id="{2C6E68DC-7DD1-DEB1-B6A2-52C819C4E61E}"/>
              </a:ext>
            </a:extLst>
          </p:cNvPr>
          <p:cNvGrpSpPr/>
          <p:nvPr/>
        </p:nvGrpSpPr>
        <p:grpSpPr>
          <a:xfrm>
            <a:off x="1431825" y="5369310"/>
            <a:ext cx="4251325" cy="299580"/>
            <a:chOff x="2218682" y="4076700"/>
            <a:chExt cx="3877318" cy="299580"/>
          </a:xfrm>
        </p:grpSpPr>
        <p:sp>
          <p:nvSpPr>
            <p:cNvPr id="1083" name="사각형: 둥근 모서리 1082">
              <a:extLst>
                <a:ext uri="{FF2B5EF4-FFF2-40B4-BE49-F238E27FC236}">
                  <a16:creationId xmlns:a16="http://schemas.microsoft.com/office/drawing/2014/main" id="{337D65E3-1109-AF63-6E90-E8B0FC4804F1}"/>
                </a:ext>
              </a:extLst>
            </p:cNvPr>
            <p:cNvSpPr/>
            <p:nvPr/>
          </p:nvSpPr>
          <p:spPr>
            <a:xfrm>
              <a:off x="5052107" y="4089962"/>
              <a:ext cx="800657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4" name="사각형: 둥근 모서리 1083">
              <a:extLst>
                <a:ext uri="{FF2B5EF4-FFF2-40B4-BE49-F238E27FC236}">
                  <a16:creationId xmlns:a16="http://schemas.microsoft.com/office/drawing/2014/main" id="{FC76003F-C6E9-5EAC-DEA7-0CF790EB43F8}"/>
                </a:ext>
              </a:extLst>
            </p:cNvPr>
            <p:cNvSpPr/>
            <p:nvPr/>
          </p:nvSpPr>
          <p:spPr>
            <a:xfrm>
              <a:off x="2230416" y="4089962"/>
              <a:ext cx="654274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5" name="직사각형 1084">
              <a:extLst>
                <a:ext uri="{FF2B5EF4-FFF2-40B4-BE49-F238E27FC236}">
                  <a16:creationId xmlns:a16="http://schemas.microsoft.com/office/drawing/2014/main" id="{ED686CFB-A5E2-ABEE-1F15-8A7B3A0EC82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직접 비교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하며 찾아봐야 하는 선택의 다양성으로 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피로도 향상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CEBCE3A-7C65-6705-B0E5-9AA667163269}"/>
              </a:ext>
            </a:extLst>
          </p:cNvPr>
          <p:cNvGrpSpPr/>
          <p:nvPr/>
        </p:nvGrpSpPr>
        <p:grpSpPr>
          <a:xfrm>
            <a:off x="1431825" y="5812414"/>
            <a:ext cx="4251325" cy="299580"/>
            <a:chOff x="1431825" y="5540908"/>
            <a:chExt cx="4251325" cy="299580"/>
          </a:xfrm>
        </p:grpSpPr>
        <p:sp>
          <p:nvSpPr>
            <p:cNvPr id="1087" name="사각형: 둥근 모서리 1086">
              <a:extLst>
                <a:ext uri="{FF2B5EF4-FFF2-40B4-BE49-F238E27FC236}">
                  <a16:creationId xmlns:a16="http://schemas.microsoft.com/office/drawing/2014/main" id="{514D25DF-A97F-0BE1-8F80-B40997CDDF0A}"/>
                </a:ext>
              </a:extLst>
            </p:cNvPr>
            <p:cNvSpPr/>
            <p:nvPr/>
          </p:nvSpPr>
          <p:spPr>
            <a:xfrm>
              <a:off x="3492222" y="5554170"/>
              <a:ext cx="112413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8" name="사각형: 둥근 모서리 1087">
              <a:extLst>
                <a:ext uri="{FF2B5EF4-FFF2-40B4-BE49-F238E27FC236}">
                  <a16:creationId xmlns:a16="http://schemas.microsoft.com/office/drawing/2014/main" id="{94E7FD84-0DC3-3BF4-23EE-F980B23EF8DE}"/>
                </a:ext>
              </a:extLst>
            </p:cNvPr>
            <p:cNvSpPr/>
            <p:nvPr/>
          </p:nvSpPr>
          <p:spPr>
            <a:xfrm>
              <a:off x="1444691" y="5554170"/>
              <a:ext cx="85391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9" name="직사각형 1088">
              <a:extLst>
                <a:ext uri="{FF2B5EF4-FFF2-40B4-BE49-F238E27FC236}">
                  <a16:creationId xmlns:a16="http://schemas.microsoft.com/office/drawing/2014/main" id="{26BD8C78-81C1-1044-6576-7E8F0CCAE66B}"/>
                </a:ext>
              </a:extLst>
            </p:cNvPr>
            <p:cNvSpPr/>
            <p:nvPr/>
          </p:nvSpPr>
          <p:spPr>
            <a:xfrm>
              <a:off x="1431825" y="5540908"/>
              <a:ext cx="4251325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단순한 정보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안내하는 챗봇으로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구체적 답변 부족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B5833716-6D3C-0DFE-87B7-24FBAF64F193}"/>
              </a:ext>
            </a:extLst>
          </p:cNvPr>
          <p:cNvGrpSpPr/>
          <p:nvPr/>
        </p:nvGrpSpPr>
        <p:grpSpPr>
          <a:xfrm>
            <a:off x="6365895" y="4091156"/>
            <a:ext cx="299580" cy="299580"/>
            <a:chOff x="6654919" y="3684756"/>
            <a:chExt cx="299580" cy="299580"/>
          </a:xfrm>
        </p:grpSpPr>
        <p:sp>
          <p:nvSpPr>
            <p:cNvPr id="1043" name="타원 1042">
              <a:extLst>
                <a:ext uri="{FF2B5EF4-FFF2-40B4-BE49-F238E27FC236}">
                  <a16:creationId xmlns:a16="http://schemas.microsoft.com/office/drawing/2014/main" id="{B0524A5F-5CD5-A401-F0F8-217552460EC6}"/>
                </a:ext>
              </a:extLst>
            </p:cNvPr>
            <p:cNvSpPr/>
            <p:nvPr/>
          </p:nvSpPr>
          <p:spPr>
            <a:xfrm>
              <a:off x="6654919" y="3684756"/>
              <a:ext cx="299580" cy="299580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2" name="그룹 1051">
              <a:extLst>
                <a:ext uri="{FF2B5EF4-FFF2-40B4-BE49-F238E27FC236}">
                  <a16:creationId xmlns:a16="http://schemas.microsoft.com/office/drawing/2014/main" id="{3CC883BE-16C6-93FA-D673-4F1EFC7007BE}"/>
                </a:ext>
              </a:extLst>
            </p:cNvPr>
            <p:cNvGrpSpPr/>
            <p:nvPr/>
          </p:nvGrpSpPr>
          <p:grpSpPr>
            <a:xfrm rot="2700000">
              <a:off x="6751572" y="3724026"/>
              <a:ext cx="118976" cy="177809"/>
              <a:chOff x="3554289" y="3807676"/>
              <a:chExt cx="337542" cy="504466"/>
            </a:xfrm>
            <a:solidFill>
              <a:schemeClr val="bg1"/>
            </a:solidFill>
          </p:grpSpPr>
          <p:sp>
            <p:nvSpPr>
              <p:cNvPr id="1053" name="사각형: 둥근 모서리 1052">
                <a:extLst>
                  <a:ext uri="{FF2B5EF4-FFF2-40B4-BE49-F238E27FC236}">
                    <a16:creationId xmlns:a16="http://schemas.microsoft.com/office/drawing/2014/main" id="{86F9392B-C351-3DC2-E9E7-324BE62F5A46}"/>
                  </a:ext>
                </a:extLst>
              </p:cNvPr>
              <p:cNvSpPr/>
              <p:nvPr/>
            </p:nvSpPr>
            <p:spPr>
              <a:xfrm flipH="1">
                <a:off x="3759507" y="3807676"/>
                <a:ext cx="132324" cy="50059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4" name="사각형: 둥근 모서리 1053">
                <a:extLst>
                  <a:ext uri="{FF2B5EF4-FFF2-40B4-BE49-F238E27FC236}">
                    <a16:creationId xmlns:a16="http://schemas.microsoft.com/office/drawing/2014/main" id="{29342205-FEEE-59B2-7964-8F131E14FF36}"/>
                  </a:ext>
                </a:extLst>
              </p:cNvPr>
              <p:cNvSpPr/>
              <p:nvPr/>
            </p:nvSpPr>
            <p:spPr>
              <a:xfrm rot="5400000" flipH="1">
                <a:off x="3640177" y="4087203"/>
                <a:ext cx="139051" cy="3108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C684A276-770E-66E6-9D86-E26ED86EC02D}"/>
              </a:ext>
            </a:extLst>
          </p:cNvPr>
          <p:cNvSpPr/>
          <p:nvPr/>
        </p:nvSpPr>
        <p:spPr>
          <a:xfrm>
            <a:off x="6716686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6A4C93"/>
                </a:solidFill>
                <a:latin typeface="+mj-ea"/>
                <a:ea typeface="+mj-ea"/>
              </a:rPr>
              <a:t>Solution</a:t>
            </a:r>
            <a:endParaRPr lang="ko-KR" altLang="en-US" sz="1600" spc="-80">
              <a:solidFill>
                <a:srgbClr val="6A4C93"/>
              </a:solidFill>
              <a:latin typeface="+mj-ea"/>
              <a:ea typeface="+mj-ea"/>
            </a:endParaRPr>
          </a:p>
        </p:txBody>
      </p:sp>
      <p:grpSp>
        <p:nvGrpSpPr>
          <p:cNvPr id="1105" name="그룹 1104">
            <a:extLst>
              <a:ext uri="{FF2B5EF4-FFF2-40B4-BE49-F238E27FC236}">
                <a16:creationId xmlns:a16="http://schemas.microsoft.com/office/drawing/2014/main" id="{1F604A63-7A0E-ACE2-CB17-EFCBA14E2686}"/>
              </a:ext>
            </a:extLst>
          </p:cNvPr>
          <p:cNvGrpSpPr/>
          <p:nvPr/>
        </p:nvGrpSpPr>
        <p:grpSpPr>
          <a:xfrm>
            <a:off x="6422846" y="4483100"/>
            <a:ext cx="4251325" cy="299580"/>
            <a:chOff x="2218682" y="4076700"/>
            <a:chExt cx="3877318" cy="299580"/>
          </a:xfrm>
        </p:grpSpPr>
        <p:sp>
          <p:nvSpPr>
            <p:cNvPr id="1106" name="사각형: 둥근 모서리 1105">
              <a:extLst>
                <a:ext uri="{FF2B5EF4-FFF2-40B4-BE49-F238E27FC236}">
                  <a16:creationId xmlns:a16="http://schemas.microsoft.com/office/drawing/2014/main" id="{98E191BE-B6BF-61F9-8542-2C9AE39D8B96}"/>
                </a:ext>
              </a:extLst>
            </p:cNvPr>
            <p:cNvSpPr/>
            <p:nvPr/>
          </p:nvSpPr>
          <p:spPr>
            <a:xfrm>
              <a:off x="2230416" y="4089962"/>
              <a:ext cx="13290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7" name="직사각형 1106">
              <a:extLst>
                <a:ext uri="{FF2B5EF4-FFF2-40B4-BE49-F238E27FC236}">
                  <a16:creationId xmlns:a16="http://schemas.microsoft.com/office/drawing/2014/main" id="{2FFA5B38-55DA-43D7-D607-C25446AEFA05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보험사 약관 통합 제공</a:t>
              </a:r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챗봇으로 정보 접근성 극대화</a:t>
              </a:r>
            </a:p>
          </p:txBody>
        </p:sp>
      </p:grpSp>
      <p:grpSp>
        <p:nvGrpSpPr>
          <p:cNvPr id="1108" name="그룹 1107">
            <a:extLst>
              <a:ext uri="{FF2B5EF4-FFF2-40B4-BE49-F238E27FC236}">
                <a16:creationId xmlns:a16="http://schemas.microsoft.com/office/drawing/2014/main" id="{87E72B8E-30C5-F017-FC1F-312B6DF6E382}"/>
              </a:ext>
            </a:extLst>
          </p:cNvPr>
          <p:cNvGrpSpPr/>
          <p:nvPr/>
        </p:nvGrpSpPr>
        <p:grpSpPr>
          <a:xfrm>
            <a:off x="6422846" y="4926928"/>
            <a:ext cx="4251325" cy="299580"/>
            <a:chOff x="2218682" y="4076700"/>
            <a:chExt cx="3877318" cy="299580"/>
          </a:xfrm>
        </p:grpSpPr>
        <p:sp>
          <p:nvSpPr>
            <p:cNvPr id="1117" name="사각형: 둥근 모서리 1116">
              <a:extLst>
                <a:ext uri="{FF2B5EF4-FFF2-40B4-BE49-F238E27FC236}">
                  <a16:creationId xmlns:a16="http://schemas.microsoft.com/office/drawing/2014/main" id="{FA48AECE-4ADF-B67C-77C3-27264AAFB070}"/>
                </a:ext>
              </a:extLst>
            </p:cNvPr>
            <p:cNvSpPr/>
            <p:nvPr/>
          </p:nvSpPr>
          <p:spPr>
            <a:xfrm>
              <a:off x="5227368" y="4089962"/>
              <a:ext cx="76446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9" name="사각형: 둥근 모서리 1108">
              <a:extLst>
                <a:ext uri="{FF2B5EF4-FFF2-40B4-BE49-F238E27FC236}">
                  <a16:creationId xmlns:a16="http://schemas.microsoft.com/office/drawing/2014/main" id="{11B2CF6D-EB0B-BF1A-7F8F-134483656A5C}"/>
                </a:ext>
              </a:extLst>
            </p:cNvPr>
            <p:cNvSpPr/>
            <p:nvPr/>
          </p:nvSpPr>
          <p:spPr>
            <a:xfrm>
              <a:off x="2739977" y="4089962"/>
              <a:ext cx="129379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0" name="직사각형 1109">
              <a:extLst>
                <a:ext uri="{FF2B5EF4-FFF2-40B4-BE49-F238E27FC236}">
                  <a16:creationId xmlns:a16="http://schemas.microsoft.com/office/drawing/2014/main" id="{36DF917E-9B7C-2C18-3035-AD9F01AE7791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약관 내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전문 용어들 상세 해설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쉽게 이해할 수 있게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명확성 증진 </a:t>
              </a:r>
            </a:p>
          </p:txBody>
        </p:sp>
      </p:grpSp>
      <p:grpSp>
        <p:nvGrpSpPr>
          <p:cNvPr id="1111" name="그룹 1110">
            <a:extLst>
              <a:ext uri="{FF2B5EF4-FFF2-40B4-BE49-F238E27FC236}">
                <a16:creationId xmlns:a16="http://schemas.microsoft.com/office/drawing/2014/main" id="{D29C4650-C41B-48EB-0B0A-DF12B0CF270C}"/>
              </a:ext>
            </a:extLst>
          </p:cNvPr>
          <p:cNvGrpSpPr/>
          <p:nvPr/>
        </p:nvGrpSpPr>
        <p:grpSpPr>
          <a:xfrm>
            <a:off x="6422846" y="5370756"/>
            <a:ext cx="4251325" cy="299580"/>
            <a:chOff x="2218682" y="4076700"/>
            <a:chExt cx="3877318" cy="299580"/>
          </a:xfrm>
        </p:grpSpPr>
        <p:sp>
          <p:nvSpPr>
            <p:cNvPr id="1118" name="사각형: 둥근 모서리 1117">
              <a:extLst>
                <a:ext uri="{FF2B5EF4-FFF2-40B4-BE49-F238E27FC236}">
                  <a16:creationId xmlns:a16="http://schemas.microsoft.com/office/drawing/2014/main" id="{E203A792-1327-0D02-19FF-4573510D5ADA}"/>
                </a:ext>
              </a:extLst>
            </p:cNvPr>
            <p:cNvSpPr/>
            <p:nvPr/>
          </p:nvSpPr>
          <p:spPr>
            <a:xfrm>
              <a:off x="3641981" y="4089962"/>
              <a:ext cx="7352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2" name="사각형: 둥근 모서리 1111">
              <a:extLst>
                <a:ext uri="{FF2B5EF4-FFF2-40B4-BE49-F238E27FC236}">
                  <a16:creationId xmlns:a16="http://schemas.microsoft.com/office/drawing/2014/main" id="{92E9562D-C565-6160-E5F7-A4E44BDC517C}"/>
                </a:ext>
              </a:extLst>
            </p:cNvPr>
            <p:cNvSpPr/>
            <p:nvPr/>
          </p:nvSpPr>
          <p:spPr>
            <a:xfrm>
              <a:off x="2704726" y="4089962"/>
              <a:ext cx="717908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3" name="직사각형 1112">
              <a:extLst>
                <a:ext uri="{FF2B5EF4-FFF2-40B4-BE49-F238E27FC236}">
                  <a16:creationId xmlns:a16="http://schemas.microsoft.com/office/drawing/2014/main" id="{589D41E9-DB54-4263-1B76-A9BFECCD68D0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맞춤형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   체크리스트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와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추천 시스템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으로 간편한 상품 선택 지원</a:t>
              </a:r>
            </a:p>
          </p:txBody>
        </p:sp>
      </p:grpSp>
      <p:grpSp>
        <p:nvGrpSpPr>
          <p:cNvPr id="1114" name="그룹 1113">
            <a:extLst>
              <a:ext uri="{FF2B5EF4-FFF2-40B4-BE49-F238E27FC236}">
                <a16:creationId xmlns:a16="http://schemas.microsoft.com/office/drawing/2014/main" id="{F6C4DE65-EACF-1924-FECF-42CF609AF98F}"/>
              </a:ext>
            </a:extLst>
          </p:cNvPr>
          <p:cNvGrpSpPr/>
          <p:nvPr/>
        </p:nvGrpSpPr>
        <p:grpSpPr>
          <a:xfrm>
            <a:off x="6422846" y="5814585"/>
            <a:ext cx="4394280" cy="299580"/>
            <a:chOff x="2218682" y="4076700"/>
            <a:chExt cx="4007697" cy="299580"/>
          </a:xfrm>
        </p:grpSpPr>
        <p:sp>
          <p:nvSpPr>
            <p:cNvPr id="1119" name="사각형: 둥근 모서리 1118">
              <a:extLst>
                <a:ext uri="{FF2B5EF4-FFF2-40B4-BE49-F238E27FC236}">
                  <a16:creationId xmlns:a16="http://schemas.microsoft.com/office/drawing/2014/main" id="{C8FAD63B-56E8-E5E9-131A-1124BB75EAE4}"/>
                </a:ext>
              </a:extLst>
            </p:cNvPr>
            <p:cNvSpPr/>
            <p:nvPr/>
          </p:nvSpPr>
          <p:spPr>
            <a:xfrm>
              <a:off x="5205728" y="4089962"/>
              <a:ext cx="1020651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5" name="사각형: 둥근 모서리 1114">
              <a:extLst>
                <a:ext uri="{FF2B5EF4-FFF2-40B4-BE49-F238E27FC236}">
                  <a16:creationId xmlns:a16="http://schemas.microsoft.com/office/drawing/2014/main" id="{E20862B8-7D0D-614C-03E0-F81431852FCF}"/>
                </a:ext>
              </a:extLst>
            </p:cNvPr>
            <p:cNvSpPr/>
            <p:nvPr/>
          </p:nvSpPr>
          <p:spPr>
            <a:xfrm>
              <a:off x="2230415" y="4089962"/>
              <a:ext cx="1372476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6" name="직사각형 1115">
              <a:extLst>
                <a:ext uri="{FF2B5EF4-FFF2-40B4-BE49-F238E27FC236}">
                  <a16:creationId xmlns:a16="http://schemas.microsoft.com/office/drawing/2014/main" id="{05542068-77C9-37C9-55B5-CCB0B06C40C3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LLM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기반 소통형 챗봇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도입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질문 의도에 맞춰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심층적 상담 제공 </a:t>
              </a:r>
            </a:p>
          </p:txBody>
        </p:sp>
      </p:grp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98CABED1-238B-201F-597B-54DE9323DD85}"/>
              </a:ext>
            </a:extLst>
          </p:cNvPr>
          <p:cNvGrpSpPr/>
          <p:nvPr/>
        </p:nvGrpSpPr>
        <p:grpSpPr>
          <a:xfrm>
            <a:off x="4090306" y="2799129"/>
            <a:ext cx="4011388" cy="691620"/>
            <a:chOff x="3538764" y="2582251"/>
            <a:chExt cx="4011388" cy="691620"/>
          </a:xfrm>
          <a:solidFill>
            <a:schemeClr val="bg1"/>
          </a:solidFill>
        </p:grpSpPr>
        <p:sp>
          <p:nvSpPr>
            <p:cNvPr id="1123" name="사각형: 둥근 모서리 1122">
              <a:extLst>
                <a:ext uri="{FF2B5EF4-FFF2-40B4-BE49-F238E27FC236}">
                  <a16:creationId xmlns:a16="http://schemas.microsoft.com/office/drawing/2014/main" id="{DAE7BA32-7963-99C6-DBF2-D95C4A72C5BB}"/>
                </a:ext>
              </a:extLst>
            </p:cNvPr>
            <p:cNvSpPr/>
            <p:nvPr/>
          </p:nvSpPr>
          <p:spPr>
            <a:xfrm>
              <a:off x="3538764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" name="사각형: 둥근 모서리 1123">
              <a:extLst>
                <a:ext uri="{FF2B5EF4-FFF2-40B4-BE49-F238E27FC236}">
                  <a16:creationId xmlns:a16="http://schemas.microsoft.com/office/drawing/2014/main" id="{AE1DFFB3-EDE8-E075-0E3B-49A259995C72}"/>
                </a:ext>
              </a:extLst>
            </p:cNvPr>
            <p:cNvSpPr/>
            <p:nvPr/>
          </p:nvSpPr>
          <p:spPr>
            <a:xfrm>
              <a:off x="5343981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20DCAF16-9E65-4BBA-15A4-B1709AE9D629}"/>
              </a:ext>
            </a:extLst>
          </p:cNvPr>
          <p:cNvSpPr/>
          <p:nvPr/>
        </p:nvSpPr>
        <p:spPr>
          <a:xfrm>
            <a:off x="13379614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문제점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-&gt;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해결방안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66627E-C712-7046-DB8A-EC68276FED27}"/>
              </a:ext>
            </a:extLst>
          </p:cNvPr>
          <p:cNvSpPr/>
          <p:nvPr/>
        </p:nvSpPr>
        <p:spPr>
          <a:xfrm>
            <a:off x="4044206" y="2170331"/>
            <a:ext cx="4078127" cy="1539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수정 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그룹 2129">
            <a:extLst>
              <a:ext uri="{FF2B5EF4-FFF2-40B4-BE49-F238E27FC236}">
                <a16:creationId xmlns:a16="http://schemas.microsoft.com/office/drawing/2014/main" id="{BEA8BBFC-95D0-45B5-D659-67008E77C138}"/>
              </a:ext>
            </a:extLst>
          </p:cNvPr>
          <p:cNvGrpSpPr/>
          <p:nvPr/>
        </p:nvGrpSpPr>
        <p:grpSpPr>
          <a:xfrm>
            <a:off x="721001" y="2288086"/>
            <a:ext cx="3134553" cy="4395834"/>
            <a:chOff x="530863" y="2288086"/>
            <a:chExt cx="3134553" cy="439583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47455B-AA09-9E81-123E-5849BF245E23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2D6EDFA-888B-3CB0-9AD3-7B7DCF964A93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B84E2CF5-3AC8-1DF2-0665-02C4F4535A67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C885E8-661A-482D-BCE9-A03C0E3DB15A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E7386AE-5A35-D6CB-9C40-5986B2ECCB09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350B5A1-63DF-7787-8547-59D14ED0691C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1AF08549-BFD4-90B3-2CAF-9F78CCAAFE6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851D72C5-B664-9CE5-BA47-5937D4384EF2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25B100D-5AB4-DFF7-E6D2-A837CF1E7868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276ED6EE-3BB2-8D08-6809-26C70F9DC186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5" name="타원 2054">
              <a:extLst>
                <a:ext uri="{FF2B5EF4-FFF2-40B4-BE49-F238E27FC236}">
                  <a16:creationId xmlns:a16="http://schemas.microsoft.com/office/drawing/2014/main" id="{A1BC0DD6-9D8B-1E87-75B1-E74C2664D9C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6" name="타원 2055">
              <a:extLst>
                <a:ext uri="{FF2B5EF4-FFF2-40B4-BE49-F238E27FC236}">
                  <a16:creationId xmlns:a16="http://schemas.microsoft.com/office/drawing/2014/main" id="{C48B12C0-1789-280D-0D29-323D24943EE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7" name="타원 2056">
              <a:extLst>
                <a:ext uri="{FF2B5EF4-FFF2-40B4-BE49-F238E27FC236}">
                  <a16:creationId xmlns:a16="http://schemas.microsoft.com/office/drawing/2014/main" id="{EA54296C-B386-7C77-D8CD-92CB8D8E4646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8" name="타원 2057">
              <a:extLst>
                <a:ext uri="{FF2B5EF4-FFF2-40B4-BE49-F238E27FC236}">
                  <a16:creationId xmlns:a16="http://schemas.microsoft.com/office/drawing/2014/main" id="{3FACA442-F9CE-3DF7-A55B-D88185DB05ED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60" name="직선 화살표 연결선 2059">
              <a:extLst>
                <a:ext uri="{FF2B5EF4-FFF2-40B4-BE49-F238E27FC236}">
                  <a16:creationId xmlns:a16="http://schemas.microsoft.com/office/drawing/2014/main" id="{2CB2220B-288E-E2C2-1738-B2B7B3712CC8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화살표 연결선 2062">
              <a:extLst>
                <a:ext uri="{FF2B5EF4-FFF2-40B4-BE49-F238E27FC236}">
                  <a16:creationId xmlns:a16="http://schemas.microsoft.com/office/drawing/2014/main" id="{2C698678-206A-8AD7-D76D-9C1DCBA93838}"/>
                </a:ext>
              </a:extLst>
            </p:cNvPr>
            <p:cNvCxnSpPr>
              <a:cxnSpLocks/>
              <a:endCxn id="2051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화살표 연결선 2067">
              <a:extLst>
                <a:ext uri="{FF2B5EF4-FFF2-40B4-BE49-F238E27FC236}">
                  <a16:creationId xmlns:a16="http://schemas.microsoft.com/office/drawing/2014/main" id="{C37EAB6A-6956-4AEB-12BC-7190A7CFA5DA}"/>
                </a:ext>
              </a:extLst>
            </p:cNvPr>
            <p:cNvCxnSpPr>
              <a:cxnSpLocks/>
              <a:stCxn id="58" idx="5"/>
              <a:endCxn id="59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화살표 연결선 2073">
              <a:extLst>
                <a:ext uri="{FF2B5EF4-FFF2-40B4-BE49-F238E27FC236}">
                  <a16:creationId xmlns:a16="http://schemas.microsoft.com/office/drawing/2014/main" id="{50CD0EB0-DD65-B4E1-52E4-EF754233C288}"/>
                </a:ext>
              </a:extLst>
            </p:cNvPr>
            <p:cNvCxnSpPr>
              <a:cxnSpLocks/>
              <a:stCxn id="2048" idx="7"/>
              <a:endCxn id="2055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화살표 연결선 2076">
              <a:extLst>
                <a:ext uri="{FF2B5EF4-FFF2-40B4-BE49-F238E27FC236}">
                  <a16:creationId xmlns:a16="http://schemas.microsoft.com/office/drawing/2014/main" id="{150B64BF-6D74-775B-ABF6-F05CA5982F98}"/>
                </a:ext>
              </a:extLst>
            </p:cNvPr>
            <p:cNvCxnSpPr>
              <a:cxnSpLocks/>
              <a:stCxn id="58" idx="4"/>
              <a:endCxn id="208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CCDFCEB3-75CF-CF03-F865-2C979E9ED491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3" name="직선 화살표 연결선 2082">
              <a:extLst>
                <a:ext uri="{FF2B5EF4-FFF2-40B4-BE49-F238E27FC236}">
                  <a16:creationId xmlns:a16="http://schemas.microsoft.com/office/drawing/2014/main" id="{31D3EE14-3CB2-7326-CF0B-FE4BB7047A75}"/>
                </a:ext>
              </a:extLst>
            </p:cNvPr>
            <p:cNvCxnSpPr>
              <a:cxnSpLocks/>
              <a:stCxn id="2048" idx="6"/>
              <a:endCxn id="20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814DEBEA-78F7-064D-E600-5C97EC001C12}"/>
                </a:ext>
              </a:extLst>
            </p:cNvPr>
            <p:cNvCxnSpPr>
              <a:cxnSpLocks/>
              <a:stCxn id="2055" idx="7"/>
              <a:endCxn id="61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타원 2090">
              <a:extLst>
                <a:ext uri="{FF2B5EF4-FFF2-40B4-BE49-F238E27FC236}">
                  <a16:creationId xmlns:a16="http://schemas.microsoft.com/office/drawing/2014/main" id="{F251515C-E380-81B6-8947-F4BF1A212F78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2F75FC37-A2A3-32DC-8CF7-ABA07C047CBF}"/>
                </a:ext>
              </a:extLst>
            </p:cNvPr>
            <p:cNvCxnSpPr>
              <a:cxnSpLocks/>
              <a:stCxn id="58" idx="7"/>
              <a:endCxn id="2053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직선 화살표 연결선 2094">
              <a:extLst>
                <a:ext uri="{FF2B5EF4-FFF2-40B4-BE49-F238E27FC236}">
                  <a16:creationId xmlns:a16="http://schemas.microsoft.com/office/drawing/2014/main" id="{6EFE8282-9983-B32F-C31C-CB5CC5C7D745}"/>
                </a:ext>
              </a:extLst>
            </p:cNvPr>
            <p:cNvCxnSpPr>
              <a:cxnSpLocks/>
              <a:stCxn id="2057" idx="3"/>
              <a:endCxn id="63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E78AFFD2-8019-FB4B-C1A6-45794880BCDB}"/>
                </a:ext>
              </a:extLst>
            </p:cNvPr>
            <p:cNvCxnSpPr>
              <a:cxnSpLocks/>
              <a:stCxn id="2056" idx="0"/>
              <a:endCxn id="2053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93436D9B-B096-54BE-D173-F5AD24910139}"/>
                </a:ext>
              </a:extLst>
            </p:cNvPr>
            <p:cNvCxnSpPr>
              <a:cxnSpLocks/>
              <a:stCxn id="2056" idx="0"/>
              <a:endCxn id="61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FE22A1B8-1562-65BB-F75F-5DFBBAF7C48A}"/>
                </a:ext>
              </a:extLst>
            </p:cNvPr>
            <p:cNvCxnSpPr>
              <a:cxnSpLocks/>
              <a:stCxn id="2049" idx="1"/>
              <a:endCxn id="2053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98F8D1E1-DF4C-9594-AACB-F80C32BC3BEC}"/>
                </a:ext>
              </a:extLst>
            </p:cNvPr>
            <p:cNvCxnSpPr>
              <a:cxnSpLocks/>
              <a:stCxn id="2091" idx="6"/>
              <a:endCxn id="20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직선 화살표 연결선 2115">
              <a:extLst>
                <a:ext uri="{FF2B5EF4-FFF2-40B4-BE49-F238E27FC236}">
                  <a16:creationId xmlns:a16="http://schemas.microsoft.com/office/drawing/2014/main" id="{D8CF42C3-9757-5BCC-8686-68DA8A7F56DE}"/>
                </a:ext>
              </a:extLst>
            </p:cNvPr>
            <p:cNvCxnSpPr>
              <a:cxnSpLocks/>
              <a:stCxn id="2056" idx="1"/>
              <a:endCxn id="2091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직선 화살표 연결선 2118">
              <a:extLst>
                <a:ext uri="{FF2B5EF4-FFF2-40B4-BE49-F238E27FC236}">
                  <a16:creationId xmlns:a16="http://schemas.microsoft.com/office/drawing/2014/main" id="{273E02DD-8557-196A-E20B-CE8A819BCC2C}"/>
                </a:ext>
              </a:extLst>
            </p:cNvPr>
            <p:cNvCxnSpPr>
              <a:cxnSpLocks/>
              <a:stCxn id="2058" idx="5"/>
              <a:endCxn id="59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직선 화살표 연결선 2121">
              <a:extLst>
                <a:ext uri="{FF2B5EF4-FFF2-40B4-BE49-F238E27FC236}">
                  <a16:creationId xmlns:a16="http://schemas.microsoft.com/office/drawing/2014/main" id="{A77BA25A-E667-17A4-6FE7-B61CFBC405F1}"/>
                </a:ext>
              </a:extLst>
            </p:cNvPr>
            <p:cNvCxnSpPr>
              <a:cxnSpLocks/>
              <a:stCxn id="2058" idx="6"/>
              <a:endCxn id="60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직선 화살표 연결선 2124">
              <a:extLst>
                <a:ext uri="{FF2B5EF4-FFF2-40B4-BE49-F238E27FC236}">
                  <a16:creationId xmlns:a16="http://schemas.microsoft.com/office/drawing/2014/main" id="{828006CB-465C-B238-3485-43C976C51315}"/>
                </a:ext>
              </a:extLst>
            </p:cNvPr>
            <p:cNvCxnSpPr>
              <a:cxnSpLocks/>
              <a:stCxn id="60" idx="4"/>
              <a:endCxn id="208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9CD33AE-8279-2FF9-AD59-A39AFEDC0E19}"/>
              </a:ext>
            </a:extLst>
          </p:cNvPr>
          <p:cNvSpPr/>
          <p:nvPr/>
        </p:nvSpPr>
        <p:spPr>
          <a:xfrm rot="2700000">
            <a:off x="1962496" y="3164706"/>
            <a:ext cx="8267008" cy="8267008"/>
          </a:xfrm>
          <a:custGeom>
            <a:avLst/>
            <a:gdLst>
              <a:gd name="connsiteX0" fmla="*/ 1479547 w 8267008"/>
              <a:gd name="connsiteY0" fmla="*/ 1479547 h 8267008"/>
              <a:gd name="connsiteX1" fmla="*/ 5051489 w 8267008"/>
              <a:gd name="connsiteY1" fmla="*/ 0 h 8267008"/>
              <a:gd name="connsiteX2" fmla="*/ 8267008 w 8267008"/>
              <a:gd name="connsiteY2" fmla="*/ 0 h 8267008"/>
              <a:gd name="connsiteX3" fmla="*/ 0 w 8267008"/>
              <a:gd name="connsiteY3" fmla="*/ 8267008 h 8267008"/>
              <a:gd name="connsiteX4" fmla="*/ 1 w 8267008"/>
              <a:gd name="connsiteY4" fmla="*/ 5051489 h 8267008"/>
              <a:gd name="connsiteX5" fmla="*/ 1479547 w 8267008"/>
              <a:gd name="connsiteY5" fmla="*/ 1479547 h 826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67008" h="8267008">
                <a:moveTo>
                  <a:pt x="1479547" y="1479547"/>
                </a:moveTo>
                <a:cubicBezTo>
                  <a:pt x="2393687" y="565407"/>
                  <a:pt x="3656559" y="0"/>
                  <a:pt x="5051489" y="0"/>
                </a:cubicBezTo>
                <a:lnTo>
                  <a:pt x="8267008" y="0"/>
                </a:lnTo>
                <a:lnTo>
                  <a:pt x="0" y="8267008"/>
                </a:lnTo>
                <a:lnTo>
                  <a:pt x="1" y="5051489"/>
                </a:lnTo>
                <a:cubicBezTo>
                  <a:pt x="0" y="3656559"/>
                  <a:pt x="565408" y="2393687"/>
                  <a:pt x="1479547" y="1479547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목적 </a:t>
            </a:r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41F2F-71E7-641C-F961-44AAAAF8AAB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차별화 포인트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D5CBD1-A146-9D0D-FC3D-9439E964F57E}"/>
              </a:ext>
            </a:extLst>
          </p:cNvPr>
          <p:cNvGrpSpPr/>
          <p:nvPr/>
        </p:nvGrpSpPr>
        <p:grpSpPr>
          <a:xfrm>
            <a:off x="3748971" y="2957516"/>
            <a:ext cx="4694058" cy="1955928"/>
            <a:chOff x="3374984" y="2957516"/>
            <a:chExt cx="4694058" cy="195592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3F52BB-30AC-6218-6699-22FB45395711}"/>
                </a:ext>
              </a:extLst>
            </p:cNvPr>
            <p:cNvGrpSpPr/>
            <p:nvPr/>
          </p:nvGrpSpPr>
          <p:grpSpPr>
            <a:xfrm>
              <a:off x="3374984" y="2957516"/>
              <a:ext cx="1814918" cy="1955928"/>
              <a:chOff x="3374984" y="2957516"/>
              <a:chExt cx="1814918" cy="1955928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01510DF-7F62-03AD-CCA5-C2ED6E4E1F16}"/>
                  </a:ext>
                </a:extLst>
              </p:cNvPr>
              <p:cNvSpPr/>
              <p:nvPr/>
            </p:nvSpPr>
            <p:spPr>
              <a:xfrm>
                <a:off x="337498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CA91617-6452-8151-23DB-92C334F2F801}"/>
                  </a:ext>
                </a:extLst>
              </p:cNvPr>
              <p:cNvSpPr/>
              <p:nvPr/>
            </p:nvSpPr>
            <p:spPr>
              <a:xfrm>
                <a:off x="403992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E8FC285-BA4F-86F6-E954-24ED2E12AC98}"/>
                  </a:ext>
                </a:extLst>
              </p:cNvPr>
              <p:cNvSpPr/>
              <p:nvPr/>
            </p:nvSpPr>
            <p:spPr>
              <a:xfrm>
                <a:off x="3514725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POINT1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FEDFEAF-F53B-B5B6-BB55-09538FDB62B6}"/>
                  </a:ext>
                </a:extLst>
              </p:cNvPr>
              <p:cNvSpPr/>
              <p:nvPr/>
            </p:nvSpPr>
            <p:spPr>
              <a:xfrm>
                <a:off x="3514725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1</a:t>
                </a:r>
                <a:endParaRPr lang="ko-KR" altLang="en-US" sz="16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7EA39D1-5AEE-2BCA-6E86-E71898DF3C0C}"/>
                </a:ext>
              </a:extLst>
            </p:cNvPr>
            <p:cNvGrpSpPr/>
            <p:nvPr/>
          </p:nvGrpSpPr>
          <p:grpSpPr>
            <a:xfrm>
              <a:off x="6254124" y="2957516"/>
              <a:ext cx="1814918" cy="1955928"/>
              <a:chOff x="6254124" y="2957516"/>
              <a:chExt cx="1814918" cy="1955928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27DE0AE-B1B7-9DA4-1C24-BDACCAD17BDF}"/>
                  </a:ext>
                </a:extLst>
              </p:cNvPr>
              <p:cNvSpPr/>
              <p:nvPr/>
            </p:nvSpPr>
            <p:spPr>
              <a:xfrm>
                <a:off x="625412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D94BAC0-36D9-D029-0D18-F311FE806873}"/>
                  </a:ext>
                </a:extLst>
              </p:cNvPr>
              <p:cNvSpPr/>
              <p:nvPr/>
            </p:nvSpPr>
            <p:spPr>
              <a:xfrm>
                <a:off x="691906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93F8A92-7C0A-AC3D-13A7-F597AE432391}"/>
                  </a:ext>
                </a:extLst>
              </p:cNvPr>
              <p:cNvSpPr/>
              <p:nvPr/>
            </p:nvSpPr>
            <p:spPr>
              <a:xfrm>
                <a:off x="6392019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POINT2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C852F9A-3DE2-E137-940E-13A531D1FA0D}"/>
                  </a:ext>
                </a:extLst>
              </p:cNvPr>
              <p:cNvSpPr/>
              <p:nvPr/>
            </p:nvSpPr>
            <p:spPr>
              <a:xfrm>
                <a:off x="6392019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400" spc="-80">
                    <a:solidFill>
                      <a:srgbClr val="2D3142"/>
                    </a:solidFill>
                    <a:latin typeface="+mn-ea"/>
                  </a:rPr>
                  <a:t>2</a:t>
                </a:r>
                <a:endParaRPr lang="ko-KR" altLang="en-US" sz="14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201822B-1809-7D15-36A6-0AAC9A460776}"/>
              </a:ext>
            </a:extLst>
          </p:cNvPr>
          <p:cNvGrpSpPr/>
          <p:nvPr/>
        </p:nvGrpSpPr>
        <p:grpSpPr>
          <a:xfrm>
            <a:off x="2498705" y="5137784"/>
            <a:ext cx="7194590" cy="1170941"/>
            <a:chOff x="2125984" y="5137784"/>
            <a:chExt cx="7194590" cy="117094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00582F2-BDF2-A57F-29CC-EAC387BDA7FF}"/>
                </a:ext>
              </a:extLst>
            </p:cNvPr>
            <p:cNvGrpSpPr/>
            <p:nvPr/>
          </p:nvGrpSpPr>
          <p:grpSpPr>
            <a:xfrm>
              <a:off x="2125984" y="5137784"/>
              <a:ext cx="1533525" cy="1170941"/>
              <a:chOff x="2125984" y="5137784"/>
              <a:chExt cx="1533525" cy="11709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AAAFA9F-F527-079D-D2EE-6EC65DD3338F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LLM 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자연어 처리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49E12D54-AB1F-C0A5-9C38-FB7A343C413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키워드를 넘어 문맥 이해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친근한 대화 챗봇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733BB72-3D89-DD27-1A0F-6533E6B73518}"/>
                </a:ext>
              </a:extLst>
            </p:cNvPr>
            <p:cNvGrpSpPr/>
            <p:nvPr/>
          </p:nvGrpSpPr>
          <p:grpSpPr>
            <a:xfrm>
              <a:off x="4013006" y="5137784"/>
              <a:ext cx="1533525" cy="1170941"/>
              <a:chOff x="3875087" y="5137784"/>
              <a:chExt cx="1533525" cy="117094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A533898-1597-AECD-1358-EF751757B87E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기반 정확성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0E2AED2-7866-3CE5-F63D-99A15A281BCA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LLM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한계 극복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 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신뢰높은 정보 제공 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73F5CF9-AA97-E647-4FBF-3FBD5A672DDC}"/>
                </a:ext>
              </a:extLst>
            </p:cNvPr>
            <p:cNvGrpSpPr/>
            <p:nvPr/>
          </p:nvGrpSpPr>
          <p:grpSpPr>
            <a:xfrm>
              <a:off x="5900028" y="5137784"/>
              <a:ext cx="1533525" cy="1170941"/>
              <a:chOff x="2125984" y="5137784"/>
              <a:chExt cx="1533525" cy="1170941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8F5593D-872E-7A85-3A51-F713D03E5B74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개인맞춤형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C13E758-66B3-444D-B660-D6121E3406B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정형화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NO,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개인별 최적 솔루션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D00C94E-898B-CD54-E349-79F47E749193}"/>
                </a:ext>
              </a:extLst>
            </p:cNvPr>
            <p:cNvGrpSpPr/>
            <p:nvPr/>
          </p:nvGrpSpPr>
          <p:grpSpPr>
            <a:xfrm>
              <a:off x="7787049" y="5137784"/>
              <a:ext cx="1533525" cy="1170941"/>
              <a:chOff x="3875087" y="5137784"/>
              <a:chExt cx="1533525" cy="117094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F695A5D-5125-D07D-2F5E-936E9BCD69C5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상시운영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EBB925-E907-3A93-FA53-E3262B28844C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시공간 제약없이 </a:t>
                </a:r>
                <a:endParaRPr lang="en-US" altLang="ko-KR" sz="1600" spc="-80">
                  <a:solidFill>
                    <a:srgbClr val="2D3142"/>
                  </a:solidFill>
                  <a:latin typeface="+mn-ea"/>
                </a:endParaRPr>
              </a:p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24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시간 상시 접근 </a:t>
                </a:r>
              </a:p>
            </p:txBody>
          </p:sp>
        </p:grpSp>
      </p:grpSp>
      <p:grpSp>
        <p:nvGrpSpPr>
          <p:cNvPr id="2131" name="그룹 2130">
            <a:extLst>
              <a:ext uri="{FF2B5EF4-FFF2-40B4-BE49-F238E27FC236}">
                <a16:creationId xmlns:a16="http://schemas.microsoft.com/office/drawing/2014/main" id="{66A4C1F4-1A58-035F-06B5-B8252E140C79}"/>
              </a:ext>
            </a:extLst>
          </p:cNvPr>
          <p:cNvGrpSpPr/>
          <p:nvPr/>
        </p:nvGrpSpPr>
        <p:grpSpPr>
          <a:xfrm flipH="1">
            <a:off x="8299531" y="2222927"/>
            <a:ext cx="3134553" cy="4460993"/>
            <a:chOff x="530863" y="2222927"/>
            <a:chExt cx="3134553" cy="4460993"/>
          </a:xfrm>
        </p:grpSpPr>
        <p:sp>
          <p:nvSpPr>
            <p:cNvPr id="2132" name="타원 2131">
              <a:extLst>
                <a:ext uri="{FF2B5EF4-FFF2-40B4-BE49-F238E27FC236}">
                  <a16:creationId xmlns:a16="http://schemas.microsoft.com/office/drawing/2014/main" id="{32721ED7-5B09-5840-6536-452828866CFC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3" name="타원 2132">
              <a:extLst>
                <a:ext uri="{FF2B5EF4-FFF2-40B4-BE49-F238E27FC236}">
                  <a16:creationId xmlns:a16="http://schemas.microsoft.com/office/drawing/2014/main" id="{D543CD5A-4AF5-6253-5320-28AF74AA4706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4" name="타원 2133">
              <a:extLst>
                <a:ext uri="{FF2B5EF4-FFF2-40B4-BE49-F238E27FC236}">
                  <a16:creationId xmlns:a16="http://schemas.microsoft.com/office/drawing/2014/main" id="{96F4F3AD-78B4-62F5-898B-22505F7BF37E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5" name="타원 2134">
              <a:extLst>
                <a:ext uri="{FF2B5EF4-FFF2-40B4-BE49-F238E27FC236}">
                  <a16:creationId xmlns:a16="http://schemas.microsoft.com/office/drawing/2014/main" id="{D28CEE64-6004-1AF6-444F-1DDF143A38CE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6" name="타원 2135">
              <a:extLst>
                <a:ext uri="{FF2B5EF4-FFF2-40B4-BE49-F238E27FC236}">
                  <a16:creationId xmlns:a16="http://schemas.microsoft.com/office/drawing/2014/main" id="{8E0A1C27-2748-C369-BC13-6983D1D8142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7" name="타원 2136">
              <a:extLst>
                <a:ext uri="{FF2B5EF4-FFF2-40B4-BE49-F238E27FC236}">
                  <a16:creationId xmlns:a16="http://schemas.microsoft.com/office/drawing/2014/main" id="{754291C0-F467-A39A-7DB0-CDF389693F68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8" name="타원 2137">
              <a:extLst>
                <a:ext uri="{FF2B5EF4-FFF2-40B4-BE49-F238E27FC236}">
                  <a16:creationId xmlns:a16="http://schemas.microsoft.com/office/drawing/2014/main" id="{DAB2A74A-18A0-9F05-49B6-FDEB11913D1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9" name="타원 2138">
              <a:extLst>
                <a:ext uri="{FF2B5EF4-FFF2-40B4-BE49-F238E27FC236}">
                  <a16:creationId xmlns:a16="http://schemas.microsoft.com/office/drawing/2014/main" id="{2FAA7EBE-2BD4-4CDE-25C6-02232CAEF431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0" name="타원 2139">
              <a:extLst>
                <a:ext uri="{FF2B5EF4-FFF2-40B4-BE49-F238E27FC236}">
                  <a16:creationId xmlns:a16="http://schemas.microsoft.com/office/drawing/2014/main" id="{E2AF19D2-E0CA-5567-691E-71D75329435F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1" name="타원 2140">
              <a:extLst>
                <a:ext uri="{FF2B5EF4-FFF2-40B4-BE49-F238E27FC236}">
                  <a16:creationId xmlns:a16="http://schemas.microsoft.com/office/drawing/2014/main" id="{7C142C8D-9514-B9AA-E1D9-DDB0CD788703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3DF37E0E-76DA-9596-9431-DFB4387CDFA6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타원 2142">
              <a:extLst>
                <a:ext uri="{FF2B5EF4-FFF2-40B4-BE49-F238E27FC236}">
                  <a16:creationId xmlns:a16="http://schemas.microsoft.com/office/drawing/2014/main" id="{7970BEA0-7D4A-D25C-CC36-76A0306F0E74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87647E12-D10F-9D02-EC3E-F652FFBFE495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5" name="타원 2144">
              <a:extLst>
                <a:ext uri="{FF2B5EF4-FFF2-40B4-BE49-F238E27FC236}">
                  <a16:creationId xmlns:a16="http://schemas.microsoft.com/office/drawing/2014/main" id="{172BD9B0-272A-8A76-584F-227598947591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F4B2D650-7F95-5FD0-4EB7-8901F217FA30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256C9FDF-E6E0-D2B1-20C9-B935842B4879}"/>
                </a:ext>
              </a:extLst>
            </p:cNvPr>
            <p:cNvCxnSpPr>
              <a:cxnSpLocks/>
              <a:endCxn id="214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화살표 연결선 2147">
              <a:extLst>
                <a:ext uri="{FF2B5EF4-FFF2-40B4-BE49-F238E27FC236}">
                  <a16:creationId xmlns:a16="http://schemas.microsoft.com/office/drawing/2014/main" id="{799174B2-A6C3-ADB9-62AC-E6C3E3F7F37B}"/>
                </a:ext>
              </a:extLst>
            </p:cNvPr>
            <p:cNvCxnSpPr>
              <a:cxnSpLocks/>
              <a:stCxn id="2132" idx="5"/>
              <a:endCxn id="213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화살표 연결선 2148">
              <a:extLst>
                <a:ext uri="{FF2B5EF4-FFF2-40B4-BE49-F238E27FC236}">
                  <a16:creationId xmlns:a16="http://schemas.microsoft.com/office/drawing/2014/main" id="{C5E7AFA7-C7BF-D09B-77A8-BEF0EC7C30B0}"/>
                </a:ext>
              </a:extLst>
            </p:cNvPr>
            <p:cNvCxnSpPr>
              <a:cxnSpLocks/>
              <a:stCxn id="2138" idx="7"/>
              <a:endCxn id="214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화살표 연결선 2149">
              <a:extLst>
                <a:ext uri="{FF2B5EF4-FFF2-40B4-BE49-F238E27FC236}">
                  <a16:creationId xmlns:a16="http://schemas.microsoft.com/office/drawing/2014/main" id="{1ECCD608-F4A1-E714-DC3E-AEC3C9526AA0}"/>
                </a:ext>
              </a:extLst>
            </p:cNvPr>
            <p:cNvCxnSpPr>
              <a:cxnSpLocks/>
              <a:stCxn id="2132" idx="4"/>
              <a:endCxn id="215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2CADB368-16B5-93FE-3B45-B73AAD416F8D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2" name="직선 화살표 연결선 2151">
              <a:extLst>
                <a:ext uri="{FF2B5EF4-FFF2-40B4-BE49-F238E27FC236}">
                  <a16:creationId xmlns:a16="http://schemas.microsoft.com/office/drawing/2014/main" id="{A8DA73E0-EA16-3CB9-B649-FA41DD6632F9}"/>
                </a:ext>
              </a:extLst>
            </p:cNvPr>
            <p:cNvCxnSpPr>
              <a:cxnSpLocks/>
              <a:stCxn id="2138" idx="6"/>
              <a:endCxn id="213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화살표 연결선 2152">
              <a:extLst>
                <a:ext uri="{FF2B5EF4-FFF2-40B4-BE49-F238E27FC236}">
                  <a16:creationId xmlns:a16="http://schemas.microsoft.com/office/drawing/2014/main" id="{F656C75F-96F6-5874-57B3-976C32DB45D7}"/>
                </a:ext>
              </a:extLst>
            </p:cNvPr>
            <p:cNvCxnSpPr>
              <a:cxnSpLocks/>
              <a:stCxn id="2142" idx="7"/>
              <a:endCxn id="213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" name="타원 2153">
              <a:extLst>
                <a:ext uri="{FF2B5EF4-FFF2-40B4-BE49-F238E27FC236}">
                  <a16:creationId xmlns:a16="http://schemas.microsoft.com/office/drawing/2014/main" id="{3433B289-5E3C-1471-524F-F1A613D3F673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5" name="직선 화살표 연결선 2154">
              <a:extLst>
                <a:ext uri="{FF2B5EF4-FFF2-40B4-BE49-F238E27FC236}">
                  <a16:creationId xmlns:a16="http://schemas.microsoft.com/office/drawing/2014/main" id="{32DB0F41-B1AA-D930-2697-EB5A6B8211EE}"/>
                </a:ext>
              </a:extLst>
            </p:cNvPr>
            <p:cNvCxnSpPr>
              <a:cxnSpLocks/>
              <a:stCxn id="2132" idx="7"/>
              <a:endCxn id="214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4A172F8C-63F2-476A-91F5-2BDE38779445}"/>
                </a:ext>
              </a:extLst>
            </p:cNvPr>
            <p:cNvCxnSpPr>
              <a:cxnSpLocks/>
              <a:stCxn id="2144" idx="3"/>
              <a:endCxn id="213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11C35F28-188D-3889-5693-513E5A4775A5}"/>
                </a:ext>
              </a:extLst>
            </p:cNvPr>
            <p:cNvCxnSpPr>
              <a:cxnSpLocks/>
              <a:stCxn id="2143" idx="0"/>
              <a:endCxn id="214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FB28BC95-C389-F072-A91E-3E7F29F8B255}"/>
                </a:ext>
              </a:extLst>
            </p:cNvPr>
            <p:cNvCxnSpPr>
              <a:cxnSpLocks/>
              <a:stCxn id="2143" idx="0"/>
              <a:endCxn id="213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0FB81E1B-56E4-C95E-2EF8-90F1F53CBB6A}"/>
                </a:ext>
              </a:extLst>
            </p:cNvPr>
            <p:cNvCxnSpPr>
              <a:cxnSpLocks/>
              <a:stCxn id="2139" idx="1"/>
              <a:endCxn id="214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화살표 연결선 2159">
              <a:extLst>
                <a:ext uri="{FF2B5EF4-FFF2-40B4-BE49-F238E27FC236}">
                  <a16:creationId xmlns:a16="http://schemas.microsoft.com/office/drawing/2014/main" id="{86D5AF3C-8E41-376B-3D54-A8BBDD7DD454}"/>
                </a:ext>
              </a:extLst>
            </p:cNvPr>
            <p:cNvCxnSpPr>
              <a:cxnSpLocks/>
              <a:stCxn id="2154" idx="6"/>
              <a:endCxn id="213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화살표 연결선 2160">
              <a:extLst>
                <a:ext uri="{FF2B5EF4-FFF2-40B4-BE49-F238E27FC236}">
                  <a16:creationId xmlns:a16="http://schemas.microsoft.com/office/drawing/2014/main" id="{64FAD8B9-E2B9-D118-114D-1F65826D5F91}"/>
                </a:ext>
              </a:extLst>
            </p:cNvPr>
            <p:cNvCxnSpPr>
              <a:cxnSpLocks/>
              <a:stCxn id="2143" idx="1"/>
              <a:endCxn id="2154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화살표 연결선 2161">
              <a:extLst>
                <a:ext uri="{FF2B5EF4-FFF2-40B4-BE49-F238E27FC236}">
                  <a16:creationId xmlns:a16="http://schemas.microsoft.com/office/drawing/2014/main" id="{D5932BDA-FA17-EE68-1C7A-6A8042F3F53E}"/>
                </a:ext>
              </a:extLst>
            </p:cNvPr>
            <p:cNvCxnSpPr>
              <a:cxnSpLocks/>
              <a:stCxn id="2145" idx="5"/>
              <a:endCxn id="213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화살표 연결선 2162">
              <a:extLst>
                <a:ext uri="{FF2B5EF4-FFF2-40B4-BE49-F238E27FC236}">
                  <a16:creationId xmlns:a16="http://schemas.microsoft.com/office/drawing/2014/main" id="{379F2B17-5D48-092B-CC55-5CDAFB6BCEA6}"/>
                </a:ext>
              </a:extLst>
            </p:cNvPr>
            <p:cNvCxnSpPr>
              <a:cxnSpLocks/>
              <a:stCxn id="2145" idx="6"/>
              <a:endCxn id="213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화살표 연결선 2163">
              <a:extLst>
                <a:ext uri="{FF2B5EF4-FFF2-40B4-BE49-F238E27FC236}">
                  <a16:creationId xmlns:a16="http://schemas.microsoft.com/office/drawing/2014/main" id="{E545480A-EA37-6AA9-6B4F-39DB249BF068}"/>
                </a:ext>
              </a:extLst>
            </p:cNvPr>
            <p:cNvCxnSpPr>
              <a:cxnSpLocks/>
              <a:stCxn id="2134" idx="4"/>
              <a:endCxn id="215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7EBFD801-2EC6-83B6-C2A1-645BE72347EC}"/>
                </a:ext>
              </a:extLst>
            </p:cNvPr>
            <p:cNvSpPr/>
            <p:nvPr/>
          </p:nvSpPr>
          <p:spPr>
            <a:xfrm>
              <a:off x="3351766" y="293088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1" name="타원 2170">
              <a:extLst>
                <a:ext uri="{FF2B5EF4-FFF2-40B4-BE49-F238E27FC236}">
                  <a16:creationId xmlns:a16="http://schemas.microsoft.com/office/drawing/2014/main" id="{B737324D-46A9-CF5C-9838-F37E6F7BF0A0}"/>
                </a:ext>
              </a:extLst>
            </p:cNvPr>
            <p:cNvSpPr/>
            <p:nvPr/>
          </p:nvSpPr>
          <p:spPr>
            <a:xfrm>
              <a:off x="3359109" y="2222927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2" name="타원 2171">
              <a:extLst>
                <a:ext uri="{FF2B5EF4-FFF2-40B4-BE49-F238E27FC236}">
                  <a16:creationId xmlns:a16="http://schemas.microsoft.com/office/drawing/2014/main" id="{F7E3CBCE-1FD5-827E-DEFA-CC310CCD151E}"/>
                </a:ext>
              </a:extLst>
            </p:cNvPr>
            <p:cNvSpPr/>
            <p:nvPr/>
          </p:nvSpPr>
          <p:spPr>
            <a:xfrm>
              <a:off x="2178725" y="2265197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73" name="직선 화살표 연결선 2172">
            <a:extLst>
              <a:ext uri="{FF2B5EF4-FFF2-40B4-BE49-F238E27FC236}">
                <a16:creationId xmlns:a16="http://schemas.microsoft.com/office/drawing/2014/main" id="{3E8C5E5E-9299-57DA-CB9B-D91C0272660C}"/>
              </a:ext>
            </a:extLst>
          </p:cNvPr>
          <p:cNvCxnSpPr>
            <a:cxnSpLocks/>
            <a:stCxn id="2140" idx="7"/>
            <a:endCxn id="2172" idx="4"/>
          </p:cNvCxnSpPr>
          <p:nvPr/>
        </p:nvCxnSpPr>
        <p:spPr>
          <a:xfrm flipH="1" flipV="1">
            <a:off x="9749052" y="2339537"/>
            <a:ext cx="557163" cy="72064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화살표 연결선 2175">
            <a:extLst>
              <a:ext uri="{FF2B5EF4-FFF2-40B4-BE49-F238E27FC236}">
                <a16:creationId xmlns:a16="http://schemas.microsoft.com/office/drawing/2014/main" id="{889D1145-34CD-2662-B86B-8D2283A1AB92}"/>
              </a:ext>
            </a:extLst>
          </p:cNvPr>
          <p:cNvCxnSpPr>
            <a:cxnSpLocks/>
            <a:stCxn id="2136" idx="7"/>
            <a:endCxn id="2141" idx="2"/>
          </p:cNvCxnSpPr>
          <p:nvPr/>
        </p:nvCxnSpPr>
        <p:spPr>
          <a:xfrm flipH="1" flipV="1">
            <a:off x="9604660" y="2570720"/>
            <a:ext cx="744988" cy="250333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직선 화살표 연결선 2179">
            <a:extLst>
              <a:ext uri="{FF2B5EF4-FFF2-40B4-BE49-F238E27FC236}">
                <a16:creationId xmlns:a16="http://schemas.microsoft.com/office/drawing/2014/main" id="{E54AEDA2-7B70-ACF6-8470-C02CC371E7F6}"/>
              </a:ext>
            </a:extLst>
          </p:cNvPr>
          <p:cNvCxnSpPr>
            <a:cxnSpLocks/>
            <a:stCxn id="2135" idx="7"/>
            <a:endCxn id="2171" idx="3"/>
          </p:cNvCxnSpPr>
          <p:nvPr/>
        </p:nvCxnSpPr>
        <p:spPr>
          <a:xfrm flipH="1" flipV="1">
            <a:off x="8581441" y="2365121"/>
            <a:ext cx="1268543" cy="70132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직선 화살표 연결선 2182">
            <a:extLst>
              <a:ext uri="{FF2B5EF4-FFF2-40B4-BE49-F238E27FC236}">
                <a16:creationId xmlns:a16="http://schemas.microsoft.com/office/drawing/2014/main" id="{4445F418-4371-9279-130E-77B149CEE233}"/>
              </a:ext>
            </a:extLst>
          </p:cNvPr>
          <p:cNvCxnSpPr>
            <a:cxnSpLocks/>
            <a:stCxn id="2154" idx="7"/>
            <a:endCxn id="2168" idx="2"/>
          </p:cNvCxnSpPr>
          <p:nvPr/>
        </p:nvCxnSpPr>
        <p:spPr>
          <a:xfrm flipH="1" flipV="1">
            <a:off x="8613181" y="2989443"/>
            <a:ext cx="2182886" cy="874050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직선 화살표 연결선 2186">
            <a:extLst>
              <a:ext uri="{FF2B5EF4-FFF2-40B4-BE49-F238E27FC236}">
                <a16:creationId xmlns:a16="http://schemas.microsoft.com/office/drawing/2014/main" id="{A9D2D266-8D6C-CB34-55C8-BD4C473AD990}"/>
              </a:ext>
            </a:extLst>
          </p:cNvPr>
          <p:cNvCxnSpPr>
            <a:cxnSpLocks/>
            <a:stCxn id="2139" idx="0"/>
            <a:endCxn id="2168" idx="4"/>
          </p:cNvCxnSpPr>
          <p:nvPr/>
        </p:nvCxnSpPr>
        <p:spPr>
          <a:xfrm flipH="1" flipV="1">
            <a:off x="8554623" y="3048001"/>
            <a:ext cx="218935" cy="521059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화살표 연결선 2190">
            <a:extLst>
              <a:ext uri="{FF2B5EF4-FFF2-40B4-BE49-F238E27FC236}">
                <a16:creationId xmlns:a16="http://schemas.microsoft.com/office/drawing/2014/main" id="{9EA61AB4-E0DB-2A53-0BCC-495DE5502CC0}"/>
              </a:ext>
            </a:extLst>
          </p:cNvPr>
          <p:cNvCxnSpPr>
            <a:cxnSpLocks/>
            <a:stCxn id="2141" idx="6"/>
            <a:endCxn id="2168" idx="1"/>
          </p:cNvCxnSpPr>
          <p:nvPr/>
        </p:nvCxnSpPr>
        <p:spPr>
          <a:xfrm flipH="1">
            <a:off x="8596030" y="2570720"/>
            <a:ext cx="776497" cy="37731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화살표 연결선 2194">
            <a:extLst>
              <a:ext uri="{FF2B5EF4-FFF2-40B4-BE49-F238E27FC236}">
                <a16:creationId xmlns:a16="http://schemas.microsoft.com/office/drawing/2014/main" id="{31297CE3-1970-1776-893E-7D7A0C1B7560}"/>
              </a:ext>
            </a:extLst>
          </p:cNvPr>
          <p:cNvCxnSpPr>
            <a:cxnSpLocks/>
            <a:stCxn id="2171" idx="4"/>
            <a:endCxn id="2168" idx="0"/>
          </p:cNvCxnSpPr>
          <p:nvPr/>
        </p:nvCxnSpPr>
        <p:spPr>
          <a:xfrm>
            <a:off x="8522542" y="2389518"/>
            <a:ext cx="32081" cy="541367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직선 화살표 연결선 2197">
            <a:extLst>
              <a:ext uri="{FF2B5EF4-FFF2-40B4-BE49-F238E27FC236}">
                <a16:creationId xmlns:a16="http://schemas.microsoft.com/office/drawing/2014/main" id="{87137341-DB18-9CAD-565F-D0F3EBBD9FCD}"/>
              </a:ext>
            </a:extLst>
          </p:cNvPr>
          <p:cNvCxnSpPr>
            <a:cxnSpLocks/>
            <a:stCxn id="2171" idx="2"/>
            <a:endCxn id="2141" idx="7"/>
          </p:cNvCxnSpPr>
          <p:nvPr/>
        </p:nvCxnSpPr>
        <p:spPr>
          <a:xfrm>
            <a:off x="8605838" y="2306223"/>
            <a:ext cx="800684" cy="182425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직선 화살표 연결선 2198">
            <a:extLst>
              <a:ext uri="{FF2B5EF4-FFF2-40B4-BE49-F238E27FC236}">
                <a16:creationId xmlns:a16="http://schemas.microsoft.com/office/drawing/2014/main" id="{1D81035C-09FD-F2C3-24D0-315EFA61C46E}"/>
              </a:ext>
            </a:extLst>
          </p:cNvPr>
          <p:cNvCxnSpPr>
            <a:cxnSpLocks/>
            <a:stCxn id="2172" idx="6"/>
            <a:endCxn id="2171" idx="2"/>
          </p:cNvCxnSpPr>
          <p:nvPr/>
        </p:nvCxnSpPr>
        <p:spPr>
          <a:xfrm flipH="1">
            <a:off x="8605838" y="2302367"/>
            <a:ext cx="1106044" cy="385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5D2D8C-4360-C3F6-F85B-E934DD0A3578}"/>
              </a:ext>
            </a:extLst>
          </p:cNvPr>
          <p:cNvSpPr/>
          <p:nvPr/>
        </p:nvSpPr>
        <p:spPr>
          <a:xfrm>
            <a:off x="8604127" y="2583252"/>
            <a:ext cx="2947945" cy="910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>
                <a:solidFill>
                  <a:schemeClr val="tx1"/>
                </a:solidFill>
                <a:latin typeface="Arial" panose="020B0604020202020204" pitchFamily="34" charset="0"/>
              </a:rPr>
              <a:t>기대 효과(KPI) 설정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DB9A-8084-E8F5-428A-5203BDB6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F78206E-C563-F739-1E26-A27A0355AB1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F95DC23E-97D2-A294-1175-C2932F8B2741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3EE9FBF-7BAB-0729-D671-9838A5286AA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90FE86-F917-49BB-331E-85B3D2566EF1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3046FC-07EC-CD0E-0FFE-41E55344109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F6B67-6396-10A7-FE3B-8AEA2AC7502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F7C6C0-BEB2-C529-9B43-59A5F299972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B4BC4E-302A-33A8-5CA2-CE7E9FE68845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EF31FD-5BED-7EF9-F810-4F2F47FE48D2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업무분장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김진경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백엔드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보험과실 데이터셋 구축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웹페이지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/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보험 과실 데이터셋 구축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/ 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유성미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914FA6-C7D1-7755-AFFC-281978DA9C20}"/>
              </a:ext>
            </a:extLst>
          </p:cNvPr>
          <p:cNvSpPr/>
          <p:nvPr/>
        </p:nvSpPr>
        <p:spPr>
          <a:xfrm>
            <a:off x="1814286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프론트엔드</a:t>
            </a:r>
            <a:endParaRPr lang="en-US" altLang="ko-KR"/>
          </a:p>
          <a:p>
            <a:pPr algn="ctr"/>
            <a:r>
              <a:rPr lang="ko-KR" altLang="en-US"/>
              <a:t>웹디자인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9EA2BF-129B-D0A2-4D90-76E2384D7225}"/>
              </a:ext>
            </a:extLst>
          </p:cNvPr>
          <p:cNvSpPr/>
          <p:nvPr/>
        </p:nvSpPr>
        <p:spPr>
          <a:xfrm>
            <a:off x="4528458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ML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2500F1-A37F-FB7F-6398-290FFBD89B6B}"/>
              </a:ext>
            </a:extLst>
          </p:cNvPr>
          <p:cNvSpPr/>
          <p:nvPr/>
        </p:nvSpPr>
        <p:spPr>
          <a:xfrm>
            <a:off x="7097487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백엔드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42307C-5047-EFD0-CB03-75F8E0023C49}"/>
              </a:ext>
            </a:extLst>
          </p:cNvPr>
          <p:cNvSpPr/>
          <p:nvPr/>
        </p:nvSpPr>
        <p:spPr>
          <a:xfrm>
            <a:off x="9666516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백엔드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128F4ED-FC26-FD61-0EB5-00E4E3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66" y="-2784475"/>
            <a:ext cx="1072515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6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CBD1-D272-7E4C-DF26-456BE910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8746CF2-ADAA-1FEC-61F3-3A0D7118344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5876A0C8-0B0D-9AD8-6DA2-89D217DE68E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B61C3483-56BC-7D5B-402A-2E256B495DAF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CF5852-3A85-4ED1-E38F-B482497B988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06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0718E9-BEB4-CD4C-9F51-97DAFD48AA51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A63A50-BB3A-3013-F8D3-8563755472BF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F30AA6-72FE-148E-323C-A9BE1A1D69D9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DE086D-D701-BB28-18FD-296BFDCD43AB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4D3B98-18F4-BEF2-081D-CE02D4196E87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전체 추진 일정표</a:t>
            </a:r>
          </a:p>
        </p:txBody>
      </p:sp>
    </p:spTree>
    <p:extLst>
      <p:ext uri="{BB962C8B-B14F-4D97-AF65-F5344CB8AC3E}">
        <p14:creationId xmlns:p14="http://schemas.microsoft.com/office/powerpoint/2010/main" val="2536423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9696-048D-4825-49D1-3229039C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34A8271-1364-8F4A-509C-E0AE4AFE60F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D7D848BF-7632-4518-94CD-E56E147FE28A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3A2DCBE3-7CE0-6E52-F50F-A09CF09E49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08D9FB-ECA3-802C-CC79-2485895D5B3D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07  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7B0ACF-0F05-04E1-3CC2-D7AFED907B3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A2C986-641E-A6D2-4061-0E0282E7102F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E6F84A-6EC0-F0AF-A387-0E0130F0BE2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552F85-C313-4DC9-8ACA-270A7B968625}"/>
              </a:ext>
            </a:extLst>
          </p:cNvPr>
          <p:cNvSpPr/>
          <p:nvPr/>
        </p:nvSpPr>
        <p:spPr>
          <a:xfrm>
            <a:off x="1336406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38F9E7-F8F4-4EA8-23B2-12A6688F6233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2489142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D2CC-CEAB-128B-BD65-A05DFF9D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EB9AB0-A983-BE99-2691-EA8F2E5FB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BACC90F8-F78D-5141-43C2-33F39EAB2578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5D78B45-0EF2-6362-FBA9-E5CC19AA5D8C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43A8023-EDE5-2EEF-26E6-0F550EDDE6E8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F2C120D-1624-B502-3300-4C780DD4DBB8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4580DA5-4765-6820-50D2-147F47759BC0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94D883D-9FA6-31BF-B6E4-8E37230A05F5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D0A6E44-17AB-3D5F-0F52-0758CC355DC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786A477-CA4A-221B-BC83-C06AA4137621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85AB61-C785-78CB-800D-A47C9B72438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F5BC5B3-CEA3-269B-E3C6-F2E66C432215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412600A-83B9-742D-BBC5-5BCA883148E0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94D604F-5CF0-B069-FEAA-4CA461452F55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3D6FEAE-B1A9-041F-7499-07BFFC5439B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67297A0-8B88-A666-7588-1F6B939A762B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73831C0-6EF5-190F-748E-9F86FCF1CAC3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05EC37A-EA4D-2CB1-0FE8-04CF8419E8EC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8558EF09-F4DD-9BBA-558C-47DD7D593AA1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59FB45C-59EB-3939-7825-84B150C985B7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622D9D14-90B4-72EE-D252-02AB84B851A0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6F4B5207-BF38-8028-0D88-4A336EA0C15F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0A14AE71-95C9-CB22-19F6-B1507492D55B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4AF9F3D-8A2E-F340-D5C9-4D9E1ADAFF64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9437579-137C-8C7B-1531-D98EA2A760C0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5332C244-1453-FBC7-91AA-590C9331D128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C8D7DCB-2B64-6D1D-CAA9-9581139610CE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DA68431-683B-1D01-9441-3967D3275E1B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10265CA7-E936-9400-86F2-9E02252F4DC2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887BB90D-B0D6-072B-FB28-34B92B7DB62A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0A5FA4C0-6CDB-92E9-870B-48CAE7383F7A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43496CC-2868-51DB-40E9-52F98AD114E6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F1C860AA-4EA2-C706-09D6-9DAF8320128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03FC6CB1-C87C-56B1-107B-AC363E1AB0C2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92D9BA5F-7D15-7543-490F-E884F215E098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6EEA25-C62A-934E-ECF2-E6D624807899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6EAEED11-0229-46C2-E485-FBAE72D8A5ED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88261F-EC7A-0D0A-3272-4662177E7B04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EA5DFCA-0049-4DAF-9C75-50385F52EA4F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3E6AF7A9-9678-9230-4F3C-4B7CE174D02C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04298D-411A-4500-2DDD-641062FF77A2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02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6D254-BDED-B875-5A53-CBB3EBBDF74B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81A1DC-7A46-AD2D-AEE0-6AA6684E02B3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A29BFC-D6D8-2C0D-1DF6-A922CECB2CCF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A0CC77-1336-E333-9129-797029220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DF98FC-6029-AAB2-5824-CF8973A2EB8C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146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023B34-26D6-A343-F8CC-8FA01E613EF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30D744-52DB-6F4A-E8E6-46143E9AAC95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작업 진행표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6C007D-E58E-5A5B-2A4F-CDAFC8FACDE5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48D4057-A7F4-75CD-2834-6EBDBF6CCA80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E903A44-5063-BF34-AF2B-CE042BF579BB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62C2EEEF-C9E4-D906-98F6-29663A834E2B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82411A-025F-26B1-3FDF-72FC014B2BD3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34930E-38E5-558D-152D-543C79679720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D6A334-0413-6484-22F5-9A41F9C31214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E40E0A-2D73-5536-A936-43D2C53B9CD2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86114EB-8C3F-4CDA-E908-3A8F167F5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09D1BE-C717-677E-AE01-0521660A9CA4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92B2F1C-1ADA-40CD-F138-29D40CAF7E15}"/>
              </a:ext>
            </a:extLst>
          </p:cNvPr>
          <p:cNvSpPr/>
          <p:nvPr/>
        </p:nvSpPr>
        <p:spPr>
          <a:xfrm>
            <a:off x="115185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STEP1. </a:t>
            </a:r>
          </a:p>
          <a:p>
            <a:pPr algn="ctr"/>
            <a:r>
              <a:rPr lang="ko-KR" altLang="en-US"/>
              <a:t>데이터 수집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DD2BE01-82B0-6D2E-CAFB-43471919DADE}"/>
              </a:ext>
            </a:extLst>
          </p:cNvPr>
          <p:cNvSpPr/>
          <p:nvPr/>
        </p:nvSpPr>
        <p:spPr>
          <a:xfrm>
            <a:off x="2638486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STEP2. </a:t>
            </a:r>
          </a:p>
          <a:p>
            <a:pPr algn="ctr"/>
            <a:r>
              <a:rPr lang="ko-KR" altLang="en-US"/>
              <a:t>데이터셋 구축</a:t>
            </a:r>
            <a:endParaRPr lang="en-US" altLang="ko-KR"/>
          </a:p>
          <a:p>
            <a:pPr algn="ctr"/>
            <a:r>
              <a:rPr lang="en-US" altLang="ko-KR"/>
              <a:t>(</a:t>
            </a:r>
            <a:r>
              <a:rPr lang="ko-KR" altLang="en-US"/>
              <a:t>데이터 정제</a:t>
            </a:r>
            <a:r>
              <a:rPr lang="en-US" altLang="ko-KR"/>
              <a:t>&amp;</a:t>
            </a:r>
            <a:r>
              <a:rPr lang="ko-KR" altLang="en-US"/>
              <a:t>구조화</a:t>
            </a:r>
            <a:r>
              <a:rPr lang="en-US" altLang="ko-KR"/>
              <a:t>)</a:t>
            </a:r>
            <a:r>
              <a:rPr lang="ko-KR" altLang="en-US"/>
              <a:t>  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77CBCAE-520F-A7E2-B125-3E32BB54EC77}"/>
              </a:ext>
            </a:extLst>
          </p:cNvPr>
          <p:cNvSpPr/>
          <p:nvPr/>
        </p:nvSpPr>
        <p:spPr>
          <a:xfrm>
            <a:off x="5161787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STEP3.</a:t>
            </a:r>
          </a:p>
          <a:p>
            <a:pPr algn="ctr"/>
            <a:r>
              <a:rPr lang="ko-KR" altLang="en-US"/>
              <a:t>임베딩 생성</a:t>
            </a:r>
            <a:endParaRPr lang="en-US" altLang="ko-KR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CBA8350-0F99-094E-9874-F6B4744187F9}"/>
              </a:ext>
            </a:extLst>
          </p:cNvPr>
          <p:cNvSpPr/>
          <p:nvPr/>
        </p:nvSpPr>
        <p:spPr>
          <a:xfrm>
            <a:off x="7685088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STEP4.</a:t>
            </a:r>
          </a:p>
          <a:p>
            <a:pPr algn="ctr"/>
            <a:r>
              <a:rPr lang="ko-KR" altLang="en-US"/>
              <a:t>벡터 </a:t>
            </a:r>
            <a:r>
              <a:rPr lang="en-US" altLang="ko-KR"/>
              <a:t>DB </a:t>
            </a:r>
            <a:r>
              <a:rPr lang="ko-KR" altLang="en-US"/>
              <a:t>구성</a:t>
            </a:r>
            <a:endParaRPr lang="en-US" altLang="ko-KR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47458BF-873C-A1B6-0408-3537BD8804DB}"/>
              </a:ext>
            </a:extLst>
          </p:cNvPr>
          <p:cNvSpPr/>
          <p:nvPr/>
        </p:nvSpPr>
        <p:spPr>
          <a:xfrm>
            <a:off x="115185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STEP5. </a:t>
            </a:r>
            <a:br>
              <a:rPr lang="en-US" altLang="ko-KR"/>
            </a:br>
            <a:r>
              <a:rPr lang="ko-KR" altLang="en-US"/>
              <a:t>리트리버 </a:t>
            </a:r>
            <a:r>
              <a:rPr lang="en-US" altLang="ko-KR"/>
              <a:t>&amp; </a:t>
            </a:r>
            <a:r>
              <a:rPr lang="ko-KR" altLang="en-US"/>
              <a:t>검색튜닝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48D1C57-029C-45F4-7F88-10F311EFA87C}"/>
              </a:ext>
            </a:extLst>
          </p:cNvPr>
          <p:cNvSpPr/>
          <p:nvPr/>
        </p:nvSpPr>
        <p:spPr>
          <a:xfrm>
            <a:off x="2638486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STEP6. </a:t>
            </a:r>
            <a:br>
              <a:rPr lang="en-US" altLang="ko-KR"/>
            </a:br>
            <a:r>
              <a:rPr lang="ko-KR" altLang="en-US"/>
              <a:t>프롬프트 설계  </a:t>
            </a:r>
            <a:r>
              <a:rPr lang="en-US" altLang="ko-KR"/>
              <a:t>&amp; </a:t>
            </a:r>
          </a:p>
          <a:p>
            <a:pPr algn="ctr"/>
            <a:r>
              <a:rPr lang="ko-KR" altLang="en-US"/>
              <a:t>응답 템플릿 구성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4F62532-6129-C9C1-0DA8-8AA81D51C042}"/>
              </a:ext>
            </a:extLst>
          </p:cNvPr>
          <p:cNvSpPr/>
          <p:nvPr/>
        </p:nvSpPr>
        <p:spPr>
          <a:xfrm>
            <a:off x="5161787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STEP7.</a:t>
            </a:r>
            <a:br>
              <a:rPr lang="en-US" altLang="ko-KR"/>
            </a:br>
            <a:r>
              <a:rPr lang="ko-KR" altLang="en-US"/>
              <a:t>챗봇 웹서비스 개발</a:t>
            </a:r>
            <a:endParaRPr lang="en-US" altLang="ko-KR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4719729-71EF-73A1-71A8-33912DE23E2F}"/>
              </a:ext>
            </a:extLst>
          </p:cNvPr>
          <p:cNvSpPr/>
          <p:nvPr/>
        </p:nvSpPr>
        <p:spPr>
          <a:xfrm>
            <a:off x="7685088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STEP8.</a:t>
            </a:r>
            <a:br>
              <a:rPr lang="en-US" altLang="ko-KR"/>
            </a:br>
            <a:r>
              <a:rPr lang="ko-KR" altLang="en-US"/>
              <a:t>성능 평가 및 검증 </a:t>
            </a:r>
            <a:endParaRPr lang="en-US" altLang="ko-KR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2C87091-886F-3A1A-A306-76EA36AE7674}"/>
              </a:ext>
            </a:extLst>
          </p:cNvPr>
          <p:cNvSpPr/>
          <p:nvPr/>
        </p:nvSpPr>
        <p:spPr>
          <a:xfrm>
            <a:off x="10208389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STEP9.</a:t>
            </a:r>
            <a:br>
              <a:rPr lang="en-US" altLang="ko-KR"/>
            </a:br>
            <a:r>
              <a:rPr lang="ko-KR" altLang="en-US"/>
              <a:t>배포 및 운영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695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9178-57DF-7AEA-0E7D-42E2AE41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21673C-0B08-3F79-87AE-7303A92D046D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10279C-7596-F594-2D55-87FE175D93DC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FE4F64-A7C4-ADDE-F73B-A9D188101996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9B08E40-84E8-FF93-5C7A-9132D2683112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091F33B-5E86-0276-EEA0-EB0A516D29E7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213A377A-D8F1-4A6C-964B-3CDF1A8A794A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E13C9B-0BFC-9B28-4536-6CCB114B4079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32A7DC-3AAF-3146-19AF-97E397AD550D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BEFC5E-219E-8182-A269-FECBB117639D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5456C1-9B5B-2D68-8147-639625FAF923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F7B8E5F-C0ED-F9FD-4E84-99FB62F97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AF1FC5-7F4C-7903-28D0-FA628CA18192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51B72-39F7-8B61-20AA-734A3D63A69C}"/>
              </a:ext>
            </a:extLst>
          </p:cNvPr>
          <p:cNvSpPr/>
          <p:nvPr/>
        </p:nvSpPr>
        <p:spPr>
          <a:xfrm>
            <a:off x="1041264" y="2261124"/>
            <a:ext cx="9872541" cy="397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----</a:t>
            </a:r>
            <a:r>
              <a:rPr lang="ko-KR" altLang="en-US"/>
              <a:t>보험 약관 데이터셋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en-US" altLang="ko-KR"/>
              <a:t>1. </a:t>
            </a:r>
            <a:r>
              <a:rPr lang="ko-KR" altLang="en-US"/>
              <a:t>보험사별 약관 </a:t>
            </a:r>
            <a:r>
              <a:rPr lang="en-US" altLang="ko-KR"/>
              <a:t>PDF : </a:t>
            </a:r>
            <a:r>
              <a:rPr lang="ko-KR" altLang="en-US"/>
              <a:t>각 보험사별 자동차보험</a:t>
            </a:r>
            <a:r>
              <a:rPr lang="en-US" altLang="ko-KR"/>
              <a:t>(</a:t>
            </a:r>
            <a:r>
              <a:rPr lang="ko-KR" altLang="en-US"/>
              <a:t>개인용</a:t>
            </a:r>
            <a:r>
              <a:rPr lang="en-US" altLang="ko-KR"/>
              <a:t>) </a:t>
            </a:r>
            <a:r>
              <a:rPr lang="ko-KR" altLang="en-US"/>
              <a:t>약관 공식 자료 다운로드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보험 용어 </a:t>
            </a:r>
            <a:r>
              <a:rPr lang="en-US" altLang="ko-KR"/>
              <a:t>: </a:t>
            </a:r>
            <a:r>
              <a:rPr lang="ko-KR" altLang="en-US"/>
              <a:t>보험사별 데이터 웹크롤링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과실 비율 데이터셋 </a:t>
            </a:r>
            <a:r>
              <a:rPr lang="en-US" altLang="ko-KR"/>
              <a:t>: </a:t>
            </a:r>
          </a:p>
          <a:p>
            <a:pPr marL="342900" indent="-342900">
              <a:buAutoNum type="arabicPeriod"/>
            </a:pPr>
            <a:r>
              <a:rPr lang="ko-KR" altLang="en-US"/>
              <a:t>과실비율 데이터셋</a:t>
            </a:r>
            <a:r>
              <a:rPr lang="en-US" altLang="ko-KR"/>
              <a:t> PDF : </a:t>
            </a:r>
            <a:r>
              <a:rPr lang="ko-KR" altLang="en-US"/>
              <a:t>과실비율 협회 공식 자료 다운로드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과실비율 용어 </a:t>
            </a:r>
            <a:r>
              <a:rPr lang="en-US" altLang="ko-KR"/>
              <a:t>: </a:t>
            </a:r>
            <a:r>
              <a:rPr lang="ko-KR" altLang="en-US"/>
              <a:t>웹크롤링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교통사고 표준 협의서 </a:t>
            </a:r>
            <a:r>
              <a:rPr lang="en-US" altLang="ko-KR"/>
              <a:t>: </a:t>
            </a:r>
            <a:r>
              <a:rPr lang="ko-KR" altLang="en-US"/>
              <a:t>교통사고 표준 협약서 기준 다이렉트 보험사 전달용 자료 제작 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손해보험협회 전용 표준 협의서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보험가입자 데이터셋 </a:t>
            </a:r>
            <a:r>
              <a:rPr lang="en-US" altLang="ko-KR"/>
              <a:t>: ML</a:t>
            </a:r>
            <a:r>
              <a:rPr lang="ko-KR" altLang="en-US"/>
              <a:t>을 통해 가입자 대상 보험 추천</a:t>
            </a:r>
            <a:endParaRPr lang="en-US" altLang="ko-KR"/>
          </a:p>
          <a:p>
            <a:r>
              <a:rPr lang="ko-KR" altLang="en-US"/>
              <a:t>임시 보험 가입자 더미 데이터 </a:t>
            </a:r>
            <a:r>
              <a:rPr lang="en-US" altLang="ko-KR"/>
              <a:t>: MOCK </a:t>
            </a:r>
            <a:r>
              <a:rPr lang="ko-KR" altLang="en-US"/>
              <a:t>서버 데이터</a:t>
            </a:r>
            <a:r>
              <a:rPr lang="en-US" altLang="ko-KR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9946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2C114D-4662-F1B9-061E-30C62A2FAB03}"/>
              </a:ext>
            </a:extLst>
          </p:cNvPr>
          <p:cNvSpPr/>
          <p:nvPr/>
        </p:nvSpPr>
        <p:spPr>
          <a:xfrm>
            <a:off x="-1" y="1818672"/>
            <a:ext cx="5678129" cy="4316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초반에 실제 자동차 보험</a:t>
            </a:r>
            <a:r>
              <a:rPr lang="en-US" altLang="ko-KR"/>
              <a:t>API</a:t>
            </a:r>
            <a:r>
              <a:rPr lang="ko-KR" altLang="en-US"/>
              <a:t>를 사용하려 했으나 </a:t>
            </a:r>
            <a:br>
              <a:rPr lang="en-US" altLang="ko-KR"/>
            </a:br>
            <a:r>
              <a:rPr lang="ko-KR" altLang="en-US"/>
              <a:t>사업자등록증 소지한 업체에서 신청을 해야하고 비용이 발생하여 </a:t>
            </a:r>
            <a:r>
              <a:rPr lang="en-US" altLang="ko-KR"/>
              <a:t>MOCK </a:t>
            </a:r>
            <a:r>
              <a:rPr lang="ko-KR" altLang="en-US"/>
              <a:t>서버로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/>
              <a:t>Mock </a:t>
            </a:r>
            <a:r>
              <a:rPr lang="ko-KR" altLang="en-US" b="1"/>
              <a:t>서버 선택 배경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CODEF API </a:t>
            </a:r>
            <a:r>
              <a:rPr lang="ko-KR" altLang="en-US"/>
              <a:t>정식 서비스 신청 시 사업자등록증 필요</a:t>
            </a:r>
          </a:p>
          <a:p>
            <a:pPr lvl="1"/>
            <a:r>
              <a:rPr lang="ko-KR" altLang="en-US"/>
              <a:t>개발 초기 단계에서 외부 </a:t>
            </a:r>
            <a:r>
              <a:rPr lang="en-US" altLang="ko-KR"/>
              <a:t>API </a:t>
            </a:r>
            <a:r>
              <a:rPr lang="ko-KR" altLang="en-US"/>
              <a:t>의존성 제거</a:t>
            </a:r>
          </a:p>
          <a:p>
            <a:pPr lvl="1"/>
            <a:r>
              <a:rPr lang="ko-KR" altLang="en-US"/>
              <a:t>팀원 모두가 동일한 환경에서 개발 가능</a:t>
            </a:r>
          </a:p>
          <a:p>
            <a:pPr lvl="1"/>
            <a:r>
              <a:rPr lang="en-US" altLang="ko-KR"/>
              <a:t>API </a:t>
            </a:r>
            <a:r>
              <a:rPr lang="ko-KR" altLang="en-US"/>
              <a:t>호출 비용 및 제한 없는 무제한 테스트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/>
              <a:t>Mock </a:t>
            </a:r>
            <a:r>
              <a:rPr lang="ko-KR" altLang="en-US" b="1"/>
              <a:t>데이터 설계</a:t>
            </a:r>
            <a:r>
              <a:rPr lang="en-US" altLang="ko-KR"/>
              <a:t>: </a:t>
            </a:r>
            <a:r>
              <a:rPr lang="ko-KR" altLang="en-US"/>
              <a:t>실제 보험료 계산 로직과 유사한 알고리즘 구현</a:t>
            </a:r>
          </a:p>
          <a:p>
            <a:r>
              <a:rPr lang="ko-KR" altLang="en-US" b="1"/>
              <a:t>환경별 전환 지원</a:t>
            </a:r>
            <a:r>
              <a:rPr lang="en-US" altLang="ko-KR"/>
              <a:t>: </a:t>
            </a:r>
            <a:r>
              <a:rPr lang="ko-KR" altLang="en-US"/>
              <a:t>개발용 </a:t>
            </a:r>
            <a:r>
              <a:rPr lang="en-US" altLang="ko-KR"/>
              <a:t>Mock → </a:t>
            </a:r>
            <a:r>
              <a:rPr lang="ko-KR" altLang="en-US"/>
              <a:t>운영용 실제 </a:t>
            </a:r>
            <a:r>
              <a:rPr lang="en-US" altLang="ko-KR"/>
              <a:t>API </a:t>
            </a:r>
            <a:r>
              <a:rPr lang="ko-KR" altLang="en-US"/>
              <a:t>쉬운 전환</a:t>
            </a:r>
          </a:p>
          <a:p>
            <a:r>
              <a:rPr lang="ko-KR" altLang="en-US" b="1"/>
              <a:t>완전한 기능 구현</a:t>
            </a:r>
            <a:r>
              <a:rPr lang="en-US" altLang="ko-KR"/>
              <a:t>: Mock </a:t>
            </a:r>
            <a:r>
              <a:rPr lang="ko-KR" altLang="en-US"/>
              <a:t>환경에서도 모든 시스템 기능 완벽 구현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  <a:p>
            <a:endParaRPr lang="en-US" altLang="ko-KR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F3B1B9-C8C2-A667-5591-D44819251614}"/>
              </a:ext>
            </a:extLst>
          </p:cNvPr>
          <p:cNvSpPr/>
          <p:nvPr/>
        </p:nvSpPr>
        <p:spPr>
          <a:xfrm>
            <a:off x="5987845" y="1818672"/>
            <a:ext cx="5678129" cy="4316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/>
              <a:t>제 </a:t>
            </a:r>
            <a:r>
              <a:rPr lang="en-US" altLang="ko-KR" b="1"/>
              <a:t>API </a:t>
            </a:r>
            <a:r>
              <a:rPr lang="ko-KR" altLang="en-US" b="1"/>
              <a:t>사용의 제약사항</a:t>
            </a:r>
          </a:p>
          <a:p>
            <a:r>
              <a:rPr lang="en-US" altLang="ko-KR" b="1"/>
              <a:t>CODEF API </a:t>
            </a:r>
            <a:r>
              <a:rPr lang="ko-KR" altLang="en-US" b="1"/>
              <a:t>정식 이용</a:t>
            </a:r>
            <a:r>
              <a:rPr lang="en-US" altLang="ko-KR"/>
              <a:t>: </a:t>
            </a:r>
            <a:r>
              <a:rPr lang="ko-KR" altLang="en-US"/>
              <a:t>사업자등록증</a:t>
            </a:r>
            <a:r>
              <a:rPr lang="en-US" altLang="ko-KR"/>
              <a:t>, </a:t>
            </a:r>
            <a:r>
              <a:rPr lang="ko-KR" altLang="en-US"/>
              <a:t>법인 설립 필요</a:t>
            </a:r>
          </a:p>
          <a:p>
            <a:r>
              <a:rPr lang="ko-KR" altLang="en-US" b="1"/>
              <a:t>개발팀 접근성</a:t>
            </a:r>
            <a:r>
              <a:rPr lang="en-US" altLang="ko-KR"/>
              <a:t>: </a:t>
            </a:r>
            <a:r>
              <a:rPr lang="ko-KR" altLang="en-US"/>
              <a:t>학생 신분으로 정식 서비스 신청 어려움</a:t>
            </a:r>
          </a:p>
          <a:p>
            <a:r>
              <a:rPr lang="ko-KR" altLang="en-US" b="1"/>
              <a:t>비용 문제</a:t>
            </a:r>
            <a:r>
              <a:rPr lang="en-US" altLang="ko-KR"/>
              <a:t>: API </a:t>
            </a:r>
            <a:r>
              <a:rPr lang="ko-KR" altLang="en-US"/>
              <a:t>호출당 과금으로 개발 비용 부담</a:t>
            </a:r>
          </a:p>
          <a:p>
            <a:r>
              <a:rPr lang="ko-KR" altLang="en-US" b="1"/>
              <a:t>개발 속도</a:t>
            </a:r>
            <a:r>
              <a:rPr lang="en-US" altLang="ko-KR"/>
              <a:t>: </a:t>
            </a:r>
            <a:r>
              <a:rPr lang="ko-KR" altLang="en-US"/>
              <a:t>외부 </a:t>
            </a:r>
            <a:r>
              <a:rPr lang="en-US" altLang="ko-KR"/>
              <a:t>API </a:t>
            </a:r>
            <a:r>
              <a:rPr lang="ko-KR" altLang="en-US"/>
              <a:t>승인 대기시간으로 인한 개발 지연</a:t>
            </a:r>
            <a:endParaRPr lang="en-US" altLang="ko-KR"/>
          </a:p>
          <a:p>
            <a:endParaRPr lang="ko-KR" altLang="en-US"/>
          </a:p>
          <a:p>
            <a:r>
              <a:rPr lang="ko-KR" altLang="en-US" b="1"/>
              <a:t>✅ </a:t>
            </a:r>
            <a:r>
              <a:rPr lang="en-US" altLang="ko-KR" b="1"/>
              <a:t>Mock </a:t>
            </a:r>
            <a:r>
              <a:rPr lang="ko-KR" altLang="en-US" b="1"/>
              <a:t>서버 선택의 장점</a:t>
            </a:r>
          </a:p>
          <a:p>
            <a:r>
              <a:rPr lang="ko-KR" altLang="en-US" b="1"/>
              <a:t>독립적 개발 환경</a:t>
            </a:r>
            <a:r>
              <a:rPr lang="en-US" altLang="ko-KR"/>
              <a:t>: </a:t>
            </a:r>
            <a:r>
              <a:rPr lang="ko-KR" altLang="en-US"/>
              <a:t>외부 </a:t>
            </a:r>
            <a:r>
              <a:rPr lang="en-US" altLang="ko-KR"/>
              <a:t>API </a:t>
            </a:r>
            <a:r>
              <a:rPr lang="ko-KR" altLang="en-US"/>
              <a:t>의존성 없는 완전한 개발 진행</a:t>
            </a:r>
          </a:p>
          <a:p>
            <a:r>
              <a:rPr lang="ko-KR" altLang="en-US" b="1"/>
              <a:t>실제 로직 구현</a:t>
            </a:r>
            <a:r>
              <a:rPr lang="en-US" altLang="ko-KR"/>
              <a:t>: 11</a:t>
            </a:r>
            <a:r>
              <a:rPr lang="ko-KR" altLang="en-US"/>
              <a:t>개 보험사의 실제 요율 계산 방식 시뮬레이션</a:t>
            </a:r>
          </a:p>
          <a:p>
            <a:r>
              <a:rPr lang="ko-KR" altLang="en-US" b="1"/>
              <a:t>무제한 테스트</a:t>
            </a:r>
            <a:r>
              <a:rPr lang="en-US" altLang="ko-KR"/>
              <a:t>: API </a:t>
            </a:r>
            <a:r>
              <a:rPr lang="ko-KR" altLang="en-US"/>
              <a:t>호출 제한 없는 자유로운 개발 및 테스트</a:t>
            </a:r>
          </a:p>
          <a:p>
            <a:r>
              <a:rPr lang="ko-KR" altLang="en-US" b="1"/>
              <a:t>팀 협업 최적화</a:t>
            </a:r>
            <a:r>
              <a:rPr lang="en-US" altLang="ko-KR"/>
              <a:t>: </a:t>
            </a:r>
            <a:r>
              <a:rPr lang="ko-KR" altLang="en-US"/>
              <a:t>모든 팀원이 동일한 환경에서 개발 가능</a:t>
            </a:r>
          </a:p>
          <a:p>
            <a:r>
              <a:rPr lang="ko-KR" altLang="en-US" b="1"/>
              <a:t>완벽한 시스템 구현</a:t>
            </a:r>
            <a:r>
              <a:rPr lang="en-US" altLang="ko-KR"/>
              <a:t>: Mock </a:t>
            </a:r>
            <a:r>
              <a:rPr lang="ko-KR" altLang="en-US"/>
              <a:t>환경에서도 실제 서비스와 동일한 기능 구현</a:t>
            </a:r>
          </a:p>
        </p:txBody>
      </p:sp>
    </p:spTree>
    <p:extLst>
      <p:ext uri="{BB962C8B-B14F-4D97-AF65-F5344CB8AC3E}">
        <p14:creationId xmlns:p14="http://schemas.microsoft.com/office/powerpoint/2010/main" val="2473638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36E6-2AF2-92C8-B067-D25AA909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3CB0F4-2596-40C6-A540-8F11A40B2BE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03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013FA3-B10F-65DC-82EC-1006F8E98EC0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A3AB49-2303-222A-7D35-37D1FBD73599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1FFBCA1-EE5F-2FEB-9ED6-32DBA4D64907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99F5A3E-0C03-C0EC-D27F-D36B0D841C97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BDB7829F-8E48-233A-48EB-D081AE23D61C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EACD30-BD36-871D-4DC0-2C9AD8655883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26B475-D897-FD23-9375-605423D2D5C9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A64779-9D60-C76D-7E7A-00F88503CC57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2AB8DA-D854-39E7-DF0C-EE4F18D449DB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BA04B27-DB6B-0A16-EE84-1A160F78A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7F1BD5-D1F7-627B-2777-C48D814CA5BD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491DA8-2C7D-7C8C-3E18-81D8B0FF51F7}"/>
              </a:ext>
            </a:extLst>
          </p:cNvPr>
          <p:cNvSpPr/>
          <p:nvPr/>
        </p:nvSpPr>
        <p:spPr>
          <a:xfrm>
            <a:off x="1041264" y="2261124"/>
            <a:ext cx="9872541" cy="397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어떻게 수집했는지에 대한 방안</a:t>
            </a:r>
            <a:r>
              <a:rPr lang="en-US" altLang="ko-KR"/>
              <a:t>? 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보험 약관 데이터셋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en-US" altLang="ko-KR"/>
              <a:t>1. </a:t>
            </a:r>
            <a:r>
              <a:rPr lang="ko-KR" altLang="en-US"/>
              <a:t>보험사별 약관 </a:t>
            </a:r>
            <a:r>
              <a:rPr lang="en-US" altLang="ko-KR"/>
              <a:t>PDF : </a:t>
            </a:r>
            <a:r>
              <a:rPr lang="ko-KR" altLang="en-US"/>
              <a:t>각 보험사별 자동차보험</a:t>
            </a:r>
            <a:r>
              <a:rPr lang="en-US" altLang="ko-KR"/>
              <a:t>(</a:t>
            </a:r>
            <a:r>
              <a:rPr lang="ko-KR" altLang="en-US"/>
              <a:t>개인용</a:t>
            </a:r>
            <a:r>
              <a:rPr lang="en-US" altLang="ko-KR"/>
              <a:t>) </a:t>
            </a:r>
            <a:r>
              <a:rPr lang="ko-KR" altLang="en-US"/>
              <a:t>약관 공식 자료 다운로드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보험 용어 </a:t>
            </a:r>
            <a:r>
              <a:rPr lang="en-US" altLang="ko-KR"/>
              <a:t>: </a:t>
            </a:r>
            <a:r>
              <a:rPr lang="ko-KR" altLang="en-US"/>
              <a:t>보험사별 데이터 웹크롤링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과실 비율 데이터셋 </a:t>
            </a:r>
            <a:r>
              <a:rPr lang="en-US" altLang="ko-KR"/>
              <a:t>: </a:t>
            </a:r>
          </a:p>
          <a:p>
            <a:pPr marL="342900" indent="-342900">
              <a:buAutoNum type="arabicPeriod"/>
            </a:pPr>
            <a:r>
              <a:rPr lang="ko-KR" altLang="en-US"/>
              <a:t>과실비율 데이터셋</a:t>
            </a:r>
            <a:r>
              <a:rPr lang="en-US" altLang="ko-KR"/>
              <a:t> PDF : </a:t>
            </a:r>
            <a:r>
              <a:rPr lang="ko-KR" altLang="en-US"/>
              <a:t>과실비율 협회 공식 자료 다운로드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과실비율 용어 </a:t>
            </a:r>
            <a:r>
              <a:rPr lang="en-US" altLang="ko-KR"/>
              <a:t>: </a:t>
            </a:r>
            <a:r>
              <a:rPr lang="ko-KR" altLang="en-US"/>
              <a:t>웹크롤링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교통사고 표준 협의서 </a:t>
            </a:r>
            <a:r>
              <a:rPr lang="en-US" altLang="ko-KR"/>
              <a:t>: </a:t>
            </a:r>
            <a:r>
              <a:rPr lang="ko-KR" altLang="en-US"/>
              <a:t>교통사고 표준 협약서 기준 다이렉트 보험사 전달용 자료 제작 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손해보험협회 전용 표준 협의서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보험가입자 데이터셋 </a:t>
            </a:r>
            <a:r>
              <a:rPr lang="en-US" altLang="ko-KR"/>
              <a:t>: ML</a:t>
            </a:r>
            <a:r>
              <a:rPr lang="ko-KR" altLang="en-US"/>
              <a:t>을 통해 가입자 대상 보험 추천</a:t>
            </a:r>
            <a:endParaRPr lang="en-US" altLang="ko-KR"/>
          </a:p>
          <a:p>
            <a:r>
              <a:rPr lang="ko-KR" altLang="en-US"/>
              <a:t>임시 보험 가입자 더미 데이터 </a:t>
            </a:r>
            <a:r>
              <a:rPr lang="en-US" altLang="ko-KR"/>
              <a:t>: MOCK </a:t>
            </a:r>
            <a:r>
              <a:rPr lang="ko-KR" altLang="en-US"/>
              <a:t>서버 데이터</a:t>
            </a:r>
            <a:r>
              <a:rPr lang="en-US" altLang="ko-KR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3230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1977-9586-64A0-16DB-AEE8A1B6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A96608-558F-09A0-E43D-E22289DB5A86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85432B-190A-8CFF-96CF-8A4C39545938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1CEA5B-E6BB-C122-A69F-45E92C53A27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2CFAE4-F856-6BEB-5C71-F16874149C99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E3A4EB2-1101-E118-0CC6-124F78BA7658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26FF6FE0-6291-A71D-D3D4-CF02987CB49A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4EC9FE-5518-5C8B-585A-5A852D894670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383E59-CA74-D3AB-39CF-5EDD57E81DDE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6DD6F8-6F40-B9F1-35B3-E53CFF87F9A6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4077AC8-DA6A-BDDE-D097-B71A4FF64457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FC29721-0E9E-7DEB-E98F-2355BA7D0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06A9E47-7E79-53E6-01F5-311156475677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5FFF166-F620-F1E4-C548-F86D704032D8}"/>
              </a:ext>
            </a:extLst>
          </p:cNvPr>
          <p:cNvSpPr/>
          <p:nvPr/>
        </p:nvSpPr>
        <p:spPr>
          <a:xfrm>
            <a:off x="856649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77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717728-0904-C38E-FED2-653FA70715CA}"/>
              </a:ext>
            </a:extLst>
          </p:cNvPr>
          <p:cNvSpPr/>
          <p:nvPr/>
        </p:nvSpPr>
        <p:spPr>
          <a:xfrm>
            <a:off x="6450353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77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46A7CFA-01BF-E2EC-9FEE-9EF54723307F}"/>
              </a:ext>
            </a:extLst>
          </p:cNvPr>
          <p:cNvGrpSpPr/>
          <p:nvPr/>
        </p:nvGrpSpPr>
        <p:grpSpPr>
          <a:xfrm>
            <a:off x="5870904" y="3884048"/>
            <a:ext cx="354941" cy="221592"/>
            <a:chOff x="5870904" y="3884048"/>
            <a:chExt cx="354941" cy="221592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AB723BEB-4899-D7DA-9923-75B5C92CE6C2}"/>
                </a:ext>
              </a:extLst>
            </p:cNvPr>
            <p:cNvSpPr/>
            <p:nvPr/>
          </p:nvSpPr>
          <p:spPr>
            <a:xfrm rot="13500000">
              <a:off x="6004254" y="3884048"/>
              <a:ext cx="221591" cy="221591"/>
            </a:xfrm>
            <a:custGeom>
              <a:avLst/>
              <a:gdLst>
                <a:gd name="connsiteX0" fmla="*/ 214636 w 221591"/>
                <a:gd name="connsiteY0" fmla="*/ 214635 h 221591"/>
                <a:gd name="connsiteX1" fmla="*/ 197847 w 221591"/>
                <a:gd name="connsiteY1" fmla="*/ 221589 h 221591"/>
                <a:gd name="connsiteX2" fmla="*/ 23747 w 221591"/>
                <a:gd name="connsiteY2" fmla="*/ 221589 h 221591"/>
                <a:gd name="connsiteX3" fmla="*/ 23742 w 221591"/>
                <a:gd name="connsiteY3" fmla="*/ 221591 h 221591"/>
                <a:gd name="connsiteX4" fmla="*/ 23743 w 221591"/>
                <a:gd name="connsiteY4" fmla="*/ 221590 h 221591"/>
                <a:gd name="connsiteX5" fmla="*/ 0 w 221591"/>
                <a:gd name="connsiteY5" fmla="*/ 197847 h 221591"/>
                <a:gd name="connsiteX6" fmla="*/ 0 w 221591"/>
                <a:gd name="connsiteY6" fmla="*/ 23743 h 221591"/>
                <a:gd name="connsiteX7" fmla="*/ 23743 w 221591"/>
                <a:gd name="connsiteY7" fmla="*/ 0 h 221591"/>
                <a:gd name="connsiteX8" fmla="*/ 47486 w 221591"/>
                <a:gd name="connsiteY8" fmla="*/ 23743 h 221591"/>
                <a:gd name="connsiteX9" fmla="*/ 47485 w 221591"/>
                <a:gd name="connsiteY9" fmla="*/ 174103 h 221591"/>
                <a:gd name="connsiteX10" fmla="*/ 197848 w 221591"/>
                <a:gd name="connsiteY10" fmla="*/ 174104 h 221591"/>
                <a:gd name="connsiteX11" fmla="*/ 221591 w 221591"/>
                <a:gd name="connsiteY11" fmla="*/ 197847 h 221591"/>
                <a:gd name="connsiteX12" fmla="*/ 221590 w 221591"/>
                <a:gd name="connsiteY12" fmla="*/ 197846 h 221591"/>
                <a:gd name="connsiteX13" fmla="*/ 214636 w 221591"/>
                <a:gd name="connsiteY13" fmla="*/ 214635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214636" y="214635"/>
                  </a:moveTo>
                  <a:cubicBezTo>
                    <a:pt x="210339" y="218931"/>
                    <a:pt x="204403" y="221589"/>
                    <a:pt x="197847" y="221589"/>
                  </a:cubicBezTo>
                  <a:lnTo>
                    <a:pt x="23747" y="221589"/>
                  </a:lnTo>
                  <a:lnTo>
                    <a:pt x="23742" y="221591"/>
                  </a:lnTo>
                  <a:lnTo>
                    <a:pt x="23743" y="221590"/>
                  </a:lnTo>
                  <a:cubicBezTo>
                    <a:pt x="10630" y="221590"/>
                    <a:pt x="0" y="210960"/>
                    <a:pt x="0" y="197847"/>
                  </a:cubicBezTo>
                  <a:lnTo>
                    <a:pt x="0" y="23743"/>
                  </a:lnTo>
                  <a:cubicBezTo>
                    <a:pt x="0" y="10630"/>
                    <a:pt x="10630" y="0"/>
                    <a:pt x="23743" y="0"/>
                  </a:cubicBezTo>
                  <a:cubicBezTo>
                    <a:pt x="36856" y="0"/>
                    <a:pt x="47486" y="10630"/>
                    <a:pt x="47486" y="23743"/>
                  </a:cubicBezTo>
                  <a:lnTo>
                    <a:pt x="47485" y="174103"/>
                  </a:lnTo>
                  <a:lnTo>
                    <a:pt x="197848" y="174104"/>
                  </a:lnTo>
                  <a:cubicBezTo>
                    <a:pt x="210961" y="174104"/>
                    <a:pt x="221591" y="184734"/>
                    <a:pt x="221591" y="197847"/>
                  </a:cubicBezTo>
                  <a:lnTo>
                    <a:pt x="221590" y="197846"/>
                  </a:lnTo>
                  <a:cubicBezTo>
                    <a:pt x="221590" y="204402"/>
                    <a:pt x="218932" y="210338"/>
                    <a:pt x="214636" y="214635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670F7F6C-B1E3-17F3-0B51-D053D467A11D}"/>
                </a:ext>
              </a:extLst>
            </p:cNvPr>
            <p:cNvSpPr/>
            <p:nvPr/>
          </p:nvSpPr>
          <p:spPr>
            <a:xfrm rot="8100000">
              <a:off x="5870904" y="3884049"/>
              <a:ext cx="221591" cy="221591"/>
            </a:xfrm>
            <a:custGeom>
              <a:avLst/>
              <a:gdLst>
                <a:gd name="connsiteX0" fmla="*/ 6956 w 221591"/>
                <a:gd name="connsiteY0" fmla="*/ 214636 h 221591"/>
                <a:gd name="connsiteX1" fmla="*/ 2 w 221591"/>
                <a:gd name="connsiteY1" fmla="*/ 197847 h 221591"/>
                <a:gd name="connsiteX2" fmla="*/ 2 w 221591"/>
                <a:gd name="connsiteY2" fmla="*/ 23747 h 221591"/>
                <a:gd name="connsiteX3" fmla="*/ 0 w 221591"/>
                <a:gd name="connsiteY3" fmla="*/ 23742 h 221591"/>
                <a:gd name="connsiteX4" fmla="*/ 1 w 221591"/>
                <a:gd name="connsiteY4" fmla="*/ 23743 h 221591"/>
                <a:gd name="connsiteX5" fmla="*/ 23744 w 221591"/>
                <a:gd name="connsiteY5" fmla="*/ 0 h 221591"/>
                <a:gd name="connsiteX6" fmla="*/ 197848 w 221591"/>
                <a:gd name="connsiteY6" fmla="*/ 0 h 221591"/>
                <a:gd name="connsiteX7" fmla="*/ 221591 w 221591"/>
                <a:gd name="connsiteY7" fmla="*/ 23743 h 221591"/>
                <a:gd name="connsiteX8" fmla="*/ 197847 w 221591"/>
                <a:gd name="connsiteY8" fmla="*/ 47486 h 221591"/>
                <a:gd name="connsiteX9" fmla="*/ 47488 w 221591"/>
                <a:gd name="connsiteY9" fmla="*/ 47485 h 221591"/>
                <a:gd name="connsiteX10" fmla="*/ 47487 w 221591"/>
                <a:gd name="connsiteY10" fmla="*/ 197848 h 221591"/>
                <a:gd name="connsiteX11" fmla="*/ 23744 w 221591"/>
                <a:gd name="connsiteY11" fmla="*/ 221591 h 221591"/>
                <a:gd name="connsiteX12" fmla="*/ 23745 w 221591"/>
                <a:gd name="connsiteY12" fmla="*/ 221590 h 221591"/>
                <a:gd name="connsiteX13" fmla="*/ 6956 w 221591"/>
                <a:gd name="connsiteY13" fmla="*/ 214636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6956" y="214636"/>
                  </a:moveTo>
                  <a:cubicBezTo>
                    <a:pt x="2659" y="210339"/>
                    <a:pt x="2" y="204403"/>
                    <a:pt x="2" y="197847"/>
                  </a:cubicBezTo>
                  <a:lnTo>
                    <a:pt x="2" y="23747"/>
                  </a:lnTo>
                  <a:lnTo>
                    <a:pt x="0" y="23742"/>
                  </a:lnTo>
                  <a:lnTo>
                    <a:pt x="1" y="23743"/>
                  </a:lnTo>
                  <a:cubicBezTo>
                    <a:pt x="1" y="10630"/>
                    <a:pt x="10631" y="0"/>
                    <a:pt x="23744" y="0"/>
                  </a:cubicBezTo>
                  <a:lnTo>
                    <a:pt x="197848" y="0"/>
                  </a:lnTo>
                  <a:cubicBezTo>
                    <a:pt x="210961" y="0"/>
                    <a:pt x="221591" y="10630"/>
                    <a:pt x="221591" y="23743"/>
                  </a:cubicBezTo>
                  <a:cubicBezTo>
                    <a:pt x="221591" y="36856"/>
                    <a:pt x="210961" y="47486"/>
                    <a:pt x="197847" y="47486"/>
                  </a:cubicBezTo>
                  <a:lnTo>
                    <a:pt x="47488" y="47485"/>
                  </a:lnTo>
                  <a:lnTo>
                    <a:pt x="47487" y="197848"/>
                  </a:lnTo>
                  <a:cubicBezTo>
                    <a:pt x="47487" y="210961"/>
                    <a:pt x="36857" y="221591"/>
                    <a:pt x="23744" y="221591"/>
                  </a:cubicBezTo>
                  <a:lnTo>
                    <a:pt x="23745" y="221590"/>
                  </a:lnTo>
                  <a:cubicBezTo>
                    <a:pt x="17189" y="221590"/>
                    <a:pt x="11253" y="218932"/>
                    <a:pt x="6956" y="214636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pic>
        <p:nvPicPr>
          <p:cNvPr id="38" name="Picture 2">
            <a:extLst>
              <a:ext uri="{FF2B5EF4-FFF2-40B4-BE49-F238E27FC236}">
                <a16:creationId xmlns:a16="http://schemas.microsoft.com/office/drawing/2014/main" id="{58CA0B50-EDF3-CD6C-74C6-862E032EE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2302" y="2426676"/>
            <a:ext cx="70008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FDD94950-BDBC-0915-F72E-D84E047BE10E}"/>
              </a:ext>
            </a:extLst>
          </p:cNvPr>
          <p:cNvGrpSpPr/>
          <p:nvPr/>
        </p:nvGrpSpPr>
        <p:grpSpPr>
          <a:xfrm>
            <a:off x="1568904" y="2610794"/>
            <a:ext cx="3479346" cy="626110"/>
            <a:chOff x="1568904" y="2610794"/>
            <a:chExt cx="3479346" cy="62611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DB19FA1-5AA1-6CAF-2197-533CD5DD3C79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어쩌고 저쩌고 했어요 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</a:t>
              </a:r>
            </a:p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이렇게 저렇게 해보았습니다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~~~~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72F3D1F-93F6-67D0-C7BD-00B1B4AA9FF2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AS - IS 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573DEF8-1D55-54E5-F7C2-5F926B5D7FAE}"/>
              </a:ext>
            </a:extLst>
          </p:cNvPr>
          <p:cNvGrpSpPr/>
          <p:nvPr/>
        </p:nvGrpSpPr>
        <p:grpSpPr>
          <a:xfrm>
            <a:off x="7143750" y="2610794"/>
            <a:ext cx="3479346" cy="626110"/>
            <a:chOff x="1568904" y="2610794"/>
            <a:chExt cx="3479346" cy="62611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3435422-358E-4587-068E-63B52CC8D2BF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그래서 이렇게 했더니 </a:t>
              </a:r>
              <a:endParaRPr lang="en-US" altLang="ko-KR" spc="-9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0000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로 </a:t>
              </a:r>
              <a:r>
                <a:rPr lang="ko-KR" altLang="en-US" spc="-90">
                  <a:solidFill>
                    <a:srgbClr val="B00020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정확도가 향상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되었어요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9C657EB-0C75-0110-66DF-F0264F713482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TO - BE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039700D-4208-91BA-4C76-94A87C64B481}"/>
              </a:ext>
            </a:extLst>
          </p:cNvPr>
          <p:cNvGrpSpPr/>
          <p:nvPr/>
        </p:nvGrpSpPr>
        <p:grpSpPr>
          <a:xfrm>
            <a:off x="14679577" y="2031526"/>
            <a:ext cx="540490" cy="1127562"/>
            <a:chOff x="7078980" y="2031526"/>
            <a:chExt cx="540490" cy="1127562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B9AD4BE-73CD-CEB9-86EA-6E18F471904C}"/>
                </a:ext>
              </a:extLst>
            </p:cNvPr>
            <p:cNvSpPr/>
            <p:nvPr/>
          </p:nvSpPr>
          <p:spPr>
            <a:xfrm>
              <a:off x="7078980" y="2031526"/>
              <a:ext cx="486138" cy="656708"/>
            </a:xfrm>
            <a:custGeom>
              <a:avLst/>
              <a:gdLst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35780 w 486138"/>
                <a:gd name="connsiteY6" fmla="*/ 652462 h 652462"/>
                <a:gd name="connsiteX7" fmla="*/ 0 w 486138"/>
                <a:gd name="connsiteY7" fmla="*/ 616682 h 652462"/>
                <a:gd name="connsiteX8" fmla="*/ 0 w 486138"/>
                <a:gd name="connsiteY8" fmla="*/ 35780 h 652462"/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238601 w 486138"/>
                <a:gd name="connsiteY6" fmla="*/ 647463 h 652462"/>
                <a:gd name="connsiteX7" fmla="*/ 35780 w 486138"/>
                <a:gd name="connsiteY7" fmla="*/ 652462 h 652462"/>
                <a:gd name="connsiteX8" fmla="*/ 0 w 486138"/>
                <a:gd name="connsiteY8" fmla="*/ 616682 h 652462"/>
                <a:gd name="connsiteX9" fmla="*/ 0 w 486138"/>
                <a:gd name="connsiteY9" fmla="*/ 35780 h 652462"/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245745 w 486138"/>
                <a:gd name="connsiteY6" fmla="*/ 442676 h 652462"/>
                <a:gd name="connsiteX7" fmla="*/ 35780 w 486138"/>
                <a:gd name="connsiteY7" fmla="*/ 652462 h 652462"/>
                <a:gd name="connsiteX8" fmla="*/ 0 w 486138"/>
                <a:gd name="connsiteY8" fmla="*/ 616682 h 652462"/>
                <a:gd name="connsiteX9" fmla="*/ 0 w 486138"/>
                <a:gd name="connsiteY9" fmla="*/ 35780 h 652462"/>
                <a:gd name="connsiteX0" fmla="*/ 0 w 486138"/>
                <a:gd name="connsiteY0" fmla="*/ 35780 h 683993"/>
                <a:gd name="connsiteX1" fmla="*/ 35780 w 486138"/>
                <a:gd name="connsiteY1" fmla="*/ 0 h 683993"/>
                <a:gd name="connsiteX2" fmla="*/ 450358 w 486138"/>
                <a:gd name="connsiteY2" fmla="*/ 0 h 683993"/>
                <a:gd name="connsiteX3" fmla="*/ 486138 w 486138"/>
                <a:gd name="connsiteY3" fmla="*/ 35780 h 683993"/>
                <a:gd name="connsiteX4" fmla="*/ 486138 w 486138"/>
                <a:gd name="connsiteY4" fmla="*/ 616682 h 683993"/>
                <a:gd name="connsiteX5" fmla="*/ 450358 w 486138"/>
                <a:gd name="connsiteY5" fmla="*/ 652462 h 683993"/>
                <a:gd name="connsiteX6" fmla="*/ 245745 w 486138"/>
                <a:gd name="connsiteY6" fmla="*/ 442676 h 683993"/>
                <a:gd name="connsiteX7" fmla="*/ 35780 w 486138"/>
                <a:gd name="connsiteY7" fmla="*/ 652462 h 683993"/>
                <a:gd name="connsiteX8" fmla="*/ 0 w 486138"/>
                <a:gd name="connsiteY8" fmla="*/ 616682 h 683993"/>
                <a:gd name="connsiteX9" fmla="*/ 0 w 486138"/>
                <a:gd name="connsiteY9" fmla="*/ 35780 h 683993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91598"/>
                <a:gd name="connsiteY0" fmla="*/ 35780 h 700156"/>
                <a:gd name="connsiteX1" fmla="*/ 35780 w 491598"/>
                <a:gd name="connsiteY1" fmla="*/ 0 h 700156"/>
                <a:gd name="connsiteX2" fmla="*/ 450358 w 491598"/>
                <a:gd name="connsiteY2" fmla="*/ 0 h 700156"/>
                <a:gd name="connsiteX3" fmla="*/ 486138 w 491598"/>
                <a:gd name="connsiteY3" fmla="*/ 35780 h 700156"/>
                <a:gd name="connsiteX4" fmla="*/ 486138 w 491598"/>
                <a:gd name="connsiteY4" fmla="*/ 616682 h 700156"/>
                <a:gd name="connsiteX5" fmla="*/ 450358 w 491598"/>
                <a:gd name="connsiteY5" fmla="*/ 652462 h 700156"/>
                <a:gd name="connsiteX6" fmla="*/ 245745 w 491598"/>
                <a:gd name="connsiteY6" fmla="*/ 442676 h 700156"/>
                <a:gd name="connsiteX7" fmla="*/ 35780 w 491598"/>
                <a:gd name="connsiteY7" fmla="*/ 652462 h 700156"/>
                <a:gd name="connsiteX8" fmla="*/ 0 w 491598"/>
                <a:gd name="connsiteY8" fmla="*/ 616682 h 700156"/>
                <a:gd name="connsiteX9" fmla="*/ 0 w 491598"/>
                <a:gd name="connsiteY9" fmla="*/ 35780 h 700156"/>
                <a:gd name="connsiteX0" fmla="*/ 0 w 486138"/>
                <a:gd name="connsiteY0" fmla="*/ 35780 h 677355"/>
                <a:gd name="connsiteX1" fmla="*/ 35780 w 486138"/>
                <a:gd name="connsiteY1" fmla="*/ 0 h 677355"/>
                <a:gd name="connsiteX2" fmla="*/ 450358 w 486138"/>
                <a:gd name="connsiteY2" fmla="*/ 0 h 677355"/>
                <a:gd name="connsiteX3" fmla="*/ 486138 w 486138"/>
                <a:gd name="connsiteY3" fmla="*/ 35780 h 677355"/>
                <a:gd name="connsiteX4" fmla="*/ 486138 w 486138"/>
                <a:gd name="connsiteY4" fmla="*/ 616682 h 677355"/>
                <a:gd name="connsiteX5" fmla="*/ 450358 w 486138"/>
                <a:gd name="connsiteY5" fmla="*/ 652462 h 677355"/>
                <a:gd name="connsiteX6" fmla="*/ 245745 w 486138"/>
                <a:gd name="connsiteY6" fmla="*/ 442676 h 677355"/>
                <a:gd name="connsiteX7" fmla="*/ 35780 w 486138"/>
                <a:gd name="connsiteY7" fmla="*/ 652462 h 677355"/>
                <a:gd name="connsiteX8" fmla="*/ 0 w 486138"/>
                <a:gd name="connsiteY8" fmla="*/ 616682 h 677355"/>
                <a:gd name="connsiteX9" fmla="*/ 0 w 486138"/>
                <a:gd name="connsiteY9" fmla="*/ 35780 h 677355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86138"/>
                <a:gd name="connsiteY0" fmla="*/ 35780 h 656708"/>
                <a:gd name="connsiteX1" fmla="*/ 35780 w 486138"/>
                <a:gd name="connsiteY1" fmla="*/ 0 h 656708"/>
                <a:gd name="connsiteX2" fmla="*/ 450358 w 486138"/>
                <a:gd name="connsiteY2" fmla="*/ 0 h 656708"/>
                <a:gd name="connsiteX3" fmla="*/ 486138 w 486138"/>
                <a:gd name="connsiteY3" fmla="*/ 35780 h 656708"/>
                <a:gd name="connsiteX4" fmla="*/ 486138 w 486138"/>
                <a:gd name="connsiteY4" fmla="*/ 616682 h 656708"/>
                <a:gd name="connsiteX5" fmla="*/ 450358 w 486138"/>
                <a:gd name="connsiteY5" fmla="*/ 652462 h 656708"/>
                <a:gd name="connsiteX6" fmla="*/ 245745 w 486138"/>
                <a:gd name="connsiteY6" fmla="*/ 442676 h 656708"/>
                <a:gd name="connsiteX7" fmla="*/ 35780 w 486138"/>
                <a:gd name="connsiteY7" fmla="*/ 652462 h 656708"/>
                <a:gd name="connsiteX8" fmla="*/ 0 w 486138"/>
                <a:gd name="connsiteY8" fmla="*/ 616682 h 656708"/>
                <a:gd name="connsiteX9" fmla="*/ 0 w 486138"/>
                <a:gd name="connsiteY9" fmla="*/ 35780 h 65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6138" h="656708">
                  <a:moveTo>
                    <a:pt x="0" y="35780"/>
                  </a:moveTo>
                  <a:cubicBezTo>
                    <a:pt x="0" y="16019"/>
                    <a:pt x="16019" y="0"/>
                    <a:pt x="35780" y="0"/>
                  </a:cubicBezTo>
                  <a:lnTo>
                    <a:pt x="450358" y="0"/>
                  </a:lnTo>
                  <a:cubicBezTo>
                    <a:pt x="470119" y="0"/>
                    <a:pt x="486138" y="16019"/>
                    <a:pt x="486138" y="35780"/>
                  </a:cubicBezTo>
                  <a:lnTo>
                    <a:pt x="486138" y="616682"/>
                  </a:lnTo>
                  <a:cubicBezTo>
                    <a:pt x="482556" y="655169"/>
                    <a:pt x="487606" y="658097"/>
                    <a:pt x="450358" y="652462"/>
                  </a:cubicBezTo>
                  <a:cubicBezTo>
                    <a:pt x="413110" y="646827"/>
                    <a:pt x="313949" y="512605"/>
                    <a:pt x="245745" y="442676"/>
                  </a:cubicBezTo>
                  <a:cubicBezTo>
                    <a:pt x="176649" y="442676"/>
                    <a:pt x="69594" y="644892"/>
                    <a:pt x="35780" y="652462"/>
                  </a:cubicBezTo>
                  <a:cubicBezTo>
                    <a:pt x="1966" y="660032"/>
                    <a:pt x="1201" y="662312"/>
                    <a:pt x="0" y="616682"/>
                  </a:cubicBezTo>
                  <a:lnTo>
                    <a:pt x="0" y="35780"/>
                  </a:lnTo>
                  <a:close/>
                </a:path>
              </a:pathLst>
            </a:cu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9" name="사각형: 둥근 모서리 46">
              <a:extLst>
                <a:ext uri="{FF2B5EF4-FFF2-40B4-BE49-F238E27FC236}">
                  <a16:creationId xmlns:a16="http://schemas.microsoft.com/office/drawing/2014/main" id="{770547C6-8164-E3C4-96E8-A9111AFEB338}"/>
                </a:ext>
              </a:extLst>
            </p:cNvPr>
            <p:cNvSpPr/>
            <p:nvPr/>
          </p:nvSpPr>
          <p:spPr>
            <a:xfrm rot="18900000">
              <a:off x="7133332" y="2502380"/>
              <a:ext cx="486138" cy="656708"/>
            </a:xfrm>
            <a:custGeom>
              <a:avLst/>
              <a:gdLst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35780 w 486138"/>
                <a:gd name="connsiteY6" fmla="*/ 652462 h 652462"/>
                <a:gd name="connsiteX7" fmla="*/ 0 w 486138"/>
                <a:gd name="connsiteY7" fmla="*/ 616682 h 652462"/>
                <a:gd name="connsiteX8" fmla="*/ 0 w 486138"/>
                <a:gd name="connsiteY8" fmla="*/ 35780 h 652462"/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238601 w 486138"/>
                <a:gd name="connsiteY6" fmla="*/ 647463 h 652462"/>
                <a:gd name="connsiteX7" fmla="*/ 35780 w 486138"/>
                <a:gd name="connsiteY7" fmla="*/ 652462 h 652462"/>
                <a:gd name="connsiteX8" fmla="*/ 0 w 486138"/>
                <a:gd name="connsiteY8" fmla="*/ 616682 h 652462"/>
                <a:gd name="connsiteX9" fmla="*/ 0 w 486138"/>
                <a:gd name="connsiteY9" fmla="*/ 35780 h 652462"/>
                <a:gd name="connsiteX0" fmla="*/ 0 w 486138"/>
                <a:gd name="connsiteY0" fmla="*/ 35780 h 652462"/>
                <a:gd name="connsiteX1" fmla="*/ 35780 w 486138"/>
                <a:gd name="connsiteY1" fmla="*/ 0 h 652462"/>
                <a:gd name="connsiteX2" fmla="*/ 450358 w 486138"/>
                <a:gd name="connsiteY2" fmla="*/ 0 h 652462"/>
                <a:gd name="connsiteX3" fmla="*/ 486138 w 486138"/>
                <a:gd name="connsiteY3" fmla="*/ 35780 h 652462"/>
                <a:gd name="connsiteX4" fmla="*/ 486138 w 486138"/>
                <a:gd name="connsiteY4" fmla="*/ 616682 h 652462"/>
                <a:gd name="connsiteX5" fmla="*/ 450358 w 486138"/>
                <a:gd name="connsiteY5" fmla="*/ 652462 h 652462"/>
                <a:gd name="connsiteX6" fmla="*/ 245745 w 486138"/>
                <a:gd name="connsiteY6" fmla="*/ 442676 h 652462"/>
                <a:gd name="connsiteX7" fmla="*/ 35780 w 486138"/>
                <a:gd name="connsiteY7" fmla="*/ 652462 h 652462"/>
                <a:gd name="connsiteX8" fmla="*/ 0 w 486138"/>
                <a:gd name="connsiteY8" fmla="*/ 616682 h 652462"/>
                <a:gd name="connsiteX9" fmla="*/ 0 w 486138"/>
                <a:gd name="connsiteY9" fmla="*/ 35780 h 652462"/>
                <a:gd name="connsiteX0" fmla="*/ 0 w 486138"/>
                <a:gd name="connsiteY0" fmla="*/ 35780 h 683993"/>
                <a:gd name="connsiteX1" fmla="*/ 35780 w 486138"/>
                <a:gd name="connsiteY1" fmla="*/ 0 h 683993"/>
                <a:gd name="connsiteX2" fmla="*/ 450358 w 486138"/>
                <a:gd name="connsiteY2" fmla="*/ 0 h 683993"/>
                <a:gd name="connsiteX3" fmla="*/ 486138 w 486138"/>
                <a:gd name="connsiteY3" fmla="*/ 35780 h 683993"/>
                <a:gd name="connsiteX4" fmla="*/ 486138 w 486138"/>
                <a:gd name="connsiteY4" fmla="*/ 616682 h 683993"/>
                <a:gd name="connsiteX5" fmla="*/ 450358 w 486138"/>
                <a:gd name="connsiteY5" fmla="*/ 652462 h 683993"/>
                <a:gd name="connsiteX6" fmla="*/ 245745 w 486138"/>
                <a:gd name="connsiteY6" fmla="*/ 442676 h 683993"/>
                <a:gd name="connsiteX7" fmla="*/ 35780 w 486138"/>
                <a:gd name="connsiteY7" fmla="*/ 652462 h 683993"/>
                <a:gd name="connsiteX8" fmla="*/ 0 w 486138"/>
                <a:gd name="connsiteY8" fmla="*/ 616682 h 683993"/>
                <a:gd name="connsiteX9" fmla="*/ 0 w 486138"/>
                <a:gd name="connsiteY9" fmla="*/ 35780 h 683993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91598"/>
                <a:gd name="connsiteY0" fmla="*/ 35780 h 700156"/>
                <a:gd name="connsiteX1" fmla="*/ 35780 w 491598"/>
                <a:gd name="connsiteY1" fmla="*/ 0 h 700156"/>
                <a:gd name="connsiteX2" fmla="*/ 450358 w 491598"/>
                <a:gd name="connsiteY2" fmla="*/ 0 h 700156"/>
                <a:gd name="connsiteX3" fmla="*/ 486138 w 491598"/>
                <a:gd name="connsiteY3" fmla="*/ 35780 h 700156"/>
                <a:gd name="connsiteX4" fmla="*/ 486138 w 491598"/>
                <a:gd name="connsiteY4" fmla="*/ 616682 h 700156"/>
                <a:gd name="connsiteX5" fmla="*/ 450358 w 491598"/>
                <a:gd name="connsiteY5" fmla="*/ 652462 h 700156"/>
                <a:gd name="connsiteX6" fmla="*/ 245745 w 491598"/>
                <a:gd name="connsiteY6" fmla="*/ 442676 h 700156"/>
                <a:gd name="connsiteX7" fmla="*/ 35780 w 491598"/>
                <a:gd name="connsiteY7" fmla="*/ 652462 h 700156"/>
                <a:gd name="connsiteX8" fmla="*/ 0 w 491598"/>
                <a:gd name="connsiteY8" fmla="*/ 616682 h 700156"/>
                <a:gd name="connsiteX9" fmla="*/ 0 w 491598"/>
                <a:gd name="connsiteY9" fmla="*/ 35780 h 700156"/>
                <a:gd name="connsiteX0" fmla="*/ 0 w 486138"/>
                <a:gd name="connsiteY0" fmla="*/ 35780 h 677355"/>
                <a:gd name="connsiteX1" fmla="*/ 35780 w 486138"/>
                <a:gd name="connsiteY1" fmla="*/ 0 h 677355"/>
                <a:gd name="connsiteX2" fmla="*/ 450358 w 486138"/>
                <a:gd name="connsiteY2" fmla="*/ 0 h 677355"/>
                <a:gd name="connsiteX3" fmla="*/ 486138 w 486138"/>
                <a:gd name="connsiteY3" fmla="*/ 35780 h 677355"/>
                <a:gd name="connsiteX4" fmla="*/ 486138 w 486138"/>
                <a:gd name="connsiteY4" fmla="*/ 616682 h 677355"/>
                <a:gd name="connsiteX5" fmla="*/ 450358 w 486138"/>
                <a:gd name="connsiteY5" fmla="*/ 652462 h 677355"/>
                <a:gd name="connsiteX6" fmla="*/ 245745 w 486138"/>
                <a:gd name="connsiteY6" fmla="*/ 442676 h 677355"/>
                <a:gd name="connsiteX7" fmla="*/ 35780 w 486138"/>
                <a:gd name="connsiteY7" fmla="*/ 652462 h 677355"/>
                <a:gd name="connsiteX8" fmla="*/ 0 w 486138"/>
                <a:gd name="connsiteY8" fmla="*/ 616682 h 677355"/>
                <a:gd name="connsiteX9" fmla="*/ 0 w 486138"/>
                <a:gd name="connsiteY9" fmla="*/ 35780 h 677355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86138"/>
                <a:gd name="connsiteY0" fmla="*/ 35780 h 676399"/>
                <a:gd name="connsiteX1" fmla="*/ 35780 w 486138"/>
                <a:gd name="connsiteY1" fmla="*/ 0 h 676399"/>
                <a:gd name="connsiteX2" fmla="*/ 450358 w 486138"/>
                <a:gd name="connsiteY2" fmla="*/ 0 h 676399"/>
                <a:gd name="connsiteX3" fmla="*/ 486138 w 486138"/>
                <a:gd name="connsiteY3" fmla="*/ 35780 h 676399"/>
                <a:gd name="connsiteX4" fmla="*/ 486138 w 486138"/>
                <a:gd name="connsiteY4" fmla="*/ 616682 h 676399"/>
                <a:gd name="connsiteX5" fmla="*/ 450358 w 486138"/>
                <a:gd name="connsiteY5" fmla="*/ 652462 h 676399"/>
                <a:gd name="connsiteX6" fmla="*/ 245745 w 486138"/>
                <a:gd name="connsiteY6" fmla="*/ 442676 h 676399"/>
                <a:gd name="connsiteX7" fmla="*/ 35780 w 486138"/>
                <a:gd name="connsiteY7" fmla="*/ 652462 h 676399"/>
                <a:gd name="connsiteX8" fmla="*/ 0 w 486138"/>
                <a:gd name="connsiteY8" fmla="*/ 616682 h 676399"/>
                <a:gd name="connsiteX9" fmla="*/ 0 w 486138"/>
                <a:gd name="connsiteY9" fmla="*/ 35780 h 676399"/>
                <a:gd name="connsiteX0" fmla="*/ 0 w 486138"/>
                <a:gd name="connsiteY0" fmla="*/ 35780 h 656708"/>
                <a:gd name="connsiteX1" fmla="*/ 35780 w 486138"/>
                <a:gd name="connsiteY1" fmla="*/ 0 h 656708"/>
                <a:gd name="connsiteX2" fmla="*/ 450358 w 486138"/>
                <a:gd name="connsiteY2" fmla="*/ 0 h 656708"/>
                <a:gd name="connsiteX3" fmla="*/ 486138 w 486138"/>
                <a:gd name="connsiteY3" fmla="*/ 35780 h 656708"/>
                <a:gd name="connsiteX4" fmla="*/ 486138 w 486138"/>
                <a:gd name="connsiteY4" fmla="*/ 616682 h 656708"/>
                <a:gd name="connsiteX5" fmla="*/ 450358 w 486138"/>
                <a:gd name="connsiteY5" fmla="*/ 652462 h 656708"/>
                <a:gd name="connsiteX6" fmla="*/ 245745 w 486138"/>
                <a:gd name="connsiteY6" fmla="*/ 442676 h 656708"/>
                <a:gd name="connsiteX7" fmla="*/ 35780 w 486138"/>
                <a:gd name="connsiteY7" fmla="*/ 652462 h 656708"/>
                <a:gd name="connsiteX8" fmla="*/ 0 w 486138"/>
                <a:gd name="connsiteY8" fmla="*/ 616682 h 656708"/>
                <a:gd name="connsiteX9" fmla="*/ 0 w 486138"/>
                <a:gd name="connsiteY9" fmla="*/ 35780 h 65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6138" h="656708">
                  <a:moveTo>
                    <a:pt x="0" y="35780"/>
                  </a:moveTo>
                  <a:cubicBezTo>
                    <a:pt x="0" y="16019"/>
                    <a:pt x="16019" y="0"/>
                    <a:pt x="35780" y="0"/>
                  </a:cubicBezTo>
                  <a:lnTo>
                    <a:pt x="450358" y="0"/>
                  </a:lnTo>
                  <a:cubicBezTo>
                    <a:pt x="470119" y="0"/>
                    <a:pt x="486138" y="16019"/>
                    <a:pt x="486138" y="35780"/>
                  </a:cubicBezTo>
                  <a:lnTo>
                    <a:pt x="486138" y="616682"/>
                  </a:lnTo>
                  <a:cubicBezTo>
                    <a:pt x="482556" y="655169"/>
                    <a:pt x="487606" y="658097"/>
                    <a:pt x="450358" y="652462"/>
                  </a:cubicBezTo>
                  <a:cubicBezTo>
                    <a:pt x="413110" y="646827"/>
                    <a:pt x="313949" y="512605"/>
                    <a:pt x="245745" y="442676"/>
                  </a:cubicBezTo>
                  <a:cubicBezTo>
                    <a:pt x="176649" y="442676"/>
                    <a:pt x="69594" y="644892"/>
                    <a:pt x="35780" y="652462"/>
                  </a:cubicBezTo>
                  <a:cubicBezTo>
                    <a:pt x="1966" y="660032"/>
                    <a:pt x="1201" y="662312"/>
                    <a:pt x="0" y="616682"/>
                  </a:cubicBezTo>
                  <a:lnTo>
                    <a:pt x="0" y="35780"/>
                  </a:lnTo>
                  <a:close/>
                </a:path>
              </a:pathLst>
            </a:cu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18D0DCD9-6EE7-2CAA-20CF-7ED73ECAD0F6}"/>
              </a:ext>
            </a:extLst>
          </p:cNvPr>
          <p:cNvSpPr/>
          <p:nvPr/>
        </p:nvSpPr>
        <p:spPr>
          <a:xfrm>
            <a:off x="6972599" y="2073644"/>
            <a:ext cx="664753" cy="877386"/>
          </a:xfrm>
          <a:custGeom>
            <a:avLst/>
            <a:gdLst>
              <a:gd name="connsiteX0" fmla="*/ 35780 w 486138"/>
              <a:gd name="connsiteY0" fmla="*/ 0 h 641638"/>
              <a:gd name="connsiteX1" fmla="*/ 450358 w 486138"/>
              <a:gd name="connsiteY1" fmla="*/ 0 h 641638"/>
              <a:gd name="connsiteX2" fmla="*/ 486138 w 486138"/>
              <a:gd name="connsiteY2" fmla="*/ 35780 h 641638"/>
              <a:gd name="connsiteX3" fmla="*/ 486138 w 486138"/>
              <a:gd name="connsiteY3" fmla="*/ 616682 h 641638"/>
              <a:gd name="connsiteX4" fmla="*/ 484274 w 486138"/>
              <a:gd name="connsiteY4" fmla="*/ 639302 h 641638"/>
              <a:gd name="connsiteX5" fmla="*/ 483602 w 486138"/>
              <a:gd name="connsiteY5" fmla="*/ 641638 h 641638"/>
              <a:gd name="connsiteX6" fmla="*/ 262416 w 486138"/>
              <a:gd name="connsiteY6" fmla="*/ 420451 h 641638"/>
              <a:gd name="connsiteX7" fmla="*/ 211815 w 486138"/>
              <a:gd name="connsiteY7" fmla="*/ 420451 h 641638"/>
              <a:gd name="connsiteX8" fmla="*/ 768 w 486138"/>
              <a:gd name="connsiteY8" fmla="*/ 631499 h 641638"/>
              <a:gd name="connsiteX9" fmla="*/ 0 w 486138"/>
              <a:gd name="connsiteY9" fmla="*/ 616682 h 641638"/>
              <a:gd name="connsiteX10" fmla="*/ 0 w 486138"/>
              <a:gd name="connsiteY10" fmla="*/ 35780 h 641638"/>
              <a:gd name="connsiteX11" fmla="*/ 35780 w 486138"/>
              <a:gd name="connsiteY11" fmla="*/ 0 h 64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138" h="641638">
                <a:moveTo>
                  <a:pt x="35780" y="0"/>
                </a:moveTo>
                <a:lnTo>
                  <a:pt x="450358" y="0"/>
                </a:lnTo>
                <a:cubicBezTo>
                  <a:pt x="470119" y="0"/>
                  <a:pt x="486138" y="16019"/>
                  <a:pt x="486138" y="35780"/>
                </a:cubicBezTo>
                <a:lnTo>
                  <a:pt x="486138" y="616682"/>
                </a:lnTo>
                <a:cubicBezTo>
                  <a:pt x="485243" y="626304"/>
                  <a:pt x="484887" y="633703"/>
                  <a:pt x="484274" y="639302"/>
                </a:cubicBezTo>
                <a:lnTo>
                  <a:pt x="483602" y="641638"/>
                </a:lnTo>
                <a:lnTo>
                  <a:pt x="262416" y="420451"/>
                </a:lnTo>
                <a:cubicBezTo>
                  <a:pt x="248443" y="406478"/>
                  <a:pt x="225789" y="406478"/>
                  <a:pt x="211815" y="420451"/>
                </a:cubicBezTo>
                <a:lnTo>
                  <a:pt x="768" y="631499"/>
                </a:lnTo>
                <a:lnTo>
                  <a:pt x="0" y="616682"/>
                </a:lnTo>
                <a:lnTo>
                  <a:pt x="0" y="35780"/>
                </a:lnTo>
                <a:cubicBezTo>
                  <a:pt x="0" y="16019"/>
                  <a:pt x="16019" y="0"/>
                  <a:pt x="35780" y="0"/>
                </a:cubicBezTo>
                <a:close/>
              </a:path>
            </a:pathLst>
          </a:custGeom>
          <a:gradFill flip="none" rotWithShape="1">
            <a:gsLst>
              <a:gs pos="0">
                <a:srgbClr val="6A4C93"/>
              </a:gs>
              <a:gs pos="100000">
                <a:srgbClr val="B0002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1CDA57B-9B37-DA33-E874-6F031A8B251B}"/>
              </a:ext>
            </a:extLst>
          </p:cNvPr>
          <p:cNvSpPr/>
          <p:nvPr/>
        </p:nvSpPr>
        <p:spPr>
          <a:xfrm>
            <a:off x="7056625" y="2215834"/>
            <a:ext cx="496700" cy="319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dist"/>
            <a:r>
              <a:rPr lang="ko-KR" altLang="en-US" sz="1600">
                <a:latin typeface="+mn-ea"/>
              </a:rPr>
              <a:t>성능</a:t>
            </a:r>
            <a:endParaRPr lang="en-US" altLang="ko-KR" sz="1600">
              <a:latin typeface="+mn-ea"/>
            </a:endParaRPr>
          </a:p>
          <a:p>
            <a:pPr algn="ctr"/>
            <a:r>
              <a:rPr lang="ko-KR" altLang="en-US" sz="1600">
                <a:latin typeface="+mn-ea"/>
              </a:rPr>
              <a:t>향상</a:t>
            </a:r>
          </a:p>
        </p:txBody>
      </p:sp>
    </p:spTree>
    <p:extLst>
      <p:ext uri="{BB962C8B-B14F-4D97-AF65-F5344CB8AC3E}">
        <p14:creationId xmlns:p14="http://schemas.microsoft.com/office/powerpoint/2010/main" val="2674212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253D-18AF-4E3D-2CBA-D688139C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524D15-1F0F-C595-3C48-A93A1D304A64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05A843-5620-2270-1B69-3A81A1E9801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Embedding 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194727-6E4F-4277-4D03-268A1603C240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AA4739-63D1-7606-D60A-05FCE8F268B1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2142242-E6EC-6D68-31DB-C048A7218907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F8A349A2-637C-2B99-B54B-E0662967F97F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B1081F-0C4C-4C81-C5EA-857FB2EE514E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AE2639-2359-B530-2CB5-817D0CFC038A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E53BD6-E685-CDF4-C4CA-4A60692D146C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84B6D1-A7C1-3258-FBC9-ABA66FD6A64A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25E0C53-E346-8C79-BAA0-4E200827E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BCD7F0-A982-EF72-5A07-12E22E1731BD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460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77AA9-4C82-BA4E-E7A0-5349568A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A0D2FE-A290-1C8D-F79A-9AFFE0FBA0A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06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DE5279-C280-B0CC-1C77-DF791591C8F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B5688C-3A6B-E7B1-26C0-1811A2C4F65A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8A0BCB-579A-21B0-4281-8FDED8F56E8E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4F857F8-9843-8744-D21B-77AC1381A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796B4BFE-2D72-0FBD-7D1D-6C9E0B1F430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544F21-3A27-0321-41FB-000BC16E2F12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25B1F6-A240-3270-BB9B-FF54B909EE2C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EC902D-0D03-F70A-785E-57B5BCEDDF37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8EB886-CAD3-17DE-EA31-567D3A980E30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41F7548-BED9-5C19-42A7-212ED13E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EC439A-E647-CF1D-B75F-57DC285DCE66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064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8744-08C8-17BE-B64C-239C9EF0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32F4F78-462C-AF25-ADD9-EF306D33D8D7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0EC9B490-2572-3E4F-B676-298D77F37465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31449C19-32F3-D49F-2645-5B28D951AA76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B901AB-8630-30EB-64B9-52FCBAFABF4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5576D7-CD73-9F12-5C6E-7300BB20A24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103917-2F52-F9E5-D796-5DC23036A06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75F64E-D456-3840-041C-ADA388A0AC65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6545A0-9775-FBA4-DBC3-B7FA3F961604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FEEE72-EB92-C7BB-9EA0-AB9C4A28ED6D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데이터 종류</a:t>
            </a:r>
          </a:p>
        </p:txBody>
      </p:sp>
    </p:spTree>
    <p:extLst>
      <p:ext uri="{BB962C8B-B14F-4D97-AF65-F5344CB8AC3E}">
        <p14:creationId xmlns:p14="http://schemas.microsoft.com/office/powerpoint/2010/main" val="1876197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F4CB-5AB9-01D6-3228-F0D8CF56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1DBAFA5-B51D-B415-A0E0-239F088F4A4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31FC424A-00EF-B576-0902-E7D20EC4EE94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D3CD5349-9305-8FE3-4501-B371BE28600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BDBB10-7A59-77B4-47F2-9591BF3C3C8A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86EF1B-A1EA-708F-C921-B3B5F51DF93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66BB9-363C-018F-4102-8637B07AC13C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C1CF9F-3AD8-E742-83C2-5B137FBCDD5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CF11A1-DCBA-B708-F90B-3B1CDB6830BA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5274C4-3D26-28CF-1551-1C2FF5FED3A1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추진일정</a:t>
            </a:r>
          </a:p>
        </p:txBody>
      </p:sp>
    </p:spTree>
    <p:extLst>
      <p:ext uri="{BB962C8B-B14F-4D97-AF65-F5344CB8AC3E}">
        <p14:creationId xmlns:p14="http://schemas.microsoft.com/office/powerpoint/2010/main" val="274033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E4BC99-F10B-888E-4916-16323E4D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45" y="2670628"/>
            <a:ext cx="11685367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6408A6-BFBA-DF80-AFC7-142624914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54685" y="2670628"/>
            <a:ext cx="8433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52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D148-70CC-4A5C-38DA-04253FCB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D144EF1-84E7-4ED8-C79B-7A657D9352B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7BD6203D-6EA5-9EC7-761B-CC4787BEE3D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0D9F063E-851C-40B2-CC78-EFE0091E6CBB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18B0D0-F530-AFD8-19E2-D1586610C46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022429-3466-C151-6D86-EE0A54BB408E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615AB5-58E9-0958-F06E-32586C298D8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C61AEC-C21F-CEC7-860C-8C1B84CF4B1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359E8E-7CF4-99F2-1022-1DD1EC1CA89C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106559-ABB4-76A6-4D32-1EBB6E50A15A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37653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33F72A-68F1-D46F-F2CF-D54F6DD61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7" y="2369728"/>
            <a:ext cx="70008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AFFDE2-A3FC-102A-509E-52E4A6D4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54" y="1593004"/>
            <a:ext cx="602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8F412C7-9AD8-97A8-CEBE-2EF85C1C3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111995"/>
            <a:ext cx="30575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89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1782</TotalTime>
  <Words>3081</Words>
  <Application>Microsoft Office PowerPoint</Application>
  <PresentationFormat>와이드스크린</PresentationFormat>
  <Paragraphs>675</Paragraphs>
  <Slides>36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프리젠테이션 5 Medium</vt:lpstr>
      <vt:lpstr>프리젠테이션 8 ExtraBold</vt:lpstr>
      <vt:lpstr>프리젠테이션 3 Light</vt:lpstr>
      <vt:lpstr>ONE 모바일고딕 Title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97</cp:revision>
  <dcterms:created xsi:type="dcterms:W3CDTF">2025-07-31T07:13:26Z</dcterms:created>
  <dcterms:modified xsi:type="dcterms:W3CDTF">2025-08-26T09:22:18Z</dcterms:modified>
</cp:coreProperties>
</file>