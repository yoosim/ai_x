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9" r:id="rId3"/>
    <p:sldId id="293" r:id="rId4"/>
    <p:sldId id="287" r:id="rId5"/>
    <p:sldId id="288" r:id="rId6"/>
    <p:sldId id="286" r:id="rId7"/>
    <p:sldId id="289" r:id="rId8"/>
    <p:sldId id="290" r:id="rId9"/>
    <p:sldId id="271" r:id="rId10"/>
    <p:sldId id="283" r:id="rId11"/>
    <p:sldId id="276" r:id="rId12"/>
    <p:sldId id="272" r:id="rId13"/>
    <p:sldId id="277" r:id="rId14"/>
    <p:sldId id="275" r:id="rId15"/>
    <p:sldId id="260" r:id="rId16"/>
    <p:sldId id="274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D3D3D3"/>
    <a:srgbClr val="2D3142"/>
    <a:srgbClr val="6A4C93"/>
    <a:srgbClr val="777777"/>
    <a:srgbClr val="B00020"/>
    <a:srgbClr val="9F9F9F"/>
    <a:srgbClr val="7A4A91"/>
    <a:srgbClr val="262122"/>
    <a:srgbClr val="D8B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7875" autoAdjust="0"/>
  </p:normalViewPr>
  <p:slideViewPr>
    <p:cSldViewPr snapToGrid="0" showGuides="1">
      <p:cViewPr>
        <p:scale>
          <a:sx n="25" d="100"/>
          <a:sy n="25" d="100"/>
        </p:scale>
        <p:origin x="2256" y="486"/>
      </p:cViewPr>
      <p:guideLst>
        <p:guide pos="3840"/>
        <p:guide pos="665"/>
        <p:guide pos="2706"/>
        <p:guide orient="horz" pos="216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28888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1162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6E66AE-8F93-590E-CDBD-96C4332E85D1}"/>
              </a:ext>
            </a:extLst>
          </p:cNvPr>
          <p:cNvSpPr/>
          <p:nvPr/>
        </p:nvSpPr>
        <p:spPr>
          <a:xfrm>
            <a:off x="355600" y="393700"/>
            <a:ext cx="19431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프롤로그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AAD8-EA70-E2B7-D441-0BF8F54A6878}"/>
              </a:ext>
            </a:extLst>
          </p:cNvPr>
          <p:cNvSpPr txBox="1"/>
          <p:nvPr/>
        </p:nvSpPr>
        <p:spPr>
          <a:xfrm>
            <a:off x="355600" y="1724059"/>
            <a:ext cx="110550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자동차 보험은 잠재적인 위험과 책임으로부터 차량 소유자를 보호하는 중요한 재정적 안전장치입니다</a:t>
            </a:r>
            <a:r>
              <a:rPr lang="en-US" altLang="ko-KR"/>
              <a:t>.</a:t>
            </a:r>
          </a:p>
          <a:p>
            <a:r>
              <a:rPr lang="ko-KR" altLang="en-US"/>
              <a:t>이 보험은 사고</a:t>
            </a:r>
            <a:r>
              <a:rPr lang="en-US" altLang="ko-KR"/>
              <a:t>, </a:t>
            </a:r>
            <a:r>
              <a:rPr lang="ko-KR" altLang="en-US"/>
              <a:t>도난 또는 기타 예상치 못한 사건으로 인해 발생하는 피보험 차량의 손해와 제</a:t>
            </a:r>
            <a:r>
              <a:rPr lang="en-US" altLang="ko-KR"/>
              <a:t>3</a:t>
            </a:r>
            <a:r>
              <a:rPr lang="ko-KR" altLang="en-US"/>
              <a:t>자 배상 책임을 보장합니다</a:t>
            </a:r>
            <a:r>
              <a:rPr lang="en-US" altLang="ko-KR"/>
              <a:t>. </a:t>
            </a:r>
          </a:p>
          <a:p>
            <a:r>
              <a:rPr lang="ko-KR" altLang="en-US"/>
              <a:t>종합 자동차 보험에는 일반적으로 피보험 차량의 물리적 손상</a:t>
            </a:r>
            <a:r>
              <a:rPr lang="en-US" altLang="ko-KR"/>
              <a:t>, </a:t>
            </a:r>
            <a:r>
              <a:rPr lang="ko-KR" altLang="en-US"/>
              <a:t>신체 상해 책임</a:t>
            </a:r>
            <a:r>
              <a:rPr lang="en-US" altLang="ko-KR"/>
              <a:t>, </a:t>
            </a:r>
            <a:r>
              <a:rPr lang="ko-KR" altLang="en-US"/>
              <a:t>재산 피해 책임</a:t>
            </a:r>
            <a:r>
              <a:rPr lang="en-US" altLang="ko-KR"/>
              <a:t>, </a:t>
            </a:r>
            <a:r>
              <a:rPr lang="ko-KR" altLang="en-US"/>
              <a:t>의료비 보장이 포함됩니다</a:t>
            </a:r>
            <a:r>
              <a:rPr lang="en-US" altLang="ko-KR"/>
              <a:t>. </a:t>
            </a:r>
          </a:p>
          <a:p>
            <a:r>
              <a:rPr lang="ko-KR" altLang="en-US"/>
              <a:t>보험 계약자는 보험사에 보험료를 지불하고 그 대가로 보험사는 보장된 손실 또는 손해에 대한 재정적 책임을 집니다</a:t>
            </a:r>
            <a:r>
              <a:rPr lang="en-US" altLang="ko-KR"/>
              <a:t>. </a:t>
            </a:r>
          </a:p>
          <a:p>
            <a:r>
              <a:rPr lang="ko-KR" altLang="en-US"/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또한 차량 소유자는 사고</a:t>
            </a:r>
            <a:r>
              <a:rPr lang="en-US" altLang="ko-KR"/>
              <a:t>, </a:t>
            </a:r>
            <a:r>
              <a:rPr lang="ko-KR" altLang="en-US"/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233460" y="2659667"/>
            <a:ext cx="2902908" cy="348783"/>
            <a:chOff x="1233460" y="2659667"/>
            <a:chExt cx="2902908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460" y="3008450"/>
              <a:ext cx="2901807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5768961-C9FA-11FC-84F2-4C12D7C2704C}"/>
              </a:ext>
            </a:extLst>
          </p:cNvPr>
          <p:cNvSpPr/>
          <p:nvPr/>
        </p:nvSpPr>
        <p:spPr>
          <a:xfrm>
            <a:off x="1273850" y="1178049"/>
            <a:ext cx="1593029" cy="1693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프로젝트명 </a:t>
            </a: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20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(24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D17F9B-432E-7950-707A-B2FF795CF2EA}"/>
              </a:ext>
            </a:extLst>
          </p:cNvPr>
          <p:cNvGrpSpPr/>
          <p:nvPr/>
        </p:nvGrpSpPr>
        <p:grpSpPr>
          <a:xfrm>
            <a:off x="5965256" y="2335449"/>
            <a:ext cx="1514268" cy="243278"/>
            <a:chOff x="1208851" y="2444967"/>
            <a:chExt cx="1514268" cy="24327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CF972C8-5BB1-4CDB-1742-F462994C817C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BA294-4761-203B-7768-0055502DAA29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보험 현황 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655AB0-17E6-3309-7223-839F2708773F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시장 현황</a:t>
            </a:r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91F241-2B63-CFA5-CA85-285A0DF9E14E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F4AF6593-1C4A-2DE3-85EC-6D7FD2420930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5EAB4C-FBEB-47D1-CE25-468B93A8BB38}"/>
              </a:ext>
            </a:extLst>
          </p:cNvPr>
          <p:cNvSpPr txBox="1"/>
          <p:nvPr/>
        </p:nvSpPr>
        <p:spPr>
          <a:xfrm>
            <a:off x="12518572" y="2787694"/>
            <a:ext cx="660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➊ 플랫폼 보험 비교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추천서비스 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1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년여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(‘24.1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월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~’25.2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월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) 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동안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185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비교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추천 이용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,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28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보험계약 체결 → 용이한 상품비교로 보험료 경쟁 촉진</a:t>
            </a:r>
            <a:endParaRPr lang="ko-KR" altLang="en-US" b="0" i="0">
              <a:solidFill>
                <a:srgbClr val="666666"/>
              </a:solidFill>
              <a:effectLst/>
              <a:latin typeface="Noto Sans Korean"/>
            </a:endParaRP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-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자동차보험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 경우 동일기간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148.6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 비교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추천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이용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,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14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 보험계약 체결</a:t>
            </a:r>
            <a:endParaRPr lang="ko-KR" altLang="en-US" b="0" i="0">
              <a:solidFill>
                <a:srgbClr val="666666"/>
              </a:solidFill>
              <a:effectLst/>
              <a:latin typeface="Noto Sans Korean"/>
            </a:endParaRP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5D8379-CD09-B570-A1AA-FC6FABCCAC55}"/>
              </a:ext>
            </a:extLst>
          </p:cNvPr>
          <p:cNvGrpSpPr/>
          <p:nvPr/>
        </p:nvGrpSpPr>
        <p:grpSpPr>
          <a:xfrm>
            <a:off x="12876788" y="-2400965"/>
            <a:ext cx="7228800" cy="3449692"/>
            <a:chOff x="4566911" y="3228152"/>
            <a:chExt cx="7228800" cy="3449692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5D3A3AA-1AFD-A9DE-B1C8-6A9FA1104FE1}"/>
                </a:ext>
              </a:extLst>
            </p:cNvPr>
            <p:cNvGrpSpPr/>
            <p:nvPr/>
          </p:nvGrpSpPr>
          <p:grpSpPr>
            <a:xfrm>
              <a:off x="6808372" y="3937018"/>
              <a:ext cx="1409700" cy="518160"/>
              <a:chOff x="6305550" y="4186099"/>
              <a:chExt cx="1409700" cy="518160"/>
            </a:xfrm>
          </p:grpSpPr>
          <p:sp>
            <p:nvSpPr>
              <p:cNvPr id="1035" name="사각형: 둥근 모서리 1034">
                <a:extLst>
                  <a:ext uri="{FF2B5EF4-FFF2-40B4-BE49-F238E27FC236}">
                    <a16:creationId xmlns:a16="http://schemas.microsoft.com/office/drawing/2014/main" id="{EDA6CA71-462B-DBCC-AD7E-B37B3D177CD3}"/>
                  </a:ext>
                </a:extLst>
              </p:cNvPr>
              <p:cNvSpPr/>
              <p:nvPr/>
            </p:nvSpPr>
            <p:spPr>
              <a:xfrm>
                <a:off x="6305550" y="4186099"/>
                <a:ext cx="1409700" cy="51816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36" name="그림 1035" descr="텍스트, 스크린샷, 폰트, 그래픽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0340239-0F5D-70BA-68F0-56F196453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5022" b="29186"/>
              <a:stretch>
                <a:fillRect/>
              </a:stretch>
            </p:blipFill>
            <p:spPr>
              <a:xfrm>
                <a:off x="6444616" y="4186099"/>
                <a:ext cx="1131568" cy="518160"/>
              </a:xfrm>
              <a:prstGeom prst="rect">
                <a:avLst/>
              </a:prstGeom>
            </p:spPr>
          </p:pic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E79EDE1-2465-25D7-28F1-6F3054AF5150}"/>
                </a:ext>
              </a:extLst>
            </p:cNvPr>
            <p:cNvGrpSpPr/>
            <p:nvPr/>
          </p:nvGrpSpPr>
          <p:grpSpPr>
            <a:xfrm>
              <a:off x="9178484" y="5383637"/>
              <a:ext cx="1409700" cy="332204"/>
              <a:chOff x="8976311" y="4500146"/>
              <a:chExt cx="1409700" cy="332204"/>
            </a:xfrm>
          </p:grpSpPr>
          <p:sp>
            <p:nvSpPr>
              <p:cNvPr id="1033" name="사각형: 둥근 모서리 1032">
                <a:extLst>
                  <a:ext uri="{FF2B5EF4-FFF2-40B4-BE49-F238E27FC236}">
                    <a16:creationId xmlns:a16="http://schemas.microsoft.com/office/drawing/2014/main" id="{0A536005-2F25-8FCE-EDA7-72823728094D}"/>
                  </a:ext>
                </a:extLst>
              </p:cNvPr>
              <p:cNvSpPr/>
              <p:nvPr/>
            </p:nvSpPr>
            <p:spPr>
              <a:xfrm>
                <a:off x="8976311" y="4500146"/>
                <a:ext cx="1409700" cy="3322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34" name="그림 1033" descr="폰트, 그래픽, 로고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77CA0D5-BC39-28C3-178F-E9EE615E3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21" t="35713" r="7888" b="36225"/>
              <a:stretch>
                <a:fillRect/>
              </a:stretch>
            </p:blipFill>
            <p:spPr>
              <a:xfrm>
                <a:off x="9024842" y="4534610"/>
                <a:ext cx="1294935" cy="258579"/>
              </a:xfrm>
              <a:prstGeom prst="rect">
                <a:avLst/>
              </a:prstGeom>
            </p:spPr>
          </p:pic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0BD6FB3-E364-D577-623B-309CDE602F8D}"/>
                </a:ext>
              </a:extLst>
            </p:cNvPr>
            <p:cNvGrpSpPr/>
            <p:nvPr/>
          </p:nvGrpSpPr>
          <p:grpSpPr>
            <a:xfrm>
              <a:off x="5779944" y="5693569"/>
              <a:ext cx="1409700" cy="405632"/>
              <a:chOff x="6018921" y="5054802"/>
              <a:chExt cx="1409700" cy="405632"/>
            </a:xfrm>
          </p:grpSpPr>
          <p:sp>
            <p:nvSpPr>
              <p:cNvPr id="1031" name="사각형: 둥근 모서리 1030">
                <a:extLst>
                  <a:ext uri="{FF2B5EF4-FFF2-40B4-BE49-F238E27FC236}">
                    <a16:creationId xmlns:a16="http://schemas.microsoft.com/office/drawing/2014/main" id="{A6539897-49A3-A5EF-354D-911E836E852A}"/>
                  </a:ext>
                </a:extLst>
              </p:cNvPr>
              <p:cNvSpPr/>
              <p:nvPr/>
            </p:nvSpPr>
            <p:spPr>
              <a:xfrm>
                <a:off x="6018921" y="5054802"/>
                <a:ext cx="1409700" cy="40563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32" name="그림 1031" descr="폰트, 텍스트, 그래픽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F6956E3-077B-C65B-258E-02C24B0A10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7709" y="5054802"/>
                <a:ext cx="1192125" cy="405632"/>
              </a:xfrm>
              <a:prstGeom prst="rect">
                <a:avLst/>
              </a:prstGeom>
            </p:spPr>
          </p:pic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EBF66C6-91CB-EB55-0842-774C53ADEFA8}"/>
                </a:ext>
              </a:extLst>
            </p:cNvPr>
            <p:cNvGrpSpPr/>
            <p:nvPr/>
          </p:nvGrpSpPr>
          <p:grpSpPr>
            <a:xfrm>
              <a:off x="7817315" y="5997408"/>
              <a:ext cx="1409700" cy="442798"/>
              <a:chOff x="7644043" y="5600725"/>
              <a:chExt cx="1409700" cy="442798"/>
            </a:xfrm>
          </p:grpSpPr>
          <p:sp>
            <p:nvSpPr>
              <p:cNvPr id="1029" name="사각형: 둥근 모서리 1028">
                <a:extLst>
                  <a:ext uri="{FF2B5EF4-FFF2-40B4-BE49-F238E27FC236}">
                    <a16:creationId xmlns:a16="http://schemas.microsoft.com/office/drawing/2014/main" id="{A4A7430A-7BF9-1556-5559-7AB877DCB358}"/>
                  </a:ext>
                </a:extLst>
              </p:cNvPr>
              <p:cNvSpPr/>
              <p:nvPr/>
            </p:nvSpPr>
            <p:spPr>
              <a:xfrm>
                <a:off x="7644043" y="5600725"/>
                <a:ext cx="1409700" cy="44279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30" name="그림 1029" descr="호박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48C268C-7436-574D-3CA7-940B8F88B9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6308" y="5678826"/>
                <a:ext cx="1145170" cy="286596"/>
              </a:xfrm>
              <a:prstGeom prst="rect">
                <a:avLst/>
              </a:prstGeom>
            </p:spPr>
          </p:pic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E8AF535-A437-C912-320E-7C1F90082D9E}"/>
                </a:ext>
              </a:extLst>
            </p:cNvPr>
            <p:cNvGrpSpPr/>
            <p:nvPr/>
          </p:nvGrpSpPr>
          <p:grpSpPr>
            <a:xfrm>
              <a:off x="10239432" y="5799241"/>
              <a:ext cx="1409700" cy="510364"/>
              <a:chOff x="9657079" y="6199675"/>
              <a:chExt cx="1409700" cy="510364"/>
            </a:xfrm>
          </p:grpSpPr>
          <p:sp>
            <p:nvSpPr>
              <p:cNvPr id="1027" name="사각형: 둥근 모서리 1026">
                <a:extLst>
                  <a:ext uri="{FF2B5EF4-FFF2-40B4-BE49-F238E27FC236}">
                    <a16:creationId xmlns:a16="http://schemas.microsoft.com/office/drawing/2014/main" id="{5A6AF389-7CF5-A48E-2117-10DBDE2E4385}"/>
                  </a:ext>
                </a:extLst>
              </p:cNvPr>
              <p:cNvSpPr/>
              <p:nvPr/>
            </p:nvSpPr>
            <p:spPr>
              <a:xfrm>
                <a:off x="9657079" y="6199675"/>
                <a:ext cx="1409700" cy="51036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28" name="그림 1027" descr="그래픽, 폰트, 스크린샷, 상징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BEF6C3E-599D-C792-2B62-DE9452B50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994" b="16994"/>
              <a:stretch>
                <a:fillRect/>
              </a:stretch>
            </p:blipFill>
            <p:spPr>
              <a:xfrm>
                <a:off x="9704232" y="6237775"/>
                <a:ext cx="1315395" cy="434164"/>
              </a:xfrm>
              <a:prstGeom prst="rect">
                <a:avLst/>
              </a:prstGeom>
            </p:spPr>
          </p:pic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C66B924-F0E7-A813-8779-5153622FA38C}"/>
                </a:ext>
              </a:extLst>
            </p:cNvPr>
            <p:cNvGrpSpPr/>
            <p:nvPr/>
          </p:nvGrpSpPr>
          <p:grpSpPr>
            <a:xfrm>
              <a:off x="10386011" y="3977433"/>
              <a:ext cx="1409700" cy="442798"/>
              <a:chOff x="10362052" y="3731771"/>
              <a:chExt cx="1409700" cy="442798"/>
            </a:xfrm>
          </p:grpSpPr>
          <p:sp>
            <p:nvSpPr>
              <p:cNvPr id="1024" name="사각형: 둥근 모서리 1023">
                <a:extLst>
                  <a:ext uri="{FF2B5EF4-FFF2-40B4-BE49-F238E27FC236}">
                    <a16:creationId xmlns:a16="http://schemas.microsoft.com/office/drawing/2014/main" id="{B2F23EF6-AC63-5E03-8D4C-9DD3235B30E9}"/>
                  </a:ext>
                </a:extLst>
              </p:cNvPr>
              <p:cNvSpPr/>
              <p:nvPr/>
            </p:nvSpPr>
            <p:spPr>
              <a:xfrm>
                <a:off x="10362052" y="3731771"/>
                <a:ext cx="1409700" cy="44279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25" name="그림 1024" descr="그래픽, 그래픽 디자인, 다채로움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544A754-9D13-DBD4-1112-E83DD6D614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7118" y="3806943"/>
                <a:ext cx="1039568" cy="292455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76422CD-23C2-80CB-D040-8CBCEDB5C5B1}"/>
                </a:ext>
              </a:extLst>
            </p:cNvPr>
            <p:cNvGrpSpPr/>
            <p:nvPr/>
          </p:nvGrpSpPr>
          <p:grpSpPr>
            <a:xfrm>
              <a:off x="4566911" y="4507732"/>
              <a:ext cx="1409700" cy="657225"/>
              <a:chOff x="10454046" y="4811925"/>
              <a:chExt cx="1409700" cy="657225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CB729AF9-5B54-7D63-C3AA-0FB76AE39832}"/>
                  </a:ext>
                </a:extLst>
              </p:cNvPr>
              <p:cNvSpPr/>
              <p:nvPr/>
            </p:nvSpPr>
            <p:spPr>
              <a:xfrm>
                <a:off x="10454046" y="4811925"/>
                <a:ext cx="1409700" cy="65722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63" name="그림 62" descr="스크린샷, 그래픽, 폰트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F317B16-27F5-D01D-0227-7A2192AB3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34" t="32725" r="25909" b="34584"/>
              <a:stretch>
                <a:fillRect/>
              </a:stretch>
            </p:blipFill>
            <p:spPr>
              <a:xfrm>
                <a:off x="10654651" y="4846018"/>
                <a:ext cx="1008490" cy="589038"/>
              </a:xfrm>
              <a:prstGeom prst="rect">
                <a:avLst/>
              </a:prstGeom>
            </p:spPr>
          </p:pic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40F49FF-8DD7-8C2A-97D1-5DC47108DDC9}"/>
                </a:ext>
              </a:extLst>
            </p:cNvPr>
            <p:cNvSpPr/>
            <p:nvPr/>
          </p:nvSpPr>
          <p:spPr>
            <a:xfrm>
              <a:off x="8804734" y="4317582"/>
              <a:ext cx="203366" cy="203366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CA6E15BC-9F94-CC94-2E0D-59982F17E0AB}"/>
                </a:ext>
              </a:extLst>
            </p:cNvPr>
            <p:cNvSpPr/>
            <p:nvPr/>
          </p:nvSpPr>
          <p:spPr>
            <a:xfrm>
              <a:off x="7693232" y="5623691"/>
              <a:ext cx="173326" cy="173326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7D598F0-76A5-3EAC-09D2-F23CA225AD92}"/>
                </a:ext>
              </a:extLst>
            </p:cNvPr>
            <p:cNvSpPr/>
            <p:nvPr/>
          </p:nvSpPr>
          <p:spPr>
            <a:xfrm>
              <a:off x="11365525" y="4907233"/>
              <a:ext cx="245120" cy="245120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7F7DF6B-C487-0332-0DF1-A8983A340CE4}"/>
                </a:ext>
              </a:extLst>
            </p:cNvPr>
            <p:cNvSpPr/>
            <p:nvPr/>
          </p:nvSpPr>
          <p:spPr>
            <a:xfrm>
              <a:off x="9719756" y="6079564"/>
              <a:ext cx="100063" cy="100063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C939F71-B9C2-4634-BEAD-3D674F86A0E4}"/>
                </a:ext>
              </a:extLst>
            </p:cNvPr>
            <p:cNvSpPr/>
            <p:nvPr/>
          </p:nvSpPr>
          <p:spPr>
            <a:xfrm>
              <a:off x="6962913" y="6577781"/>
              <a:ext cx="100063" cy="100063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E44A47F-3593-C3D2-14F2-D735AE886783}"/>
                </a:ext>
              </a:extLst>
            </p:cNvPr>
            <p:cNvSpPr/>
            <p:nvPr/>
          </p:nvSpPr>
          <p:spPr>
            <a:xfrm>
              <a:off x="11695648" y="6499200"/>
              <a:ext cx="100063" cy="100063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A890EBBE-2FF3-4FCC-AC87-9E742CCDC117}"/>
                </a:ext>
              </a:extLst>
            </p:cNvPr>
            <p:cNvSpPr/>
            <p:nvPr/>
          </p:nvSpPr>
          <p:spPr>
            <a:xfrm>
              <a:off x="5926579" y="3927401"/>
              <a:ext cx="100063" cy="100063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2B571E0-B742-0833-173C-373F3E841AEC}"/>
                </a:ext>
              </a:extLst>
            </p:cNvPr>
            <p:cNvCxnSpPr>
              <a:cxnSpLocks/>
              <a:stCxn id="26" idx="6"/>
              <a:endCxn id="58" idx="1"/>
            </p:cNvCxnSpPr>
            <p:nvPr/>
          </p:nvCxnSpPr>
          <p:spPr>
            <a:xfrm flipV="1">
              <a:off x="6026642" y="3567579"/>
              <a:ext cx="2113849" cy="409854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1C189B5-7F3D-1F04-F0AB-1E4A2D1CCE8F}"/>
                </a:ext>
              </a:extLst>
            </p:cNvPr>
            <p:cNvCxnSpPr>
              <a:cxnSpLocks/>
              <a:stCxn id="26" idx="5"/>
              <a:endCxn id="54" idx="1"/>
            </p:cNvCxnSpPr>
            <p:nvPr/>
          </p:nvCxnSpPr>
          <p:spPr>
            <a:xfrm>
              <a:off x="6011988" y="4012810"/>
              <a:ext cx="791734" cy="91390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7EC619B-0BBC-4AE6-9B4E-64DB2656D49D}"/>
                </a:ext>
              </a:extLst>
            </p:cNvPr>
            <p:cNvCxnSpPr>
              <a:cxnSpLocks/>
              <a:stCxn id="62" idx="0"/>
              <a:endCxn id="1035" idx="1"/>
            </p:cNvCxnSpPr>
            <p:nvPr/>
          </p:nvCxnSpPr>
          <p:spPr>
            <a:xfrm flipV="1">
              <a:off x="5271761" y="4196098"/>
              <a:ext cx="1536611" cy="31163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70E75B76-EB3C-F6DA-7615-0AD4F50E49BE}"/>
                </a:ext>
              </a:extLst>
            </p:cNvPr>
            <p:cNvCxnSpPr>
              <a:cxnSpLocks/>
              <a:stCxn id="62" idx="3"/>
              <a:endCxn id="1034" idx="1"/>
            </p:cNvCxnSpPr>
            <p:nvPr/>
          </p:nvCxnSpPr>
          <p:spPr>
            <a:xfrm>
              <a:off x="5976611" y="4836345"/>
              <a:ext cx="3250404" cy="71104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3C534910-60ED-D0D0-5B64-CF948534B1B8}"/>
                </a:ext>
              </a:extLst>
            </p:cNvPr>
            <p:cNvCxnSpPr>
              <a:cxnSpLocks/>
              <a:stCxn id="1036" idx="2"/>
              <a:endCxn id="1032" idx="3"/>
            </p:cNvCxnSpPr>
            <p:nvPr/>
          </p:nvCxnSpPr>
          <p:spPr>
            <a:xfrm flipH="1">
              <a:off x="7080857" y="4455178"/>
              <a:ext cx="432365" cy="144120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228DF45-F4D6-638E-CD4F-279D0F8F9E09}"/>
                </a:ext>
              </a:extLst>
            </p:cNvPr>
            <p:cNvCxnSpPr>
              <a:cxnSpLocks/>
              <a:stCxn id="62" idx="2"/>
              <a:endCxn id="1031" idx="1"/>
            </p:cNvCxnSpPr>
            <p:nvPr/>
          </p:nvCxnSpPr>
          <p:spPr>
            <a:xfrm>
              <a:off x="5271761" y="5164957"/>
              <a:ext cx="508183" cy="731428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EA04AF3-328E-8BA0-1CC1-C4765EFF0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9349" y="5130863"/>
              <a:ext cx="739869" cy="79769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BD166C6-620C-05BB-9516-6768B3284680}"/>
                </a:ext>
              </a:extLst>
            </p:cNvPr>
            <p:cNvCxnSpPr>
              <a:cxnSpLocks/>
              <a:stCxn id="1032" idx="2"/>
              <a:endCxn id="24" idx="1"/>
            </p:cNvCxnSpPr>
            <p:nvPr/>
          </p:nvCxnSpPr>
          <p:spPr>
            <a:xfrm>
              <a:off x="6484795" y="6099201"/>
              <a:ext cx="492772" cy="493234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7E964FA0-F730-9D4E-4393-C3E7FCB439FC}"/>
                </a:ext>
              </a:extLst>
            </p:cNvPr>
            <p:cNvCxnSpPr>
              <a:cxnSpLocks/>
              <a:stCxn id="24" idx="7"/>
              <a:endCxn id="21" idx="3"/>
            </p:cNvCxnSpPr>
            <p:nvPr/>
          </p:nvCxnSpPr>
          <p:spPr>
            <a:xfrm flipV="1">
              <a:off x="7048322" y="5771634"/>
              <a:ext cx="670293" cy="82080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C4BCB5E-0387-D4BE-6E8A-B68517CA660B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 flipV="1">
              <a:off x="7062976" y="6218807"/>
              <a:ext cx="754339" cy="409006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129E7536-A206-C85E-6ADC-486D2FC2524B}"/>
                </a:ext>
              </a:extLst>
            </p:cNvPr>
            <p:cNvCxnSpPr>
              <a:cxnSpLocks/>
              <a:stCxn id="21" idx="6"/>
              <a:endCxn id="1029" idx="0"/>
            </p:cNvCxnSpPr>
            <p:nvPr/>
          </p:nvCxnSpPr>
          <p:spPr>
            <a:xfrm>
              <a:off x="7866558" y="5710354"/>
              <a:ext cx="655607" cy="287054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FE831D08-FFAA-0966-0528-5968A5D14714}"/>
                </a:ext>
              </a:extLst>
            </p:cNvPr>
            <p:cNvCxnSpPr>
              <a:cxnSpLocks/>
              <a:stCxn id="21" idx="7"/>
              <a:endCxn id="58" idx="2"/>
            </p:cNvCxnSpPr>
            <p:nvPr/>
          </p:nvCxnSpPr>
          <p:spPr>
            <a:xfrm flipV="1">
              <a:off x="7841175" y="3806943"/>
              <a:ext cx="1004166" cy="184213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21AA668E-B671-69DA-98BF-30918BDE807F}"/>
                </a:ext>
              </a:extLst>
            </p:cNvPr>
            <p:cNvCxnSpPr>
              <a:cxnSpLocks/>
            </p:cNvCxnSpPr>
            <p:nvPr/>
          </p:nvCxnSpPr>
          <p:spPr>
            <a:xfrm>
              <a:off x="8207255" y="6015154"/>
              <a:ext cx="619710" cy="287054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04271A8-39A1-2655-4800-A15CCE1A3782}"/>
                </a:ext>
              </a:extLst>
            </p:cNvPr>
            <p:cNvGrpSpPr/>
            <p:nvPr/>
          </p:nvGrpSpPr>
          <p:grpSpPr>
            <a:xfrm>
              <a:off x="7513222" y="4944940"/>
              <a:ext cx="1409700" cy="317586"/>
              <a:chOff x="10364697" y="5098825"/>
              <a:chExt cx="1409700" cy="317586"/>
            </a:xfrm>
          </p:grpSpPr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9B5E9378-E35A-62C3-22EC-1B6C0014AD86}"/>
                  </a:ext>
                </a:extLst>
              </p:cNvPr>
              <p:cNvSpPr/>
              <p:nvPr/>
            </p:nvSpPr>
            <p:spPr>
              <a:xfrm>
                <a:off x="10364697" y="5098825"/>
                <a:ext cx="1409700" cy="31758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61" name="그림 60" descr="폰트, 로고, 그래픽, 상징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1281385-032C-444C-1C31-ED7BB44D39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03763" y="5098825"/>
                <a:ext cx="1131568" cy="317586"/>
              </a:xfrm>
              <a:prstGeom prst="rect">
                <a:avLst/>
              </a:prstGeom>
            </p:spPr>
          </p:pic>
        </p:grp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C08AAC01-9E22-1FE9-BA65-204E3972A891}"/>
                </a:ext>
              </a:extLst>
            </p:cNvPr>
            <p:cNvCxnSpPr>
              <a:cxnSpLocks/>
              <a:stCxn id="20" idx="5"/>
              <a:endCxn id="1033" idx="0"/>
            </p:cNvCxnSpPr>
            <p:nvPr/>
          </p:nvCxnSpPr>
          <p:spPr>
            <a:xfrm>
              <a:off x="8978318" y="4491166"/>
              <a:ext cx="905016" cy="89247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7DB90CD-E304-DE83-C08C-FAF0DA8004B5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 flipH="1">
              <a:off x="8552853" y="4520948"/>
              <a:ext cx="353564" cy="147646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40AC595-3775-8184-CF16-24D5E9BAC12A}"/>
                </a:ext>
              </a:extLst>
            </p:cNvPr>
            <p:cNvCxnSpPr>
              <a:cxnSpLocks/>
              <a:endCxn id="57" idx="4"/>
            </p:cNvCxnSpPr>
            <p:nvPr/>
          </p:nvCxnSpPr>
          <p:spPr>
            <a:xfrm flipV="1">
              <a:off x="9931806" y="3328215"/>
              <a:ext cx="71255" cy="2037676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35792A0C-62A1-22D1-11C6-1D7A89F422B6}"/>
                </a:ext>
              </a:extLst>
            </p:cNvPr>
            <p:cNvCxnSpPr>
              <a:cxnSpLocks/>
              <a:stCxn id="20" idx="7"/>
              <a:endCxn id="57" idx="3"/>
            </p:cNvCxnSpPr>
            <p:nvPr/>
          </p:nvCxnSpPr>
          <p:spPr>
            <a:xfrm flipV="1">
              <a:off x="8978318" y="3313561"/>
              <a:ext cx="989365" cy="103380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84E9705-88CF-E9CB-54F2-329BA81B5131}"/>
                </a:ext>
              </a:extLst>
            </p:cNvPr>
            <p:cNvCxnSpPr>
              <a:cxnSpLocks/>
              <a:stCxn id="26" idx="3"/>
              <a:endCxn id="62" idx="0"/>
            </p:cNvCxnSpPr>
            <p:nvPr/>
          </p:nvCxnSpPr>
          <p:spPr>
            <a:xfrm flipH="1">
              <a:off x="5271761" y="4012810"/>
              <a:ext cx="669472" cy="49492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A827F8D-38FC-616D-91CA-F841B2E149AD}"/>
                </a:ext>
              </a:extLst>
            </p:cNvPr>
            <p:cNvCxnSpPr>
              <a:cxnSpLocks/>
              <a:stCxn id="1029" idx="3"/>
              <a:endCxn id="23" idx="2"/>
            </p:cNvCxnSpPr>
            <p:nvPr/>
          </p:nvCxnSpPr>
          <p:spPr>
            <a:xfrm flipV="1">
              <a:off x="9227015" y="6129596"/>
              <a:ext cx="492741" cy="8921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5DC8B5D0-72CF-D7FF-069C-EDD0AD5A1751}"/>
                </a:ext>
              </a:extLst>
            </p:cNvPr>
            <p:cNvCxnSpPr>
              <a:cxnSpLocks/>
              <a:stCxn id="23" idx="6"/>
              <a:endCxn id="25" idx="1"/>
            </p:cNvCxnSpPr>
            <p:nvPr/>
          </p:nvCxnSpPr>
          <p:spPr>
            <a:xfrm>
              <a:off x="9819819" y="6129596"/>
              <a:ext cx="1890483" cy="384258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52607C48-6BCF-F7C4-8205-7075FCFC5FE5}"/>
                </a:ext>
              </a:extLst>
            </p:cNvPr>
            <p:cNvCxnSpPr>
              <a:cxnSpLocks/>
              <a:stCxn id="1028" idx="3"/>
              <a:endCxn id="25" idx="1"/>
            </p:cNvCxnSpPr>
            <p:nvPr/>
          </p:nvCxnSpPr>
          <p:spPr>
            <a:xfrm>
              <a:off x="11601980" y="6054423"/>
              <a:ext cx="108322" cy="45943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80407752-2B79-3405-8801-CFAD22465056}"/>
                </a:ext>
              </a:extLst>
            </p:cNvPr>
            <p:cNvCxnSpPr>
              <a:cxnSpLocks/>
              <a:stCxn id="22" idx="4"/>
              <a:endCxn id="1027" idx="0"/>
            </p:cNvCxnSpPr>
            <p:nvPr/>
          </p:nvCxnSpPr>
          <p:spPr>
            <a:xfrm flipH="1">
              <a:off x="10944282" y="5152353"/>
              <a:ext cx="543803" cy="646888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2EF0EEB-2AB4-C510-7C27-C0CED55E4713}"/>
                </a:ext>
              </a:extLst>
            </p:cNvPr>
            <p:cNvCxnSpPr>
              <a:cxnSpLocks/>
              <a:stCxn id="1024" idx="2"/>
              <a:endCxn id="1027" idx="0"/>
            </p:cNvCxnSpPr>
            <p:nvPr/>
          </p:nvCxnSpPr>
          <p:spPr>
            <a:xfrm flipH="1">
              <a:off x="10944282" y="4420231"/>
              <a:ext cx="146579" cy="137901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AA77AC8E-9A65-A3C3-26F7-258503708B0F}"/>
                </a:ext>
              </a:extLst>
            </p:cNvPr>
            <p:cNvCxnSpPr>
              <a:cxnSpLocks/>
              <a:stCxn id="1024" idx="2"/>
              <a:endCxn id="22" idx="0"/>
            </p:cNvCxnSpPr>
            <p:nvPr/>
          </p:nvCxnSpPr>
          <p:spPr>
            <a:xfrm>
              <a:off x="11090861" y="4420231"/>
              <a:ext cx="397224" cy="48700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7210CF5E-BDAF-A1C6-0836-CE439DD3E2C9}"/>
                </a:ext>
              </a:extLst>
            </p:cNvPr>
            <p:cNvCxnSpPr>
              <a:cxnSpLocks/>
              <a:stCxn id="1024" idx="1"/>
              <a:endCxn id="1033" idx="0"/>
            </p:cNvCxnSpPr>
            <p:nvPr/>
          </p:nvCxnSpPr>
          <p:spPr>
            <a:xfrm flipH="1">
              <a:off x="9883334" y="4198832"/>
              <a:ext cx="502677" cy="118480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09F3F5AC-4883-DE06-B2BE-8505EA82ABC2}"/>
                </a:ext>
              </a:extLst>
            </p:cNvPr>
            <p:cNvCxnSpPr>
              <a:cxnSpLocks/>
              <a:stCxn id="58" idx="3"/>
              <a:endCxn id="1024" idx="0"/>
            </p:cNvCxnSpPr>
            <p:nvPr/>
          </p:nvCxnSpPr>
          <p:spPr>
            <a:xfrm>
              <a:off x="9550191" y="3567579"/>
              <a:ext cx="1540670" cy="40985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F60FE7E1-7B89-5A10-E64B-08B5A1260235}"/>
                </a:ext>
              </a:extLst>
            </p:cNvPr>
            <p:cNvSpPr/>
            <p:nvPr/>
          </p:nvSpPr>
          <p:spPr>
            <a:xfrm>
              <a:off x="6767825" y="4890814"/>
              <a:ext cx="245120" cy="245120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034EAC76-0B2A-AAB4-2D4B-78F57C7882EA}"/>
                </a:ext>
              </a:extLst>
            </p:cNvPr>
            <p:cNvCxnSpPr>
              <a:cxnSpLocks/>
              <a:stCxn id="58" idx="0"/>
              <a:endCxn id="1035" idx="3"/>
            </p:cNvCxnSpPr>
            <p:nvPr/>
          </p:nvCxnSpPr>
          <p:spPr>
            <a:xfrm flipH="1">
              <a:off x="8218072" y="3328215"/>
              <a:ext cx="627269" cy="86788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BB5CBAE-7816-C992-F242-51F485DD7512}"/>
                </a:ext>
              </a:extLst>
            </p:cNvPr>
            <p:cNvGrpSpPr/>
            <p:nvPr/>
          </p:nvGrpSpPr>
          <p:grpSpPr>
            <a:xfrm>
              <a:off x="8140491" y="3328215"/>
              <a:ext cx="1409700" cy="478728"/>
              <a:chOff x="8734117" y="3387066"/>
              <a:chExt cx="1409700" cy="478728"/>
            </a:xfrm>
          </p:grpSpPr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10E0EF3F-4CBB-56BA-16C8-E75E68DC2F14}"/>
                  </a:ext>
                </a:extLst>
              </p:cNvPr>
              <p:cNvSpPr/>
              <p:nvPr/>
            </p:nvSpPr>
            <p:spPr>
              <a:xfrm>
                <a:off x="8734117" y="3387066"/>
                <a:ext cx="1409700" cy="47872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59" name="그림 58" descr="폰트, 그래픽, 그래픽 디자인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3811FA40-0DD6-1E59-4300-628797734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11588" y="3496890"/>
                <a:ext cx="1254759" cy="259080"/>
              </a:xfrm>
              <a:prstGeom prst="rect">
                <a:avLst/>
              </a:prstGeom>
            </p:spPr>
          </p:pic>
        </p:grp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E234E0F-08E3-46F1-52D8-C7B088F2F814}"/>
                </a:ext>
              </a:extLst>
            </p:cNvPr>
            <p:cNvSpPr/>
            <p:nvPr/>
          </p:nvSpPr>
          <p:spPr>
            <a:xfrm>
              <a:off x="9953029" y="3228152"/>
              <a:ext cx="100063" cy="100063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38" name="Picture 4">
            <a:extLst>
              <a:ext uri="{FF2B5EF4-FFF2-40B4-BE49-F238E27FC236}">
                <a16:creationId xmlns:a16="http://schemas.microsoft.com/office/drawing/2014/main" id="{E1E521C0-EF42-015E-6C02-AC54DE23E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084" y="-7365478"/>
            <a:ext cx="7000875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30" descr="네트워크 클립 아트 PNG, 일러스트, PSD 및 클립 아트에 대한 무료 다운로드 | Pngtree">
            <a:extLst>
              <a:ext uri="{FF2B5EF4-FFF2-40B4-BE49-F238E27FC236}">
                <a16:creationId xmlns:a16="http://schemas.microsoft.com/office/drawing/2014/main" id="{43FEBAB9-31DC-1357-B35D-C417EFAE6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08793" y="-333985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그림 1039">
            <a:extLst>
              <a:ext uri="{FF2B5EF4-FFF2-40B4-BE49-F238E27FC236}">
                <a16:creationId xmlns:a16="http://schemas.microsoft.com/office/drawing/2014/main" id="{E6444203-3929-E56D-B60B-5F23D0BA76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649808" y="-7930546"/>
            <a:ext cx="3638550" cy="3524250"/>
          </a:xfrm>
          <a:prstGeom prst="rect">
            <a:avLst/>
          </a:prstGeom>
        </p:spPr>
      </p:pic>
      <p:pic>
        <p:nvPicPr>
          <p:cNvPr id="1041" name="Picture 36" descr="원형 네트워크가 있는 추상 그림은 흰색 배경 기호 그림 인터넷 기술 벡터 일러스트 디자인 글로벌 네트워크 연결에 연결됩니다. 로열티  무료 사진, 그림, 이미지 그리고 스톡포토그래피. Image 168669279">
            <a:extLst>
              <a:ext uri="{FF2B5EF4-FFF2-40B4-BE49-F238E27FC236}">
                <a16:creationId xmlns:a16="http://schemas.microsoft.com/office/drawing/2014/main" id="{DE947930-45D5-7862-E7DC-7D2697D11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81326" y="-4120716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1" name="그룹 1120">
            <a:extLst>
              <a:ext uri="{FF2B5EF4-FFF2-40B4-BE49-F238E27FC236}">
                <a16:creationId xmlns:a16="http://schemas.microsoft.com/office/drawing/2014/main" id="{F6B4233F-D8D6-A7B8-939E-1756AA0E8366}"/>
              </a:ext>
            </a:extLst>
          </p:cNvPr>
          <p:cNvGrpSpPr/>
          <p:nvPr/>
        </p:nvGrpSpPr>
        <p:grpSpPr>
          <a:xfrm>
            <a:off x="1374874" y="3684757"/>
            <a:ext cx="4308276" cy="2155731"/>
            <a:chOff x="1663898" y="3684757"/>
            <a:chExt cx="4308276" cy="2155731"/>
          </a:xfrm>
        </p:grpSpPr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A72D280F-5D49-FFFF-5F95-A3F9D783CF37}"/>
                </a:ext>
              </a:extLst>
            </p:cNvPr>
            <p:cNvGrpSpPr/>
            <p:nvPr/>
          </p:nvGrpSpPr>
          <p:grpSpPr>
            <a:xfrm>
              <a:off x="1663898" y="3684757"/>
              <a:ext cx="299580" cy="299580"/>
              <a:chOff x="2944586" y="3684757"/>
              <a:chExt cx="299580" cy="299580"/>
            </a:xfrm>
          </p:grpSpPr>
          <p:sp>
            <p:nvSpPr>
              <p:cNvPr id="1042" name="타원 1041">
                <a:extLst>
                  <a:ext uri="{FF2B5EF4-FFF2-40B4-BE49-F238E27FC236}">
                    <a16:creationId xmlns:a16="http://schemas.microsoft.com/office/drawing/2014/main" id="{AC1ED66A-3FE8-0948-75CC-4866B233028B}"/>
                  </a:ext>
                </a:extLst>
              </p:cNvPr>
              <p:cNvSpPr/>
              <p:nvPr/>
            </p:nvSpPr>
            <p:spPr>
              <a:xfrm>
                <a:off x="2944586" y="3684757"/>
                <a:ext cx="299580" cy="299580"/>
              </a:xfrm>
              <a:prstGeom prst="ellipse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50" name="그룹 1049">
                <a:extLst>
                  <a:ext uri="{FF2B5EF4-FFF2-40B4-BE49-F238E27FC236}">
                    <a16:creationId xmlns:a16="http://schemas.microsoft.com/office/drawing/2014/main" id="{A4E4130B-4CE0-B139-DBE5-C277DDD589D0}"/>
                  </a:ext>
                </a:extLst>
              </p:cNvPr>
              <p:cNvGrpSpPr/>
              <p:nvPr/>
            </p:nvGrpSpPr>
            <p:grpSpPr>
              <a:xfrm rot="2700000">
                <a:off x="2984838" y="3725009"/>
                <a:ext cx="219076" cy="219076"/>
                <a:chOff x="3502766" y="3632659"/>
                <a:chExt cx="666292" cy="666292"/>
              </a:xfrm>
              <a:solidFill>
                <a:srgbClr val="2D3142"/>
              </a:solidFill>
            </p:grpSpPr>
            <p:sp>
              <p:nvSpPr>
                <p:cNvPr id="1044" name="사각형: 둥근 모서리 1043">
                  <a:extLst>
                    <a:ext uri="{FF2B5EF4-FFF2-40B4-BE49-F238E27FC236}">
                      <a16:creationId xmlns:a16="http://schemas.microsoft.com/office/drawing/2014/main" id="{6AF5177E-2158-8834-5581-508C9BEB3C15}"/>
                    </a:ext>
                  </a:extLst>
                </p:cNvPr>
                <p:cNvSpPr/>
                <p:nvPr/>
              </p:nvSpPr>
              <p:spPr>
                <a:xfrm flipH="1">
                  <a:off x="3769749" y="3632659"/>
                  <a:ext cx="132325" cy="66629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9" name="사각형: 둥근 모서리 1048">
                  <a:extLst>
                    <a:ext uri="{FF2B5EF4-FFF2-40B4-BE49-F238E27FC236}">
                      <a16:creationId xmlns:a16="http://schemas.microsoft.com/office/drawing/2014/main" id="{585E2CD1-7C71-D5DD-BB30-BD516171AD63}"/>
                    </a:ext>
                  </a:extLst>
                </p:cNvPr>
                <p:cNvSpPr/>
                <p:nvPr/>
              </p:nvSpPr>
              <p:spPr>
                <a:xfrm rot="5400000" flipH="1">
                  <a:off x="3769749" y="3632659"/>
                  <a:ext cx="132325" cy="66629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058" name="직사각형 1057">
              <a:extLst>
                <a:ext uri="{FF2B5EF4-FFF2-40B4-BE49-F238E27FC236}">
                  <a16:creationId xmlns:a16="http://schemas.microsoft.com/office/drawing/2014/main" id="{B64FC5B5-155A-900D-BE99-90FA72CCF186}"/>
                </a:ext>
              </a:extLst>
            </p:cNvPr>
            <p:cNvSpPr/>
            <p:nvPr/>
          </p:nvSpPr>
          <p:spPr>
            <a:xfrm>
              <a:off x="1957737" y="3684757"/>
              <a:ext cx="2355322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Pain Point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  <p:grpSp>
          <p:nvGrpSpPr>
            <p:cNvPr id="1066" name="그룹 1065">
              <a:extLst>
                <a:ext uri="{FF2B5EF4-FFF2-40B4-BE49-F238E27FC236}">
                  <a16:creationId xmlns:a16="http://schemas.microsoft.com/office/drawing/2014/main" id="{C370A0C2-E327-B608-FF9B-54F9CE88E610}"/>
                </a:ext>
              </a:extLst>
            </p:cNvPr>
            <p:cNvGrpSpPr/>
            <p:nvPr/>
          </p:nvGrpSpPr>
          <p:grpSpPr>
            <a:xfrm>
              <a:off x="1720849" y="4076700"/>
              <a:ext cx="4251325" cy="299580"/>
              <a:chOff x="2218682" y="4076700"/>
              <a:chExt cx="3877318" cy="299580"/>
            </a:xfrm>
          </p:grpSpPr>
          <p:sp>
            <p:nvSpPr>
              <p:cNvPr id="1061" name="사각형: 둥근 모서리 1060">
                <a:extLst>
                  <a:ext uri="{FF2B5EF4-FFF2-40B4-BE49-F238E27FC236}">
                    <a16:creationId xmlns:a16="http://schemas.microsoft.com/office/drawing/2014/main" id="{801B5833-A3E6-A387-115F-64EC692CD3E5}"/>
                  </a:ext>
                </a:extLst>
              </p:cNvPr>
              <p:cNvSpPr/>
              <p:nvPr/>
            </p:nvSpPr>
            <p:spPr>
              <a:xfrm>
                <a:off x="2230417" y="4089962"/>
                <a:ext cx="1302905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57" name="직사각형 1056">
                <a:extLst>
                  <a:ext uri="{FF2B5EF4-FFF2-40B4-BE49-F238E27FC236}">
                    <a16:creationId xmlns:a16="http://schemas.microsoft.com/office/drawing/2014/main" id="{751CE732-CA36-C9AC-9007-EB7CF0CDAE39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보험사별 정보 파편화</a:t>
                </a:r>
                <a:r>
                  <a:rPr lang="en-US" altLang="ko-KR" sz="1400">
                    <a:solidFill>
                      <a:srgbClr val="2D3142"/>
                    </a:solidFill>
                    <a:latin typeface="+mn-ea"/>
                  </a:rPr>
                  <a:t>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흩어진 약관 정보로 인한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고객 접근성이 낮음</a:t>
                </a:r>
              </a:p>
            </p:txBody>
          </p:sp>
        </p:grpSp>
        <p:grpSp>
          <p:nvGrpSpPr>
            <p:cNvPr id="1078" name="그룹 1077">
              <a:extLst>
                <a:ext uri="{FF2B5EF4-FFF2-40B4-BE49-F238E27FC236}">
                  <a16:creationId xmlns:a16="http://schemas.microsoft.com/office/drawing/2014/main" id="{40F8E92B-97EA-36CC-C68F-DD5AB989E1E6}"/>
                </a:ext>
              </a:extLst>
            </p:cNvPr>
            <p:cNvGrpSpPr/>
            <p:nvPr/>
          </p:nvGrpSpPr>
          <p:grpSpPr>
            <a:xfrm>
              <a:off x="1720849" y="4575016"/>
              <a:ext cx="4251325" cy="299580"/>
              <a:chOff x="2218682" y="4076700"/>
              <a:chExt cx="3877318" cy="299580"/>
            </a:xfrm>
          </p:grpSpPr>
          <p:sp>
            <p:nvSpPr>
              <p:cNvPr id="1081" name="사각형: 둥근 모서리 1080">
                <a:extLst>
                  <a:ext uri="{FF2B5EF4-FFF2-40B4-BE49-F238E27FC236}">
                    <a16:creationId xmlns:a16="http://schemas.microsoft.com/office/drawing/2014/main" id="{4D687731-42A6-8838-F78E-A7700076F761}"/>
                  </a:ext>
                </a:extLst>
              </p:cNvPr>
              <p:cNvSpPr/>
              <p:nvPr/>
            </p:nvSpPr>
            <p:spPr>
              <a:xfrm>
                <a:off x="5083961" y="4089962"/>
                <a:ext cx="768805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79" name="사각형: 둥근 모서리 1078">
                <a:extLst>
                  <a:ext uri="{FF2B5EF4-FFF2-40B4-BE49-F238E27FC236}">
                    <a16:creationId xmlns:a16="http://schemas.microsoft.com/office/drawing/2014/main" id="{A8BD8D98-54CE-AE89-4D97-340ED17DE012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1050982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0" name="직사각형 1079">
                <a:extLst>
                  <a:ext uri="{FF2B5EF4-FFF2-40B4-BE49-F238E27FC236}">
                    <a16:creationId xmlns:a16="http://schemas.microsoft.com/office/drawing/2014/main" id="{788C1D3A-A463-1A25-1B70-66E5402D91AA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어려운 전문 용어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로 작성된 약관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비전문가들에게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  이해도 저하 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  <p:grpSp>
          <p:nvGrpSpPr>
            <p:cNvPr id="1082" name="그룹 1081">
              <a:extLst>
                <a:ext uri="{FF2B5EF4-FFF2-40B4-BE49-F238E27FC236}">
                  <a16:creationId xmlns:a16="http://schemas.microsoft.com/office/drawing/2014/main" id="{2C6E68DC-7DD1-DEB1-B6A2-52C819C4E61E}"/>
                </a:ext>
              </a:extLst>
            </p:cNvPr>
            <p:cNvGrpSpPr/>
            <p:nvPr/>
          </p:nvGrpSpPr>
          <p:grpSpPr>
            <a:xfrm>
              <a:off x="1720849" y="5049853"/>
              <a:ext cx="4251325" cy="299580"/>
              <a:chOff x="2218682" y="4076700"/>
              <a:chExt cx="3877318" cy="299580"/>
            </a:xfrm>
          </p:grpSpPr>
          <p:sp>
            <p:nvSpPr>
              <p:cNvPr id="1083" name="사각형: 둥근 모서리 1082">
                <a:extLst>
                  <a:ext uri="{FF2B5EF4-FFF2-40B4-BE49-F238E27FC236}">
                    <a16:creationId xmlns:a16="http://schemas.microsoft.com/office/drawing/2014/main" id="{337D65E3-1109-AF63-6E90-E8B0FC4804F1}"/>
                  </a:ext>
                </a:extLst>
              </p:cNvPr>
              <p:cNvSpPr/>
              <p:nvPr/>
            </p:nvSpPr>
            <p:spPr>
              <a:xfrm>
                <a:off x="5052107" y="4089962"/>
                <a:ext cx="800657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4" name="사각형: 둥근 모서리 1083">
                <a:extLst>
                  <a:ext uri="{FF2B5EF4-FFF2-40B4-BE49-F238E27FC236}">
                    <a16:creationId xmlns:a16="http://schemas.microsoft.com/office/drawing/2014/main" id="{FC76003F-C6E9-5EAC-DEA7-0CF790EB43F8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654274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5" name="직사각형 1084">
                <a:extLst>
                  <a:ext uri="{FF2B5EF4-FFF2-40B4-BE49-F238E27FC236}">
                    <a16:creationId xmlns:a16="http://schemas.microsoft.com/office/drawing/2014/main" id="{ED686CFB-A5E2-ABEE-1F15-8A7B3A0EC829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직접 비교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하며 찾아봐야 하는 선택의 다양성으로   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피로도 향상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  <p:grpSp>
          <p:nvGrpSpPr>
            <p:cNvPr id="1086" name="그룹 1085">
              <a:extLst>
                <a:ext uri="{FF2B5EF4-FFF2-40B4-BE49-F238E27FC236}">
                  <a16:creationId xmlns:a16="http://schemas.microsoft.com/office/drawing/2014/main" id="{57500562-50FF-1AD1-D847-C3FDBF69E00D}"/>
                </a:ext>
              </a:extLst>
            </p:cNvPr>
            <p:cNvGrpSpPr/>
            <p:nvPr/>
          </p:nvGrpSpPr>
          <p:grpSpPr>
            <a:xfrm>
              <a:off x="1720849" y="5540908"/>
              <a:ext cx="4251325" cy="299580"/>
              <a:chOff x="2218682" y="4076700"/>
              <a:chExt cx="3877318" cy="299580"/>
            </a:xfrm>
          </p:grpSpPr>
          <p:sp>
            <p:nvSpPr>
              <p:cNvPr id="1087" name="사각형: 둥근 모서리 1086">
                <a:extLst>
                  <a:ext uri="{FF2B5EF4-FFF2-40B4-BE49-F238E27FC236}">
                    <a16:creationId xmlns:a16="http://schemas.microsoft.com/office/drawing/2014/main" id="{514D25DF-A97F-0BE1-8F80-B40997CDDF0A}"/>
                  </a:ext>
                </a:extLst>
              </p:cNvPr>
              <p:cNvSpPr/>
              <p:nvPr/>
            </p:nvSpPr>
            <p:spPr>
              <a:xfrm>
                <a:off x="4097817" y="4089962"/>
                <a:ext cx="1025237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8" name="사각형: 둥근 모서리 1087">
                <a:extLst>
                  <a:ext uri="{FF2B5EF4-FFF2-40B4-BE49-F238E27FC236}">
                    <a16:creationId xmlns:a16="http://schemas.microsoft.com/office/drawing/2014/main" id="{94E7FD84-0DC3-3BF4-23EE-F980B23EF8DE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778788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9" name="직사각형 1088">
                <a:extLst>
                  <a:ext uri="{FF2B5EF4-FFF2-40B4-BE49-F238E27FC236}">
                    <a16:creationId xmlns:a16="http://schemas.microsoft.com/office/drawing/2014/main" id="{26BD8C78-81C1-1044-6576-7E8F0CCAE66B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단순한 정보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안내하는 챗봇으로  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구체적 답변 부족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</p:grpSp>
      <p:grpSp>
        <p:nvGrpSpPr>
          <p:cNvPr id="1120" name="그룹 1119">
            <a:extLst>
              <a:ext uri="{FF2B5EF4-FFF2-40B4-BE49-F238E27FC236}">
                <a16:creationId xmlns:a16="http://schemas.microsoft.com/office/drawing/2014/main" id="{472E1688-3DEF-756F-0A17-63C865FEDCD3}"/>
              </a:ext>
            </a:extLst>
          </p:cNvPr>
          <p:cNvGrpSpPr/>
          <p:nvPr/>
        </p:nvGrpSpPr>
        <p:grpSpPr>
          <a:xfrm>
            <a:off x="6365895" y="3684756"/>
            <a:ext cx="4451231" cy="2157903"/>
            <a:chOff x="6654919" y="3684756"/>
            <a:chExt cx="4451231" cy="2157903"/>
          </a:xfrm>
        </p:grpSpPr>
        <p:grpSp>
          <p:nvGrpSpPr>
            <p:cNvPr id="1055" name="그룹 1054">
              <a:extLst>
                <a:ext uri="{FF2B5EF4-FFF2-40B4-BE49-F238E27FC236}">
                  <a16:creationId xmlns:a16="http://schemas.microsoft.com/office/drawing/2014/main" id="{B5833716-6D3C-0DFE-87B7-24FBAF64F193}"/>
                </a:ext>
              </a:extLst>
            </p:cNvPr>
            <p:cNvGrpSpPr/>
            <p:nvPr/>
          </p:nvGrpSpPr>
          <p:grpSpPr>
            <a:xfrm>
              <a:off x="6654919" y="3684756"/>
              <a:ext cx="299580" cy="299580"/>
              <a:chOff x="6654919" y="3684756"/>
              <a:chExt cx="299580" cy="299580"/>
            </a:xfrm>
          </p:grpSpPr>
          <p:sp>
            <p:nvSpPr>
              <p:cNvPr id="1043" name="타원 1042">
                <a:extLst>
                  <a:ext uri="{FF2B5EF4-FFF2-40B4-BE49-F238E27FC236}">
                    <a16:creationId xmlns:a16="http://schemas.microsoft.com/office/drawing/2014/main" id="{B0524A5F-5CD5-A401-F0F8-217552460EC6}"/>
                  </a:ext>
                </a:extLst>
              </p:cNvPr>
              <p:cNvSpPr/>
              <p:nvPr/>
            </p:nvSpPr>
            <p:spPr>
              <a:xfrm>
                <a:off x="6654919" y="3684756"/>
                <a:ext cx="299580" cy="299580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52" name="그룹 1051">
                <a:extLst>
                  <a:ext uri="{FF2B5EF4-FFF2-40B4-BE49-F238E27FC236}">
                    <a16:creationId xmlns:a16="http://schemas.microsoft.com/office/drawing/2014/main" id="{3CC883BE-16C6-93FA-D673-4F1EFC7007BE}"/>
                  </a:ext>
                </a:extLst>
              </p:cNvPr>
              <p:cNvGrpSpPr/>
              <p:nvPr/>
            </p:nvGrpSpPr>
            <p:grpSpPr>
              <a:xfrm rot="2700000">
                <a:off x="6751572" y="3724026"/>
                <a:ext cx="118976" cy="177809"/>
                <a:chOff x="3554289" y="3807676"/>
                <a:chExt cx="337542" cy="504466"/>
              </a:xfrm>
              <a:solidFill>
                <a:schemeClr val="bg1"/>
              </a:solidFill>
            </p:grpSpPr>
            <p:sp>
              <p:nvSpPr>
                <p:cNvPr id="1053" name="사각형: 둥근 모서리 1052">
                  <a:extLst>
                    <a:ext uri="{FF2B5EF4-FFF2-40B4-BE49-F238E27FC236}">
                      <a16:creationId xmlns:a16="http://schemas.microsoft.com/office/drawing/2014/main" id="{86F9392B-C351-3DC2-E9E7-324BE62F5A46}"/>
                    </a:ext>
                  </a:extLst>
                </p:cNvPr>
                <p:cNvSpPr/>
                <p:nvPr/>
              </p:nvSpPr>
              <p:spPr>
                <a:xfrm flipH="1">
                  <a:off x="3759507" y="3807676"/>
                  <a:ext cx="132324" cy="500596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4" name="사각형: 둥근 모서리 1053">
                  <a:extLst>
                    <a:ext uri="{FF2B5EF4-FFF2-40B4-BE49-F238E27FC236}">
                      <a16:creationId xmlns:a16="http://schemas.microsoft.com/office/drawing/2014/main" id="{29342205-FEEE-59B2-7964-8F131E14FF36}"/>
                    </a:ext>
                  </a:extLst>
                </p:cNvPr>
                <p:cNvSpPr/>
                <p:nvPr/>
              </p:nvSpPr>
              <p:spPr>
                <a:xfrm rot="5400000" flipH="1">
                  <a:off x="3640177" y="4087203"/>
                  <a:ext cx="139051" cy="310828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059" name="직사각형 1058">
              <a:extLst>
                <a:ext uri="{FF2B5EF4-FFF2-40B4-BE49-F238E27FC236}">
                  <a16:creationId xmlns:a16="http://schemas.microsoft.com/office/drawing/2014/main" id="{C684A276-770E-66E6-9D86-E26ED86EC02D}"/>
                </a:ext>
              </a:extLst>
            </p:cNvPr>
            <p:cNvSpPr/>
            <p:nvPr/>
          </p:nvSpPr>
          <p:spPr>
            <a:xfrm>
              <a:off x="7005710" y="3684757"/>
              <a:ext cx="2355322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spc="-80">
                  <a:solidFill>
                    <a:srgbClr val="6A4C93"/>
                  </a:solidFill>
                  <a:latin typeface="+mj-ea"/>
                  <a:ea typeface="+mj-ea"/>
                </a:rPr>
                <a:t>Solution</a:t>
              </a:r>
              <a:endParaRPr lang="ko-KR" altLang="en-US" sz="1600" spc="-80">
                <a:solidFill>
                  <a:srgbClr val="6A4C93"/>
                </a:solidFill>
                <a:latin typeface="+mj-ea"/>
                <a:ea typeface="+mj-ea"/>
              </a:endParaRPr>
            </a:p>
          </p:txBody>
        </p:sp>
        <p:grpSp>
          <p:nvGrpSpPr>
            <p:cNvPr id="1105" name="그룹 1104">
              <a:extLst>
                <a:ext uri="{FF2B5EF4-FFF2-40B4-BE49-F238E27FC236}">
                  <a16:creationId xmlns:a16="http://schemas.microsoft.com/office/drawing/2014/main" id="{1F604A63-7A0E-ACE2-CB17-EFCBA14E2686}"/>
                </a:ext>
              </a:extLst>
            </p:cNvPr>
            <p:cNvGrpSpPr/>
            <p:nvPr/>
          </p:nvGrpSpPr>
          <p:grpSpPr>
            <a:xfrm>
              <a:off x="6711870" y="4076700"/>
              <a:ext cx="4251325" cy="299580"/>
              <a:chOff x="2218682" y="4076700"/>
              <a:chExt cx="3877318" cy="299580"/>
            </a:xfrm>
          </p:grpSpPr>
          <p:sp>
            <p:nvSpPr>
              <p:cNvPr id="1106" name="사각형: 둥근 모서리 1105">
                <a:extLst>
                  <a:ext uri="{FF2B5EF4-FFF2-40B4-BE49-F238E27FC236}">
                    <a16:creationId xmlns:a16="http://schemas.microsoft.com/office/drawing/2014/main" id="{98E191BE-B6BF-61F9-8542-2C9AE39D8B96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132904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07" name="직사각형 1106">
                <a:extLst>
                  <a:ext uri="{FF2B5EF4-FFF2-40B4-BE49-F238E27FC236}">
                    <a16:creationId xmlns:a16="http://schemas.microsoft.com/office/drawing/2014/main" id="{2FFA5B38-55DA-43D7-D607-C25446AEFA05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보험사 약관 통합 제공</a:t>
                </a:r>
                <a:r>
                  <a:rPr lang="en-US" altLang="ko-KR" sz="1400">
                    <a:solidFill>
                      <a:schemeClr val="bg1"/>
                    </a:solidFill>
                    <a:latin typeface="+mn-ea"/>
                  </a:rPr>
                  <a:t>   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챗봇으로 정보 접근성 극대화</a:t>
                </a:r>
              </a:p>
            </p:txBody>
          </p:sp>
        </p:grpSp>
        <p:grpSp>
          <p:nvGrpSpPr>
            <p:cNvPr id="1108" name="그룹 1107">
              <a:extLst>
                <a:ext uri="{FF2B5EF4-FFF2-40B4-BE49-F238E27FC236}">
                  <a16:creationId xmlns:a16="http://schemas.microsoft.com/office/drawing/2014/main" id="{87E72B8E-30C5-F017-FC1F-312B6DF6E382}"/>
                </a:ext>
              </a:extLst>
            </p:cNvPr>
            <p:cNvGrpSpPr/>
            <p:nvPr/>
          </p:nvGrpSpPr>
          <p:grpSpPr>
            <a:xfrm>
              <a:off x="6711870" y="4571163"/>
              <a:ext cx="4251325" cy="299580"/>
              <a:chOff x="2218682" y="4076700"/>
              <a:chExt cx="3877318" cy="299580"/>
            </a:xfrm>
          </p:grpSpPr>
          <p:sp>
            <p:nvSpPr>
              <p:cNvPr id="1117" name="사각형: 둥근 모서리 1116">
                <a:extLst>
                  <a:ext uri="{FF2B5EF4-FFF2-40B4-BE49-F238E27FC236}">
                    <a16:creationId xmlns:a16="http://schemas.microsoft.com/office/drawing/2014/main" id="{FA48AECE-4ADF-B67C-77C3-27264AAFB070}"/>
                  </a:ext>
                </a:extLst>
              </p:cNvPr>
              <p:cNvSpPr/>
              <p:nvPr/>
            </p:nvSpPr>
            <p:spPr>
              <a:xfrm>
                <a:off x="5227368" y="4089962"/>
                <a:ext cx="76446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09" name="사각형: 둥근 모서리 1108">
                <a:extLst>
                  <a:ext uri="{FF2B5EF4-FFF2-40B4-BE49-F238E27FC236}">
                    <a16:creationId xmlns:a16="http://schemas.microsoft.com/office/drawing/2014/main" id="{11B2CF6D-EB0B-BF1A-7F8F-134483656A5C}"/>
                  </a:ext>
                </a:extLst>
              </p:cNvPr>
              <p:cNvSpPr/>
              <p:nvPr/>
            </p:nvSpPr>
            <p:spPr>
              <a:xfrm>
                <a:off x="2739977" y="4089962"/>
                <a:ext cx="129379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0" name="직사각형 1109">
                <a:extLst>
                  <a:ext uri="{FF2B5EF4-FFF2-40B4-BE49-F238E27FC236}">
                    <a16:creationId xmlns:a16="http://schemas.microsoft.com/office/drawing/2014/main" id="{36DF917E-9B7C-2C18-3035-AD9F01AE7791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약관 내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전문 용어들 상세 해설   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쉽게 이해할 수 있게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명확성 증진 </a:t>
                </a:r>
              </a:p>
            </p:txBody>
          </p:sp>
        </p:grpSp>
        <p:grpSp>
          <p:nvGrpSpPr>
            <p:cNvPr id="1111" name="그룹 1110">
              <a:extLst>
                <a:ext uri="{FF2B5EF4-FFF2-40B4-BE49-F238E27FC236}">
                  <a16:creationId xmlns:a16="http://schemas.microsoft.com/office/drawing/2014/main" id="{D29C4650-C41B-48EB-0B0A-DF12B0CF270C}"/>
                </a:ext>
              </a:extLst>
            </p:cNvPr>
            <p:cNvGrpSpPr/>
            <p:nvPr/>
          </p:nvGrpSpPr>
          <p:grpSpPr>
            <a:xfrm>
              <a:off x="6711870" y="5049853"/>
              <a:ext cx="4251325" cy="299580"/>
              <a:chOff x="2218682" y="4076700"/>
              <a:chExt cx="3877318" cy="299580"/>
            </a:xfrm>
          </p:grpSpPr>
          <p:sp>
            <p:nvSpPr>
              <p:cNvPr id="1118" name="사각형: 둥근 모서리 1117">
                <a:extLst>
                  <a:ext uri="{FF2B5EF4-FFF2-40B4-BE49-F238E27FC236}">
                    <a16:creationId xmlns:a16="http://schemas.microsoft.com/office/drawing/2014/main" id="{E203A792-1327-0D02-19FF-4573510D5ADA}"/>
                  </a:ext>
                </a:extLst>
              </p:cNvPr>
              <p:cNvSpPr/>
              <p:nvPr/>
            </p:nvSpPr>
            <p:spPr>
              <a:xfrm>
                <a:off x="3641981" y="4089962"/>
                <a:ext cx="73524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2" name="사각형: 둥근 모서리 1111">
                <a:extLst>
                  <a:ext uri="{FF2B5EF4-FFF2-40B4-BE49-F238E27FC236}">
                    <a16:creationId xmlns:a16="http://schemas.microsoft.com/office/drawing/2014/main" id="{92E9562D-C565-6160-E5F7-A4E44BDC517C}"/>
                  </a:ext>
                </a:extLst>
              </p:cNvPr>
              <p:cNvSpPr/>
              <p:nvPr/>
            </p:nvSpPr>
            <p:spPr>
              <a:xfrm>
                <a:off x="2704726" y="4089962"/>
                <a:ext cx="717908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3" name="직사각형 1112">
                <a:extLst>
                  <a:ext uri="{FF2B5EF4-FFF2-40B4-BE49-F238E27FC236}">
                    <a16:creationId xmlns:a16="http://schemas.microsoft.com/office/drawing/2014/main" id="{589D41E9-DB54-4263-1B76-A9BFECCD68D0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맞춤형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   체크리스트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와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추천 시스템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으로 간편한 상품 선택 지원</a:t>
                </a:r>
              </a:p>
            </p:txBody>
          </p:sp>
        </p:grpSp>
        <p:grpSp>
          <p:nvGrpSpPr>
            <p:cNvPr id="1114" name="그룹 1113">
              <a:extLst>
                <a:ext uri="{FF2B5EF4-FFF2-40B4-BE49-F238E27FC236}">
                  <a16:creationId xmlns:a16="http://schemas.microsoft.com/office/drawing/2014/main" id="{F6C4DE65-EACF-1924-FECF-42CF609AF98F}"/>
                </a:ext>
              </a:extLst>
            </p:cNvPr>
            <p:cNvGrpSpPr/>
            <p:nvPr/>
          </p:nvGrpSpPr>
          <p:grpSpPr>
            <a:xfrm>
              <a:off x="6711870" y="5543079"/>
              <a:ext cx="4394280" cy="299580"/>
              <a:chOff x="2218682" y="4076700"/>
              <a:chExt cx="4007697" cy="299580"/>
            </a:xfrm>
          </p:grpSpPr>
          <p:sp>
            <p:nvSpPr>
              <p:cNvPr id="1119" name="사각형: 둥근 모서리 1118">
                <a:extLst>
                  <a:ext uri="{FF2B5EF4-FFF2-40B4-BE49-F238E27FC236}">
                    <a16:creationId xmlns:a16="http://schemas.microsoft.com/office/drawing/2014/main" id="{C8FAD63B-56E8-E5E9-131A-1124BB75EAE4}"/>
                  </a:ext>
                </a:extLst>
              </p:cNvPr>
              <p:cNvSpPr/>
              <p:nvPr/>
            </p:nvSpPr>
            <p:spPr>
              <a:xfrm>
                <a:off x="5205728" y="4089962"/>
                <a:ext cx="1020651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5" name="사각형: 둥근 모서리 1114">
                <a:extLst>
                  <a:ext uri="{FF2B5EF4-FFF2-40B4-BE49-F238E27FC236}">
                    <a16:creationId xmlns:a16="http://schemas.microsoft.com/office/drawing/2014/main" id="{E20862B8-7D0D-614C-03E0-F81431852FCF}"/>
                  </a:ext>
                </a:extLst>
              </p:cNvPr>
              <p:cNvSpPr/>
              <p:nvPr/>
            </p:nvSpPr>
            <p:spPr>
              <a:xfrm>
                <a:off x="2230415" y="4089962"/>
                <a:ext cx="1372476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6" name="직사각형 1115">
                <a:extLst>
                  <a:ext uri="{FF2B5EF4-FFF2-40B4-BE49-F238E27FC236}">
                    <a16:creationId xmlns:a16="http://schemas.microsoft.com/office/drawing/2014/main" id="{05542068-77C9-37C9-55B5-CCB0B06C40C3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r>
                  <a:rPr lang="en-US" altLang="ko-KR" sz="1400">
                    <a:solidFill>
                      <a:schemeClr val="bg1"/>
                    </a:solidFill>
                    <a:latin typeface="+mn-ea"/>
                  </a:rPr>
                  <a:t>LLM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기반 소통형 챗봇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도입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고객 질문 의도에 맞춰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심층적 상담 제공 </a:t>
                </a:r>
              </a:p>
            </p:txBody>
          </p:sp>
        </p:grpSp>
      </p:grp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98CABED1-238B-201F-597B-54DE9323DD85}"/>
              </a:ext>
            </a:extLst>
          </p:cNvPr>
          <p:cNvGrpSpPr/>
          <p:nvPr/>
        </p:nvGrpSpPr>
        <p:grpSpPr>
          <a:xfrm>
            <a:off x="4090306" y="2582251"/>
            <a:ext cx="4011388" cy="691620"/>
            <a:chOff x="3538764" y="2582251"/>
            <a:chExt cx="4011388" cy="691620"/>
          </a:xfrm>
          <a:solidFill>
            <a:schemeClr val="bg1"/>
          </a:solidFill>
        </p:grpSpPr>
        <p:sp>
          <p:nvSpPr>
            <p:cNvPr id="1123" name="사각형: 둥근 모서리 1122">
              <a:extLst>
                <a:ext uri="{FF2B5EF4-FFF2-40B4-BE49-F238E27FC236}">
                  <a16:creationId xmlns:a16="http://schemas.microsoft.com/office/drawing/2014/main" id="{DAE7BA32-7963-99C6-DBF2-D95C4A72C5BB}"/>
                </a:ext>
              </a:extLst>
            </p:cNvPr>
            <p:cNvSpPr/>
            <p:nvPr/>
          </p:nvSpPr>
          <p:spPr>
            <a:xfrm>
              <a:off x="3538764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" name="사각형: 둥근 모서리 1123">
              <a:extLst>
                <a:ext uri="{FF2B5EF4-FFF2-40B4-BE49-F238E27FC236}">
                  <a16:creationId xmlns:a16="http://schemas.microsoft.com/office/drawing/2014/main" id="{AE1DFFB3-EDE8-E075-0E3B-49A259995C72}"/>
                </a:ext>
              </a:extLst>
            </p:cNvPr>
            <p:cNvSpPr/>
            <p:nvPr/>
          </p:nvSpPr>
          <p:spPr>
            <a:xfrm>
              <a:off x="5343981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20DCAF16-9E65-4BBA-15A4-B1709AE9D62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문제점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-&gt;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해결방안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그룹 2129">
            <a:extLst>
              <a:ext uri="{FF2B5EF4-FFF2-40B4-BE49-F238E27FC236}">
                <a16:creationId xmlns:a16="http://schemas.microsoft.com/office/drawing/2014/main" id="{BEA8BBFC-95D0-45B5-D659-67008E77C138}"/>
              </a:ext>
            </a:extLst>
          </p:cNvPr>
          <p:cNvGrpSpPr/>
          <p:nvPr/>
        </p:nvGrpSpPr>
        <p:grpSpPr>
          <a:xfrm>
            <a:off x="721001" y="2288086"/>
            <a:ext cx="3134553" cy="4395834"/>
            <a:chOff x="530863" y="2288086"/>
            <a:chExt cx="3134553" cy="439583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47455B-AA09-9E81-123E-5849BF245E23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2D6EDFA-888B-3CB0-9AD3-7B7DCF964A93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B84E2CF5-3AC8-1DF2-0665-02C4F4535A67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C885E8-661A-482D-BCE9-A03C0E3DB15A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E7386AE-5A35-D6CB-9C40-5986B2ECCB09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350B5A1-63DF-7787-8547-59D14ED0691C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1AF08549-BFD4-90B3-2CAF-9F78CCAAFE6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851D72C5-B664-9CE5-BA47-5937D4384EF2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25B100D-5AB4-DFF7-E6D2-A837CF1E7868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276ED6EE-3BB2-8D08-6809-26C70F9DC186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5" name="타원 2054">
              <a:extLst>
                <a:ext uri="{FF2B5EF4-FFF2-40B4-BE49-F238E27FC236}">
                  <a16:creationId xmlns:a16="http://schemas.microsoft.com/office/drawing/2014/main" id="{A1BC0DD6-9D8B-1E87-75B1-E74C2664D9C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6" name="타원 2055">
              <a:extLst>
                <a:ext uri="{FF2B5EF4-FFF2-40B4-BE49-F238E27FC236}">
                  <a16:creationId xmlns:a16="http://schemas.microsoft.com/office/drawing/2014/main" id="{C48B12C0-1789-280D-0D29-323D24943EE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7" name="타원 2056">
              <a:extLst>
                <a:ext uri="{FF2B5EF4-FFF2-40B4-BE49-F238E27FC236}">
                  <a16:creationId xmlns:a16="http://schemas.microsoft.com/office/drawing/2014/main" id="{EA54296C-B386-7C77-D8CD-92CB8D8E4646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8" name="타원 2057">
              <a:extLst>
                <a:ext uri="{FF2B5EF4-FFF2-40B4-BE49-F238E27FC236}">
                  <a16:creationId xmlns:a16="http://schemas.microsoft.com/office/drawing/2014/main" id="{3FACA442-F9CE-3DF7-A55B-D88185DB05ED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60" name="직선 화살표 연결선 2059">
              <a:extLst>
                <a:ext uri="{FF2B5EF4-FFF2-40B4-BE49-F238E27FC236}">
                  <a16:creationId xmlns:a16="http://schemas.microsoft.com/office/drawing/2014/main" id="{2CB2220B-288E-E2C2-1738-B2B7B3712CC8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화살표 연결선 2062">
              <a:extLst>
                <a:ext uri="{FF2B5EF4-FFF2-40B4-BE49-F238E27FC236}">
                  <a16:creationId xmlns:a16="http://schemas.microsoft.com/office/drawing/2014/main" id="{2C698678-206A-8AD7-D76D-9C1DCBA93838}"/>
                </a:ext>
              </a:extLst>
            </p:cNvPr>
            <p:cNvCxnSpPr>
              <a:cxnSpLocks/>
              <a:endCxn id="2051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화살표 연결선 2067">
              <a:extLst>
                <a:ext uri="{FF2B5EF4-FFF2-40B4-BE49-F238E27FC236}">
                  <a16:creationId xmlns:a16="http://schemas.microsoft.com/office/drawing/2014/main" id="{C37EAB6A-6956-4AEB-12BC-7190A7CFA5DA}"/>
                </a:ext>
              </a:extLst>
            </p:cNvPr>
            <p:cNvCxnSpPr>
              <a:cxnSpLocks/>
              <a:stCxn id="58" idx="5"/>
              <a:endCxn id="59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화살표 연결선 2073">
              <a:extLst>
                <a:ext uri="{FF2B5EF4-FFF2-40B4-BE49-F238E27FC236}">
                  <a16:creationId xmlns:a16="http://schemas.microsoft.com/office/drawing/2014/main" id="{50CD0EB0-DD65-B4E1-52E4-EF754233C288}"/>
                </a:ext>
              </a:extLst>
            </p:cNvPr>
            <p:cNvCxnSpPr>
              <a:cxnSpLocks/>
              <a:stCxn id="2048" idx="7"/>
              <a:endCxn id="2055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화살표 연결선 2076">
              <a:extLst>
                <a:ext uri="{FF2B5EF4-FFF2-40B4-BE49-F238E27FC236}">
                  <a16:creationId xmlns:a16="http://schemas.microsoft.com/office/drawing/2014/main" id="{150B64BF-6D74-775B-ABF6-F05CA5982F98}"/>
                </a:ext>
              </a:extLst>
            </p:cNvPr>
            <p:cNvCxnSpPr>
              <a:cxnSpLocks/>
              <a:stCxn id="58" idx="4"/>
              <a:endCxn id="208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CCDFCEB3-75CF-CF03-F865-2C979E9ED491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3" name="직선 화살표 연결선 2082">
              <a:extLst>
                <a:ext uri="{FF2B5EF4-FFF2-40B4-BE49-F238E27FC236}">
                  <a16:creationId xmlns:a16="http://schemas.microsoft.com/office/drawing/2014/main" id="{31D3EE14-3CB2-7326-CF0B-FE4BB7047A75}"/>
                </a:ext>
              </a:extLst>
            </p:cNvPr>
            <p:cNvCxnSpPr>
              <a:cxnSpLocks/>
              <a:stCxn id="2048" idx="6"/>
              <a:endCxn id="20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814DEBEA-78F7-064D-E600-5C97EC001C12}"/>
                </a:ext>
              </a:extLst>
            </p:cNvPr>
            <p:cNvCxnSpPr>
              <a:cxnSpLocks/>
              <a:stCxn id="2055" idx="7"/>
              <a:endCxn id="61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타원 2090">
              <a:extLst>
                <a:ext uri="{FF2B5EF4-FFF2-40B4-BE49-F238E27FC236}">
                  <a16:creationId xmlns:a16="http://schemas.microsoft.com/office/drawing/2014/main" id="{F251515C-E380-81B6-8947-F4BF1A212F78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2F75FC37-A2A3-32DC-8CF7-ABA07C047CBF}"/>
                </a:ext>
              </a:extLst>
            </p:cNvPr>
            <p:cNvCxnSpPr>
              <a:cxnSpLocks/>
              <a:stCxn id="58" idx="7"/>
              <a:endCxn id="2053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직선 화살표 연결선 2094">
              <a:extLst>
                <a:ext uri="{FF2B5EF4-FFF2-40B4-BE49-F238E27FC236}">
                  <a16:creationId xmlns:a16="http://schemas.microsoft.com/office/drawing/2014/main" id="{6EFE8282-9983-B32F-C31C-CB5CC5C7D745}"/>
                </a:ext>
              </a:extLst>
            </p:cNvPr>
            <p:cNvCxnSpPr>
              <a:cxnSpLocks/>
              <a:stCxn id="2057" idx="3"/>
              <a:endCxn id="63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E78AFFD2-8019-FB4B-C1A6-45794880BCDB}"/>
                </a:ext>
              </a:extLst>
            </p:cNvPr>
            <p:cNvCxnSpPr>
              <a:cxnSpLocks/>
              <a:stCxn id="2056" idx="0"/>
              <a:endCxn id="2053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93436D9B-B096-54BE-D173-F5AD24910139}"/>
                </a:ext>
              </a:extLst>
            </p:cNvPr>
            <p:cNvCxnSpPr>
              <a:cxnSpLocks/>
              <a:stCxn id="2056" idx="0"/>
              <a:endCxn id="61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FE22A1B8-1562-65BB-F75F-5DFBBAF7C48A}"/>
                </a:ext>
              </a:extLst>
            </p:cNvPr>
            <p:cNvCxnSpPr>
              <a:cxnSpLocks/>
              <a:stCxn id="2049" idx="1"/>
              <a:endCxn id="2053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98F8D1E1-DF4C-9594-AACB-F80C32BC3BEC}"/>
                </a:ext>
              </a:extLst>
            </p:cNvPr>
            <p:cNvCxnSpPr>
              <a:cxnSpLocks/>
              <a:stCxn id="2091" idx="6"/>
              <a:endCxn id="20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직선 화살표 연결선 2115">
              <a:extLst>
                <a:ext uri="{FF2B5EF4-FFF2-40B4-BE49-F238E27FC236}">
                  <a16:creationId xmlns:a16="http://schemas.microsoft.com/office/drawing/2014/main" id="{D8CF42C3-9757-5BCC-8686-68DA8A7F56DE}"/>
                </a:ext>
              </a:extLst>
            </p:cNvPr>
            <p:cNvCxnSpPr>
              <a:cxnSpLocks/>
              <a:stCxn id="2056" idx="1"/>
              <a:endCxn id="2091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직선 화살표 연결선 2118">
              <a:extLst>
                <a:ext uri="{FF2B5EF4-FFF2-40B4-BE49-F238E27FC236}">
                  <a16:creationId xmlns:a16="http://schemas.microsoft.com/office/drawing/2014/main" id="{273E02DD-8557-196A-E20B-CE8A819BCC2C}"/>
                </a:ext>
              </a:extLst>
            </p:cNvPr>
            <p:cNvCxnSpPr>
              <a:cxnSpLocks/>
              <a:stCxn id="2058" idx="5"/>
              <a:endCxn id="59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직선 화살표 연결선 2121">
              <a:extLst>
                <a:ext uri="{FF2B5EF4-FFF2-40B4-BE49-F238E27FC236}">
                  <a16:creationId xmlns:a16="http://schemas.microsoft.com/office/drawing/2014/main" id="{A77BA25A-E667-17A4-6FE7-B61CFBC405F1}"/>
                </a:ext>
              </a:extLst>
            </p:cNvPr>
            <p:cNvCxnSpPr>
              <a:cxnSpLocks/>
              <a:stCxn id="2058" idx="6"/>
              <a:endCxn id="60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직선 화살표 연결선 2124">
              <a:extLst>
                <a:ext uri="{FF2B5EF4-FFF2-40B4-BE49-F238E27FC236}">
                  <a16:creationId xmlns:a16="http://schemas.microsoft.com/office/drawing/2014/main" id="{828006CB-465C-B238-3485-43C976C51315}"/>
                </a:ext>
              </a:extLst>
            </p:cNvPr>
            <p:cNvCxnSpPr>
              <a:cxnSpLocks/>
              <a:stCxn id="60" idx="4"/>
              <a:endCxn id="208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9CD33AE-8279-2FF9-AD59-A39AFEDC0E19}"/>
              </a:ext>
            </a:extLst>
          </p:cNvPr>
          <p:cNvSpPr/>
          <p:nvPr/>
        </p:nvSpPr>
        <p:spPr>
          <a:xfrm rot="2700000">
            <a:off x="1962496" y="3164706"/>
            <a:ext cx="8267008" cy="8267008"/>
          </a:xfrm>
          <a:custGeom>
            <a:avLst/>
            <a:gdLst>
              <a:gd name="connsiteX0" fmla="*/ 1479547 w 8267008"/>
              <a:gd name="connsiteY0" fmla="*/ 1479547 h 8267008"/>
              <a:gd name="connsiteX1" fmla="*/ 5051489 w 8267008"/>
              <a:gd name="connsiteY1" fmla="*/ 0 h 8267008"/>
              <a:gd name="connsiteX2" fmla="*/ 8267008 w 8267008"/>
              <a:gd name="connsiteY2" fmla="*/ 0 h 8267008"/>
              <a:gd name="connsiteX3" fmla="*/ 0 w 8267008"/>
              <a:gd name="connsiteY3" fmla="*/ 8267008 h 8267008"/>
              <a:gd name="connsiteX4" fmla="*/ 1 w 8267008"/>
              <a:gd name="connsiteY4" fmla="*/ 5051489 h 8267008"/>
              <a:gd name="connsiteX5" fmla="*/ 1479547 w 8267008"/>
              <a:gd name="connsiteY5" fmla="*/ 1479547 h 826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67008" h="8267008">
                <a:moveTo>
                  <a:pt x="1479547" y="1479547"/>
                </a:moveTo>
                <a:cubicBezTo>
                  <a:pt x="2393687" y="565407"/>
                  <a:pt x="3656559" y="0"/>
                  <a:pt x="5051489" y="0"/>
                </a:cubicBezTo>
                <a:lnTo>
                  <a:pt x="8267008" y="0"/>
                </a:lnTo>
                <a:lnTo>
                  <a:pt x="0" y="8267008"/>
                </a:lnTo>
                <a:lnTo>
                  <a:pt x="1" y="5051489"/>
                </a:lnTo>
                <a:cubicBezTo>
                  <a:pt x="0" y="3656559"/>
                  <a:pt x="565408" y="2393687"/>
                  <a:pt x="1479547" y="1479547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805B082-91B1-0F96-CD84-23F96D5EDBF5}"/>
              </a:ext>
            </a:extLst>
          </p:cNvPr>
          <p:cNvSpPr/>
          <p:nvPr/>
        </p:nvSpPr>
        <p:spPr>
          <a:xfrm rot="2700000">
            <a:off x="17347145" y="5612183"/>
            <a:ext cx="17088718" cy="16266790"/>
          </a:xfrm>
          <a:prstGeom prst="roundRect">
            <a:avLst>
              <a:gd name="adj" fmla="val 31054"/>
            </a:avLst>
          </a:prstGeom>
          <a:solidFill>
            <a:srgbClr val="D3D3D3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EB9707-360A-915D-9BD8-7945D501FBCB}"/>
              </a:ext>
            </a:extLst>
          </p:cNvPr>
          <p:cNvSpPr/>
          <p:nvPr/>
        </p:nvSpPr>
        <p:spPr>
          <a:xfrm>
            <a:off x="12747004" y="7798282"/>
            <a:ext cx="26637154" cy="1582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4ED8D7-E67D-DF08-E28D-3DAD9BF12B45}"/>
              </a:ext>
            </a:extLst>
          </p:cNvPr>
          <p:cNvSpPr/>
          <p:nvPr/>
        </p:nvSpPr>
        <p:spPr>
          <a:xfrm>
            <a:off x="-1660505" y="-28944"/>
            <a:ext cx="1036800" cy="655200"/>
          </a:xfrm>
          <a:prstGeom prst="roundRect">
            <a:avLst>
              <a:gd name="adj" fmla="val 1133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F9A0E2A-F438-23E6-AC3A-8A51F7CD9399}"/>
              </a:ext>
            </a:extLst>
          </p:cNvPr>
          <p:cNvSpPr/>
          <p:nvPr/>
        </p:nvSpPr>
        <p:spPr>
          <a:xfrm rot="20059778">
            <a:off x="-1614360" y="-170879"/>
            <a:ext cx="641642" cy="4782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6323F97-4560-0272-CA01-E114E8ED2ED0}"/>
              </a:ext>
            </a:extLst>
          </p:cNvPr>
          <p:cNvSpPr/>
          <p:nvPr/>
        </p:nvSpPr>
        <p:spPr>
          <a:xfrm rot="1540222" flipH="1">
            <a:off x="-1312092" y="-170880"/>
            <a:ext cx="641642" cy="4782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D58EE4-E6D3-FC13-2F60-177F2002DEAC}"/>
              </a:ext>
            </a:extLst>
          </p:cNvPr>
          <p:cNvSpPr/>
          <p:nvPr/>
        </p:nvSpPr>
        <p:spPr>
          <a:xfrm rot="1540222" flipV="1">
            <a:off x="-1614360" y="290914"/>
            <a:ext cx="641642" cy="4782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414AF2B-B3B0-62B1-C0A2-F73274130AA1}"/>
              </a:ext>
            </a:extLst>
          </p:cNvPr>
          <p:cNvSpPr/>
          <p:nvPr/>
        </p:nvSpPr>
        <p:spPr>
          <a:xfrm rot="20059778" flipH="1" flipV="1">
            <a:off x="-1312092" y="290915"/>
            <a:ext cx="641642" cy="47828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41F2F-71E7-641C-F961-44AAAAF8AAB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차별화 포인트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D5CBD1-A146-9D0D-FC3D-9439E964F57E}"/>
              </a:ext>
            </a:extLst>
          </p:cNvPr>
          <p:cNvGrpSpPr/>
          <p:nvPr/>
        </p:nvGrpSpPr>
        <p:grpSpPr>
          <a:xfrm>
            <a:off x="3748971" y="2957516"/>
            <a:ext cx="4694058" cy="1955928"/>
            <a:chOff x="3374984" y="2957516"/>
            <a:chExt cx="4694058" cy="195592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3F52BB-30AC-6218-6699-22FB45395711}"/>
                </a:ext>
              </a:extLst>
            </p:cNvPr>
            <p:cNvGrpSpPr/>
            <p:nvPr/>
          </p:nvGrpSpPr>
          <p:grpSpPr>
            <a:xfrm>
              <a:off x="3374984" y="2957516"/>
              <a:ext cx="1814918" cy="1955928"/>
              <a:chOff x="3374984" y="2957516"/>
              <a:chExt cx="1814918" cy="1955928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01510DF-7F62-03AD-CCA5-C2ED6E4E1F16}"/>
                  </a:ext>
                </a:extLst>
              </p:cNvPr>
              <p:cNvSpPr/>
              <p:nvPr/>
            </p:nvSpPr>
            <p:spPr>
              <a:xfrm>
                <a:off x="337498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CA91617-6452-8151-23DB-92C334F2F801}"/>
                  </a:ext>
                </a:extLst>
              </p:cNvPr>
              <p:cNvSpPr/>
              <p:nvPr/>
            </p:nvSpPr>
            <p:spPr>
              <a:xfrm>
                <a:off x="403992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E8FC285-BA4F-86F6-E954-24ED2E12AC98}"/>
                  </a:ext>
                </a:extLst>
              </p:cNvPr>
              <p:cNvSpPr/>
              <p:nvPr/>
            </p:nvSpPr>
            <p:spPr>
              <a:xfrm>
                <a:off x="3514725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POINT1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FEDFEAF-F53B-B5B6-BB55-09538FDB62B6}"/>
                  </a:ext>
                </a:extLst>
              </p:cNvPr>
              <p:cNvSpPr/>
              <p:nvPr/>
            </p:nvSpPr>
            <p:spPr>
              <a:xfrm>
                <a:off x="3514725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1</a:t>
                </a:r>
                <a:endParaRPr lang="ko-KR" altLang="en-US" sz="16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7EA39D1-5AEE-2BCA-6E86-E71898DF3C0C}"/>
                </a:ext>
              </a:extLst>
            </p:cNvPr>
            <p:cNvGrpSpPr/>
            <p:nvPr/>
          </p:nvGrpSpPr>
          <p:grpSpPr>
            <a:xfrm>
              <a:off x="6254124" y="2957516"/>
              <a:ext cx="1814918" cy="1955928"/>
              <a:chOff x="6254124" y="2957516"/>
              <a:chExt cx="1814918" cy="1955928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27DE0AE-B1B7-9DA4-1C24-BDACCAD17BDF}"/>
                  </a:ext>
                </a:extLst>
              </p:cNvPr>
              <p:cNvSpPr/>
              <p:nvPr/>
            </p:nvSpPr>
            <p:spPr>
              <a:xfrm>
                <a:off x="625412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D94BAC0-36D9-D029-0D18-F311FE806873}"/>
                  </a:ext>
                </a:extLst>
              </p:cNvPr>
              <p:cNvSpPr/>
              <p:nvPr/>
            </p:nvSpPr>
            <p:spPr>
              <a:xfrm>
                <a:off x="691906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93F8A92-7C0A-AC3D-13A7-F597AE432391}"/>
                  </a:ext>
                </a:extLst>
              </p:cNvPr>
              <p:cNvSpPr/>
              <p:nvPr/>
            </p:nvSpPr>
            <p:spPr>
              <a:xfrm>
                <a:off x="6392019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POINT2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C852F9A-3DE2-E137-940E-13A531D1FA0D}"/>
                  </a:ext>
                </a:extLst>
              </p:cNvPr>
              <p:cNvSpPr/>
              <p:nvPr/>
            </p:nvSpPr>
            <p:spPr>
              <a:xfrm>
                <a:off x="6392019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400" spc="-80">
                    <a:solidFill>
                      <a:srgbClr val="2D3142"/>
                    </a:solidFill>
                    <a:latin typeface="+mn-ea"/>
                  </a:rPr>
                  <a:t>2</a:t>
                </a:r>
                <a:endParaRPr lang="ko-KR" altLang="en-US" sz="14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201822B-1809-7D15-36A6-0AAC9A460776}"/>
              </a:ext>
            </a:extLst>
          </p:cNvPr>
          <p:cNvGrpSpPr/>
          <p:nvPr/>
        </p:nvGrpSpPr>
        <p:grpSpPr>
          <a:xfrm>
            <a:off x="2498705" y="5137784"/>
            <a:ext cx="7194590" cy="1170941"/>
            <a:chOff x="2125984" y="5137784"/>
            <a:chExt cx="7194590" cy="117094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00582F2-BDF2-A57F-29CC-EAC387BDA7FF}"/>
                </a:ext>
              </a:extLst>
            </p:cNvPr>
            <p:cNvGrpSpPr/>
            <p:nvPr/>
          </p:nvGrpSpPr>
          <p:grpSpPr>
            <a:xfrm>
              <a:off x="2125984" y="5137784"/>
              <a:ext cx="1533525" cy="1170941"/>
              <a:chOff x="2125984" y="5137784"/>
              <a:chExt cx="1533525" cy="11709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AAAFA9F-F527-079D-D2EE-6EC65DD3338F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LLM 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자연어 처리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49E12D54-AB1F-C0A5-9C38-FB7A343C413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키워드를 넘어 문맥 이해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친근한 대화 챗봇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733BB72-3D89-DD27-1A0F-6533E6B73518}"/>
                </a:ext>
              </a:extLst>
            </p:cNvPr>
            <p:cNvGrpSpPr/>
            <p:nvPr/>
          </p:nvGrpSpPr>
          <p:grpSpPr>
            <a:xfrm>
              <a:off x="4013006" y="5137784"/>
              <a:ext cx="1533525" cy="1170941"/>
              <a:chOff x="3875087" y="5137784"/>
              <a:chExt cx="1533525" cy="117094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A533898-1597-AECD-1358-EF751757B87E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기반 정확성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0E2AED2-7866-3CE5-F63D-99A15A281BCA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LLM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한계 극복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 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신뢰높은 정보 제공 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73F5CF9-AA97-E647-4FBF-3FBD5A672DDC}"/>
                </a:ext>
              </a:extLst>
            </p:cNvPr>
            <p:cNvGrpSpPr/>
            <p:nvPr/>
          </p:nvGrpSpPr>
          <p:grpSpPr>
            <a:xfrm>
              <a:off x="5900028" y="5137784"/>
              <a:ext cx="1533525" cy="1170941"/>
              <a:chOff x="2125984" y="5137784"/>
              <a:chExt cx="1533525" cy="1170941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8F5593D-872E-7A85-3A51-F713D03E5B74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개인맞춤형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C13E758-66B3-444D-B660-D6121E3406B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정형화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NO,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개인별 최적 솔루션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D00C94E-898B-CD54-E349-79F47E749193}"/>
                </a:ext>
              </a:extLst>
            </p:cNvPr>
            <p:cNvGrpSpPr/>
            <p:nvPr/>
          </p:nvGrpSpPr>
          <p:grpSpPr>
            <a:xfrm>
              <a:off x="7787049" y="5137784"/>
              <a:ext cx="1533525" cy="1170941"/>
              <a:chOff x="3875087" y="5137784"/>
              <a:chExt cx="1533525" cy="117094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F695A5D-5125-D07D-2F5E-936E9BCD69C5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상시운영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EBB925-E907-3A93-FA53-E3262B28844C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시공간 제약없이 </a:t>
                </a:r>
                <a:endParaRPr lang="en-US" altLang="ko-KR" sz="1600" spc="-80">
                  <a:solidFill>
                    <a:srgbClr val="2D3142"/>
                  </a:solidFill>
                  <a:latin typeface="+mn-ea"/>
                </a:endParaRPr>
              </a:p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24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시간 상시 접근 </a:t>
                </a:r>
              </a:p>
            </p:txBody>
          </p:sp>
        </p:grpSp>
      </p:grpSp>
      <p:grpSp>
        <p:nvGrpSpPr>
          <p:cNvPr id="2131" name="그룹 2130">
            <a:extLst>
              <a:ext uri="{FF2B5EF4-FFF2-40B4-BE49-F238E27FC236}">
                <a16:creationId xmlns:a16="http://schemas.microsoft.com/office/drawing/2014/main" id="{66A4C1F4-1A58-035F-06B5-B8252E140C79}"/>
              </a:ext>
            </a:extLst>
          </p:cNvPr>
          <p:cNvGrpSpPr/>
          <p:nvPr/>
        </p:nvGrpSpPr>
        <p:grpSpPr>
          <a:xfrm flipH="1">
            <a:off x="8299531" y="2222927"/>
            <a:ext cx="3134553" cy="4460993"/>
            <a:chOff x="530863" y="2222927"/>
            <a:chExt cx="3134553" cy="4460993"/>
          </a:xfrm>
        </p:grpSpPr>
        <p:sp>
          <p:nvSpPr>
            <p:cNvPr id="2132" name="타원 2131">
              <a:extLst>
                <a:ext uri="{FF2B5EF4-FFF2-40B4-BE49-F238E27FC236}">
                  <a16:creationId xmlns:a16="http://schemas.microsoft.com/office/drawing/2014/main" id="{32721ED7-5B09-5840-6536-452828866CFC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3" name="타원 2132">
              <a:extLst>
                <a:ext uri="{FF2B5EF4-FFF2-40B4-BE49-F238E27FC236}">
                  <a16:creationId xmlns:a16="http://schemas.microsoft.com/office/drawing/2014/main" id="{D543CD5A-4AF5-6253-5320-28AF74AA4706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4" name="타원 2133">
              <a:extLst>
                <a:ext uri="{FF2B5EF4-FFF2-40B4-BE49-F238E27FC236}">
                  <a16:creationId xmlns:a16="http://schemas.microsoft.com/office/drawing/2014/main" id="{96F4F3AD-78B4-62F5-898B-22505F7BF37E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5" name="타원 2134">
              <a:extLst>
                <a:ext uri="{FF2B5EF4-FFF2-40B4-BE49-F238E27FC236}">
                  <a16:creationId xmlns:a16="http://schemas.microsoft.com/office/drawing/2014/main" id="{D28CEE64-6004-1AF6-444F-1DDF143A38CE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6" name="타원 2135">
              <a:extLst>
                <a:ext uri="{FF2B5EF4-FFF2-40B4-BE49-F238E27FC236}">
                  <a16:creationId xmlns:a16="http://schemas.microsoft.com/office/drawing/2014/main" id="{8E0A1C27-2748-C369-BC13-6983D1D8142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7" name="타원 2136">
              <a:extLst>
                <a:ext uri="{FF2B5EF4-FFF2-40B4-BE49-F238E27FC236}">
                  <a16:creationId xmlns:a16="http://schemas.microsoft.com/office/drawing/2014/main" id="{754291C0-F467-A39A-7DB0-CDF389693F68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8" name="타원 2137">
              <a:extLst>
                <a:ext uri="{FF2B5EF4-FFF2-40B4-BE49-F238E27FC236}">
                  <a16:creationId xmlns:a16="http://schemas.microsoft.com/office/drawing/2014/main" id="{DAB2A74A-18A0-9F05-49B6-FDEB11913D1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9" name="타원 2138">
              <a:extLst>
                <a:ext uri="{FF2B5EF4-FFF2-40B4-BE49-F238E27FC236}">
                  <a16:creationId xmlns:a16="http://schemas.microsoft.com/office/drawing/2014/main" id="{2FAA7EBE-2BD4-4CDE-25C6-02232CAEF431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0" name="타원 2139">
              <a:extLst>
                <a:ext uri="{FF2B5EF4-FFF2-40B4-BE49-F238E27FC236}">
                  <a16:creationId xmlns:a16="http://schemas.microsoft.com/office/drawing/2014/main" id="{E2AF19D2-E0CA-5567-691E-71D75329435F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1" name="타원 2140">
              <a:extLst>
                <a:ext uri="{FF2B5EF4-FFF2-40B4-BE49-F238E27FC236}">
                  <a16:creationId xmlns:a16="http://schemas.microsoft.com/office/drawing/2014/main" id="{7C142C8D-9514-B9AA-E1D9-DDB0CD788703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3DF37E0E-76DA-9596-9431-DFB4387CDFA6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타원 2142">
              <a:extLst>
                <a:ext uri="{FF2B5EF4-FFF2-40B4-BE49-F238E27FC236}">
                  <a16:creationId xmlns:a16="http://schemas.microsoft.com/office/drawing/2014/main" id="{7970BEA0-7D4A-D25C-CC36-76A0306F0E74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87647E12-D10F-9D02-EC3E-F652FFBFE495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5" name="타원 2144">
              <a:extLst>
                <a:ext uri="{FF2B5EF4-FFF2-40B4-BE49-F238E27FC236}">
                  <a16:creationId xmlns:a16="http://schemas.microsoft.com/office/drawing/2014/main" id="{172BD9B0-272A-8A76-584F-227598947591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F4B2D650-7F95-5FD0-4EB7-8901F217FA30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256C9FDF-E6E0-D2B1-20C9-B935842B4879}"/>
                </a:ext>
              </a:extLst>
            </p:cNvPr>
            <p:cNvCxnSpPr>
              <a:cxnSpLocks/>
              <a:endCxn id="214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화살표 연결선 2147">
              <a:extLst>
                <a:ext uri="{FF2B5EF4-FFF2-40B4-BE49-F238E27FC236}">
                  <a16:creationId xmlns:a16="http://schemas.microsoft.com/office/drawing/2014/main" id="{799174B2-A6C3-ADB9-62AC-E6C3E3F7F37B}"/>
                </a:ext>
              </a:extLst>
            </p:cNvPr>
            <p:cNvCxnSpPr>
              <a:cxnSpLocks/>
              <a:stCxn id="2132" idx="5"/>
              <a:endCxn id="213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화살표 연결선 2148">
              <a:extLst>
                <a:ext uri="{FF2B5EF4-FFF2-40B4-BE49-F238E27FC236}">
                  <a16:creationId xmlns:a16="http://schemas.microsoft.com/office/drawing/2014/main" id="{C5E7AFA7-C7BF-D09B-77A8-BEF0EC7C30B0}"/>
                </a:ext>
              </a:extLst>
            </p:cNvPr>
            <p:cNvCxnSpPr>
              <a:cxnSpLocks/>
              <a:stCxn id="2138" idx="7"/>
              <a:endCxn id="214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화살표 연결선 2149">
              <a:extLst>
                <a:ext uri="{FF2B5EF4-FFF2-40B4-BE49-F238E27FC236}">
                  <a16:creationId xmlns:a16="http://schemas.microsoft.com/office/drawing/2014/main" id="{1ECCD608-F4A1-E714-DC3E-AEC3C9526AA0}"/>
                </a:ext>
              </a:extLst>
            </p:cNvPr>
            <p:cNvCxnSpPr>
              <a:cxnSpLocks/>
              <a:stCxn id="2132" idx="4"/>
              <a:endCxn id="215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2CADB368-16B5-93FE-3B45-B73AAD416F8D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2" name="직선 화살표 연결선 2151">
              <a:extLst>
                <a:ext uri="{FF2B5EF4-FFF2-40B4-BE49-F238E27FC236}">
                  <a16:creationId xmlns:a16="http://schemas.microsoft.com/office/drawing/2014/main" id="{A8DA73E0-EA16-3CB9-B649-FA41DD6632F9}"/>
                </a:ext>
              </a:extLst>
            </p:cNvPr>
            <p:cNvCxnSpPr>
              <a:cxnSpLocks/>
              <a:stCxn id="2138" idx="6"/>
              <a:endCxn id="213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화살표 연결선 2152">
              <a:extLst>
                <a:ext uri="{FF2B5EF4-FFF2-40B4-BE49-F238E27FC236}">
                  <a16:creationId xmlns:a16="http://schemas.microsoft.com/office/drawing/2014/main" id="{F656C75F-96F6-5874-57B3-976C32DB45D7}"/>
                </a:ext>
              </a:extLst>
            </p:cNvPr>
            <p:cNvCxnSpPr>
              <a:cxnSpLocks/>
              <a:stCxn id="2142" idx="7"/>
              <a:endCxn id="213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" name="타원 2153">
              <a:extLst>
                <a:ext uri="{FF2B5EF4-FFF2-40B4-BE49-F238E27FC236}">
                  <a16:creationId xmlns:a16="http://schemas.microsoft.com/office/drawing/2014/main" id="{3433B289-5E3C-1471-524F-F1A613D3F673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5" name="직선 화살표 연결선 2154">
              <a:extLst>
                <a:ext uri="{FF2B5EF4-FFF2-40B4-BE49-F238E27FC236}">
                  <a16:creationId xmlns:a16="http://schemas.microsoft.com/office/drawing/2014/main" id="{32DB0F41-B1AA-D930-2697-EB5A6B8211EE}"/>
                </a:ext>
              </a:extLst>
            </p:cNvPr>
            <p:cNvCxnSpPr>
              <a:cxnSpLocks/>
              <a:stCxn id="2132" idx="7"/>
              <a:endCxn id="214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4A172F8C-63F2-476A-91F5-2BDE38779445}"/>
                </a:ext>
              </a:extLst>
            </p:cNvPr>
            <p:cNvCxnSpPr>
              <a:cxnSpLocks/>
              <a:stCxn id="2144" idx="3"/>
              <a:endCxn id="213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11C35F28-188D-3889-5693-513E5A4775A5}"/>
                </a:ext>
              </a:extLst>
            </p:cNvPr>
            <p:cNvCxnSpPr>
              <a:cxnSpLocks/>
              <a:stCxn id="2143" idx="0"/>
              <a:endCxn id="214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FB28BC95-C389-F072-A91E-3E7F29F8B255}"/>
                </a:ext>
              </a:extLst>
            </p:cNvPr>
            <p:cNvCxnSpPr>
              <a:cxnSpLocks/>
              <a:stCxn id="2143" idx="0"/>
              <a:endCxn id="213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0FB81E1B-56E4-C95E-2EF8-90F1F53CBB6A}"/>
                </a:ext>
              </a:extLst>
            </p:cNvPr>
            <p:cNvCxnSpPr>
              <a:cxnSpLocks/>
              <a:stCxn id="2139" idx="1"/>
              <a:endCxn id="214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화살표 연결선 2159">
              <a:extLst>
                <a:ext uri="{FF2B5EF4-FFF2-40B4-BE49-F238E27FC236}">
                  <a16:creationId xmlns:a16="http://schemas.microsoft.com/office/drawing/2014/main" id="{86D5AF3C-8E41-376B-3D54-A8BBDD7DD454}"/>
                </a:ext>
              </a:extLst>
            </p:cNvPr>
            <p:cNvCxnSpPr>
              <a:cxnSpLocks/>
              <a:stCxn id="2154" idx="6"/>
              <a:endCxn id="213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화살표 연결선 2160">
              <a:extLst>
                <a:ext uri="{FF2B5EF4-FFF2-40B4-BE49-F238E27FC236}">
                  <a16:creationId xmlns:a16="http://schemas.microsoft.com/office/drawing/2014/main" id="{64FAD8B9-E2B9-D118-114D-1F65826D5F91}"/>
                </a:ext>
              </a:extLst>
            </p:cNvPr>
            <p:cNvCxnSpPr>
              <a:cxnSpLocks/>
              <a:stCxn id="2143" idx="1"/>
              <a:endCxn id="2154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화살표 연결선 2161">
              <a:extLst>
                <a:ext uri="{FF2B5EF4-FFF2-40B4-BE49-F238E27FC236}">
                  <a16:creationId xmlns:a16="http://schemas.microsoft.com/office/drawing/2014/main" id="{D5932BDA-FA17-EE68-1C7A-6A8042F3F53E}"/>
                </a:ext>
              </a:extLst>
            </p:cNvPr>
            <p:cNvCxnSpPr>
              <a:cxnSpLocks/>
              <a:stCxn id="2145" idx="5"/>
              <a:endCxn id="213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화살표 연결선 2162">
              <a:extLst>
                <a:ext uri="{FF2B5EF4-FFF2-40B4-BE49-F238E27FC236}">
                  <a16:creationId xmlns:a16="http://schemas.microsoft.com/office/drawing/2014/main" id="{379F2B17-5D48-092B-CC55-5CDAFB6BCEA6}"/>
                </a:ext>
              </a:extLst>
            </p:cNvPr>
            <p:cNvCxnSpPr>
              <a:cxnSpLocks/>
              <a:stCxn id="2145" idx="6"/>
              <a:endCxn id="213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화살표 연결선 2163">
              <a:extLst>
                <a:ext uri="{FF2B5EF4-FFF2-40B4-BE49-F238E27FC236}">
                  <a16:creationId xmlns:a16="http://schemas.microsoft.com/office/drawing/2014/main" id="{E545480A-EA37-6AA9-6B4F-39DB249BF068}"/>
                </a:ext>
              </a:extLst>
            </p:cNvPr>
            <p:cNvCxnSpPr>
              <a:cxnSpLocks/>
              <a:stCxn id="2134" idx="4"/>
              <a:endCxn id="215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7EBFD801-2EC6-83B6-C2A1-645BE72347EC}"/>
                </a:ext>
              </a:extLst>
            </p:cNvPr>
            <p:cNvSpPr/>
            <p:nvPr/>
          </p:nvSpPr>
          <p:spPr>
            <a:xfrm>
              <a:off x="3351766" y="293088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1" name="타원 2170">
              <a:extLst>
                <a:ext uri="{FF2B5EF4-FFF2-40B4-BE49-F238E27FC236}">
                  <a16:creationId xmlns:a16="http://schemas.microsoft.com/office/drawing/2014/main" id="{B737324D-46A9-CF5C-9838-F37E6F7BF0A0}"/>
                </a:ext>
              </a:extLst>
            </p:cNvPr>
            <p:cNvSpPr/>
            <p:nvPr/>
          </p:nvSpPr>
          <p:spPr>
            <a:xfrm>
              <a:off x="3359109" y="2222927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2" name="타원 2171">
              <a:extLst>
                <a:ext uri="{FF2B5EF4-FFF2-40B4-BE49-F238E27FC236}">
                  <a16:creationId xmlns:a16="http://schemas.microsoft.com/office/drawing/2014/main" id="{F7E3CBCE-1FD5-827E-DEFA-CC310CCD151E}"/>
                </a:ext>
              </a:extLst>
            </p:cNvPr>
            <p:cNvSpPr/>
            <p:nvPr/>
          </p:nvSpPr>
          <p:spPr>
            <a:xfrm>
              <a:off x="2178725" y="2265197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73" name="직선 화살표 연결선 2172">
            <a:extLst>
              <a:ext uri="{FF2B5EF4-FFF2-40B4-BE49-F238E27FC236}">
                <a16:creationId xmlns:a16="http://schemas.microsoft.com/office/drawing/2014/main" id="{3E8C5E5E-9299-57DA-CB9B-D91C0272660C}"/>
              </a:ext>
            </a:extLst>
          </p:cNvPr>
          <p:cNvCxnSpPr>
            <a:cxnSpLocks/>
            <a:stCxn id="2140" idx="7"/>
            <a:endCxn id="2172" idx="4"/>
          </p:cNvCxnSpPr>
          <p:nvPr/>
        </p:nvCxnSpPr>
        <p:spPr>
          <a:xfrm flipH="1" flipV="1">
            <a:off x="9749052" y="2339537"/>
            <a:ext cx="557163" cy="72064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화살표 연결선 2175">
            <a:extLst>
              <a:ext uri="{FF2B5EF4-FFF2-40B4-BE49-F238E27FC236}">
                <a16:creationId xmlns:a16="http://schemas.microsoft.com/office/drawing/2014/main" id="{889D1145-34CD-2662-B86B-8D2283A1AB92}"/>
              </a:ext>
            </a:extLst>
          </p:cNvPr>
          <p:cNvCxnSpPr>
            <a:cxnSpLocks/>
            <a:stCxn id="2136" idx="7"/>
            <a:endCxn id="2141" idx="2"/>
          </p:cNvCxnSpPr>
          <p:nvPr/>
        </p:nvCxnSpPr>
        <p:spPr>
          <a:xfrm flipH="1" flipV="1">
            <a:off x="9604660" y="2570720"/>
            <a:ext cx="744988" cy="250333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직선 화살표 연결선 2179">
            <a:extLst>
              <a:ext uri="{FF2B5EF4-FFF2-40B4-BE49-F238E27FC236}">
                <a16:creationId xmlns:a16="http://schemas.microsoft.com/office/drawing/2014/main" id="{E54AEDA2-7B70-ACF6-8470-C02CC371E7F6}"/>
              </a:ext>
            </a:extLst>
          </p:cNvPr>
          <p:cNvCxnSpPr>
            <a:cxnSpLocks/>
            <a:stCxn id="2135" idx="7"/>
            <a:endCxn id="2171" idx="3"/>
          </p:cNvCxnSpPr>
          <p:nvPr/>
        </p:nvCxnSpPr>
        <p:spPr>
          <a:xfrm flipH="1" flipV="1">
            <a:off x="8581441" y="2365121"/>
            <a:ext cx="1268543" cy="70132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직선 화살표 연결선 2182">
            <a:extLst>
              <a:ext uri="{FF2B5EF4-FFF2-40B4-BE49-F238E27FC236}">
                <a16:creationId xmlns:a16="http://schemas.microsoft.com/office/drawing/2014/main" id="{4445F418-4371-9279-130E-77B149CEE233}"/>
              </a:ext>
            </a:extLst>
          </p:cNvPr>
          <p:cNvCxnSpPr>
            <a:cxnSpLocks/>
            <a:stCxn id="2154" idx="7"/>
            <a:endCxn id="2168" idx="2"/>
          </p:cNvCxnSpPr>
          <p:nvPr/>
        </p:nvCxnSpPr>
        <p:spPr>
          <a:xfrm flipH="1" flipV="1">
            <a:off x="8613181" y="2989443"/>
            <a:ext cx="2182886" cy="874050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직선 화살표 연결선 2186">
            <a:extLst>
              <a:ext uri="{FF2B5EF4-FFF2-40B4-BE49-F238E27FC236}">
                <a16:creationId xmlns:a16="http://schemas.microsoft.com/office/drawing/2014/main" id="{A9D2D266-8D6C-CB34-55C8-BD4C473AD990}"/>
              </a:ext>
            </a:extLst>
          </p:cNvPr>
          <p:cNvCxnSpPr>
            <a:cxnSpLocks/>
            <a:stCxn id="2139" idx="0"/>
            <a:endCxn id="2168" idx="4"/>
          </p:cNvCxnSpPr>
          <p:nvPr/>
        </p:nvCxnSpPr>
        <p:spPr>
          <a:xfrm flipH="1" flipV="1">
            <a:off x="8554623" y="3048001"/>
            <a:ext cx="218935" cy="521059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화살표 연결선 2190">
            <a:extLst>
              <a:ext uri="{FF2B5EF4-FFF2-40B4-BE49-F238E27FC236}">
                <a16:creationId xmlns:a16="http://schemas.microsoft.com/office/drawing/2014/main" id="{9EA61AB4-E0DB-2A53-0BCC-495DE5502CC0}"/>
              </a:ext>
            </a:extLst>
          </p:cNvPr>
          <p:cNvCxnSpPr>
            <a:cxnSpLocks/>
            <a:stCxn id="2141" idx="6"/>
            <a:endCxn id="2168" idx="1"/>
          </p:cNvCxnSpPr>
          <p:nvPr/>
        </p:nvCxnSpPr>
        <p:spPr>
          <a:xfrm flipH="1">
            <a:off x="8596030" y="2570720"/>
            <a:ext cx="776497" cy="37731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화살표 연결선 2194">
            <a:extLst>
              <a:ext uri="{FF2B5EF4-FFF2-40B4-BE49-F238E27FC236}">
                <a16:creationId xmlns:a16="http://schemas.microsoft.com/office/drawing/2014/main" id="{31297CE3-1970-1776-893E-7D7A0C1B7560}"/>
              </a:ext>
            </a:extLst>
          </p:cNvPr>
          <p:cNvCxnSpPr>
            <a:cxnSpLocks/>
            <a:stCxn id="2171" idx="4"/>
            <a:endCxn id="2168" idx="0"/>
          </p:cNvCxnSpPr>
          <p:nvPr/>
        </p:nvCxnSpPr>
        <p:spPr>
          <a:xfrm>
            <a:off x="8522542" y="2389518"/>
            <a:ext cx="32081" cy="541367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직선 화살표 연결선 2197">
            <a:extLst>
              <a:ext uri="{FF2B5EF4-FFF2-40B4-BE49-F238E27FC236}">
                <a16:creationId xmlns:a16="http://schemas.microsoft.com/office/drawing/2014/main" id="{87137341-DB18-9CAD-565F-D0F3EBBD9FCD}"/>
              </a:ext>
            </a:extLst>
          </p:cNvPr>
          <p:cNvCxnSpPr>
            <a:cxnSpLocks/>
            <a:stCxn id="2171" idx="2"/>
            <a:endCxn id="2141" idx="7"/>
          </p:cNvCxnSpPr>
          <p:nvPr/>
        </p:nvCxnSpPr>
        <p:spPr>
          <a:xfrm>
            <a:off x="8605838" y="2306223"/>
            <a:ext cx="800684" cy="182425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직선 화살표 연결선 2198">
            <a:extLst>
              <a:ext uri="{FF2B5EF4-FFF2-40B4-BE49-F238E27FC236}">
                <a16:creationId xmlns:a16="http://schemas.microsoft.com/office/drawing/2014/main" id="{1D81035C-09FD-F2C3-24D0-315EFA61C46E}"/>
              </a:ext>
            </a:extLst>
          </p:cNvPr>
          <p:cNvCxnSpPr>
            <a:cxnSpLocks/>
            <a:stCxn id="2172" idx="6"/>
            <a:endCxn id="2171" idx="2"/>
          </p:cNvCxnSpPr>
          <p:nvPr/>
        </p:nvCxnSpPr>
        <p:spPr>
          <a:xfrm flipH="1">
            <a:off x="8605838" y="2302367"/>
            <a:ext cx="1106044" cy="385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7835A21-AADA-41EC-22D3-E2BC67D7C0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6D1C65-86FE-559C-7DF4-91518B98999B}"/>
              </a:ext>
            </a:extLst>
          </p:cNvPr>
          <p:cNvSpPr/>
          <p:nvPr/>
        </p:nvSpPr>
        <p:spPr>
          <a:xfrm>
            <a:off x="1393556" y="2240280"/>
            <a:ext cx="9891109" cy="461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/>
              <a:t>페르소나 </a:t>
            </a:r>
            <a:r>
              <a:rPr lang="en-US" altLang="ko-KR" sz="1600" b="1"/>
              <a:t>1: </a:t>
            </a:r>
            <a:r>
              <a:rPr lang="ko-KR" altLang="en-US" sz="1600" b="1"/>
              <a:t>사회초년생 </a:t>
            </a:r>
            <a:r>
              <a:rPr lang="en-US" altLang="ko-KR" sz="1600" b="1"/>
              <a:t>'</a:t>
            </a:r>
            <a:r>
              <a:rPr lang="ko-KR" altLang="en-US" sz="1600" b="1"/>
              <a:t>김초보</a:t>
            </a:r>
            <a:r>
              <a:rPr lang="en-US" altLang="ko-KR" sz="1600" b="1"/>
              <a:t>' (20</a:t>
            </a:r>
            <a:r>
              <a:rPr lang="ko-KR" altLang="en-US" sz="1600" b="1"/>
              <a:t>대 중반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난생 처음 자차 보험 가입하는데</a:t>
            </a:r>
            <a:r>
              <a:rPr lang="en-US" altLang="ko-KR" sz="1600"/>
              <a:t>, </a:t>
            </a:r>
            <a:r>
              <a:rPr lang="ko-KR" altLang="en-US" sz="1600"/>
              <a:t>뭔 약관이 이리 복잡하고 어려운지</a:t>
            </a:r>
            <a:r>
              <a:rPr lang="en-US" altLang="ko-KR" sz="1600"/>
              <a:t>. </a:t>
            </a:r>
            <a:r>
              <a:rPr lang="ko-KR" altLang="en-US" sz="1600"/>
              <a:t>주변 친구들도 아는 거 없고</a:t>
            </a:r>
            <a:r>
              <a:rPr lang="en-US" altLang="ko-KR" sz="1600"/>
              <a:t>, </a:t>
            </a:r>
            <a:r>
              <a:rPr lang="ko-KR" altLang="en-US" sz="1600"/>
              <a:t>다이렉트 보험은 너무 복잡하고</a:t>
            </a:r>
            <a:r>
              <a:rPr lang="en-US" altLang="ko-KR" sz="1600"/>
              <a:t>... '</a:t>
            </a:r>
            <a:r>
              <a:rPr lang="ko-KR" altLang="en-US" sz="1600"/>
              <a:t>보험료가 뭐가 이렇게 비싸</a:t>
            </a:r>
            <a:r>
              <a:rPr lang="en-US" altLang="ko-KR" sz="1600"/>
              <a:t>!?' </a:t>
            </a:r>
            <a:r>
              <a:rPr lang="ko-KR" altLang="en-US" sz="1600"/>
              <a:t>맨날 고민</a:t>
            </a:r>
            <a:r>
              <a:rPr lang="en-US" altLang="ko-KR" sz="1600"/>
              <a:t>. 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복잡한 용어 이해 부족</a:t>
            </a:r>
            <a:r>
              <a:rPr lang="en-US" altLang="ko-KR" sz="1600"/>
              <a:t>, </a:t>
            </a:r>
            <a:r>
              <a:rPr lang="ko-KR" altLang="en-US" sz="1600"/>
              <a:t>보험료가 왜 비싼지 모름</a:t>
            </a:r>
            <a:r>
              <a:rPr lang="en-US" altLang="ko-KR" sz="1600"/>
              <a:t>, </a:t>
            </a:r>
            <a:r>
              <a:rPr lang="ko-KR" altLang="en-US" sz="1600"/>
              <a:t>나에게 맞는 보장은 뭔지 답답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 덕분에 </a:t>
            </a:r>
            <a:r>
              <a:rPr lang="en-US" altLang="ko-KR" sz="1600"/>
              <a:t>'</a:t>
            </a:r>
            <a:r>
              <a:rPr lang="ko-KR" altLang="en-US" sz="1600"/>
              <a:t>자기부담금</a:t>
            </a:r>
            <a:r>
              <a:rPr lang="en-US" altLang="ko-KR" sz="1600"/>
              <a:t>' </a:t>
            </a:r>
            <a:r>
              <a:rPr lang="ko-KR" altLang="en-US" sz="1600"/>
              <a:t>같은 어려운 말도 쉽게 이해하고</a:t>
            </a:r>
            <a:r>
              <a:rPr lang="en-US" altLang="ko-KR" sz="1600"/>
              <a:t>, </a:t>
            </a:r>
            <a:r>
              <a:rPr lang="ko-KR" altLang="en-US" sz="1600"/>
              <a:t>내 나이에 딱 맞는 저렴하면서도 든든한 보험을 </a:t>
            </a:r>
            <a:r>
              <a:rPr lang="en-US" altLang="ko-KR" sz="1600"/>
              <a:t>10</a:t>
            </a:r>
            <a:r>
              <a:rPr lang="ko-KR" altLang="en-US" sz="1600"/>
              <a:t>분 만에 찾았어요</a:t>
            </a:r>
            <a:r>
              <a:rPr lang="en-US" altLang="ko-KR" sz="1600"/>
              <a:t>!"</a:t>
            </a:r>
          </a:p>
          <a:p>
            <a:r>
              <a:rPr lang="ko-KR" altLang="en-US" sz="1600" b="1"/>
              <a:t>페르소나 </a:t>
            </a:r>
            <a:r>
              <a:rPr lang="en-US" altLang="ko-KR" sz="1600" b="1"/>
              <a:t>2: </a:t>
            </a:r>
            <a:r>
              <a:rPr lang="ko-KR" altLang="en-US" sz="1600" b="1"/>
              <a:t>베테랑 운전자 </a:t>
            </a:r>
            <a:r>
              <a:rPr lang="en-US" altLang="ko-KR" sz="1600" b="1"/>
              <a:t>'</a:t>
            </a:r>
            <a:r>
              <a:rPr lang="ko-KR" altLang="en-US" sz="1600" b="1"/>
              <a:t>박현명</a:t>
            </a:r>
            <a:r>
              <a:rPr lang="en-US" altLang="ko-KR" sz="1600" b="1"/>
              <a:t>' (40</a:t>
            </a:r>
            <a:r>
              <a:rPr lang="ko-KR" altLang="en-US" sz="1600" b="1"/>
              <a:t>대 후반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갱신 시점이라 여러 회사 비교 중</a:t>
            </a:r>
            <a:r>
              <a:rPr lang="en-US" altLang="ko-KR" sz="1600"/>
              <a:t>. </a:t>
            </a:r>
            <a:r>
              <a:rPr lang="ko-KR" altLang="en-US" sz="1600"/>
              <a:t>작년에 사고 처리했는데</a:t>
            </a:r>
            <a:r>
              <a:rPr lang="en-US" altLang="ko-KR" sz="1600"/>
              <a:t>, </a:t>
            </a:r>
            <a:r>
              <a:rPr lang="ko-KR" altLang="en-US" sz="1600"/>
              <a:t>혹시 보험료 할증이나 할인이 정확히 어떻게 적용되는지</a:t>
            </a:r>
            <a:r>
              <a:rPr lang="en-US" altLang="ko-KR" sz="1600"/>
              <a:t>, </a:t>
            </a:r>
            <a:r>
              <a:rPr lang="ko-KR" altLang="en-US" sz="1600"/>
              <a:t>기존 약관에서 놓치고 가는 부분 없는지 확인하고 싶음</a:t>
            </a:r>
            <a:r>
              <a:rPr lang="en-US" altLang="ko-KR" sz="1600"/>
              <a:t>. </a:t>
            </a:r>
            <a:r>
              <a:rPr lang="ko-KR" altLang="en-US" sz="1600"/>
              <a:t>근데 상담원한테 매번 물어보기 눈치 보임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디테일한 약관 해석 필요</a:t>
            </a:r>
            <a:r>
              <a:rPr lang="en-US" altLang="ko-KR" sz="1600"/>
              <a:t>, </a:t>
            </a:r>
            <a:r>
              <a:rPr lang="ko-KR" altLang="en-US" sz="1600"/>
              <a:t>상담원 연결의 비효율성</a:t>
            </a:r>
            <a:r>
              <a:rPr lang="en-US" altLang="ko-KR" sz="1600"/>
              <a:t>, </a:t>
            </a:r>
            <a:r>
              <a:rPr lang="ko-KR" altLang="en-US" sz="1600"/>
              <a:t>정확한 비교 정보 부족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챗봇으로 내 보험 이력만 넣으니 작년 사고로 인한 할증률이랑 이번에 새로 가입할 때 유리한 특약까지 딱 알려줘서 엄청 스마트하게 갱신했어요</a:t>
            </a:r>
            <a:r>
              <a:rPr lang="en-US" altLang="ko-KR" sz="1600"/>
              <a:t>!"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선택</a:t>
            </a:r>
            <a:r>
              <a:rPr lang="en-US" altLang="ko-KR" sz="1600"/>
              <a:t>) </a:t>
            </a:r>
            <a:r>
              <a:rPr lang="ko-KR" altLang="en-US" sz="1600" b="1"/>
              <a:t>페르소나 </a:t>
            </a:r>
            <a:r>
              <a:rPr lang="en-US" altLang="ko-KR" sz="1600" b="1"/>
              <a:t>3: </a:t>
            </a:r>
            <a:r>
              <a:rPr lang="ko-KR" altLang="en-US" sz="1600" b="1"/>
              <a:t>정보취약계층 </a:t>
            </a:r>
            <a:r>
              <a:rPr lang="en-US" altLang="ko-KR" sz="1600" b="1"/>
              <a:t>'</a:t>
            </a:r>
            <a:r>
              <a:rPr lang="ko-KR" altLang="en-US" sz="1600" b="1"/>
              <a:t>최어르신</a:t>
            </a:r>
            <a:r>
              <a:rPr lang="en-US" altLang="ko-KR" sz="1600" b="1"/>
              <a:t>' (60</a:t>
            </a:r>
            <a:r>
              <a:rPr lang="ko-KR" altLang="en-US" sz="1600" b="1"/>
              <a:t>대 이상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나이가 들어 글씨도 잘 안 보이고</a:t>
            </a:r>
            <a:r>
              <a:rPr lang="en-US" altLang="ko-KR" sz="1600"/>
              <a:t>, </a:t>
            </a:r>
            <a:r>
              <a:rPr lang="ko-KR" altLang="en-US" sz="1600"/>
              <a:t>어려운 말은 더더욱 어려움</a:t>
            </a:r>
            <a:r>
              <a:rPr lang="en-US" altLang="ko-KR" sz="1600"/>
              <a:t>. </a:t>
            </a:r>
            <a:r>
              <a:rPr lang="ko-KR" altLang="en-US" sz="1600"/>
              <a:t>아들 도움 받긴 하지만 늘 미안함</a:t>
            </a:r>
            <a:r>
              <a:rPr lang="en-US" altLang="ko-KR" sz="1600"/>
              <a:t>. </a:t>
            </a:r>
            <a:r>
              <a:rPr lang="ko-KR" altLang="en-US" sz="1600"/>
              <a:t>보험 관련 전화 오면 보이스피싱 같기도 하고 무서움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디지털 소외</a:t>
            </a:r>
            <a:r>
              <a:rPr lang="en-US" altLang="ko-KR" sz="1600"/>
              <a:t>, </a:t>
            </a:r>
            <a:r>
              <a:rPr lang="ko-KR" altLang="en-US" sz="1600"/>
              <a:t>정보 불균형</a:t>
            </a:r>
            <a:r>
              <a:rPr lang="en-US" altLang="ko-KR" sz="1600"/>
              <a:t>, </a:t>
            </a:r>
            <a:r>
              <a:rPr lang="ko-KR" altLang="en-US" sz="1600"/>
              <a:t>직접 상담의 어려움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음성으로 물어보니 또렷한 목소리로 쉽게 설명해줘서 이제 아들 도움 없이도 보험을 잘 알게 됐어요</a:t>
            </a:r>
            <a:r>
              <a:rPr lang="en-US" altLang="ko-KR" sz="1600"/>
              <a:t>. </a:t>
            </a:r>
            <a:r>
              <a:rPr lang="ko-KR" altLang="en-US" sz="1600"/>
              <a:t>이젠 든든해요</a:t>
            </a:r>
            <a:r>
              <a:rPr lang="en-US" altLang="ko-KR" sz="1600"/>
              <a:t>!"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59B17-1455-0C21-8E5C-ECFE324014E9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2293</Words>
  <Application>Microsoft Office PowerPoint</Application>
  <PresentationFormat>와이드스크린</PresentationFormat>
  <Paragraphs>447</Paragraphs>
  <Slides>20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Noto Sans Korean</vt:lpstr>
      <vt:lpstr>프리젠테이션 3 Light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77</cp:revision>
  <dcterms:created xsi:type="dcterms:W3CDTF">2025-07-31T07:13:26Z</dcterms:created>
  <dcterms:modified xsi:type="dcterms:W3CDTF">2025-08-13T05:25:25Z</dcterms:modified>
</cp:coreProperties>
</file>