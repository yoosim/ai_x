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9" r:id="rId3"/>
    <p:sldId id="293" r:id="rId4"/>
    <p:sldId id="287" r:id="rId5"/>
    <p:sldId id="288" r:id="rId6"/>
    <p:sldId id="286" r:id="rId7"/>
    <p:sldId id="294" r:id="rId8"/>
    <p:sldId id="289" r:id="rId9"/>
    <p:sldId id="290" r:id="rId10"/>
    <p:sldId id="271" r:id="rId11"/>
    <p:sldId id="283" r:id="rId12"/>
    <p:sldId id="276" r:id="rId13"/>
    <p:sldId id="272" r:id="rId14"/>
    <p:sldId id="277" r:id="rId15"/>
    <p:sldId id="275" r:id="rId16"/>
    <p:sldId id="260" r:id="rId17"/>
    <p:sldId id="274" r:id="rId18"/>
    <p:sldId id="278" r:id="rId19"/>
    <p:sldId id="279" r:id="rId20"/>
    <p:sldId id="280" r:id="rId21"/>
    <p:sldId id="281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0020"/>
    <a:srgbClr val="6A4C93"/>
    <a:srgbClr val="D3D3D3"/>
    <a:srgbClr val="2D3142"/>
    <a:srgbClr val="7A4A91"/>
    <a:srgbClr val="262122"/>
    <a:srgbClr val="D8B4E2"/>
    <a:srgbClr val="F2E7AC"/>
    <a:srgbClr val="F2C4D5"/>
    <a:srgbClr val="F2A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1734" autoAdjust="0"/>
  </p:normalViewPr>
  <p:slideViewPr>
    <p:cSldViewPr snapToGrid="0" showGuides="1">
      <p:cViewPr>
        <p:scale>
          <a:sx n="33" d="100"/>
          <a:sy n="33" d="100"/>
        </p:scale>
        <p:origin x="2562" y="918"/>
      </p:cViewPr>
      <p:guideLst>
        <p:guide pos="3840"/>
        <p:guide pos="665"/>
        <p:guide pos="270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이런 대규모 자동차 보험시장에서 소비자들이 겪는 가장 큰 </a:t>
            </a:r>
            <a:r>
              <a:rPr lang="en-US" altLang="ko-KR"/>
              <a:t>Pain Point</a:t>
            </a:r>
            <a:r>
              <a:rPr lang="ko-KR" altLang="en-US"/>
              <a:t>는 바로 정보 과부하 입니다</a:t>
            </a:r>
            <a:r>
              <a:rPr lang="en-US" altLang="ko-KR"/>
              <a:t>. </a:t>
            </a:r>
          </a:p>
          <a:p>
            <a:r>
              <a:rPr lang="ko-KR" altLang="en-US"/>
              <a:t>보험사들이 경쟁적으로 다양한 상품을 쏟아내고 있어며</a:t>
            </a:r>
            <a:r>
              <a:rPr lang="en-US" altLang="ko-KR"/>
              <a:t>, </a:t>
            </a:r>
            <a:r>
              <a:rPr lang="ko-KR" altLang="en-US"/>
              <a:t>대부분 약관이 비슷하면서 미묘하게 달라 일반 소비자들이 직접 비교하여 최적의 선택을 하기에는 불가능에 가깝습니다</a:t>
            </a:r>
            <a:r>
              <a:rPr lang="en-US" altLang="ko-KR"/>
              <a:t>. </a:t>
            </a:r>
          </a:p>
          <a:p>
            <a:r>
              <a:rPr lang="ko-KR" altLang="en-US"/>
              <a:t>이로인해 소비자들은 불필요한 비교 피로도를 느끼거나</a:t>
            </a:r>
            <a:r>
              <a:rPr lang="en-US" altLang="ko-KR"/>
              <a:t>, </a:t>
            </a:r>
            <a:r>
              <a:rPr lang="ko-KR" altLang="en-US"/>
              <a:t>복잡한 전문 용어로 인해 정보를 오해하고 합리적인 판단을 내리지 못하는 상황에 놓여있습니다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이러한 소비자 </a:t>
            </a:r>
            <a:r>
              <a:rPr lang="en-US" altLang="ko-KR"/>
              <a:t>Pain Point</a:t>
            </a:r>
            <a:r>
              <a:rPr lang="ko-KR" altLang="en-US"/>
              <a:t>와 맞물려 보험사들역시 어려움을 겪고 있습니다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지난해 국내 자동차 보험 시장은 </a:t>
            </a:r>
            <a:r>
              <a:rPr lang="en-US" altLang="ko-KR"/>
              <a:t>4</a:t>
            </a:r>
            <a:r>
              <a:rPr lang="ko-KR" altLang="en-US"/>
              <a:t>년만에 운영 적자로 전환되었으며</a:t>
            </a:r>
            <a:r>
              <a:rPr lang="en-US" altLang="ko-KR"/>
              <a:t>, </a:t>
            </a:r>
            <a:r>
              <a:rPr lang="ko-KR" altLang="en-US"/>
              <a:t>이는 보험료를 낮춘 반면 사고 건수는 늘어 손해율이 급증했기 때문입니다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이는 보험사들이 수익성을 확보하기 위해 더욱 다양한 상품을 내놓거나</a:t>
            </a:r>
            <a:r>
              <a:rPr lang="en-US" altLang="ko-KR"/>
              <a:t>, </a:t>
            </a:r>
            <a:r>
              <a:rPr lang="ko-KR" altLang="en-US"/>
              <a:t>복잡한 약관을 통해 손해율을 관리하려는 시도로 이어질 수 있으며</a:t>
            </a:r>
            <a:r>
              <a:rPr lang="en-US" altLang="ko-KR"/>
              <a:t>, </a:t>
            </a:r>
            <a:r>
              <a:rPr lang="ko-KR" altLang="en-US"/>
              <a:t>결국 소비자들의 정보 접근성을 더욱 저해하고 혼란을 가중시키고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이러한 문제는 비단 소비자와 보험사만의 영역이 아닙니다</a:t>
            </a:r>
            <a:r>
              <a:rPr lang="en-US" altLang="ko-KR"/>
              <a:t>. 25</a:t>
            </a:r>
            <a:r>
              <a:rPr lang="ko-KR" altLang="en-US"/>
              <a:t>년 </a:t>
            </a:r>
            <a:r>
              <a:rPr lang="en-US" altLang="ko-KR"/>
              <a:t>2</a:t>
            </a:r>
            <a:r>
              <a:rPr lang="ko-KR" altLang="en-US"/>
              <a:t>월 정부가 </a:t>
            </a:r>
            <a:r>
              <a:rPr lang="en-US" altLang="ko-KR"/>
              <a:t>‘</a:t>
            </a:r>
            <a:r>
              <a:rPr lang="ko-KR" altLang="en-US"/>
              <a:t>자동차보험 부정수급 개선 대책</a:t>
            </a:r>
            <a:r>
              <a:rPr lang="en-US" altLang="ko-KR"/>
              <a:t>‘</a:t>
            </a:r>
            <a:r>
              <a:rPr lang="ko-KR" altLang="en-US"/>
              <a:t>을 발표하며 국민 부담을 낮추고 시장의 건전성을 확보하려 나선것은</a:t>
            </a:r>
            <a:r>
              <a:rPr lang="en-US" altLang="ko-KR"/>
              <a:t>, </a:t>
            </a:r>
          </a:p>
          <a:p>
            <a:r>
              <a:rPr lang="ko-KR" altLang="en-US"/>
              <a:t>현재 자동차 보험 시장의 비효율성과 문제점이 국가적 차원의 해결이 필요한 과제임을 명확히 보여줍니다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 시장에는 보험상품 비교</a:t>
            </a:r>
            <a:r>
              <a:rPr lang="en-US" altLang="ko-KR"/>
              <a:t>. </a:t>
            </a:r>
            <a:r>
              <a:rPr lang="ko-KR" altLang="en-US"/>
              <a:t>추천 플랫폼이 출시되었습니다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다만 보험업계와 핀테크 업계가 수수료를 둘러싸고 갈등을 받고 있습니다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이처럼 보험사와 소비자 모두가 겪는 정보 불균형과 정보 과부하는 더 이상 간과할 수 없는 심각한 문제입니다</a:t>
            </a:r>
            <a:r>
              <a:rPr lang="en-US" altLang="ko-KR"/>
              <a:t>. </a:t>
            </a:r>
            <a:r>
              <a:rPr lang="ko-KR" altLang="en-US"/>
              <a:t>현재의 보험 선택 과정은 불필요한 시간 낭비</a:t>
            </a:r>
            <a:r>
              <a:rPr lang="en-US" altLang="ko-KR"/>
              <a:t>, </a:t>
            </a:r>
            <a:r>
              <a:rPr lang="ko-KR" altLang="en-US"/>
              <a:t>그리고 불완전한 이해로 인한 위험을 내포하고 있습니다</a:t>
            </a:r>
            <a:r>
              <a:rPr lang="en-US" altLang="ko-KR"/>
              <a:t>. </a:t>
            </a:r>
          </a:p>
          <a:p>
            <a:r>
              <a:rPr lang="ko-KR" altLang="en-US"/>
              <a:t>저희 프로젝트는 이러한 문제를 해결하기 위해 다음과 같은 기능들을 제공합니다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7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028888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11626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E6E66AE-8F93-590E-CDBD-96C4332E85D1}"/>
              </a:ext>
            </a:extLst>
          </p:cNvPr>
          <p:cNvSpPr/>
          <p:nvPr/>
        </p:nvSpPr>
        <p:spPr>
          <a:xfrm>
            <a:off x="355600" y="393700"/>
            <a:ext cx="19431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프롤로그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AAAD8-EA70-E2B7-D441-0BF8F54A6878}"/>
              </a:ext>
            </a:extLst>
          </p:cNvPr>
          <p:cNvSpPr txBox="1"/>
          <p:nvPr/>
        </p:nvSpPr>
        <p:spPr>
          <a:xfrm>
            <a:off x="355600" y="1724059"/>
            <a:ext cx="1105508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자동차 보험은 잠재적인 위험과 책임으로부터 차량 소유자를 보호하는 중요한 재정적 안전장치입니다</a:t>
            </a:r>
            <a:r>
              <a:rPr lang="en-US" altLang="ko-KR"/>
              <a:t>.</a:t>
            </a:r>
          </a:p>
          <a:p>
            <a:r>
              <a:rPr lang="ko-KR" altLang="en-US"/>
              <a:t>이 보험은 사고</a:t>
            </a:r>
            <a:r>
              <a:rPr lang="en-US" altLang="ko-KR"/>
              <a:t>, </a:t>
            </a:r>
            <a:r>
              <a:rPr lang="ko-KR" altLang="en-US"/>
              <a:t>도난 또는 기타 예상치 못한 사건으로 인해 발생하는 피보험 차량의 손해와 제</a:t>
            </a:r>
            <a:r>
              <a:rPr lang="en-US" altLang="ko-KR"/>
              <a:t>3</a:t>
            </a:r>
            <a:r>
              <a:rPr lang="ko-KR" altLang="en-US"/>
              <a:t>자 배상 책임을 보장합니다</a:t>
            </a:r>
            <a:r>
              <a:rPr lang="en-US" altLang="ko-KR"/>
              <a:t>. </a:t>
            </a:r>
          </a:p>
          <a:p>
            <a:r>
              <a:rPr lang="ko-KR" altLang="en-US"/>
              <a:t>종합 자동차 보험에는 일반적으로 피보험 차량의 물리적 손상</a:t>
            </a:r>
            <a:r>
              <a:rPr lang="en-US" altLang="ko-KR"/>
              <a:t>, </a:t>
            </a:r>
            <a:r>
              <a:rPr lang="ko-KR" altLang="en-US"/>
              <a:t>신체 상해 책임</a:t>
            </a:r>
            <a:r>
              <a:rPr lang="en-US" altLang="ko-KR"/>
              <a:t>, </a:t>
            </a:r>
            <a:r>
              <a:rPr lang="ko-KR" altLang="en-US"/>
              <a:t>재산 피해 책임</a:t>
            </a:r>
            <a:r>
              <a:rPr lang="en-US" altLang="ko-KR"/>
              <a:t>, </a:t>
            </a:r>
            <a:r>
              <a:rPr lang="ko-KR" altLang="en-US"/>
              <a:t>의료비 보장이 포함됩니다</a:t>
            </a:r>
            <a:r>
              <a:rPr lang="en-US" altLang="ko-KR"/>
              <a:t>. </a:t>
            </a:r>
          </a:p>
          <a:p>
            <a:r>
              <a:rPr lang="ko-KR" altLang="en-US"/>
              <a:t>보험 계약자는 보험사에 보험료를 지불하고 그 대가로 보험사는 보장된 손실 또는 손해에 대한 재정적 책임을 집니다</a:t>
            </a:r>
            <a:r>
              <a:rPr lang="en-US" altLang="ko-KR"/>
              <a:t>. </a:t>
            </a:r>
          </a:p>
          <a:p>
            <a:r>
              <a:rPr lang="ko-KR" altLang="en-US"/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또한 차량 소유자는 사고</a:t>
            </a:r>
            <a:r>
              <a:rPr lang="en-US" altLang="ko-KR"/>
              <a:t>, </a:t>
            </a:r>
            <a:r>
              <a:rPr lang="ko-KR" altLang="en-US"/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233460" y="2659667"/>
            <a:ext cx="2902908" cy="348783"/>
            <a:chOff x="1233460" y="2659667"/>
            <a:chExt cx="2902908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233460" y="3008450"/>
              <a:ext cx="2901807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5768961-C9FA-11FC-84F2-4C12D7C2704C}"/>
              </a:ext>
            </a:extLst>
          </p:cNvPr>
          <p:cNvSpPr/>
          <p:nvPr/>
        </p:nvSpPr>
        <p:spPr>
          <a:xfrm>
            <a:off x="1273850" y="1178049"/>
            <a:ext cx="1593029" cy="1693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프로젝트명 </a:t>
            </a:r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그림 102">
            <a:extLst>
              <a:ext uri="{FF2B5EF4-FFF2-40B4-BE49-F238E27FC236}">
                <a16:creationId xmlns:a16="http://schemas.microsoft.com/office/drawing/2014/main" id="{10DF1F05-6C15-9EB0-06E2-C56C48649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2729" y="1378498"/>
            <a:ext cx="5486400" cy="5886450"/>
          </a:xfrm>
          <a:prstGeom prst="rect">
            <a:avLst/>
          </a:prstGeom>
        </p:spPr>
      </p:pic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B8CCCD0-A139-14F6-6BA2-95D9507EC100}"/>
              </a:ext>
            </a:extLst>
          </p:cNvPr>
          <p:cNvSpPr/>
          <p:nvPr/>
        </p:nvSpPr>
        <p:spPr>
          <a:xfrm>
            <a:off x="1425544" y="2864479"/>
            <a:ext cx="2233965" cy="427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자동차 시장은 이미 포화 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B01C3E4-EBCB-A7A1-4AA9-494CCFE30640}"/>
              </a:ext>
            </a:extLst>
          </p:cNvPr>
          <p:cNvGrpSpPr/>
          <p:nvPr/>
        </p:nvGrpSpPr>
        <p:grpSpPr>
          <a:xfrm>
            <a:off x="12731479" y="668787"/>
            <a:ext cx="4735013" cy="2225990"/>
            <a:chOff x="6265728" y="2864478"/>
            <a:chExt cx="4735013" cy="222599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A274EFF-EC35-7352-C969-3CE46ACA4BAA}"/>
                </a:ext>
              </a:extLst>
            </p:cNvPr>
            <p:cNvSpPr/>
            <p:nvPr/>
          </p:nvSpPr>
          <p:spPr>
            <a:xfrm>
              <a:off x="6265728" y="2864478"/>
              <a:ext cx="4735013" cy="9577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보험사들이 수익성 확보를 위해 다양한 상품 출시 </a:t>
              </a:r>
              <a:r>
                <a:rPr lang="en-US" altLang="ko-KR"/>
                <a:t>-&gt; </a:t>
              </a:r>
              <a:r>
                <a:rPr lang="ko-KR" altLang="en-US"/>
                <a:t>소비자 선택지 많아짐 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99016BF5-7794-D946-5FA7-E67052F87D5E}"/>
                </a:ext>
              </a:extLst>
            </p:cNvPr>
            <p:cNvSpPr/>
            <p:nvPr/>
          </p:nvSpPr>
          <p:spPr>
            <a:xfrm>
              <a:off x="6265728" y="4132687"/>
              <a:ext cx="4735013" cy="9577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금감원 </a:t>
              </a:r>
              <a:r>
                <a:rPr lang="en-US" altLang="ko-KR"/>
                <a:t>“</a:t>
              </a:r>
              <a:r>
                <a:rPr lang="ko-KR" altLang="en-US"/>
                <a:t>자동차보험은 공공성과 국민생활 밀접성이 매우 큰 상품</a:t>
              </a:r>
              <a:r>
                <a:rPr lang="en-US" altLang="ko-KR"/>
                <a:t>“ </a:t>
              </a:r>
              <a:endParaRPr lang="ko-KR" altLang="en-US"/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9A296F3-6321-8F76-E6A4-E016B99BE6F7}"/>
              </a:ext>
            </a:extLst>
          </p:cNvPr>
          <p:cNvSpPr/>
          <p:nvPr/>
        </p:nvSpPr>
        <p:spPr>
          <a:xfrm>
            <a:off x="6944991" y="296519"/>
            <a:ext cx="4551684" cy="881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차량은 계속 증가하여 포화 상태이지만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보험은 다양한 상품이 출시되며 소비자 혼란을 일으킴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정부에서 문제 인식하고 정책  개선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N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 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(00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소비자 선택지  다양화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가입 채널의 디지털 전환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BA10A48-54B4-DB41-C625-AC91C844DAFF}"/>
              </a:ext>
            </a:extLst>
          </p:cNvPr>
          <p:cNvSpPr/>
          <p:nvPr/>
        </p:nvSpPr>
        <p:spPr>
          <a:xfrm>
            <a:off x="13267459" y="5671098"/>
            <a:ext cx="2278743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2024</a:t>
            </a:r>
            <a:r>
              <a:rPr lang="ko-KR" altLang="en-US"/>
              <a:t>년 자동차보험 사업실적 </a:t>
            </a:r>
            <a:br>
              <a:rPr lang="en-US" altLang="ko-KR"/>
            </a:br>
            <a:r>
              <a:rPr lang="ko-KR" altLang="en-US"/>
              <a:t>금융감독원 </a:t>
            </a:r>
            <a:r>
              <a:rPr lang="en-US" altLang="ko-KR"/>
              <a:t>_ </a:t>
            </a:r>
            <a:r>
              <a:rPr lang="ko-KR" altLang="en-US"/>
              <a:t>보도자료</a:t>
            </a:r>
            <a:endParaRPr lang="en-US" altLang="ko-KR"/>
          </a:p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691F241-2B63-CFA5-CA85-285A0DF9E14E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F4AF6593-1C4A-2DE3-85EC-6D7FD2420930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594D40-E482-886C-8DEE-40DAA7355017}"/>
              </a:ext>
            </a:extLst>
          </p:cNvPr>
          <p:cNvSpPr/>
          <p:nvPr/>
        </p:nvSpPr>
        <p:spPr>
          <a:xfrm>
            <a:off x="1393556" y="2240280"/>
            <a:ext cx="9891109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&lt;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문제점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&gt;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1.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정보 접근의 어려움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어디서 정확하고 신뢰할 수 있는 정보를 얻어야할지 모름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공식 홈페이지만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블로그 등은 구라가 많음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)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2.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전문용어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자기차량손해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무보험차상해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대물한도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등 어려운 단어로 인한 비전문가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초보자들에게 이해도 저하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선택의 피로도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내가 비교하고 골라보고 해야함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. </a:t>
            </a: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4.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비대면 상담의 한계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단순 챗봇은 있음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정해진 답만 하고 내가 원하는건 안 함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3F4088-42FF-2CE3-85A7-D4A61DFAC6AA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5EAB4C-FBEB-47D1-CE25-468B93A8BB38}"/>
              </a:ext>
            </a:extLst>
          </p:cNvPr>
          <p:cNvSpPr txBox="1"/>
          <p:nvPr/>
        </p:nvSpPr>
        <p:spPr>
          <a:xfrm>
            <a:off x="12518572" y="2787694"/>
            <a:ext cx="660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➊ 플랫폼 보험 비교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·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추천서비스 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1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년여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(‘24.1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월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~’25.2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월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) 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동안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185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의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비교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·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추천 이용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,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28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의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보험계약 체결 → 용이한 상품비교로 보험료 경쟁 촉진</a:t>
            </a:r>
            <a:endParaRPr lang="ko-KR" altLang="en-US" b="0" i="0">
              <a:solidFill>
                <a:srgbClr val="666666"/>
              </a:solidFill>
              <a:effectLst/>
              <a:latin typeface="Noto Sans Korean"/>
            </a:endParaRPr>
          </a:p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</a:t>
            </a:r>
          </a:p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-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자동차보험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의 경우 동일기간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148.6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 비교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·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추천</a:t>
            </a: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이용</a:t>
            </a:r>
            <a:r>
              <a:rPr lang="en-US" altLang="ko-KR" b="0" i="0">
                <a:solidFill>
                  <a:srgbClr val="666666"/>
                </a:solidFill>
                <a:effectLst/>
                <a:latin typeface="Noto Sans Korean"/>
              </a:rPr>
              <a:t>, 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약 </a:t>
            </a:r>
            <a:r>
              <a:rPr lang="en-US" altLang="ko-KR" b="1" i="0">
                <a:solidFill>
                  <a:srgbClr val="666666"/>
                </a:solidFill>
                <a:effectLst/>
                <a:latin typeface="Noto Sans Korean"/>
              </a:rPr>
              <a:t>14</a:t>
            </a:r>
            <a:r>
              <a:rPr lang="ko-KR" altLang="en-US" b="1" i="0">
                <a:solidFill>
                  <a:srgbClr val="666666"/>
                </a:solidFill>
                <a:effectLst/>
                <a:latin typeface="Noto Sans Korean"/>
              </a:rPr>
              <a:t>만건 보험계약 체결</a:t>
            </a:r>
            <a:endParaRPr lang="ko-KR" altLang="en-US" b="0" i="0">
              <a:solidFill>
                <a:srgbClr val="666666"/>
              </a:solidFill>
              <a:effectLst/>
              <a:latin typeface="Noto Sans Korean"/>
            </a:endParaRPr>
          </a:p>
          <a:p>
            <a:pPr marR="29210" algn="l">
              <a:buNone/>
            </a:pPr>
            <a:r>
              <a:rPr lang="ko-KR" altLang="en-US" b="0" i="0">
                <a:solidFill>
                  <a:srgbClr val="666666"/>
                </a:solidFill>
                <a:effectLst/>
                <a:latin typeface="Noto Sans Korean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18B60C-AFB7-B6AC-D9ED-5E305BAF2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972"/>
            <a:ext cx="12192000" cy="58300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E6FA7FE-9085-0FD0-9892-382F7D84B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44028"/>
            <a:ext cx="12192000" cy="585876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B2D79DC-A495-FC75-0719-063824F71249}"/>
              </a:ext>
            </a:extLst>
          </p:cNvPr>
          <p:cNvSpPr/>
          <p:nvPr/>
        </p:nvSpPr>
        <p:spPr>
          <a:xfrm>
            <a:off x="4295775" y="3762375"/>
            <a:ext cx="3581400" cy="923925"/>
          </a:xfrm>
          <a:prstGeom prst="rect">
            <a:avLst/>
          </a:prstGeom>
          <a:noFill/>
          <a:ln w="5715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BD903B-9CDB-5183-1098-98A6F23C6DF2}"/>
              </a:ext>
            </a:extLst>
          </p:cNvPr>
          <p:cNvSpPr/>
          <p:nvPr/>
        </p:nvSpPr>
        <p:spPr>
          <a:xfrm>
            <a:off x="6719888" y="4329113"/>
            <a:ext cx="914400" cy="2428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사전신청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70C656-FAB5-1812-BF84-DC8B542C801B}"/>
              </a:ext>
            </a:extLst>
          </p:cNvPr>
          <p:cNvSpPr/>
          <p:nvPr/>
        </p:nvSpPr>
        <p:spPr>
          <a:xfrm>
            <a:off x="4371975" y="9098279"/>
            <a:ext cx="3581400" cy="255271"/>
          </a:xfrm>
          <a:prstGeom prst="rect">
            <a:avLst/>
          </a:prstGeom>
          <a:noFill/>
          <a:ln w="5715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4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A95248-BF36-24B1-25B3-1DB7C1EB779A}"/>
              </a:ext>
            </a:extLst>
          </p:cNvPr>
          <p:cNvSpPr/>
          <p:nvPr/>
        </p:nvSpPr>
        <p:spPr>
          <a:xfrm>
            <a:off x="1393556" y="2240280"/>
            <a:ext cx="9891109" cy="3921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&lt;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차별화 포인트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&gt; </a:t>
            </a:r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1.LLM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기반 자연어 이해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생성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사람이 말하는것처럼 질문을 이해하고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딱딱한 약관 내용을 마치 친구가 설명해주듯 친절하고 쉽게 바꿔서 알려줄 수 있나늗 점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기존 챗봇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키워드에 맞춰서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–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우리 챗봇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문맥을 이해하고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? </a:t>
            </a: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2. RAG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기반 정확성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최신성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LLM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만 쓰면 거짓 정보와 허황된 말을 해주는데 우린 데이터 기반으로 대답하는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RAG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기술 강조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!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최신 정보들로 구성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b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3.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개인 맞춤형 정보 제공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사용자 질문 맥락이나 과거 대화 이력을 바탕으로 개인화된 필요한 정보만 뽑아줄 수 있음 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4. 24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시간 접근성 향상 </a:t>
            </a:r>
            <a:r>
              <a:rPr lang="en-US" altLang="ko-KR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>
                <a:latin typeface="프리젠테이션 5 Medium" pitchFamily="2" charset="-127"/>
                <a:ea typeface="프리젠테이션 5 Medium" pitchFamily="2" charset="-127"/>
              </a:rPr>
              <a:t>언제 어디서나 궁금할 때 확인할 수 있는 내손안의 보험설계사</a:t>
            </a:r>
            <a:endParaRPr lang="en-US" altLang="ko-KR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7835A21-AADA-41EC-22D3-E2BC67D7C0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6D1C65-86FE-559C-7DF4-91518B98999B}"/>
              </a:ext>
            </a:extLst>
          </p:cNvPr>
          <p:cNvSpPr/>
          <p:nvPr/>
        </p:nvSpPr>
        <p:spPr>
          <a:xfrm>
            <a:off x="1393556" y="2240280"/>
            <a:ext cx="9891109" cy="4617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/>
              <a:t>페르소나 </a:t>
            </a:r>
            <a:r>
              <a:rPr lang="en-US" altLang="ko-KR" sz="1600" b="1"/>
              <a:t>1: </a:t>
            </a:r>
            <a:r>
              <a:rPr lang="ko-KR" altLang="en-US" sz="1600" b="1"/>
              <a:t>사회초년생 </a:t>
            </a:r>
            <a:r>
              <a:rPr lang="en-US" altLang="ko-KR" sz="1600" b="1"/>
              <a:t>'</a:t>
            </a:r>
            <a:r>
              <a:rPr lang="ko-KR" altLang="en-US" sz="1600" b="1"/>
              <a:t>김초보</a:t>
            </a:r>
            <a:r>
              <a:rPr lang="en-US" altLang="ko-KR" sz="1600" b="1"/>
              <a:t>' (20</a:t>
            </a:r>
            <a:r>
              <a:rPr lang="ko-KR" altLang="en-US" sz="1600" b="1"/>
              <a:t>대 중반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난생 처음 자차 보험 가입하는데</a:t>
            </a:r>
            <a:r>
              <a:rPr lang="en-US" altLang="ko-KR" sz="1600"/>
              <a:t>, </a:t>
            </a:r>
            <a:r>
              <a:rPr lang="ko-KR" altLang="en-US" sz="1600"/>
              <a:t>뭔 약관이 이리 복잡하고 어려운지</a:t>
            </a:r>
            <a:r>
              <a:rPr lang="en-US" altLang="ko-KR" sz="1600"/>
              <a:t>. </a:t>
            </a:r>
            <a:r>
              <a:rPr lang="ko-KR" altLang="en-US" sz="1600"/>
              <a:t>주변 친구들도 아는 거 없고</a:t>
            </a:r>
            <a:r>
              <a:rPr lang="en-US" altLang="ko-KR" sz="1600"/>
              <a:t>, </a:t>
            </a:r>
            <a:r>
              <a:rPr lang="ko-KR" altLang="en-US" sz="1600"/>
              <a:t>다이렉트 보험은 너무 복잡하고</a:t>
            </a:r>
            <a:r>
              <a:rPr lang="en-US" altLang="ko-KR" sz="1600"/>
              <a:t>... '</a:t>
            </a:r>
            <a:r>
              <a:rPr lang="ko-KR" altLang="en-US" sz="1600"/>
              <a:t>보험료가 뭐가 이렇게 비싸</a:t>
            </a:r>
            <a:r>
              <a:rPr lang="en-US" altLang="ko-KR" sz="1600"/>
              <a:t>!?' </a:t>
            </a:r>
            <a:r>
              <a:rPr lang="ko-KR" altLang="en-US" sz="1600"/>
              <a:t>맨날 고민</a:t>
            </a:r>
            <a:r>
              <a:rPr lang="en-US" altLang="ko-KR" sz="1600"/>
              <a:t>. 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복잡한 용어 이해 부족</a:t>
            </a:r>
            <a:r>
              <a:rPr lang="en-US" altLang="ko-KR" sz="1600"/>
              <a:t>, </a:t>
            </a:r>
            <a:r>
              <a:rPr lang="ko-KR" altLang="en-US" sz="1600"/>
              <a:t>보험료가 왜 비싼지 모름</a:t>
            </a:r>
            <a:r>
              <a:rPr lang="en-US" altLang="ko-KR" sz="1600"/>
              <a:t>, </a:t>
            </a:r>
            <a:r>
              <a:rPr lang="ko-KR" altLang="en-US" sz="1600"/>
              <a:t>나에게 맞는 보장은 뭔지 답답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 덕분에 </a:t>
            </a:r>
            <a:r>
              <a:rPr lang="en-US" altLang="ko-KR" sz="1600"/>
              <a:t>'</a:t>
            </a:r>
            <a:r>
              <a:rPr lang="ko-KR" altLang="en-US" sz="1600"/>
              <a:t>자기부담금</a:t>
            </a:r>
            <a:r>
              <a:rPr lang="en-US" altLang="ko-KR" sz="1600"/>
              <a:t>' </a:t>
            </a:r>
            <a:r>
              <a:rPr lang="ko-KR" altLang="en-US" sz="1600"/>
              <a:t>같은 어려운 말도 쉽게 이해하고</a:t>
            </a:r>
            <a:r>
              <a:rPr lang="en-US" altLang="ko-KR" sz="1600"/>
              <a:t>, </a:t>
            </a:r>
            <a:r>
              <a:rPr lang="ko-KR" altLang="en-US" sz="1600"/>
              <a:t>내 나이에 딱 맞는 저렴하면서도 든든한 보험을 </a:t>
            </a:r>
            <a:r>
              <a:rPr lang="en-US" altLang="ko-KR" sz="1600"/>
              <a:t>10</a:t>
            </a:r>
            <a:r>
              <a:rPr lang="ko-KR" altLang="en-US" sz="1600"/>
              <a:t>분 만에 찾았어요</a:t>
            </a:r>
            <a:r>
              <a:rPr lang="en-US" altLang="ko-KR" sz="1600"/>
              <a:t>!"</a:t>
            </a:r>
          </a:p>
          <a:p>
            <a:r>
              <a:rPr lang="ko-KR" altLang="en-US" sz="1600" b="1"/>
              <a:t>페르소나 </a:t>
            </a:r>
            <a:r>
              <a:rPr lang="en-US" altLang="ko-KR" sz="1600" b="1"/>
              <a:t>2: </a:t>
            </a:r>
            <a:r>
              <a:rPr lang="ko-KR" altLang="en-US" sz="1600" b="1"/>
              <a:t>베테랑 운전자 </a:t>
            </a:r>
            <a:r>
              <a:rPr lang="en-US" altLang="ko-KR" sz="1600" b="1"/>
              <a:t>'</a:t>
            </a:r>
            <a:r>
              <a:rPr lang="ko-KR" altLang="en-US" sz="1600" b="1"/>
              <a:t>박현명</a:t>
            </a:r>
            <a:r>
              <a:rPr lang="en-US" altLang="ko-KR" sz="1600" b="1"/>
              <a:t>' (40</a:t>
            </a:r>
            <a:r>
              <a:rPr lang="ko-KR" altLang="en-US" sz="1600" b="1"/>
              <a:t>대 후반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갱신 시점이라 여러 회사 비교 중</a:t>
            </a:r>
            <a:r>
              <a:rPr lang="en-US" altLang="ko-KR" sz="1600"/>
              <a:t>. </a:t>
            </a:r>
            <a:r>
              <a:rPr lang="ko-KR" altLang="en-US" sz="1600"/>
              <a:t>작년에 사고 처리했는데</a:t>
            </a:r>
            <a:r>
              <a:rPr lang="en-US" altLang="ko-KR" sz="1600"/>
              <a:t>, </a:t>
            </a:r>
            <a:r>
              <a:rPr lang="ko-KR" altLang="en-US" sz="1600"/>
              <a:t>혹시 보험료 할증이나 할인이 정확히 어떻게 적용되는지</a:t>
            </a:r>
            <a:r>
              <a:rPr lang="en-US" altLang="ko-KR" sz="1600"/>
              <a:t>, </a:t>
            </a:r>
            <a:r>
              <a:rPr lang="ko-KR" altLang="en-US" sz="1600"/>
              <a:t>기존 약관에서 놓치고 가는 부분 없는지 확인하고 싶음</a:t>
            </a:r>
            <a:r>
              <a:rPr lang="en-US" altLang="ko-KR" sz="1600"/>
              <a:t>. </a:t>
            </a:r>
            <a:r>
              <a:rPr lang="ko-KR" altLang="en-US" sz="1600"/>
              <a:t>근데 상담원한테 매번 물어보기 눈치 보임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디테일한 약관 해석 필요</a:t>
            </a:r>
            <a:r>
              <a:rPr lang="en-US" altLang="ko-KR" sz="1600"/>
              <a:t>, </a:t>
            </a:r>
            <a:r>
              <a:rPr lang="ko-KR" altLang="en-US" sz="1600"/>
              <a:t>상담원 연결의 비효율성</a:t>
            </a:r>
            <a:r>
              <a:rPr lang="en-US" altLang="ko-KR" sz="1600"/>
              <a:t>, </a:t>
            </a:r>
            <a:r>
              <a:rPr lang="ko-KR" altLang="en-US" sz="1600"/>
              <a:t>정확한 비교 정보 부족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꾸미 챗봇으로 내 보험 이력만 넣으니 작년 사고로 인한 할증률이랑 이번에 새로 가입할 때 유리한 특약까지 딱 알려줘서 엄청 스마트하게 갱신했어요</a:t>
            </a:r>
            <a:r>
              <a:rPr lang="en-US" altLang="ko-KR" sz="1600"/>
              <a:t>!"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선택</a:t>
            </a:r>
            <a:r>
              <a:rPr lang="en-US" altLang="ko-KR" sz="1600"/>
              <a:t>) </a:t>
            </a:r>
            <a:r>
              <a:rPr lang="ko-KR" altLang="en-US" sz="1600" b="1"/>
              <a:t>페르소나 </a:t>
            </a:r>
            <a:r>
              <a:rPr lang="en-US" altLang="ko-KR" sz="1600" b="1"/>
              <a:t>3: </a:t>
            </a:r>
            <a:r>
              <a:rPr lang="ko-KR" altLang="en-US" sz="1600" b="1"/>
              <a:t>정보취약계층 </a:t>
            </a:r>
            <a:r>
              <a:rPr lang="en-US" altLang="ko-KR" sz="1600" b="1"/>
              <a:t>'</a:t>
            </a:r>
            <a:r>
              <a:rPr lang="ko-KR" altLang="en-US" sz="1600" b="1"/>
              <a:t>최어르신</a:t>
            </a:r>
            <a:r>
              <a:rPr lang="en-US" altLang="ko-KR" sz="1600" b="1"/>
              <a:t>' (60</a:t>
            </a:r>
            <a:r>
              <a:rPr lang="ko-KR" altLang="en-US" sz="1600" b="1"/>
              <a:t>대 이상</a:t>
            </a:r>
            <a:r>
              <a:rPr lang="en-US" altLang="ko-KR" sz="1600" b="1"/>
              <a:t>)</a:t>
            </a:r>
            <a:endParaRPr lang="ko-KR" altLang="en-US" sz="1600"/>
          </a:p>
          <a:p>
            <a:pPr lvl="1"/>
            <a:r>
              <a:rPr lang="ko-KR" altLang="en-US" sz="1600" b="1"/>
              <a:t>상황</a:t>
            </a:r>
            <a:r>
              <a:rPr lang="en-US" altLang="ko-KR" sz="1600" b="1"/>
              <a:t>:</a:t>
            </a:r>
            <a:r>
              <a:rPr lang="ko-KR" altLang="en-US" sz="1600"/>
              <a:t> 나이가 들어 글씨도 잘 안 보이고</a:t>
            </a:r>
            <a:r>
              <a:rPr lang="en-US" altLang="ko-KR" sz="1600"/>
              <a:t>, </a:t>
            </a:r>
            <a:r>
              <a:rPr lang="ko-KR" altLang="en-US" sz="1600"/>
              <a:t>어려운 말은 더더욱 어려움</a:t>
            </a:r>
            <a:r>
              <a:rPr lang="en-US" altLang="ko-KR" sz="1600"/>
              <a:t>. </a:t>
            </a:r>
            <a:r>
              <a:rPr lang="ko-KR" altLang="en-US" sz="1600"/>
              <a:t>아들 도움 받긴 하지만 늘 미안함</a:t>
            </a:r>
            <a:r>
              <a:rPr lang="en-US" altLang="ko-KR" sz="1600"/>
              <a:t>. </a:t>
            </a:r>
            <a:r>
              <a:rPr lang="ko-KR" altLang="en-US" sz="1600"/>
              <a:t>보험 관련 전화 오면 보이스피싱 같기도 하고 무서움</a:t>
            </a:r>
            <a:r>
              <a:rPr lang="en-US" altLang="ko-KR" sz="1600"/>
              <a:t>.</a:t>
            </a:r>
          </a:p>
          <a:p>
            <a:pPr lvl="1"/>
            <a:r>
              <a:rPr lang="en-US" altLang="ko-KR" sz="1600" b="1"/>
              <a:t>Pain Point:</a:t>
            </a:r>
            <a:r>
              <a:rPr lang="ko-KR" altLang="en-US" sz="1600"/>
              <a:t> 디지털 소외</a:t>
            </a:r>
            <a:r>
              <a:rPr lang="en-US" altLang="ko-KR" sz="1600"/>
              <a:t>, </a:t>
            </a:r>
            <a:r>
              <a:rPr lang="ko-KR" altLang="en-US" sz="1600"/>
              <a:t>정보 불균형</a:t>
            </a:r>
            <a:r>
              <a:rPr lang="en-US" altLang="ko-KR" sz="1600"/>
              <a:t>, </a:t>
            </a:r>
            <a:r>
              <a:rPr lang="ko-KR" altLang="en-US" sz="1600"/>
              <a:t>직접 상담의 어려움</a:t>
            </a:r>
            <a:r>
              <a:rPr lang="en-US" altLang="ko-KR" sz="1600"/>
              <a:t>.</a:t>
            </a:r>
          </a:p>
          <a:p>
            <a:pPr lvl="1"/>
            <a:r>
              <a:rPr lang="ko-KR" altLang="en-US" sz="1600" b="1"/>
              <a:t>우리 챗봇이 해결</a:t>
            </a:r>
            <a:r>
              <a:rPr lang="en-US" altLang="ko-KR" sz="1600" b="1"/>
              <a:t>:</a:t>
            </a:r>
            <a:r>
              <a:rPr lang="ko-KR" altLang="en-US" sz="1600"/>
              <a:t> </a:t>
            </a:r>
            <a:r>
              <a:rPr lang="en-US" altLang="ko-KR" sz="1600"/>
              <a:t>"</a:t>
            </a:r>
            <a:r>
              <a:rPr lang="ko-KR" altLang="en-US" sz="1600"/>
              <a:t>음성으로 물어보니 또렷한 목소리로 쉽게 설명해줘서 이제 아들 도움 없이도 보험을 잘 알게 됐어요</a:t>
            </a:r>
            <a:r>
              <a:rPr lang="en-US" altLang="ko-KR" sz="1600"/>
              <a:t>. </a:t>
            </a:r>
            <a:r>
              <a:rPr lang="ko-KR" altLang="en-US" sz="1600"/>
              <a:t>이젠 든든해요</a:t>
            </a:r>
            <a:r>
              <a:rPr lang="en-US" altLang="ko-KR" sz="1600"/>
              <a:t>!"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A59B17-1455-0C21-8E5C-ECFE324014E9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2394</Words>
  <Application>Microsoft Office PowerPoint</Application>
  <PresentationFormat>와이드스크린</PresentationFormat>
  <Paragraphs>434</Paragraphs>
  <Slides>21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Noto Sans Korean</vt:lpstr>
      <vt:lpstr>프리젠테이션 3 Light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72</cp:revision>
  <dcterms:created xsi:type="dcterms:W3CDTF">2025-07-31T07:13:26Z</dcterms:created>
  <dcterms:modified xsi:type="dcterms:W3CDTF">2025-08-12T08:54:24Z</dcterms:modified>
</cp:coreProperties>
</file>