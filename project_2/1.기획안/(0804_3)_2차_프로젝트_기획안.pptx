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69" r:id="rId3"/>
    <p:sldId id="270" r:id="rId4"/>
    <p:sldId id="271" r:id="rId5"/>
    <p:sldId id="276" r:id="rId6"/>
    <p:sldId id="272" r:id="rId7"/>
    <p:sldId id="277" r:id="rId8"/>
    <p:sldId id="275" r:id="rId9"/>
    <p:sldId id="260" r:id="rId10"/>
    <p:sldId id="274" r:id="rId11"/>
    <p:sldId id="278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3142"/>
    <a:srgbClr val="D3D3D3"/>
    <a:srgbClr val="B00020"/>
    <a:srgbClr val="6A4C93"/>
    <a:srgbClr val="262122"/>
    <a:srgbClr val="D8B4E2"/>
    <a:srgbClr val="F2E7AC"/>
    <a:srgbClr val="F2C4D5"/>
    <a:srgbClr val="F2A2C0"/>
    <a:srgbClr val="D936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3" autoAdjust="0"/>
    <p:restoredTop sz="94660"/>
  </p:normalViewPr>
  <p:slideViewPr>
    <p:cSldViewPr snapToGrid="0" showGuides="1">
      <p:cViewPr>
        <p:scale>
          <a:sx n="25" d="100"/>
          <a:sy n="25" d="100"/>
        </p:scale>
        <p:origin x="3828" y="1746"/>
      </p:cViewPr>
      <p:guideLst>
        <p:guide orient="horz" pos="220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751E06-FB3C-4D01-947B-0172C099AC01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7160FC-9A3C-48D0-89E5-2FC5FA707A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283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684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CB32D1-B23C-F9C2-0B01-D6E01C4220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DE6A96-07DC-EB6A-ACAE-9D3706455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D18033-A82F-1B31-F903-749E3CA0A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E32BD9-2BF1-8D30-8A45-DF6DE768A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A08914-0924-19F1-0FA2-6BE731AD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619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F99EC3-9274-930D-89F3-2A4055E90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BA11A3-EAB9-3FDA-1B4E-1D730FA5C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5DC354-2158-5C66-CE3F-598B04F7A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8A82AB-9161-BD39-580B-F5E6862F3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3F53CB-C5A5-FABB-98C2-19702A4B6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830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E34B1-9883-14C2-2ED9-63A693BD4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D0E70C-153C-5C68-5FF8-8DF994D90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9A2ED4-2B97-135E-63B5-EF1798F35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CF09E4-BEF5-56B9-CB9A-0DDAB2FBA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C7672B-CFBF-4DD1-C43E-FAFABC4DF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153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9E6291-631D-1257-BBD4-E3F0EA055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2EB8F4-1329-F3F9-E789-DD0300115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DF9262-AE67-B495-3C03-88CB4B519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57FCA6-E2B9-8DFF-BB8D-51C984542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4732E9-11E9-B9A3-E544-70C706FD6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36E412-5551-C967-18B1-56A125DA8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344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9FBB91-42E0-C83C-14C2-A2B9467B5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E1E7C1-66D9-7D61-3858-E39F45D23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907299-1815-27E5-F709-B0F14643B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F658AF-3FEB-A0C2-AE7E-C7ECF719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46C552-9626-504E-BEB9-02B261AA1F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83DCBC9-CB61-7152-3ADF-77FEE3098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07D6513-85EE-AD28-775C-2640C7ADF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20BF5A8-5085-6306-A00A-BCC0DFC98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057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BEE0B-08C7-2CC0-C6CD-E4CD5D3DD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DF614E2-3077-B759-5668-CEE9CAF40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20ABAC-0792-C31C-A931-2D57FD02B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95ECA-81A3-1E8A-AF21-65AA8C20D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24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8AE4E98-8165-CA76-B449-0118EBE62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5306F91-A1A8-6B60-72B1-6968E37A5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E7D815-7722-BD7C-C3B0-B536B2FDC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653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B368D3-7764-6B79-55D7-D1FA47403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9AEDD8-C1B8-FE03-0E6E-E5A5748EB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9B1C3A-72B0-E26F-80A5-6E522DC37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3704F6-FEE2-21F3-10B8-5A2CCE3B1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EE347C-6BE3-6416-60B0-862C6E89D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DE7ACF-30D8-3310-6267-3791E6779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566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EE2BCB-6648-5FA0-2A38-7D0F6DAF7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C8D0779-6E0D-99A2-7CC0-1D877E7BE1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6717A2-06FC-3F01-17AF-281F70FB2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903637-105D-1DF3-2894-1515D960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6C2BBB-8B3B-A760-80A5-A54B71D85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2E9ED9-B322-0DFD-ACF2-4C2E36435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785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B6D179-3ED2-D863-776B-E37098C7E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29B8B3-2FED-1723-0E05-3081F7A05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922F30-C83B-A4FC-144D-85D04B2A1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A2F5EF-1562-64BF-D056-F70CD1626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B03B3D-1A1C-E08E-3CFA-52F06DBE7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68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68C8B7-2913-66DC-95E9-BD5BB94C44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F13C645-95A8-D0D9-93D8-CCB6C892B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9E8799-22BB-B844-CB9C-DF7B26030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61B75-4D6D-9F9B-E82E-60869235A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2D8D82-979A-6259-1E06-FB6860D0A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223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21CBF4-560D-AB8F-20D8-00D45D8C6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EEFF6E-E673-ABCA-3996-D9C54AF1D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DAB686-7008-EB9C-1138-487EC2176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189745-30BD-A560-33E1-0BB662D14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6BE543-E661-D95D-FAEA-F0FA23D61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18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D2E8DDB-A319-D8DC-1622-6EB92F301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98925"/>
              </p:ext>
            </p:extLst>
          </p:nvPr>
        </p:nvGraphicFramePr>
        <p:xfrm>
          <a:off x="1075929" y="685649"/>
          <a:ext cx="10515600" cy="2194560"/>
        </p:xfrm>
        <a:graphic>
          <a:graphicData uri="http://schemas.openxmlformats.org/drawingml/2006/table">
            <a:tbl>
              <a:tblPr/>
              <a:tblGrid>
                <a:gridCol w="1768871">
                  <a:extLst>
                    <a:ext uri="{9D8B030D-6E8A-4147-A177-3AD203B41FA5}">
                      <a16:colId xmlns:a16="http://schemas.microsoft.com/office/drawing/2014/main" val="3658450021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858557910"/>
                    </a:ext>
                  </a:extLst>
                </a:gridCol>
                <a:gridCol w="6409929">
                  <a:extLst>
                    <a:ext uri="{9D8B030D-6E8A-4147-A177-3AD203B41FA5}">
                      <a16:colId xmlns:a16="http://schemas.microsoft.com/office/drawing/2014/main" val="33363002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역할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색상 이름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RGB </a:t>
                      </a:r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코드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679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주색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바이올렛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#6A4C93 → rgb(106, 76, 147)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488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보조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라벤더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#D8B4E2 → rgb(216, 180, 226)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896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보조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실버 그레이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#D3D3D3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(211, 211, 211)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00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포인트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레드와인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#B00020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(176, 0, 32)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826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텍스트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딥 네이비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#2D3142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(45, 49, 66)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133183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8D0E4803-7BE7-A1E2-FC4A-9BF8E4B2B922}"/>
              </a:ext>
            </a:extLst>
          </p:cNvPr>
          <p:cNvGrpSpPr/>
          <p:nvPr/>
        </p:nvGrpSpPr>
        <p:grpSpPr>
          <a:xfrm>
            <a:off x="1075929" y="3135963"/>
            <a:ext cx="9781871" cy="1683657"/>
            <a:chOff x="1075929" y="3135963"/>
            <a:chExt cx="9781871" cy="1683657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D099048-C127-3BB1-95AB-614B68195050}"/>
                </a:ext>
              </a:extLst>
            </p:cNvPr>
            <p:cNvSpPr/>
            <p:nvPr/>
          </p:nvSpPr>
          <p:spPr>
            <a:xfrm>
              <a:off x="3100482" y="3135963"/>
              <a:ext cx="1683657" cy="1683657"/>
            </a:xfrm>
            <a:prstGeom prst="rect">
              <a:avLst/>
            </a:prstGeom>
            <a:solidFill>
              <a:srgbClr val="D8B4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ED3CEE0-DEAA-D270-D017-2944D6B57183}"/>
                </a:ext>
              </a:extLst>
            </p:cNvPr>
            <p:cNvSpPr/>
            <p:nvPr/>
          </p:nvSpPr>
          <p:spPr>
            <a:xfrm>
              <a:off x="1075929" y="3135963"/>
              <a:ext cx="1683657" cy="16836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584B450-B335-3617-223D-E62D30BD72DB}"/>
                </a:ext>
              </a:extLst>
            </p:cNvPr>
            <p:cNvSpPr/>
            <p:nvPr/>
          </p:nvSpPr>
          <p:spPr>
            <a:xfrm>
              <a:off x="7149588" y="3135963"/>
              <a:ext cx="1683657" cy="16836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5EA6DF2-6CD0-D42A-5B2A-AE90DD6EBF09}"/>
                </a:ext>
              </a:extLst>
            </p:cNvPr>
            <p:cNvSpPr/>
            <p:nvPr/>
          </p:nvSpPr>
          <p:spPr>
            <a:xfrm>
              <a:off x="5125035" y="3135963"/>
              <a:ext cx="1683657" cy="1683657"/>
            </a:xfrm>
            <a:prstGeom prst="rect">
              <a:avLst/>
            </a:prstGeom>
            <a:solidFill>
              <a:srgbClr val="D3D3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0D711E8-74DB-3DAF-AAC3-D3DDC400EB83}"/>
                </a:ext>
              </a:extLst>
            </p:cNvPr>
            <p:cNvSpPr/>
            <p:nvPr/>
          </p:nvSpPr>
          <p:spPr>
            <a:xfrm>
              <a:off x="9174143" y="3135963"/>
              <a:ext cx="1683657" cy="16836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B96B35B-07FF-6675-ECD5-1033D1F1B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126885"/>
              </p:ext>
            </p:extLst>
          </p:nvPr>
        </p:nvGraphicFramePr>
        <p:xfrm>
          <a:off x="1075929" y="5075071"/>
          <a:ext cx="4410471" cy="1463040"/>
        </p:xfrm>
        <a:graphic>
          <a:graphicData uri="http://schemas.openxmlformats.org/drawingml/2006/table">
            <a:tbl>
              <a:tblPr/>
              <a:tblGrid>
                <a:gridCol w="1900190">
                  <a:extLst>
                    <a:ext uri="{9D8B030D-6E8A-4147-A177-3AD203B41FA5}">
                      <a16:colId xmlns:a16="http://schemas.microsoft.com/office/drawing/2014/main" val="3658450021"/>
                    </a:ext>
                  </a:extLst>
                </a:gridCol>
                <a:gridCol w="2510281">
                  <a:extLst>
                    <a:ext uri="{9D8B030D-6E8A-4147-A177-3AD203B41FA5}">
                      <a16:colId xmlns:a16="http://schemas.microsoft.com/office/drawing/2014/main" val="2858557910"/>
                    </a:ext>
                  </a:extLst>
                </a:gridCol>
              </a:tblGrid>
              <a:tr h="240307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폰트 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프리젠테이션</a:t>
                      </a:r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lang="en-US" altLang="ko-K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5 Medium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679946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프리젠테이션</a:t>
                      </a:r>
                      <a:r>
                        <a:rPr lang="ko-KR" altLang="en-US" dirty="0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 </a:t>
                      </a:r>
                      <a:r>
                        <a:rPr lang="en-US" altLang="ko-KR" dirty="0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8 </a:t>
                      </a:r>
                      <a:r>
                        <a:rPr lang="en-US" altLang="ko-KR" dirty="0" err="1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ExtraBold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488451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강조 폰트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테스트중</a:t>
                      </a:r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896204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endParaRPr lang="ko-KR" altLang="en-US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00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1126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CF88641C-1555-7AFD-B338-30AD62781A16}"/>
              </a:ext>
            </a:extLst>
          </p:cNvPr>
          <p:cNvSpPr/>
          <p:nvPr/>
        </p:nvSpPr>
        <p:spPr>
          <a:xfrm>
            <a:off x="0" y="-11061"/>
            <a:ext cx="12192000" cy="6858000"/>
          </a:xfrm>
          <a:prstGeom prst="rect">
            <a:avLst/>
          </a:prstGeom>
          <a:gradFill flip="none" rotWithShape="1">
            <a:gsLst>
              <a:gs pos="22000">
                <a:srgbClr val="2D3142"/>
              </a:gs>
              <a:gs pos="100000">
                <a:srgbClr val="6A4C93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E59F3EE-3857-85D8-C793-CE09E8C8FBC0}"/>
              </a:ext>
            </a:extLst>
          </p:cNvPr>
          <p:cNvGrpSpPr/>
          <p:nvPr/>
        </p:nvGrpSpPr>
        <p:grpSpPr>
          <a:xfrm>
            <a:off x="4476139" y="475222"/>
            <a:ext cx="10199322" cy="10199322"/>
            <a:chOff x="2675723" y="217245"/>
            <a:chExt cx="7353300" cy="7353300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6F330D57-5D0A-5EA8-2FC1-43E175550F2E}"/>
                </a:ext>
              </a:extLst>
            </p:cNvPr>
            <p:cNvSpPr/>
            <p:nvPr/>
          </p:nvSpPr>
          <p:spPr>
            <a:xfrm>
              <a:off x="2675723" y="217245"/>
              <a:ext cx="7353300" cy="7353300"/>
            </a:xfrm>
            <a:prstGeom prst="ellipse">
              <a:avLst/>
            </a:prstGeom>
            <a:gradFill flip="none" rotWithShape="1">
              <a:gsLst>
                <a:gs pos="100000">
                  <a:srgbClr val="B00020"/>
                </a:gs>
                <a:gs pos="0">
                  <a:srgbClr val="6A4C93"/>
                </a:gs>
              </a:gsLst>
              <a:lin ang="2700000" scaled="1"/>
              <a:tileRect/>
            </a:gra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6" name="그림 5" descr="바퀴, 차량, 육상 차량, 자동차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23D8A20-71EA-B1D0-937C-B7B9FCDE2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2850" y="799705"/>
              <a:ext cx="4762500" cy="4762500"/>
            </a:xfrm>
            <a:prstGeom prst="rect">
              <a:avLst/>
            </a:prstGeom>
          </p:spPr>
        </p:pic>
      </p:grpSp>
      <p:sp>
        <p:nvSpPr>
          <p:cNvPr id="5" name="평행 사변형 4">
            <a:extLst>
              <a:ext uri="{FF2B5EF4-FFF2-40B4-BE49-F238E27FC236}">
                <a16:creationId xmlns:a16="http://schemas.microsoft.com/office/drawing/2014/main" id="{0AB9BD87-5BB2-4535-33FD-0B244E10BAE7}"/>
              </a:ext>
            </a:extLst>
          </p:cNvPr>
          <p:cNvSpPr/>
          <p:nvPr/>
        </p:nvSpPr>
        <p:spPr>
          <a:xfrm>
            <a:off x="6096000" y="1943101"/>
            <a:ext cx="4937760" cy="664978"/>
          </a:xfrm>
          <a:prstGeom prst="parallelogram">
            <a:avLst>
              <a:gd name="adj" fmla="val 29332"/>
            </a:avLst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4D7449D-AE6D-F902-1AB0-019E73456060}"/>
              </a:ext>
            </a:extLst>
          </p:cNvPr>
          <p:cNvSpPr/>
          <p:nvPr/>
        </p:nvSpPr>
        <p:spPr>
          <a:xfrm>
            <a:off x="914400" y="1133991"/>
            <a:ext cx="1946787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코딩싹</a:t>
            </a:r>
            <a:endParaRPr lang="ko-KR" altLang="en-US" sz="2000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1F52FD-6151-25FA-84BE-591AA5B48495}"/>
              </a:ext>
            </a:extLst>
          </p:cNvPr>
          <p:cNvSpPr/>
          <p:nvPr/>
        </p:nvSpPr>
        <p:spPr>
          <a:xfrm>
            <a:off x="914400" y="1482776"/>
            <a:ext cx="3829050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우리팀 프로젝트 최고에요</a:t>
            </a:r>
            <a:r>
              <a:rPr lang="en-US" altLang="ko-KR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~</a:t>
            </a:r>
            <a:endParaRPr lang="ko-KR" altLang="en-US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B455D2-1CD2-DD07-1C27-766D8C735D00}"/>
              </a:ext>
            </a:extLst>
          </p:cNvPr>
          <p:cNvSpPr/>
          <p:nvPr/>
        </p:nvSpPr>
        <p:spPr>
          <a:xfrm>
            <a:off x="914400" y="1785527"/>
            <a:ext cx="10199322" cy="971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LLM-RAG </a:t>
            </a:r>
            <a:r>
              <a:rPr lang="ko-KR" altLang="en-US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기반 </a:t>
            </a:r>
            <a:r>
              <a:rPr lang="en-US" altLang="ko-KR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Django   </a:t>
            </a:r>
            <a:r>
              <a:rPr lang="ko-KR" altLang="en-US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자동차보험 추천 플랫폼</a:t>
            </a:r>
            <a:endParaRPr lang="ko-KR" altLang="en-US" sz="4400" dirty="0">
              <a:solidFill>
                <a:schemeClr val="bg1"/>
              </a:solidFill>
              <a:effectLst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B65FF0C-3CF9-CAE3-0A3F-9728BD673737}"/>
              </a:ext>
            </a:extLst>
          </p:cNvPr>
          <p:cNvSpPr/>
          <p:nvPr/>
        </p:nvSpPr>
        <p:spPr>
          <a:xfrm>
            <a:off x="914400" y="2719849"/>
            <a:ext cx="4552950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스마트한 보험 가입으로 시간 단축 절약</a:t>
            </a:r>
            <a:r>
              <a:rPr lang="en-US" altLang="ko-KR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DF81A3C-301B-C97F-43C5-283DF3DC2105}"/>
              </a:ext>
            </a:extLst>
          </p:cNvPr>
          <p:cNvSpPr/>
          <p:nvPr/>
        </p:nvSpPr>
        <p:spPr>
          <a:xfrm>
            <a:off x="914400" y="3839446"/>
            <a:ext cx="6050280" cy="7858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/>
            </a:pPr>
            <a:r>
              <a:rPr lang="en-US" altLang="ko-KR" sz="2000" dirty="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[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팀원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]</a:t>
            </a:r>
          </a:p>
          <a:p>
            <a:pPr>
              <a:defRPr/>
            </a:pP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김진경 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김민준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장선호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한창희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유성미</a:t>
            </a:r>
            <a:endParaRPr lang="en-US" altLang="ko-KR" sz="200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1064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DA68F1F-7135-15C3-13AD-93E22973C9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796A74-0134-2C0E-B8C9-229A7E3D18EC}"/>
              </a:ext>
            </a:extLst>
          </p:cNvPr>
          <p:cNvSpPr/>
          <p:nvPr/>
        </p:nvSpPr>
        <p:spPr>
          <a:xfrm>
            <a:off x="473262" y="627752"/>
            <a:ext cx="2226365" cy="8613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index</a:t>
            </a:r>
            <a:endParaRPr lang="ko-KR" altLang="en-US" sz="600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4CA3995-FC6F-2A92-0E9B-5F6CEA2E6E07}"/>
              </a:ext>
            </a:extLst>
          </p:cNvPr>
          <p:cNvGrpSpPr/>
          <p:nvPr/>
        </p:nvGrpSpPr>
        <p:grpSpPr>
          <a:xfrm>
            <a:off x="-819150" y="1850194"/>
            <a:ext cx="6714766" cy="3331406"/>
            <a:chOff x="-819150" y="1850194"/>
            <a:chExt cx="6714766" cy="3331406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E998BBB-032C-EC79-B240-1B6CD5137C67}"/>
                </a:ext>
              </a:extLst>
            </p:cNvPr>
            <p:cNvSpPr/>
            <p:nvPr/>
          </p:nvSpPr>
          <p:spPr>
            <a:xfrm>
              <a:off x="2850101" y="1850194"/>
              <a:ext cx="2226365" cy="3040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20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Ⅰ </a:t>
              </a:r>
              <a:r>
                <a:rPr lang="ko-KR" altLang="en-US" sz="20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서론</a:t>
              </a: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86B5A482-965D-132A-5550-F95FA2EEE114}"/>
                </a:ext>
              </a:extLst>
            </p:cNvPr>
            <p:cNvCxnSpPr>
              <a:cxnSpLocks/>
            </p:cNvCxnSpPr>
            <p:nvPr/>
          </p:nvCxnSpPr>
          <p:spPr>
            <a:xfrm>
              <a:off x="-819150" y="1981789"/>
              <a:ext cx="3551358" cy="0"/>
            </a:xfrm>
            <a:prstGeom prst="line">
              <a:avLst/>
            </a:prstGeom>
            <a:ln>
              <a:solidFill>
                <a:schemeClr val="bg1"/>
              </a:solidFill>
              <a:headEnd type="oval" w="med" len="med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9C8A6C3-2B78-C3B4-0339-A566BCCE1FB1}"/>
                </a:ext>
              </a:extLst>
            </p:cNvPr>
            <p:cNvSpPr/>
            <p:nvPr/>
          </p:nvSpPr>
          <p:spPr>
            <a:xfrm>
              <a:off x="3137777" y="2154213"/>
              <a:ext cx="2757839" cy="30273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주제  선정 및 배경</a:t>
              </a:r>
              <a:endParaRPr lang="en-US" altLang="ko-KR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</a:t>
              </a:r>
              <a:endParaRPr lang="en-US" altLang="ko-KR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3. 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업무분장</a:t>
              </a:r>
              <a:endParaRPr lang="en-US" altLang="ko-KR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4.  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추진 일정표</a:t>
              </a:r>
              <a:endParaRPr lang="en-US" altLang="ko-KR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5. 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개발환경</a:t>
              </a:r>
              <a:endParaRPr lang="en-US" altLang="ko-KR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6. 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외부 서비스 연동</a:t>
              </a:r>
              <a:endParaRPr lang="en-US" altLang="ko-KR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7. 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주요 기능</a:t>
              </a:r>
              <a:endParaRPr lang="en-US" altLang="ko-KR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8. 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 아키텍처</a:t>
              </a:r>
              <a:endParaRPr lang="en-US" altLang="ko-KR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9.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예상 결과물</a:t>
              </a:r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(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안</a:t>
              </a:r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)</a:t>
              </a:r>
            </a:p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10. 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기대효과 </a:t>
              </a:r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&amp; 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향후 발전 방향</a:t>
              </a:r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</a:t>
              </a:r>
              <a:endParaRPr lang="ko-KR" altLang="en-US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9655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79F82-5F22-0389-62C1-FE5DDA9CC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카드고릴라 : 신용카드로 보험료 내는 꿀팁 – 자동차보험">
            <a:extLst>
              <a:ext uri="{FF2B5EF4-FFF2-40B4-BE49-F238E27FC236}">
                <a16:creationId xmlns:a16="http://schemas.microsoft.com/office/drawing/2014/main" id="{159EB9C1-09CE-23F4-9F6F-B7635B3E04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50"/>
          <a:stretch>
            <a:fillRect/>
          </a:stretch>
        </p:blipFill>
        <p:spPr bwMode="auto">
          <a:xfrm>
            <a:off x="-1" y="879365"/>
            <a:ext cx="12191999" cy="59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B4BDDEC5-4C92-D21F-AEA5-088D411693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27000">
                <a:schemeClr val="tx1">
                  <a:alpha val="85000"/>
                </a:schemeClr>
              </a:gs>
              <a:gs pos="100000">
                <a:schemeClr val="tx1">
                  <a:alpha val="47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A7A2F96-057C-ED62-6623-D4065ACD83A5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0CC4F66-AB98-8D32-973C-DEE1D2444936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9751C15-C002-BC29-87F7-477015817D68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12D1AB6-32C0-0F09-0362-1F9529AF7DFA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4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 </a:t>
              </a:r>
              <a:r>
                <a:rPr lang="ko-KR" altLang="en-US" sz="14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주제  선정 및 배경</a:t>
              </a:r>
            </a:p>
          </p:txBody>
        </p:sp>
      </p:grp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75E2E09D-B0BA-F7FF-09C6-8B5FB24DFD56}"/>
              </a:ext>
            </a:extLst>
          </p:cNvPr>
          <p:cNvGrpSpPr/>
          <p:nvPr/>
        </p:nvGrpSpPr>
        <p:grpSpPr>
          <a:xfrm>
            <a:off x="437016" y="1617985"/>
            <a:ext cx="4468826" cy="4468826"/>
            <a:chOff x="910561" y="1826595"/>
            <a:chExt cx="4468826" cy="4468826"/>
          </a:xfrm>
        </p:grpSpPr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845705DE-C8C0-C8E9-C3F5-9D3323313711}"/>
                </a:ext>
              </a:extLst>
            </p:cNvPr>
            <p:cNvGrpSpPr/>
            <p:nvPr/>
          </p:nvGrpSpPr>
          <p:grpSpPr>
            <a:xfrm>
              <a:off x="1219784" y="2135818"/>
              <a:ext cx="3850380" cy="3850380"/>
              <a:chOff x="986520" y="1819352"/>
              <a:chExt cx="4289790" cy="4289790"/>
            </a:xfrm>
          </p:grpSpPr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FFFA3A0C-A37A-EBD8-A3EF-EFAE882DD4B5}"/>
                  </a:ext>
                </a:extLst>
              </p:cNvPr>
              <p:cNvGrpSpPr/>
              <p:nvPr/>
            </p:nvGrpSpPr>
            <p:grpSpPr>
              <a:xfrm>
                <a:off x="986520" y="1819352"/>
                <a:ext cx="4289790" cy="4289790"/>
                <a:chOff x="-483660" y="2087312"/>
                <a:chExt cx="6979336" cy="6979336"/>
              </a:xfrm>
            </p:grpSpPr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64FFE1A6-6C2B-4CC7-CD1E-01F363EC316F}"/>
                    </a:ext>
                  </a:extLst>
                </p:cNvPr>
                <p:cNvSpPr/>
                <p:nvPr/>
              </p:nvSpPr>
              <p:spPr>
                <a:xfrm>
                  <a:off x="-483660" y="2087312"/>
                  <a:ext cx="6979336" cy="6979336"/>
                </a:xfrm>
                <a:prstGeom prst="ellipse">
                  <a:avLst/>
                </a:prstGeom>
                <a:solidFill>
                  <a:srgbClr val="D3D3D3">
                    <a:alpha val="3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B6149525-1735-658B-4EEA-CE2D1D79D31F}"/>
                    </a:ext>
                  </a:extLst>
                </p:cNvPr>
                <p:cNvGrpSpPr/>
                <p:nvPr/>
              </p:nvGrpSpPr>
              <p:grpSpPr>
                <a:xfrm>
                  <a:off x="-90120" y="2530108"/>
                  <a:ext cx="6192256" cy="6192256"/>
                  <a:chOff x="3480748" y="-3790376"/>
                  <a:chExt cx="2871296" cy="2871296"/>
                </a:xfrm>
              </p:grpSpPr>
              <p:sp>
                <p:nvSpPr>
                  <p:cNvPr id="38" name="타원 37">
                    <a:extLst>
                      <a:ext uri="{FF2B5EF4-FFF2-40B4-BE49-F238E27FC236}">
                        <a16:creationId xmlns:a16="http://schemas.microsoft.com/office/drawing/2014/main" id="{567AEFA2-7446-7114-8FCA-BD2CF17C090D}"/>
                      </a:ext>
                    </a:extLst>
                  </p:cNvPr>
                  <p:cNvSpPr/>
                  <p:nvPr/>
                </p:nvSpPr>
                <p:spPr>
                  <a:xfrm>
                    <a:off x="3480748" y="-3790376"/>
                    <a:ext cx="2871296" cy="2871296"/>
                  </a:xfrm>
                  <a:prstGeom prst="ellipse">
                    <a:avLst/>
                  </a:prstGeom>
                  <a:solidFill>
                    <a:srgbClr val="D3D3D3">
                      <a:alpha val="3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/>
                  </a:p>
                </p:txBody>
              </p:sp>
              <p:sp>
                <p:nvSpPr>
                  <p:cNvPr id="37" name="타원 36">
                    <a:extLst>
                      <a:ext uri="{FF2B5EF4-FFF2-40B4-BE49-F238E27FC236}">
                        <a16:creationId xmlns:a16="http://schemas.microsoft.com/office/drawing/2014/main" id="{1CD8B19D-A0DE-E9CF-4D14-17CF51C4CEA4}"/>
                      </a:ext>
                    </a:extLst>
                  </p:cNvPr>
                  <p:cNvSpPr/>
                  <p:nvPr/>
                </p:nvSpPr>
                <p:spPr>
                  <a:xfrm>
                    <a:off x="3660911" y="-3610214"/>
                    <a:ext cx="2510972" cy="2510972"/>
                  </a:xfrm>
                  <a:prstGeom prst="ellipse">
                    <a:avLst/>
                  </a:prstGeom>
                  <a:solidFill>
                    <a:srgbClr val="6A4C93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/>
                  </a:p>
                </p:txBody>
              </p:sp>
            </p:grpSp>
          </p:grpSp>
          <p:sp>
            <p:nvSpPr>
              <p:cNvPr id="188" name="직사각형 187">
                <a:extLst>
                  <a:ext uri="{FF2B5EF4-FFF2-40B4-BE49-F238E27FC236}">
                    <a16:creationId xmlns:a16="http://schemas.microsoft.com/office/drawing/2014/main" id="{B1D4238B-6D87-70EF-7AB1-BEDC90BA8FEA}"/>
                  </a:ext>
                </a:extLst>
              </p:cNvPr>
              <p:cNvSpPr/>
              <p:nvPr/>
            </p:nvSpPr>
            <p:spPr>
              <a:xfrm>
                <a:off x="2112971" y="3462171"/>
                <a:ext cx="2036888" cy="10041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0" rtlCol="0" anchor="ctr"/>
              <a:lstStyle/>
              <a:p>
                <a:pPr algn="ctr">
                  <a:defRPr/>
                </a:pPr>
                <a:r>
                  <a:rPr lang="ko-KR" altLang="en-US" sz="3200" spc="-8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프로젝트 </a:t>
                </a:r>
                <a:endParaRPr lang="en-US" altLang="ko-KR" sz="32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>
                  <a:defRPr/>
                </a:pPr>
                <a:r>
                  <a:rPr lang="ko-KR" altLang="en-US" sz="3200" spc="-8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주제 선정 </a:t>
                </a:r>
                <a:endParaRPr lang="en-US" altLang="ko-KR" sz="32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>
                  <a:defRPr/>
                </a:pPr>
                <a:r>
                  <a:rPr lang="ko-KR" altLang="en-US" sz="3200" spc="-8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배경</a:t>
                </a:r>
                <a:endParaRPr lang="en-US" altLang="ko-KR" sz="32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</p:txBody>
          </p:sp>
        </p:grpSp>
        <p:sp>
          <p:nvSpPr>
            <p:cNvPr id="191" name="원호 190">
              <a:extLst>
                <a:ext uri="{FF2B5EF4-FFF2-40B4-BE49-F238E27FC236}">
                  <a16:creationId xmlns:a16="http://schemas.microsoft.com/office/drawing/2014/main" id="{84671E6F-267D-B431-2B1B-6A644689F007}"/>
                </a:ext>
              </a:extLst>
            </p:cNvPr>
            <p:cNvSpPr/>
            <p:nvPr/>
          </p:nvSpPr>
          <p:spPr>
            <a:xfrm>
              <a:off x="910561" y="1826595"/>
              <a:ext cx="4468826" cy="4468826"/>
            </a:xfrm>
            <a:prstGeom prst="arc">
              <a:avLst>
                <a:gd name="adj1" fmla="val 17303375"/>
                <a:gd name="adj2" fmla="val 4007311"/>
              </a:avLst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E49B2501-20DA-E631-B0C3-1DDA5EBD8086}"/>
              </a:ext>
            </a:extLst>
          </p:cNvPr>
          <p:cNvGrpSpPr/>
          <p:nvPr/>
        </p:nvGrpSpPr>
        <p:grpSpPr>
          <a:xfrm>
            <a:off x="6030791" y="1457756"/>
            <a:ext cx="4574954" cy="4387978"/>
            <a:chOff x="6030791" y="1457756"/>
            <a:chExt cx="4574954" cy="4387978"/>
          </a:xfrm>
        </p:grpSpPr>
        <p:grpSp>
          <p:nvGrpSpPr>
            <p:cNvPr id="225" name="그룹 224">
              <a:extLst>
                <a:ext uri="{FF2B5EF4-FFF2-40B4-BE49-F238E27FC236}">
                  <a16:creationId xmlns:a16="http://schemas.microsoft.com/office/drawing/2014/main" id="{C3DA8728-B546-DF28-F294-4E8543F9DF88}"/>
                </a:ext>
              </a:extLst>
            </p:cNvPr>
            <p:cNvGrpSpPr/>
            <p:nvPr/>
          </p:nvGrpSpPr>
          <p:grpSpPr>
            <a:xfrm>
              <a:off x="6030791" y="1457756"/>
              <a:ext cx="4574954" cy="890981"/>
              <a:chOff x="6030791" y="1457756"/>
              <a:chExt cx="4574954" cy="890981"/>
            </a:xfrm>
          </p:grpSpPr>
          <p:sp>
            <p:nvSpPr>
              <p:cNvPr id="235" name="사각형: 둥근 모서리 234">
                <a:extLst>
                  <a:ext uri="{FF2B5EF4-FFF2-40B4-BE49-F238E27FC236}">
                    <a16:creationId xmlns:a16="http://schemas.microsoft.com/office/drawing/2014/main" id="{0C059DF3-1D46-A14F-EDFE-5A7B9C295E69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" name="Rounded Rectangle 2">
                <a:extLst>
                  <a:ext uri="{FF2B5EF4-FFF2-40B4-BE49-F238E27FC236}">
                    <a16:creationId xmlns:a16="http://schemas.microsoft.com/office/drawing/2014/main" id="{0690E567-DE60-4DA3-EAEF-42C98E4457CF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rPr>
                  <a:t>기술적 도전</a:t>
                </a:r>
              </a:p>
            </p:txBody>
          </p:sp>
        </p:grpSp>
        <p:grpSp>
          <p:nvGrpSpPr>
            <p:cNvPr id="226" name="그룹 225">
              <a:extLst>
                <a:ext uri="{FF2B5EF4-FFF2-40B4-BE49-F238E27FC236}">
                  <a16:creationId xmlns:a16="http://schemas.microsoft.com/office/drawing/2014/main" id="{F36F5098-5382-3C97-CA6F-86907E0D10BB}"/>
                </a:ext>
              </a:extLst>
            </p:cNvPr>
            <p:cNvGrpSpPr/>
            <p:nvPr/>
          </p:nvGrpSpPr>
          <p:grpSpPr>
            <a:xfrm>
              <a:off x="6030791" y="2623422"/>
              <a:ext cx="4574954" cy="890981"/>
              <a:chOff x="6030791" y="1457756"/>
              <a:chExt cx="4574954" cy="890981"/>
            </a:xfrm>
          </p:grpSpPr>
          <p:sp>
            <p:nvSpPr>
              <p:cNvPr id="233" name="사각형: 둥근 모서리 232">
                <a:extLst>
                  <a:ext uri="{FF2B5EF4-FFF2-40B4-BE49-F238E27FC236}">
                    <a16:creationId xmlns:a16="http://schemas.microsoft.com/office/drawing/2014/main" id="{B4C1C971-CB04-A3A5-9D19-99F66CCD7F3D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" name="Rounded Rectangle 2">
                <a:extLst>
                  <a:ext uri="{FF2B5EF4-FFF2-40B4-BE49-F238E27FC236}">
                    <a16:creationId xmlns:a16="http://schemas.microsoft.com/office/drawing/2014/main" id="{67CED3C0-EBCF-CDA1-1752-7C5B6028FC4B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rPr>
                  <a:t>고객 </a:t>
                </a:r>
                <a:r>
                  <a:rPr lang="en-US" altLang="ko-KR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rPr>
                  <a:t>Pain Point</a:t>
                </a:r>
                <a:endPara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endParaRPr>
              </a:p>
            </p:txBody>
          </p:sp>
        </p:grpSp>
        <p:grpSp>
          <p:nvGrpSpPr>
            <p:cNvPr id="227" name="그룹 226">
              <a:extLst>
                <a:ext uri="{FF2B5EF4-FFF2-40B4-BE49-F238E27FC236}">
                  <a16:creationId xmlns:a16="http://schemas.microsoft.com/office/drawing/2014/main" id="{79C6114C-9BBF-8545-BB90-4149B9314D21}"/>
                </a:ext>
              </a:extLst>
            </p:cNvPr>
            <p:cNvGrpSpPr/>
            <p:nvPr/>
          </p:nvGrpSpPr>
          <p:grpSpPr>
            <a:xfrm>
              <a:off x="6030791" y="3789088"/>
              <a:ext cx="4574954" cy="890981"/>
              <a:chOff x="6030791" y="1457756"/>
              <a:chExt cx="4574954" cy="890981"/>
            </a:xfrm>
          </p:grpSpPr>
          <p:sp>
            <p:nvSpPr>
              <p:cNvPr id="231" name="사각형: 둥근 모서리 230">
                <a:extLst>
                  <a:ext uri="{FF2B5EF4-FFF2-40B4-BE49-F238E27FC236}">
                    <a16:creationId xmlns:a16="http://schemas.microsoft.com/office/drawing/2014/main" id="{73412C83-600B-F568-E7EF-8A994CB52C3D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" name="Rounded Rectangle 2">
                <a:extLst>
                  <a:ext uri="{FF2B5EF4-FFF2-40B4-BE49-F238E27FC236}">
                    <a16:creationId xmlns:a16="http://schemas.microsoft.com/office/drawing/2014/main" id="{435F3F8F-9AB2-CA39-A0DA-417B6F8CA5E8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rPr>
                  <a:t>시장 필요성</a:t>
                </a:r>
              </a:p>
            </p:txBody>
          </p:sp>
        </p:grpSp>
        <p:grpSp>
          <p:nvGrpSpPr>
            <p:cNvPr id="228" name="그룹 227">
              <a:extLst>
                <a:ext uri="{FF2B5EF4-FFF2-40B4-BE49-F238E27FC236}">
                  <a16:creationId xmlns:a16="http://schemas.microsoft.com/office/drawing/2014/main" id="{F400A72B-F521-AB7D-4A70-FD55BC072FEF}"/>
                </a:ext>
              </a:extLst>
            </p:cNvPr>
            <p:cNvGrpSpPr/>
            <p:nvPr/>
          </p:nvGrpSpPr>
          <p:grpSpPr>
            <a:xfrm>
              <a:off x="6030791" y="4954753"/>
              <a:ext cx="4574954" cy="890981"/>
              <a:chOff x="6030791" y="1457756"/>
              <a:chExt cx="4574954" cy="890981"/>
            </a:xfrm>
          </p:grpSpPr>
          <p:sp>
            <p:nvSpPr>
              <p:cNvPr id="229" name="사각형: 둥근 모서리 228">
                <a:extLst>
                  <a:ext uri="{FF2B5EF4-FFF2-40B4-BE49-F238E27FC236}">
                    <a16:creationId xmlns:a16="http://schemas.microsoft.com/office/drawing/2014/main" id="{A79D47EF-93BE-0C29-C447-1102DC08BCA7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" name="Rounded Rectangle 2">
                <a:extLst>
                  <a:ext uri="{FF2B5EF4-FFF2-40B4-BE49-F238E27FC236}">
                    <a16:creationId xmlns:a16="http://schemas.microsoft.com/office/drawing/2014/main" id="{469567D6-37F3-9D08-26CE-A845CFED134C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rPr>
                  <a:t>AI </a:t>
                </a:r>
                <a:r>
                  <a: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rPr>
                  <a:t>기술 활용</a:t>
                </a:r>
              </a:p>
            </p:txBody>
          </p:sp>
        </p:grpSp>
      </p:grp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E9A04925-B8C0-D31B-1EF7-47CB57048A6A}"/>
              </a:ext>
            </a:extLst>
          </p:cNvPr>
          <p:cNvSpPr/>
          <p:nvPr/>
        </p:nvSpPr>
        <p:spPr>
          <a:xfrm>
            <a:off x="6308035" y="1819032"/>
            <a:ext cx="3988487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LLM + RAG + ML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기술 융합 시스템 구현</a:t>
            </a: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FFDBB1FE-3DD7-FD7B-6B11-0BBCCB4EFD06}"/>
              </a:ext>
            </a:extLst>
          </p:cNvPr>
          <p:cNvSpPr/>
          <p:nvPr/>
        </p:nvSpPr>
        <p:spPr>
          <a:xfrm>
            <a:off x="6308035" y="2985041"/>
            <a:ext cx="3988487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복잡한 자동차보험 상품 비교의 어려움</a:t>
            </a:r>
          </a:p>
        </p:txBody>
      </p:sp>
      <p:sp>
        <p:nvSpPr>
          <p:cNvPr id="239" name="직사각형 238">
            <a:extLst>
              <a:ext uri="{FF2B5EF4-FFF2-40B4-BE49-F238E27FC236}">
                <a16:creationId xmlns:a16="http://schemas.microsoft.com/office/drawing/2014/main" id="{44455A76-A132-A067-5219-8F857876C0E9}"/>
              </a:ext>
            </a:extLst>
          </p:cNvPr>
          <p:cNvSpPr/>
          <p:nvPr/>
        </p:nvSpPr>
        <p:spPr>
          <a:xfrm>
            <a:off x="6308035" y="4138485"/>
            <a:ext cx="3988487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기반 확장 가능한 개인 맞춤형 보험 추천 서비스</a:t>
            </a: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2EFF20AE-B5BB-1A74-EDD8-2DC0A17F75C0}"/>
              </a:ext>
            </a:extLst>
          </p:cNvPr>
          <p:cNvSpPr/>
          <p:nvPr/>
        </p:nvSpPr>
        <p:spPr>
          <a:xfrm>
            <a:off x="6308035" y="5293268"/>
            <a:ext cx="4452378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LangChain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을 통한 실용적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LLM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애플리케이션 개발</a:t>
            </a:r>
          </a:p>
        </p:txBody>
      </p:sp>
      <p:cxnSp>
        <p:nvCxnSpPr>
          <p:cNvPr id="242" name="직선 연결선 241">
            <a:extLst>
              <a:ext uri="{FF2B5EF4-FFF2-40B4-BE49-F238E27FC236}">
                <a16:creationId xmlns:a16="http://schemas.microsoft.com/office/drawing/2014/main" id="{69048227-9DFA-2027-2449-D91BE7FD518D}"/>
              </a:ext>
            </a:extLst>
          </p:cNvPr>
          <p:cNvCxnSpPr>
            <a:cxnSpLocks/>
          </p:cNvCxnSpPr>
          <p:nvPr/>
        </p:nvCxnSpPr>
        <p:spPr>
          <a:xfrm flipH="1">
            <a:off x="4333875" y="2009775"/>
            <a:ext cx="1696916" cy="3389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직선 연결선 244">
            <a:extLst>
              <a:ext uri="{FF2B5EF4-FFF2-40B4-BE49-F238E27FC236}">
                <a16:creationId xmlns:a16="http://schemas.microsoft.com/office/drawing/2014/main" id="{1279595D-D986-A56D-AAE0-7DEC2500410E}"/>
              </a:ext>
            </a:extLst>
          </p:cNvPr>
          <p:cNvCxnSpPr>
            <a:cxnSpLocks/>
            <a:stCxn id="233" idx="1"/>
          </p:cNvCxnSpPr>
          <p:nvPr/>
        </p:nvCxnSpPr>
        <p:spPr>
          <a:xfrm flipH="1">
            <a:off x="4806752" y="3131156"/>
            <a:ext cx="1224039" cy="5553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직선 연결선 251">
            <a:extLst>
              <a:ext uri="{FF2B5EF4-FFF2-40B4-BE49-F238E27FC236}">
                <a16:creationId xmlns:a16="http://schemas.microsoft.com/office/drawing/2014/main" id="{5F995205-B257-011A-3F77-44B514547F44}"/>
              </a:ext>
            </a:extLst>
          </p:cNvPr>
          <p:cNvCxnSpPr>
            <a:cxnSpLocks/>
            <a:stCxn id="231" idx="1"/>
          </p:cNvCxnSpPr>
          <p:nvPr/>
        </p:nvCxnSpPr>
        <p:spPr>
          <a:xfrm flipH="1" flipV="1">
            <a:off x="4956118" y="4179094"/>
            <a:ext cx="1074673" cy="11772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직선 연결선 254">
            <a:extLst>
              <a:ext uri="{FF2B5EF4-FFF2-40B4-BE49-F238E27FC236}">
                <a16:creationId xmlns:a16="http://schemas.microsoft.com/office/drawing/2014/main" id="{16A71B46-25DE-91B8-41A2-45F17F861CE6}"/>
              </a:ext>
            </a:extLst>
          </p:cNvPr>
          <p:cNvCxnSpPr>
            <a:cxnSpLocks/>
            <a:stCxn id="229" idx="1"/>
          </p:cNvCxnSpPr>
          <p:nvPr/>
        </p:nvCxnSpPr>
        <p:spPr>
          <a:xfrm flipH="1" flipV="1">
            <a:off x="4415822" y="5168630"/>
            <a:ext cx="1614969" cy="29385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727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AA713563-2151-F463-A523-CD45A89A8054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0FB09AB-3D9E-26B0-F248-CA0408F2E941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6670D33-29F1-8B30-A6C2-307169BC92C7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7FF8381-C4D4-FF02-29E1-2B52F2909C15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주제  선정 및 배경</a:t>
              </a: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8170C389-1FDB-8A41-B193-0485F91D5A48}"/>
              </a:ext>
            </a:extLst>
          </p:cNvPr>
          <p:cNvGrpSpPr/>
          <p:nvPr/>
        </p:nvGrpSpPr>
        <p:grpSpPr>
          <a:xfrm>
            <a:off x="3529507" y="1236373"/>
            <a:ext cx="5192970" cy="5002802"/>
            <a:chOff x="3176885" y="896663"/>
            <a:chExt cx="5898213" cy="5682221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E80EE870-C237-B3B6-AFF9-E5029ACFA717}"/>
                </a:ext>
              </a:extLst>
            </p:cNvPr>
            <p:cNvGrpSpPr/>
            <p:nvPr/>
          </p:nvGrpSpPr>
          <p:grpSpPr>
            <a:xfrm>
              <a:off x="3636246" y="1290744"/>
              <a:ext cx="4947318" cy="4947318"/>
              <a:chOff x="3636246" y="1290744"/>
              <a:chExt cx="4947318" cy="4947318"/>
            </a:xfrm>
          </p:grpSpPr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id="{4E8601DD-92B1-060D-DAF3-5FB8853E1E85}"/>
                  </a:ext>
                </a:extLst>
              </p:cNvPr>
              <p:cNvGrpSpPr/>
              <p:nvPr/>
            </p:nvGrpSpPr>
            <p:grpSpPr>
              <a:xfrm>
                <a:off x="3636246" y="1290744"/>
                <a:ext cx="4947318" cy="4947318"/>
                <a:chOff x="3636246" y="1290744"/>
                <a:chExt cx="4947318" cy="4947318"/>
              </a:xfrm>
            </p:grpSpPr>
            <p:sp>
              <p:nvSpPr>
                <p:cNvPr id="39" name="타원 38">
                  <a:extLst>
                    <a:ext uri="{FF2B5EF4-FFF2-40B4-BE49-F238E27FC236}">
                      <a16:creationId xmlns:a16="http://schemas.microsoft.com/office/drawing/2014/main" id="{08A6ED15-DC27-3534-DF30-CCB0C2922E08}"/>
                    </a:ext>
                  </a:extLst>
                </p:cNvPr>
                <p:cNvSpPr/>
                <p:nvPr/>
              </p:nvSpPr>
              <p:spPr>
                <a:xfrm>
                  <a:off x="3636246" y="1290744"/>
                  <a:ext cx="4947318" cy="4947318"/>
                </a:xfrm>
                <a:prstGeom prst="ellipse">
                  <a:avLst/>
                </a:prstGeom>
                <a:solidFill>
                  <a:srgbClr val="2D3142">
                    <a:alpha val="5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8" name="타원 37">
                  <a:extLst>
                    <a:ext uri="{FF2B5EF4-FFF2-40B4-BE49-F238E27FC236}">
                      <a16:creationId xmlns:a16="http://schemas.microsoft.com/office/drawing/2014/main" id="{7F53736A-476C-3783-6612-320C58217EAE}"/>
                    </a:ext>
                  </a:extLst>
                </p:cNvPr>
                <p:cNvSpPr/>
                <p:nvPr/>
              </p:nvSpPr>
              <p:spPr>
                <a:xfrm>
                  <a:off x="3898077" y="1552575"/>
                  <a:ext cx="4423656" cy="4423656"/>
                </a:xfrm>
                <a:prstGeom prst="ellipse">
                  <a:avLst/>
                </a:prstGeom>
                <a:solidFill>
                  <a:srgbClr val="2D3142">
                    <a:alpha val="22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7E6F69F2-4A5B-6610-171B-017F1913C94C}"/>
                    </a:ext>
                  </a:extLst>
                </p:cNvPr>
                <p:cNvSpPr/>
                <p:nvPr/>
              </p:nvSpPr>
              <p:spPr>
                <a:xfrm>
                  <a:off x="4114191" y="1768689"/>
                  <a:ext cx="3991428" cy="3991428"/>
                </a:xfrm>
                <a:prstGeom prst="ellipse">
                  <a:avLst/>
                </a:prstGeom>
                <a:solidFill>
                  <a:srgbClr val="D3D3D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13DBA009-4925-FE1A-A016-78B2034A1948}"/>
                  </a:ext>
                </a:extLst>
              </p:cNvPr>
              <p:cNvSpPr/>
              <p:nvPr/>
            </p:nvSpPr>
            <p:spPr>
              <a:xfrm>
                <a:off x="3819525" y="1474023"/>
                <a:ext cx="4580760" cy="4580760"/>
              </a:xfrm>
              <a:prstGeom prst="ellipse">
                <a:avLst/>
              </a:prstGeom>
              <a:noFill/>
              <a:ln w="19050">
                <a:solidFill>
                  <a:srgbClr val="B0002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922A7E6A-DE62-DFB6-759E-DEC12EA7C270}"/>
                </a:ext>
              </a:extLst>
            </p:cNvPr>
            <p:cNvGrpSpPr/>
            <p:nvPr/>
          </p:nvGrpSpPr>
          <p:grpSpPr>
            <a:xfrm>
              <a:off x="4069696" y="4940464"/>
              <a:ext cx="1543050" cy="1543050"/>
              <a:chOff x="4192373" y="4748271"/>
              <a:chExt cx="1543050" cy="1543050"/>
            </a:xfrm>
          </p:grpSpPr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17C1EA4-8504-E97C-C629-ADF11708C4A2}"/>
                  </a:ext>
                </a:extLst>
              </p:cNvPr>
              <p:cNvSpPr/>
              <p:nvPr/>
            </p:nvSpPr>
            <p:spPr>
              <a:xfrm>
                <a:off x="4192373" y="4748271"/>
                <a:ext cx="1543050" cy="1543050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endParaRPr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8CD5A7D5-0AD4-FBD6-75C6-CF7CAC55271F}"/>
                  </a:ext>
                </a:extLst>
              </p:cNvPr>
              <p:cNvSpPr/>
              <p:nvPr/>
            </p:nvSpPr>
            <p:spPr>
              <a:xfrm>
                <a:off x="4331633" y="4887531"/>
                <a:ext cx="1264530" cy="126453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endParaRPr>
              </a:p>
            </p:txBody>
          </p: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4F3F5FA-5619-0ED6-E35B-C37BB39E5B1A}"/>
                </a:ext>
              </a:extLst>
            </p:cNvPr>
            <p:cNvGrpSpPr/>
            <p:nvPr/>
          </p:nvGrpSpPr>
          <p:grpSpPr>
            <a:xfrm>
              <a:off x="6577816" y="5035834"/>
              <a:ext cx="1543050" cy="1543050"/>
              <a:chOff x="6456578" y="4748271"/>
              <a:chExt cx="1543050" cy="1543050"/>
            </a:xfrm>
          </p:grpSpPr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323A4E11-FCBD-7BA0-87CD-22F607F23ABB}"/>
                  </a:ext>
                </a:extLst>
              </p:cNvPr>
              <p:cNvSpPr/>
              <p:nvPr/>
            </p:nvSpPr>
            <p:spPr>
              <a:xfrm>
                <a:off x="6456578" y="4748271"/>
                <a:ext cx="1543050" cy="1543050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endParaRPr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D9AF941A-C78C-6E81-C410-976E38D282DF}"/>
                  </a:ext>
                </a:extLst>
              </p:cNvPr>
              <p:cNvSpPr/>
              <p:nvPr/>
            </p:nvSpPr>
            <p:spPr>
              <a:xfrm>
                <a:off x="6595838" y="4887531"/>
                <a:ext cx="1264530" cy="126453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endParaRPr>
              </a:p>
            </p:txBody>
          </p:sp>
        </p:grp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67AC16C7-E6EB-613A-30D2-AD2260631543}"/>
                </a:ext>
              </a:extLst>
            </p:cNvPr>
            <p:cNvSpPr/>
            <p:nvPr/>
          </p:nvSpPr>
          <p:spPr>
            <a:xfrm>
              <a:off x="5181600" y="3086885"/>
              <a:ext cx="1797013" cy="14088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AI </a:t>
              </a:r>
              <a:r>
                <a:rPr lang="ko-KR" altLang="en-US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보험 </a:t>
              </a:r>
              <a:endParaRPr lang="en-US" altLang="ko-KR" sz="32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  <a:p>
              <a:pPr algn="ctr"/>
              <a:r>
                <a:rPr lang="ko-KR" altLang="en-US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</a:t>
              </a:r>
              <a:endParaRPr lang="en-US" altLang="ko-KR" sz="32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  <a:p>
              <a:pPr algn="ctr"/>
              <a:r>
                <a:rPr lang="ko-KR" altLang="en-US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목적</a:t>
              </a:r>
            </a:p>
          </p:txBody>
        </p: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BB730097-CF04-DCA8-EA29-29479A650C2C}"/>
                </a:ext>
              </a:extLst>
            </p:cNvPr>
            <p:cNvGrpSpPr/>
            <p:nvPr/>
          </p:nvGrpSpPr>
          <p:grpSpPr>
            <a:xfrm>
              <a:off x="5338380" y="896663"/>
              <a:ext cx="1543050" cy="1543050"/>
              <a:chOff x="5338380" y="943905"/>
              <a:chExt cx="1543050" cy="1543050"/>
            </a:xfrm>
          </p:grpSpPr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FE504E95-A476-7D4E-519B-8E4B6D236E82}"/>
                  </a:ext>
                </a:extLst>
              </p:cNvPr>
              <p:cNvGrpSpPr/>
              <p:nvPr/>
            </p:nvGrpSpPr>
            <p:grpSpPr>
              <a:xfrm>
                <a:off x="5338380" y="943905"/>
                <a:ext cx="1543050" cy="1543050"/>
                <a:chOff x="5338380" y="1251390"/>
                <a:chExt cx="1543050" cy="1543050"/>
              </a:xfrm>
            </p:grpSpPr>
            <p:sp>
              <p:nvSpPr>
                <p:cNvPr id="14" name="타원 13">
                  <a:extLst>
                    <a:ext uri="{FF2B5EF4-FFF2-40B4-BE49-F238E27FC236}">
                      <a16:creationId xmlns:a16="http://schemas.microsoft.com/office/drawing/2014/main" id="{1810214E-21E4-A2DF-A667-FFD6927A7884}"/>
                    </a:ext>
                  </a:extLst>
                </p:cNvPr>
                <p:cNvSpPr/>
                <p:nvPr/>
              </p:nvSpPr>
              <p:spPr>
                <a:xfrm>
                  <a:off x="5338380" y="1251390"/>
                  <a:ext cx="1543050" cy="1543050"/>
                </a:xfrm>
                <a:prstGeom prst="ellipse">
                  <a:avLst/>
                </a:prstGeom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endParaRPr>
                </a:p>
              </p:txBody>
            </p:sp>
            <p:sp>
              <p:nvSpPr>
                <p:cNvPr id="33" name="타원 32">
                  <a:extLst>
                    <a:ext uri="{FF2B5EF4-FFF2-40B4-BE49-F238E27FC236}">
                      <a16:creationId xmlns:a16="http://schemas.microsoft.com/office/drawing/2014/main" id="{0D4EFCA9-EB3C-A801-CBE9-DE17EC3B817A}"/>
                    </a:ext>
                  </a:extLst>
                </p:cNvPr>
                <p:cNvSpPr/>
                <p:nvPr/>
              </p:nvSpPr>
              <p:spPr>
                <a:xfrm>
                  <a:off x="5477640" y="1390650"/>
                  <a:ext cx="1264530" cy="12645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endParaRPr>
                </a:p>
              </p:txBody>
            </p:sp>
          </p:grp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13E56809-326F-A904-6ABE-C0BA66165BA2}"/>
                  </a:ext>
                </a:extLst>
              </p:cNvPr>
              <p:cNvSpPr/>
              <p:nvPr/>
            </p:nvSpPr>
            <p:spPr>
              <a:xfrm>
                <a:off x="5477640" y="1290744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</a:rPr>
                  <a:t>LLM </a:t>
                </a:r>
                <a:r>
                  <a:rPr lang="ko-KR" altLang="en-US" sz="1400" spc="-80">
                    <a:solidFill>
                      <a:srgbClr val="2D3142"/>
                    </a:solidFill>
                  </a:rPr>
                  <a:t>기반 </a:t>
                </a:r>
                <a:endParaRPr lang="en-US" altLang="ko-KR" sz="1400" spc="-80">
                  <a:solidFill>
                    <a:srgbClr val="2D3142"/>
                  </a:solidFill>
                </a:endParaRP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</a:rPr>
                  <a:t>개인화 상담</a:t>
                </a:r>
              </a:p>
            </p:txBody>
          </p:sp>
        </p:grp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576B68A0-4E1E-E162-C8EA-3411C30830FE}"/>
                </a:ext>
              </a:extLst>
            </p:cNvPr>
            <p:cNvGrpSpPr/>
            <p:nvPr/>
          </p:nvGrpSpPr>
          <p:grpSpPr>
            <a:xfrm>
              <a:off x="4208956" y="2646343"/>
              <a:ext cx="4866142" cy="3529194"/>
              <a:chOff x="3802043" y="2780535"/>
              <a:chExt cx="4866142" cy="3529194"/>
            </a:xfrm>
          </p:grpSpPr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986F48DA-0591-6646-F497-92991B13A3E7}"/>
                  </a:ext>
                </a:extLst>
              </p:cNvPr>
              <p:cNvGrpSpPr/>
              <p:nvPr/>
            </p:nvGrpSpPr>
            <p:grpSpPr>
              <a:xfrm>
                <a:off x="7125135" y="2780535"/>
                <a:ext cx="1543050" cy="1543050"/>
                <a:chOff x="7125135" y="2780535"/>
                <a:chExt cx="1543050" cy="1543050"/>
              </a:xfrm>
            </p:grpSpPr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CACB4BBC-6B15-6D59-9E59-C564B841C234}"/>
                    </a:ext>
                  </a:extLst>
                </p:cNvPr>
                <p:cNvSpPr/>
                <p:nvPr/>
              </p:nvSpPr>
              <p:spPr>
                <a:xfrm>
                  <a:off x="7125135" y="2780535"/>
                  <a:ext cx="1543050" cy="1543050"/>
                </a:xfrm>
                <a:prstGeom prst="ellipse">
                  <a:avLst/>
                </a:prstGeom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endParaRPr>
                </a:p>
              </p:txBody>
            </p:sp>
            <p:sp>
              <p:nvSpPr>
                <p:cNvPr id="37" name="타원 36">
                  <a:extLst>
                    <a:ext uri="{FF2B5EF4-FFF2-40B4-BE49-F238E27FC236}">
                      <a16:creationId xmlns:a16="http://schemas.microsoft.com/office/drawing/2014/main" id="{F0B56322-7FE3-90C7-8EF6-8A6E51611E38}"/>
                    </a:ext>
                  </a:extLst>
                </p:cNvPr>
                <p:cNvSpPr/>
                <p:nvPr/>
              </p:nvSpPr>
              <p:spPr>
                <a:xfrm>
                  <a:off x="7264395" y="2919795"/>
                  <a:ext cx="1264530" cy="12645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endParaRPr>
                </a:p>
              </p:txBody>
            </p:sp>
          </p:grp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809F0517-2550-D62F-D386-3CE44E32E648}"/>
                  </a:ext>
                </a:extLst>
              </p:cNvPr>
              <p:cNvSpPr/>
              <p:nvPr/>
            </p:nvSpPr>
            <p:spPr>
              <a:xfrm>
                <a:off x="7320013" y="3165246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</a:rPr>
                  <a:t> RAG </a:t>
                </a: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</a:rPr>
                  <a:t>시스템 구현</a:t>
                </a:r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3CC3011C-85D1-A8C8-EF4F-D4D34B91FE7A}"/>
                  </a:ext>
                </a:extLst>
              </p:cNvPr>
              <p:cNvSpPr/>
              <p:nvPr/>
            </p:nvSpPr>
            <p:spPr>
              <a:xfrm>
                <a:off x="6324066" y="5536103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</a:rPr>
                  <a:t>ML </a:t>
                </a:r>
                <a:r>
                  <a:rPr lang="ko-KR" altLang="en-US" sz="1400" spc="-80">
                    <a:solidFill>
                      <a:srgbClr val="2D3142"/>
                    </a:solidFill>
                  </a:rPr>
                  <a:t>추천 </a:t>
                </a:r>
                <a:endParaRPr lang="en-US" altLang="ko-KR" sz="1400" spc="-80">
                  <a:solidFill>
                    <a:srgbClr val="2D3142"/>
                  </a:solidFill>
                </a:endParaRP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</a:rPr>
                  <a:t>알고리즘</a:t>
                </a:r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9EE8E237-59BF-984B-321C-8EE12824EDDC}"/>
                  </a:ext>
                </a:extLst>
              </p:cNvPr>
              <p:cNvSpPr/>
              <p:nvPr/>
            </p:nvSpPr>
            <p:spPr>
              <a:xfrm>
                <a:off x="3802043" y="5536103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</a:rPr>
                  <a:t>Django</a:t>
                </a: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</a:rPr>
                  <a:t>웹 플랫폼 확장</a:t>
                </a: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867A4186-6ADA-83BD-AE33-858ADB793CF0}"/>
                </a:ext>
              </a:extLst>
            </p:cNvPr>
            <p:cNvGrpSpPr/>
            <p:nvPr/>
          </p:nvGrpSpPr>
          <p:grpSpPr>
            <a:xfrm>
              <a:off x="3176885" y="2646343"/>
              <a:ext cx="1543050" cy="1543050"/>
              <a:chOff x="3523815" y="2780535"/>
              <a:chExt cx="1543050" cy="1543050"/>
            </a:xfrm>
          </p:grpSpPr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D403884C-AB12-1237-D44D-14C2EAFC4C63}"/>
                  </a:ext>
                </a:extLst>
              </p:cNvPr>
              <p:cNvGrpSpPr/>
              <p:nvPr/>
            </p:nvGrpSpPr>
            <p:grpSpPr>
              <a:xfrm>
                <a:off x="3523815" y="2780535"/>
                <a:ext cx="1543050" cy="1543050"/>
                <a:chOff x="3523815" y="2780535"/>
                <a:chExt cx="1543050" cy="1543050"/>
              </a:xfrm>
            </p:grpSpPr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D488B630-02AD-2220-B504-9551C7F557AF}"/>
                    </a:ext>
                  </a:extLst>
                </p:cNvPr>
                <p:cNvSpPr/>
                <p:nvPr/>
              </p:nvSpPr>
              <p:spPr>
                <a:xfrm>
                  <a:off x="3523815" y="2780535"/>
                  <a:ext cx="1543050" cy="1543050"/>
                </a:xfrm>
                <a:prstGeom prst="ellipse">
                  <a:avLst/>
                </a:prstGeom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endParaRPr>
                </a:p>
              </p:txBody>
            </p:sp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525AAD1E-D4F4-2632-21D2-D167090C4F7F}"/>
                    </a:ext>
                  </a:extLst>
                </p:cNvPr>
                <p:cNvSpPr/>
                <p:nvPr/>
              </p:nvSpPr>
              <p:spPr>
                <a:xfrm>
                  <a:off x="3663075" y="2919795"/>
                  <a:ext cx="1264530" cy="12645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endParaRPr>
                </a:p>
              </p:txBody>
            </p:sp>
          </p:grp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E24494D9-C565-9B95-B861-9CDF657372C7}"/>
                  </a:ext>
                </a:extLst>
              </p:cNvPr>
              <p:cNvSpPr/>
              <p:nvPr/>
            </p:nvSpPr>
            <p:spPr>
              <a:xfrm>
                <a:off x="3676979" y="3165247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</a:rPr>
                  <a:t>LangChain </a:t>
                </a: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</a:rPr>
                  <a:t>통합</a:t>
                </a:r>
              </a:p>
            </p:txBody>
          </p:sp>
        </p:grpSp>
        <p:sp>
          <p:nvSpPr>
            <p:cNvPr id="50" name="이등변 삼각형 49">
              <a:extLst>
                <a:ext uri="{FF2B5EF4-FFF2-40B4-BE49-F238E27FC236}">
                  <a16:creationId xmlns:a16="http://schemas.microsoft.com/office/drawing/2014/main" id="{4A351122-551E-38BE-558E-A15E155550BE}"/>
                </a:ext>
              </a:extLst>
            </p:cNvPr>
            <p:cNvSpPr/>
            <p:nvPr/>
          </p:nvSpPr>
          <p:spPr>
            <a:xfrm rot="900000">
              <a:off x="7704516" y="2116710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이등변 삼각형 53">
              <a:extLst>
                <a:ext uri="{FF2B5EF4-FFF2-40B4-BE49-F238E27FC236}">
                  <a16:creationId xmlns:a16="http://schemas.microsoft.com/office/drawing/2014/main" id="{33CBC501-5F74-9B04-D83B-8AD7B5F2A726}"/>
                </a:ext>
              </a:extLst>
            </p:cNvPr>
            <p:cNvSpPr/>
            <p:nvPr/>
          </p:nvSpPr>
          <p:spPr>
            <a:xfrm rot="5100000">
              <a:off x="8144339" y="4572162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이등변 삼각형 54">
              <a:extLst>
                <a:ext uri="{FF2B5EF4-FFF2-40B4-BE49-F238E27FC236}">
                  <a16:creationId xmlns:a16="http://schemas.microsoft.com/office/drawing/2014/main" id="{099D0A77-B190-6C2F-018E-C3FCADC45B7F}"/>
                </a:ext>
              </a:extLst>
            </p:cNvPr>
            <p:cNvSpPr/>
            <p:nvPr/>
          </p:nvSpPr>
          <p:spPr>
            <a:xfrm rot="1800000">
              <a:off x="6033340" y="5937501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이등변 삼각형 55">
              <a:extLst>
                <a:ext uri="{FF2B5EF4-FFF2-40B4-BE49-F238E27FC236}">
                  <a16:creationId xmlns:a16="http://schemas.microsoft.com/office/drawing/2014/main" id="{DA1E636D-3EC0-620A-05F1-1F005C4EA9C8}"/>
                </a:ext>
              </a:extLst>
            </p:cNvPr>
            <p:cNvSpPr/>
            <p:nvPr/>
          </p:nvSpPr>
          <p:spPr>
            <a:xfrm rot="6060000">
              <a:off x="3920194" y="4570044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이등변 삼각형 56">
              <a:extLst>
                <a:ext uri="{FF2B5EF4-FFF2-40B4-BE49-F238E27FC236}">
                  <a16:creationId xmlns:a16="http://schemas.microsoft.com/office/drawing/2014/main" id="{5B0F2746-FEF9-1161-C54C-263B90118EB3}"/>
                </a:ext>
              </a:extLst>
            </p:cNvPr>
            <p:cNvSpPr/>
            <p:nvPr/>
          </p:nvSpPr>
          <p:spPr>
            <a:xfrm rot="3300000">
              <a:off x="4476388" y="1946826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C53ABEC7-2B73-46A5-D7E9-CA1D1DA41E51}"/>
              </a:ext>
            </a:extLst>
          </p:cNvPr>
          <p:cNvSpPr txBox="1"/>
          <p:nvPr/>
        </p:nvSpPr>
        <p:spPr>
          <a:xfrm>
            <a:off x="9031478" y="-5390488"/>
            <a:ext cx="4721566" cy="4721566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7904279"/>
              </a:avLst>
            </a:prstTxWarp>
            <a:spAutoFit/>
          </a:bodyPr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융합 시스템 구현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4731011-9E92-4E62-E7E6-3CEC6938403B}"/>
              </a:ext>
            </a:extLst>
          </p:cNvPr>
          <p:cNvSpPr/>
          <p:nvPr/>
        </p:nvSpPr>
        <p:spPr>
          <a:xfrm>
            <a:off x="6772325" y="1567237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GPT </a:t>
            </a:r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모델을 활용한 자연스러운 보험 상담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6DC04312-46A6-BC0B-8E33-199D74A76423}"/>
              </a:ext>
            </a:extLst>
          </p:cNvPr>
          <p:cNvSpPr/>
          <p:nvPr/>
        </p:nvSpPr>
        <p:spPr>
          <a:xfrm>
            <a:off x="8722477" y="3760804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 약관 데이터베이스와 연동된 정확한 정보 제공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C7EF1D5F-BFBC-620D-65C4-18CE4B8A197B}"/>
              </a:ext>
            </a:extLst>
          </p:cNvPr>
          <p:cNvSpPr/>
          <p:nvPr/>
        </p:nvSpPr>
        <p:spPr>
          <a:xfrm>
            <a:off x="7894582" y="5805276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프로필 기반 머신러닝 추천 시스템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069A94F9-7DF6-469F-A359-6DC9A910C986}"/>
              </a:ext>
            </a:extLst>
          </p:cNvPr>
          <p:cNvSpPr/>
          <p:nvPr/>
        </p:nvSpPr>
        <p:spPr>
          <a:xfrm>
            <a:off x="1140022" y="5805276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확장 가능하고 안정적인 웹 서비스 구축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3647E047-4D12-9DED-7E3E-A71F98288444}"/>
              </a:ext>
            </a:extLst>
          </p:cNvPr>
          <p:cNvSpPr/>
          <p:nvPr/>
        </p:nvSpPr>
        <p:spPr>
          <a:xfrm>
            <a:off x="261751" y="3662872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LLM</a:t>
            </a:r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외부 도구의 효율적 연동</a:t>
            </a:r>
          </a:p>
        </p:txBody>
      </p:sp>
    </p:spTree>
    <p:extLst>
      <p:ext uri="{BB962C8B-B14F-4D97-AF65-F5344CB8AC3E}">
        <p14:creationId xmlns:p14="http://schemas.microsoft.com/office/powerpoint/2010/main" val="286498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4FE70-63E1-AC6B-F47E-EF63A7A16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DD694509-383E-2068-B9AB-09E64944EA56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5461250-22BD-B4ED-5771-267D47F03B32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B514DAF-729C-9B21-F163-DF36548B7C19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CC1C3D3-D75D-C863-2CBA-346E73626FCF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072F093-05FE-85A5-88BA-B654C7A819FD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53FA2C5-C842-7787-FEE5-2242F02B47AF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84759A4-738C-78F0-C2F2-14D4C4E3F0A1}"/>
                </a:ext>
              </a:extLst>
            </p:cNvPr>
            <p:cNvSpPr txBox="1"/>
            <p:nvPr/>
          </p:nvSpPr>
          <p:spPr>
            <a:xfrm>
              <a:off x="548673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손해보험협회 보험사별 약관 데이터 수집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AF0CE370-5ABE-B8ED-D7F5-FB6A6656B225}"/>
              </a:ext>
            </a:extLst>
          </p:cNvPr>
          <p:cNvGrpSpPr/>
          <p:nvPr/>
        </p:nvGrpSpPr>
        <p:grpSpPr>
          <a:xfrm>
            <a:off x="593784" y="1916810"/>
            <a:ext cx="11004432" cy="4675576"/>
            <a:chOff x="593785" y="1916810"/>
            <a:chExt cx="11004429" cy="4675576"/>
          </a:xfrm>
        </p:grpSpPr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81D360C3-518D-7F02-E043-28B150042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24997"/>
            <a:stretch>
              <a:fillRect/>
            </a:stretch>
          </p:blipFill>
          <p:spPr>
            <a:xfrm>
              <a:off x="10140507" y="4549328"/>
              <a:ext cx="1457706" cy="2041968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01FF0C5-4B59-CCD8-1023-FBB76BBD5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3785" y="1916810"/>
              <a:ext cx="5401607" cy="4255388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0DB69EBA-F37B-064A-F0A2-CAFDC57E0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05561" y="2206179"/>
              <a:ext cx="1457707" cy="2041970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9752B646-2803-96EE-079F-703966E2D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73035" y="2206180"/>
              <a:ext cx="1459645" cy="2041970"/>
            </a:xfrm>
            <a:prstGeom prst="rect">
              <a:avLst/>
            </a:prstGeom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E9BF5BBF-F8AB-5D8F-D97C-D62BE08C0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140507" y="2206179"/>
              <a:ext cx="1457707" cy="2068264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C9BB229B-95BC-A035-C614-7BCD84C963C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05562" y="4549329"/>
              <a:ext cx="1465141" cy="2041969"/>
            </a:xfrm>
            <a:prstGeom prst="rect">
              <a:avLst/>
            </a:prstGeom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567E5436-642B-DCF3-CD4B-704F61476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273036" y="4549331"/>
              <a:ext cx="1457706" cy="20430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1225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2285C-28B6-49AF-0B89-1EAACCED7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B70F335D-6CCE-022E-9431-F51665F589C3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B3B13FA-1C16-B2C3-C715-AB409E469A92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9DF3B7F-0619-9822-1CA6-FE169148BF8D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426B11B-55B0-D937-239C-65A17066B5CE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3DBBD9B-F97D-237E-2203-0D5425B8A5EC}"/>
              </a:ext>
            </a:extLst>
          </p:cNvPr>
          <p:cNvGrpSpPr/>
          <p:nvPr/>
        </p:nvGrpSpPr>
        <p:grpSpPr>
          <a:xfrm>
            <a:off x="593783" y="1369060"/>
            <a:ext cx="1625542" cy="389445"/>
            <a:chOff x="408972" y="1295400"/>
            <a:chExt cx="1780601" cy="59690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3929355-D20E-A080-E2BC-2D45E139AF1C}"/>
                </a:ext>
              </a:extLst>
            </p:cNvPr>
            <p:cNvSpPr/>
            <p:nvPr/>
          </p:nvSpPr>
          <p:spPr>
            <a:xfrm>
              <a:off x="408972" y="1295400"/>
              <a:ext cx="1780601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962F445-249B-228D-DBBF-F97E3E33D1C6}"/>
                </a:ext>
              </a:extLst>
            </p:cNvPr>
            <p:cNvSpPr txBox="1"/>
            <p:nvPr/>
          </p:nvSpPr>
          <p:spPr>
            <a:xfrm>
              <a:off x="548672" y="1334399"/>
              <a:ext cx="151569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 방안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AEBD9BB-355A-80E2-DAB2-F632206A666A}"/>
              </a:ext>
            </a:extLst>
          </p:cNvPr>
          <p:cNvGrpSpPr/>
          <p:nvPr/>
        </p:nvGrpSpPr>
        <p:grpSpPr>
          <a:xfrm>
            <a:off x="593783" y="3816046"/>
            <a:ext cx="1625542" cy="389445"/>
            <a:chOff x="408972" y="1295400"/>
            <a:chExt cx="1780601" cy="596900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8C25E70-6547-6227-6A3F-16A0224775D5}"/>
                </a:ext>
              </a:extLst>
            </p:cNvPr>
            <p:cNvSpPr/>
            <p:nvPr/>
          </p:nvSpPr>
          <p:spPr>
            <a:xfrm>
              <a:off x="408972" y="1295400"/>
              <a:ext cx="1780601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3F794E0-FF9A-A119-2B10-676AF3D02856}"/>
                </a:ext>
              </a:extLst>
            </p:cNvPr>
            <p:cNvSpPr txBox="1"/>
            <p:nvPr/>
          </p:nvSpPr>
          <p:spPr>
            <a:xfrm>
              <a:off x="548672" y="1334399"/>
              <a:ext cx="151569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전처리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D072423B-DC8B-904D-7A02-A9427E0C6E65}"/>
              </a:ext>
            </a:extLst>
          </p:cNvPr>
          <p:cNvGrpSpPr/>
          <p:nvPr/>
        </p:nvGrpSpPr>
        <p:grpSpPr>
          <a:xfrm>
            <a:off x="1240822" y="2028573"/>
            <a:ext cx="9889226" cy="1018249"/>
            <a:chOff x="1240822" y="2028573"/>
            <a:chExt cx="9889226" cy="101824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F7D560FA-395B-B80B-A69D-F7A68864EFEC}"/>
                </a:ext>
              </a:extLst>
            </p:cNvPr>
            <p:cNvSpPr/>
            <p:nvPr/>
          </p:nvSpPr>
          <p:spPr>
            <a:xfrm>
              <a:off x="1240822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C325B154-FBD7-4B88-CD9C-F45D77139A51}"/>
                </a:ext>
              </a:extLst>
            </p:cNvPr>
            <p:cNvSpPr/>
            <p:nvPr/>
          </p:nvSpPr>
          <p:spPr>
            <a:xfrm>
              <a:off x="4784569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1D05FFAE-6E1B-4BB3-0873-DE4625A6FCEA}"/>
                </a:ext>
              </a:extLst>
            </p:cNvPr>
            <p:cNvSpPr/>
            <p:nvPr/>
          </p:nvSpPr>
          <p:spPr>
            <a:xfrm>
              <a:off x="8328316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7" name="그래픽 26">
              <a:extLst>
                <a:ext uri="{FF2B5EF4-FFF2-40B4-BE49-F238E27FC236}">
                  <a16:creationId xmlns:a16="http://schemas.microsoft.com/office/drawing/2014/main" id="{AA483994-55BD-E337-8184-526D8F6782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34119" y="2366195"/>
              <a:ext cx="358884" cy="367040"/>
            </a:xfrm>
            <a:prstGeom prst="rect">
              <a:avLst/>
            </a:prstGeom>
          </p:spPr>
        </p:pic>
        <p:pic>
          <p:nvPicPr>
            <p:cNvPr id="28" name="그래픽 27">
              <a:extLst>
                <a:ext uri="{FF2B5EF4-FFF2-40B4-BE49-F238E27FC236}">
                  <a16:creationId xmlns:a16="http://schemas.microsoft.com/office/drawing/2014/main" id="{ADE36B07-AD9A-133A-DAA4-E5C7EBA03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77866" y="2366195"/>
              <a:ext cx="358884" cy="367040"/>
            </a:xfrm>
            <a:prstGeom prst="rect">
              <a:avLst/>
            </a:prstGeom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BF8CCD7F-2526-9C75-16AC-E97B43B0903A}"/>
                </a:ext>
              </a:extLst>
            </p:cNvPr>
            <p:cNvSpPr/>
            <p:nvPr/>
          </p:nvSpPr>
          <p:spPr>
            <a:xfrm>
              <a:off x="1432388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웹 크롤링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8767649A-DAD3-11E0-61ED-D4D650FEB9C1}"/>
                </a:ext>
              </a:extLst>
            </p:cNvPr>
            <p:cNvSpPr/>
            <p:nvPr/>
          </p:nvSpPr>
          <p:spPr>
            <a:xfrm>
              <a:off x="4976135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구조화 작업 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5A9544FD-A94D-4BA0-4578-AFC812DE36AB}"/>
                </a:ext>
              </a:extLst>
            </p:cNvPr>
            <p:cNvSpPr/>
            <p:nvPr/>
          </p:nvSpPr>
          <p:spPr>
            <a:xfrm>
              <a:off x="8519882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데이터 검증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AF4C9A9-1960-54F0-A37B-7302CD5B9C13}"/>
                </a:ext>
              </a:extLst>
            </p:cNvPr>
            <p:cNvSpPr/>
            <p:nvPr/>
          </p:nvSpPr>
          <p:spPr>
            <a:xfrm>
              <a:off x="1432388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각 보험사 공식 홈페이지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약관 데이터 수집 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C5AED14-A914-FC5C-F380-48523985F271}"/>
                </a:ext>
              </a:extLst>
            </p:cNvPr>
            <p:cNvSpPr/>
            <p:nvPr/>
          </p:nvSpPr>
          <p:spPr>
            <a:xfrm>
              <a:off x="4976135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PDF / HTML </a:t>
              </a:r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문서를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구조화된 데이터 변환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7C61C511-77EC-0781-E32E-301E02A26C19}"/>
                </a:ext>
              </a:extLst>
            </p:cNvPr>
            <p:cNvSpPr/>
            <p:nvPr/>
          </p:nvSpPr>
          <p:spPr>
            <a:xfrm>
              <a:off x="8519882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수집된 약관의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정확성 및 최신성 검증</a:t>
              </a: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DE9EA6B8-1E61-34EC-80B0-DFA26F1B1ED9}"/>
              </a:ext>
            </a:extLst>
          </p:cNvPr>
          <p:cNvGrpSpPr/>
          <p:nvPr/>
        </p:nvGrpSpPr>
        <p:grpSpPr>
          <a:xfrm>
            <a:off x="1240822" y="4708273"/>
            <a:ext cx="9889226" cy="1018249"/>
            <a:chOff x="1240822" y="2028573"/>
            <a:chExt cx="9889226" cy="1018249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D6EE4337-6713-94A1-C78F-3FE35A1F950A}"/>
                </a:ext>
              </a:extLst>
            </p:cNvPr>
            <p:cNvSpPr/>
            <p:nvPr/>
          </p:nvSpPr>
          <p:spPr>
            <a:xfrm>
              <a:off x="1240822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93CBF606-BAEE-9D92-4693-8447CA377E7F}"/>
                </a:ext>
              </a:extLst>
            </p:cNvPr>
            <p:cNvSpPr/>
            <p:nvPr/>
          </p:nvSpPr>
          <p:spPr>
            <a:xfrm>
              <a:off x="4784569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62F06FCE-6B54-7171-046E-1E2D8089440E}"/>
                </a:ext>
              </a:extLst>
            </p:cNvPr>
            <p:cNvSpPr/>
            <p:nvPr/>
          </p:nvSpPr>
          <p:spPr>
            <a:xfrm>
              <a:off x="8328316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8" name="그래픽 57">
              <a:extLst>
                <a:ext uri="{FF2B5EF4-FFF2-40B4-BE49-F238E27FC236}">
                  <a16:creationId xmlns:a16="http://schemas.microsoft.com/office/drawing/2014/main" id="{9CBD195D-1742-20AF-79CE-2B2658859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34119" y="2366195"/>
              <a:ext cx="358884" cy="367040"/>
            </a:xfrm>
            <a:prstGeom prst="rect">
              <a:avLst/>
            </a:prstGeom>
          </p:spPr>
        </p:pic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2AC3CF25-6A6C-4CF3-298A-72D85561C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77866" y="2366195"/>
              <a:ext cx="358884" cy="367040"/>
            </a:xfrm>
            <a:prstGeom prst="rect">
              <a:avLst/>
            </a:prstGeom>
          </p:spPr>
        </p:pic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FB331865-E1C8-ED1D-815A-FAAA9FA96449}"/>
                </a:ext>
              </a:extLst>
            </p:cNvPr>
            <p:cNvSpPr/>
            <p:nvPr/>
          </p:nvSpPr>
          <p:spPr>
            <a:xfrm>
              <a:off x="1432388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텍스트 정제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25BF1347-F5DF-60A4-6363-1FDB2E8DEF0C}"/>
                </a:ext>
              </a:extLst>
            </p:cNvPr>
            <p:cNvSpPr/>
            <p:nvPr/>
          </p:nvSpPr>
          <p:spPr>
            <a:xfrm>
              <a:off x="4976135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백터화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A51B0140-1ECB-6C96-01A3-859CDF690A2E}"/>
                </a:ext>
              </a:extLst>
            </p:cNvPr>
            <p:cNvSpPr/>
            <p:nvPr/>
          </p:nvSpPr>
          <p:spPr>
            <a:xfrm>
              <a:off x="8519882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인덱싱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8D38617D-0B40-133D-C473-CCF08971D8F0}"/>
                </a:ext>
              </a:extLst>
            </p:cNvPr>
            <p:cNvSpPr/>
            <p:nvPr/>
          </p:nvSpPr>
          <p:spPr>
            <a:xfrm>
              <a:off x="1432388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불필요한 서식 제거 및 표준화</a:t>
              </a: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D6F932B5-9455-9FDB-3825-DC3DE476A2FA}"/>
                </a:ext>
              </a:extLst>
            </p:cNvPr>
            <p:cNvSpPr/>
            <p:nvPr/>
          </p:nvSpPr>
          <p:spPr>
            <a:xfrm>
              <a:off x="4976135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약관 텍스트의 임베딩 생성</a:t>
              </a: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4CEF7BCB-A657-B64E-0AF8-25EB5236B4D8}"/>
                </a:ext>
              </a:extLst>
            </p:cNvPr>
            <p:cNvSpPr/>
            <p:nvPr/>
          </p:nvSpPr>
          <p:spPr>
            <a:xfrm>
              <a:off x="8519882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Pinecone</a:t>
              </a:r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을 활용한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백터 데이터베이스 구축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7292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A5C34-C046-F4E0-E59E-8DF63F96E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FC29683-A3EE-A936-6AFE-A2A1D7DA33AC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111F7D9-43C1-0389-1D49-28008A756E6E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2E02F79-E1A4-ED02-D585-66937AB9CFE3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AA97C47-7AAD-CB8B-A9FB-AE3E28BE0CEE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3.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업무분장</a:t>
              </a:r>
            </a:p>
          </p:txBody>
        </p:sp>
      </p:grpSp>
      <p:sp>
        <p:nvSpPr>
          <p:cNvPr id="1050" name="Rectangle 5">
            <a:extLst>
              <a:ext uri="{FF2B5EF4-FFF2-40B4-BE49-F238E27FC236}">
                <a16:creationId xmlns:a16="http://schemas.microsoft.com/office/drawing/2014/main" id="{51BC4505-E5EF-04B5-C974-AA2ED308855F}"/>
              </a:ext>
            </a:extLst>
          </p:cNvPr>
          <p:cNvSpPr/>
          <p:nvPr/>
        </p:nvSpPr>
        <p:spPr>
          <a:xfrm>
            <a:off x="5118017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1" name="Round Same Side Corner Rectangle 3">
            <a:extLst>
              <a:ext uri="{FF2B5EF4-FFF2-40B4-BE49-F238E27FC236}">
                <a16:creationId xmlns:a16="http://schemas.microsoft.com/office/drawing/2014/main" id="{3B1F1ADA-7370-752A-FF3B-52CF024DB693}"/>
              </a:ext>
            </a:extLst>
          </p:cNvPr>
          <p:cNvSpPr/>
          <p:nvPr/>
        </p:nvSpPr>
        <p:spPr>
          <a:xfrm>
            <a:off x="5118017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2" name="Oval 6">
            <a:extLst>
              <a:ext uri="{FF2B5EF4-FFF2-40B4-BE49-F238E27FC236}">
                <a16:creationId xmlns:a16="http://schemas.microsoft.com/office/drawing/2014/main" id="{5FD1A690-2747-29B9-40DA-B0B692F64E7D}"/>
              </a:ext>
            </a:extLst>
          </p:cNvPr>
          <p:cNvSpPr/>
          <p:nvPr/>
        </p:nvSpPr>
        <p:spPr>
          <a:xfrm>
            <a:off x="558574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3" name="Rectangle 9">
            <a:extLst>
              <a:ext uri="{FF2B5EF4-FFF2-40B4-BE49-F238E27FC236}">
                <a16:creationId xmlns:a16="http://schemas.microsoft.com/office/drawing/2014/main" id="{369E2C91-6978-7CA3-4D61-C6A34D82A69C}"/>
              </a:ext>
            </a:extLst>
          </p:cNvPr>
          <p:cNvSpPr/>
          <p:nvPr/>
        </p:nvSpPr>
        <p:spPr>
          <a:xfrm>
            <a:off x="311224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4" name="Round Same Side Corner Rectangle 10">
            <a:extLst>
              <a:ext uri="{FF2B5EF4-FFF2-40B4-BE49-F238E27FC236}">
                <a16:creationId xmlns:a16="http://schemas.microsoft.com/office/drawing/2014/main" id="{A9AAE95B-51BC-43D5-AE0C-C845347CD6A5}"/>
              </a:ext>
            </a:extLst>
          </p:cNvPr>
          <p:cNvSpPr/>
          <p:nvPr/>
        </p:nvSpPr>
        <p:spPr>
          <a:xfrm>
            <a:off x="311224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5" name="Oval 11">
            <a:extLst>
              <a:ext uri="{FF2B5EF4-FFF2-40B4-BE49-F238E27FC236}">
                <a16:creationId xmlns:a16="http://schemas.microsoft.com/office/drawing/2014/main" id="{4F40E6B6-402D-E63C-F565-CEDCC7F830DC}"/>
              </a:ext>
            </a:extLst>
          </p:cNvPr>
          <p:cNvSpPr/>
          <p:nvPr/>
        </p:nvSpPr>
        <p:spPr>
          <a:xfrm>
            <a:off x="357997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6" name="Rectangle 13">
            <a:extLst>
              <a:ext uri="{FF2B5EF4-FFF2-40B4-BE49-F238E27FC236}">
                <a16:creationId xmlns:a16="http://schemas.microsoft.com/office/drawing/2014/main" id="{D425522B-2217-0A54-4F71-8C5AE726403C}"/>
              </a:ext>
            </a:extLst>
          </p:cNvPr>
          <p:cNvSpPr/>
          <p:nvPr/>
        </p:nvSpPr>
        <p:spPr>
          <a:xfrm>
            <a:off x="110647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7" name="Round Same Side Corner Rectangle 14">
            <a:extLst>
              <a:ext uri="{FF2B5EF4-FFF2-40B4-BE49-F238E27FC236}">
                <a16:creationId xmlns:a16="http://schemas.microsoft.com/office/drawing/2014/main" id="{1703E812-2E29-ABB5-8054-38DEBEC968A8}"/>
              </a:ext>
            </a:extLst>
          </p:cNvPr>
          <p:cNvSpPr/>
          <p:nvPr/>
        </p:nvSpPr>
        <p:spPr>
          <a:xfrm>
            <a:off x="110647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8" name="Oval 15">
            <a:extLst>
              <a:ext uri="{FF2B5EF4-FFF2-40B4-BE49-F238E27FC236}">
                <a16:creationId xmlns:a16="http://schemas.microsoft.com/office/drawing/2014/main" id="{7261C785-8E73-4A68-96B7-B14969C52052}"/>
              </a:ext>
            </a:extLst>
          </p:cNvPr>
          <p:cNvSpPr/>
          <p:nvPr/>
        </p:nvSpPr>
        <p:spPr>
          <a:xfrm>
            <a:off x="157420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9" name="Rectangle 17">
            <a:extLst>
              <a:ext uri="{FF2B5EF4-FFF2-40B4-BE49-F238E27FC236}">
                <a16:creationId xmlns:a16="http://schemas.microsoft.com/office/drawing/2014/main" id="{80E8C88C-6D13-9E2D-9515-F40324388442}"/>
              </a:ext>
            </a:extLst>
          </p:cNvPr>
          <p:cNvSpPr/>
          <p:nvPr/>
        </p:nvSpPr>
        <p:spPr>
          <a:xfrm>
            <a:off x="7123787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0" name="Round Same Side Corner Rectangle 18">
            <a:extLst>
              <a:ext uri="{FF2B5EF4-FFF2-40B4-BE49-F238E27FC236}">
                <a16:creationId xmlns:a16="http://schemas.microsoft.com/office/drawing/2014/main" id="{1D516385-7F35-E014-BE95-55365A22AB6B}"/>
              </a:ext>
            </a:extLst>
          </p:cNvPr>
          <p:cNvSpPr/>
          <p:nvPr/>
        </p:nvSpPr>
        <p:spPr>
          <a:xfrm>
            <a:off x="7123787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1" name="Oval 19">
            <a:extLst>
              <a:ext uri="{FF2B5EF4-FFF2-40B4-BE49-F238E27FC236}">
                <a16:creationId xmlns:a16="http://schemas.microsoft.com/office/drawing/2014/main" id="{532ABB50-3895-142C-10AA-97DCFEB92C27}"/>
              </a:ext>
            </a:extLst>
          </p:cNvPr>
          <p:cNvSpPr/>
          <p:nvPr/>
        </p:nvSpPr>
        <p:spPr>
          <a:xfrm>
            <a:off x="7591520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2" name="Rectangle 21">
            <a:extLst>
              <a:ext uri="{FF2B5EF4-FFF2-40B4-BE49-F238E27FC236}">
                <a16:creationId xmlns:a16="http://schemas.microsoft.com/office/drawing/2014/main" id="{2DCC3741-F686-12B1-B53A-A3FB1D8D380A}"/>
              </a:ext>
            </a:extLst>
          </p:cNvPr>
          <p:cNvSpPr/>
          <p:nvPr/>
        </p:nvSpPr>
        <p:spPr>
          <a:xfrm>
            <a:off x="912955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3" name="Round Same Side Corner Rectangle 22">
            <a:extLst>
              <a:ext uri="{FF2B5EF4-FFF2-40B4-BE49-F238E27FC236}">
                <a16:creationId xmlns:a16="http://schemas.microsoft.com/office/drawing/2014/main" id="{DB145B58-2C6D-8C69-EAF9-5AF4E7721A47}"/>
              </a:ext>
            </a:extLst>
          </p:cNvPr>
          <p:cNvSpPr/>
          <p:nvPr/>
        </p:nvSpPr>
        <p:spPr>
          <a:xfrm>
            <a:off x="912955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4" name="Oval 23">
            <a:extLst>
              <a:ext uri="{FF2B5EF4-FFF2-40B4-BE49-F238E27FC236}">
                <a16:creationId xmlns:a16="http://schemas.microsoft.com/office/drawing/2014/main" id="{2EFD5094-8A88-F802-0D27-9875B41977C4}"/>
              </a:ext>
            </a:extLst>
          </p:cNvPr>
          <p:cNvSpPr/>
          <p:nvPr/>
        </p:nvSpPr>
        <p:spPr>
          <a:xfrm>
            <a:off x="959728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5" name="Rectangle 28">
            <a:extLst>
              <a:ext uri="{FF2B5EF4-FFF2-40B4-BE49-F238E27FC236}">
                <a16:creationId xmlns:a16="http://schemas.microsoft.com/office/drawing/2014/main" id="{B72D91C2-F7F5-C80D-076C-C243D78CE69F}"/>
              </a:ext>
            </a:extLst>
          </p:cNvPr>
          <p:cNvSpPr/>
          <p:nvPr/>
        </p:nvSpPr>
        <p:spPr>
          <a:xfrm>
            <a:off x="3235238" y="3413389"/>
            <a:ext cx="1828928" cy="184665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프론트엔드 개발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백엔드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API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연동 및 상태 관리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사용좌 화면 구현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[UI/UX]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와이어프레임 및 프로토타입 설계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메인 페이지 제작 및 전체 검수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웹 페이지 디자인 제작 관리 총괄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66" name="Rectangle 29">
            <a:extLst>
              <a:ext uri="{FF2B5EF4-FFF2-40B4-BE49-F238E27FC236}">
                <a16:creationId xmlns:a16="http://schemas.microsoft.com/office/drawing/2014/main" id="{05F40D34-F993-64CA-9FB7-F9A6D1EF01DD}"/>
              </a:ext>
            </a:extLst>
          </p:cNvPr>
          <p:cNvSpPr/>
          <p:nvPr/>
        </p:nvSpPr>
        <p:spPr>
          <a:xfrm>
            <a:off x="3265026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김민준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68" name="Round Same Side Corner Rectangle 31">
            <a:extLst>
              <a:ext uri="{FF2B5EF4-FFF2-40B4-BE49-F238E27FC236}">
                <a16:creationId xmlns:a16="http://schemas.microsoft.com/office/drawing/2014/main" id="{FDF6A574-82B6-F3C5-6F64-F488EB572D48}"/>
              </a:ext>
            </a:extLst>
          </p:cNvPr>
          <p:cNvSpPr/>
          <p:nvPr/>
        </p:nvSpPr>
        <p:spPr>
          <a:xfrm rot="10800000">
            <a:off x="1106475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9" name="Round Same Side Corner Rectangle 32">
            <a:extLst>
              <a:ext uri="{FF2B5EF4-FFF2-40B4-BE49-F238E27FC236}">
                <a16:creationId xmlns:a16="http://schemas.microsoft.com/office/drawing/2014/main" id="{015289E3-A1D1-B287-5CE1-72843ECD95B4}"/>
              </a:ext>
            </a:extLst>
          </p:cNvPr>
          <p:cNvSpPr/>
          <p:nvPr/>
        </p:nvSpPr>
        <p:spPr>
          <a:xfrm rot="10800000">
            <a:off x="3108197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70" name="Round Same Side Corner Rectangle 33">
            <a:extLst>
              <a:ext uri="{FF2B5EF4-FFF2-40B4-BE49-F238E27FC236}">
                <a16:creationId xmlns:a16="http://schemas.microsoft.com/office/drawing/2014/main" id="{EB430C68-7C2D-5A11-243A-1E4E7D5C92A6}"/>
              </a:ext>
            </a:extLst>
          </p:cNvPr>
          <p:cNvSpPr/>
          <p:nvPr/>
        </p:nvSpPr>
        <p:spPr>
          <a:xfrm rot="10800000">
            <a:off x="5118016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71" name="Round Same Side Corner Rectangle 34">
            <a:extLst>
              <a:ext uri="{FF2B5EF4-FFF2-40B4-BE49-F238E27FC236}">
                <a16:creationId xmlns:a16="http://schemas.microsoft.com/office/drawing/2014/main" id="{4519B098-2DC7-125F-B4D8-2A498F2F3E40}"/>
              </a:ext>
            </a:extLst>
          </p:cNvPr>
          <p:cNvSpPr/>
          <p:nvPr/>
        </p:nvSpPr>
        <p:spPr>
          <a:xfrm rot="10800000">
            <a:off x="7123786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72" name="Round Same Side Corner Rectangle 35">
            <a:extLst>
              <a:ext uri="{FF2B5EF4-FFF2-40B4-BE49-F238E27FC236}">
                <a16:creationId xmlns:a16="http://schemas.microsoft.com/office/drawing/2014/main" id="{B8F18BC3-3059-7E04-6FD8-E1708BE3D759}"/>
              </a:ext>
            </a:extLst>
          </p:cNvPr>
          <p:cNvSpPr/>
          <p:nvPr/>
        </p:nvSpPr>
        <p:spPr>
          <a:xfrm rot="10800000">
            <a:off x="9129555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73" name="Rectangle 36">
            <a:extLst>
              <a:ext uri="{FF2B5EF4-FFF2-40B4-BE49-F238E27FC236}">
                <a16:creationId xmlns:a16="http://schemas.microsoft.com/office/drawing/2014/main" id="{BD0ED4E9-EC1A-7925-189C-64DE2E113F92}"/>
              </a:ext>
            </a:extLst>
          </p:cNvPr>
          <p:cNvSpPr/>
          <p:nvPr/>
        </p:nvSpPr>
        <p:spPr>
          <a:xfrm>
            <a:off x="1229468" y="3413389"/>
            <a:ext cx="1814927" cy="147732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프로젝트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프로젝트 총괄 관리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백엔드 개발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서버 로직 구현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회원가입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로그인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 </a:t>
            </a:r>
            <a:endParaRPr lang="en-US" altLang="ko-KR" sz="1200"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DB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 관리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74" name="Rectangle 37">
            <a:extLst>
              <a:ext uri="{FF2B5EF4-FFF2-40B4-BE49-F238E27FC236}">
                <a16:creationId xmlns:a16="http://schemas.microsoft.com/office/drawing/2014/main" id="{B8CED28B-B401-1884-6B2F-6933B6ECE725}"/>
              </a:ext>
            </a:extLst>
          </p:cNvPr>
          <p:cNvSpPr/>
          <p:nvPr/>
        </p:nvSpPr>
        <p:spPr>
          <a:xfrm>
            <a:off x="1259256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김진경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76" name="Rectangle 39">
            <a:extLst>
              <a:ext uri="{FF2B5EF4-FFF2-40B4-BE49-F238E27FC236}">
                <a16:creationId xmlns:a16="http://schemas.microsoft.com/office/drawing/2014/main" id="{017F1F40-03BE-C701-F4C4-238411B37D20}"/>
              </a:ext>
            </a:extLst>
          </p:cNvPr>
          <p:cNvSpPr/>
          <p:nvPr/>
        </p:nvSpPr>
        <p:spPr>
          <a:xfrm>
            <a:off x="5241010" y="3413389"/>
            <a:ext cx="1829292" cy="184665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데이터 분석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서비스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사용자 로그데이터 분석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  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및 인사이트 도출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모델링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모델 설계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학습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,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평가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모델 서빙 및 서비스 연동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회원가입 페이지 제작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77" name="Rectangle 40">
            <a:extLst>
              <a:ext uri="{FF2B5EF4-FFF2-40B4-BE49-F238E27FC236}">
                <a16:creationId xmlns:a16="http://schemas.microsoft.com/office/drawing/2014/main" id="{30B74A16-3679-7012-B4F7-80FFBD860EF5}"/>
              </a:ext>
            </a:extLst>
          </p:cNvPr>
          <p:cNvSpPr/>
          <p:nvPr/>
        </p:nvSpPr>
        <p:spPr>
          <a:xfrm>
            <a:off x="5270797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장선호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79" name="Rectangle 42">
            <a:extLst>
              <a:ext uri="{FF2B5EF4-FFF2-40B4-BE49-F238E27FC236}">
                <a16:creationId xmlns:a16="http://schemas.microsoft.com/office/drawing/2014/main" id="{97407892-339B-289C-5539-5209ED25689A}"/>
              </a:ext>
            </a:extLst>
          </p:cNvPr>
          <p:cNvSpPr/>
          <p:nvPr/>
        </p:nvSpPr>
        <p:spPr>
          <a:xfrm>
            <a:off x="7246780" y="3413389"/>
            <a:ext cx="1656498" cy="20313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데이터 수집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공공 데이터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오픈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API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를 통한</a:t>
            </a:r>
            <a:b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  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데이터 수집 및 정제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크롤링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웹 크롤러 개발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자동화 스크립트를 통한</a:t>
            </a:r>
            <a:b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  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데이터 수집 및 학습 스케쥴링 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어떤 페이지를 만들까요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80" name="Rectangle 43">
            <a:extLst>
              <a:ext uri="{FF2B5EF4-FFF2-40B4-BE49-F238E27FC236}">
                <a16:creationId xmlns:a16="http://schemas.microsoft.com/office/drawing/2014/main" id="{315AB00D-212C-15FD-93AF-1392C939A80E}"/>
              </a:ext>
            </a:extLst>
          </p:cNvPr>
          <p:cNvSpPr/>
          <p:nvPr/>
        </p:nvSpPr>
        <p:spPr>
          <a:xfrm>
            <a:off x="7276567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한창희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82" name="Rectangle 45">
            <a:extLst>
              <a:ext uri="{FF2B5EF4-FFF2-40B4-BE49-F238E27FC236}">
                <a16:creationId xmlns:a16="http://schemas.microsoft.com/office/drawing/2014/main" id="{17D80DF0-7866-DB78-D290-C5E6EA0BAEC1}"/>
              </a:ext>
            </a:extLst>
          </p:cNvPr>
          <p:cNvSpPr/>
          <p:nvPr/>
        </p:nvSpPr>
        <p:spPr>
          <a:xfrm>
            <a:off x="9252549" y="3413389"/>
            <a:ext cx="1656498" cy="16619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데이터베이스 설계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DB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스키마 설계 및 관계 설정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성능 최적화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[API 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개발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인증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권한 관리와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API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문서화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어떤 페이지를 만들까요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83" name="Rectangle 46">
            <a:extLst>
              <a:ext uri="{FF2B5EF4-FFF2-40B4-BE49-F238E27FC236}">
                <a16:creationId xmlns:a16="http://schemas.microsoft.com/office/drawing/2014/main" id="{E623A397-AC21-3329-B989-23F0B2311333}"/>
              </a:ext>
            </a:extLst>
          </p:cNvPr>
          <p:cNvSpPr/>
          <p:nvPr/>
        </p:nvSpPr>
        <p:spPr>
          <a:xfrm>
            <a:off x="9282336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유성미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76" name="Rectangle 29">
            <a:extLst>
              <a:ext uri="{FF2B5EF4-FFF2-40B4-BE49-F238E27FC236}">
                <a16:creationId xmlns:a16="http://schemas.microsoft.com/office/drawing/2014/main" id="{871FA496-040D-516B-83A8-653169C37DDA}"/>
              </a:ext>
            </a:extLst>
          </p:cNvPr>
          <p:cNvSpPr/>
          <p:nvPr/>
        </p:nvSpPr>
        <p:spPr>
          <a:xfrm>
            <a:off x="3180095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프론트엔드 개발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UI/UX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7" name="Rectangle 37">
            <a:extLst>
              <a:ext uri="{FF2B5EF4-FFF2-40B4-BE49-F238E27FC236}">
                <a16:creationId xmlns:a16="http://schemas.microsoft.com/office/drawing/2014/main" id="{33CD983D-ED6C-BDC4-443F-CF4175EBE47D}"/>
              </a:ext>
            </a:extLst>
          </p:cNvPr>
          <p:cNvSpPr/>
          <p:nvPr/>
        </p:nvSpPr>
        <p:spPr>
          <a:xfrm>
            <a:off x="1174325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프로젝트 매니저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백엔드 개발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8" name="Rectangle 40">
            <a:extLst>
              <a:ext uri="{FF2B5EF4-FFF2-40B4-BE49-F238E27FC236}">
                <a16:creationId xmlns:a16="http://schemas.microsoft.com/office/drawing/2014/main" id="{0E75F30D-C4ED-3C52-090C-0A4E5D5795BB}"/>
              </a:ext>
            </a:extLst>
          </p:cNvPr>
          <p:cNvSpPr/>
          <p:nvPr/>
        </p:nvSpPr>
        <p:spPr>
          <a:xfrm>
            <a:off x="5185866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데이터 분석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AI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모델링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9" name="Rectangle 43">
            <a:extLst>
              <a:ext uri="{FF2B5EF4-FFF2-40B4-BE49-F238E27FC236}">
                <a16:creationId xmlns:a16="http://schemas.microsoft.com/office/drawing/2014/main" id="{4D1CB83F-7CFF-25EC-7781-6730EA468360}"/>
              </a:ext>
            </a:extLst>
          </p:cNvPr>
          <p:cNvSpPr/>
          <p:nvPr/>
        </p:nvSpPr>
        <p:spPr>
          <a:xfrm>
            <a:off x="7191636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데이터 수집 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크롤링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80" name="Rectangle 46">
            <a:extLst>
              <a:ext uri="{FF2B5EF4-FFF2-40B4-BE49-F238E27FC236}">
                <a16:creationId xmlns:a16="http://schemas.microsoft.com/office/drawing/2014/main" id="{254A619C-C5C7-1CF8-F16C-3226C0820A08}"/>
              </a:ext>
            </a:extLst>
          </p:cNvPr>
          <p:cNvSpPr/>
          <p:nvPr/>
        </p:nvSpPr>
        <p:spPr>
          <a:xfrm>
            <a:off x="9197405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데이터베이스 설계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API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개발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3153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F7E1E31-42BB-D24A-A940-50711AFF17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688355"/>
              </p:ext>
            </p:extLst>
          </p:nvPr>
        </p:nvGraphicFramePr>
        <p:xfrm>
          <a:off x="304801" y="1271150"/>
          <a:ext cx="11582406" cy="52820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3218">
                  <a:extLst>
                    <a:ext uri="{9D8B030D-6E8A-4147-A177-3AD203B41FA5}">
                      <a16:colId xmlns:a16="http://schemas.microsoft.com/office/drawing/2014/main" val="2272385301"/>
                    </a:ext>
                  </a:extLst>
                </a:gridCol>
                <a:gridCol w="1086838">
                  <a:extLst>
                    <a:ext uri="{9D8B030D-6E8A-4147-A177-3AD203B41FA5}">
                      <a16:colId xmlns:a16="http://schemas.microsoft.com/office/drawing/2014/main" val="28541532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884259614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9930110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868926125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60420981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81228497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596017582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5660351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9878966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86593028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925960883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595019260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8096650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47203134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575944897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30829322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816916304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4798567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66052384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5960816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236484665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33961012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539483003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1598660398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295687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036520802"/>
                    </a:ext>
                  </a:extLst>
                </a:gridCol>
              </a:tblGrid>
              <a:tr h="39094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구분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di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7/24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29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30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31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8/1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6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7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12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13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19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20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22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26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27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302161"/>
                  </a:ext>
                </a:extLst>
              </a:tr>
              <a:tr h="390942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기획 및 설계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주제 선정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182183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세부 기능 정의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243688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업무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,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일정 관리 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673547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시스템 설계도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3910413"/>
                  </a:ext>
                </a:extLst>
              </a:tr>
              <a:tr h="46349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연구 모형 및 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조사 설계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연구 가설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9492310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측정 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3573139"/>
                  </a:ext>
                </a:extLst>
              </a:tr>
              <a:tr h="39094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데이터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데이터 수집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&amp;</a:t>
                      </a:r>
                      <a:r>
                        <a:rPr lang="ko-KR" altLang="en-US" sz="1400" kern="1200" dirty="0" err="1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전처리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898935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487972"/>
                  </a:ext>
                </a:extLst>
              </a:tr>
              <a:tr h="39094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연구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/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검증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 통계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944460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 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060671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디자인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전체 디자인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90926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문서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프로젝트 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2311403"/>
                  </a:ext>
                </a:extLst>
              </a:tr>
            </a:tbl>
          </a:graphicData>
        </a:graphic>
      </p:graphicFrame>
      <p:grpSp>
        <p:nvGrpSpPr>
          <p:cNvPr id="40" name="그룹 39">
            <a:extLst>
              <a:ext uri="{FF2B5EF4-FFF2-40B4-BE49-F238E27FC236}">
                <a16:creationId xmlns:a16="http://schemas.microsoft.com/office/drawing/2014/main" id="{37B68782-CA32-1899-E6B2-891DAFA22F62}"/>
              </a:ext>
            </a:extLst>
          </p:cNvPr>
          <p:cNvGrpSpPr/>
          <p:nvPr/>
        </p:nvGrpSpPr>
        <p:grpSpPr>
          <a:xfrm>
            <a:off x="2552332" y="1729898"/>
            <a:ext cx="2505443" cy="282234"/>
            <a:chOff x="2552332" y="853598"/>
            <a:chExt cx="2505443" cy="282234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4345DA88-9130-64E5-4F72-CC2BA13EE7FE}"/>
                </a:ext>
              </a:extLst>
            </p:cNvPr>
            <p:cNvGrpSpPr/>
            <p:nvPr/>
          </p:nvGrpSpPr>
          <p:grpSpPr>
            <a:xfrm>
              <a:off x="2552332" y="933806"/>
              <a:ext cx="915136" cy="202026"/>
              <a:chOff x="2523757" y="960000"/>
              <a:chExt cx="915136" cy="202026"/>
            </a:xfrm>
          </p:grpSpPr>
          <p:cxnSp>
            <p:nvCxnSpPr>
              <p:cNvPr id="9" name="직선 화살표 연결선 8">
                <a:extLst>
                  <a:ext uri="{FF2B5EF4-FFF2-40B4-BE49-F238E27FC236}">
                    <a16:creationId xmlns:a16="http://schemas.microsoft.com/office/drawing/2014/main" id="{24524E15-4B75-89DD-DA03-2AF5A66BD4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3757" y="960000"/>
                <a:ext cx="915136" cy="0"/>
              </a:xfrm>
              <a:prstGeom prst="straightConnector1">
                <a:avLst/>
              </a:prstGeom>
              <a:ln w="28575">
                <a:solidFill>
                  <a:srgbClr val="6A4C93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69CB7AD9-D288-37F9-5483-22A10AA858A2}"/>
                  </a:ext>
                </a:extLst>
              </p:cNvPr>
              <p:cNvSpPr/>
              <p:nvPr/>
            </p:nvSpPr>
            <p:spPr>
              <a:xfrm>
                <a:off x="2585924" y="984226"/>
                <a:ext cx="790802" cy="177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rgbClr val="6A4C93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아이디어 공모 </a:t>
                </a: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A9B662B-8E58-57D3-6CEF-6DEB791ECEC4}"/>
                </a:ext>
              </a:extLst>
            </p:cNvPr>
            <p:cNvGrpSpPr/>
            <p:nvPr/>
          </p:nvGrpSpPr>
          <p:grpSpPr>
            <a:xfrm>
              <a:off x="3530600" y="853598"/>
              <a:ext cx="1527175" cy="261257"/>
              <a:chOff x="3530600" y="853598"/>
              <a:chExt cx="1527175" cy="261257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D8D31B65-DF09-0940-5E83-35DA8624E583}"/>
                  </a:ext>
                </a:extLst>
              </p:cNvPr>
              <p:cNvSpPr/>
              <p:nvPr/>
            </p:nvSpPr>
            <p:spPr>
              <a:xfrm>
                <a:off x="3530600" y="853598"/>
                <a:ext cx="1527175" cy="261257"/>
              </a:xfrm>
              <a:prstGeom prst="rect">
                <a:avLst/>
              </a:prstGeom>
              <a:solidFill>
                <a:srgbClr val="6A4C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AD7A88AB-F831-C03B-5FD4-2335FC042676}"/>
                  </a:ext>
                </a:extLst>
              </p:cNvPr>
              <p:cNvSpPr/>
              <p:nvPr/>
            </p:nvSpPr>
            <p:spPr>
              <a:xfrm>
                <a:off x="3898786" y="895326"/>
                <a:ext cx="790802" cy="177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최종 아이디어 확정 </a:t>
                </a:r>
              </a:p>
            </p:txBody>
          </p: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6878B7-E59D-5B45-4AA4-C50E30CCFABC}"/>
              </a:ext>
            </a:extLst>
          </p:cNvPr>
          <p:cNvGrpSpPr/>
          <p:nvPr/>
        </p:nvGrpSpPr>
        <p:grpSpPr>
          <a:xfrm>
            <a:off x="4659708" y="2189539"/>
            <a:ext cx="790802" cy="198385"/>
            <a:chOff x="2677970" y="960000"/>
            <a:chExt cx="790802" cy="198385"/>
          </a:xfrm>
        </p:grpSpPr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1AB915F7-644C-0ADE-3B80-75F17EF15DCB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D179CAB-2CCE-09D6-04B8-49FFBE7BDAEA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기능 구상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B96BDE2-DF5C-A53C-50BB-0127DFAFF8BD}"/>
              </a:ext>
            </a:extLst>
          </p:cNvPr>
          <p:cNvGrpSpPr/>
          <p:nvPr/>
        </p:nvGrpSpPr>
        <p:grpSpPr>
          <a:xfrm>
            <a:off x="5425395" y="2111713"/>
            <a:ext cx="1144280" cy="261257"/>
            <a:chOff x="3530600" y="853598"/>
            <a:chExt cx="1527175" cy="261257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84DBA05-1FA1-9A21-68D2-A1E5924E9D1D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59DFD59-ADFB-5E4D-38E5-DD3F027A4C89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</a:t>
              </a:r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/ DB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설계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CC44817-4E60-51E5-EC3A-8EBF966BF381}"/>
              </a:ext>
            </a:extLst>
          </p:cNvPr>
          <p:cNvGrpSpPr/>
          <p:nvPr/>
        </p:nvGrpSpPr>
        <p:grpSpPr>
          <a:xfrm>
            <a:off x="3530600" y="2587346"/>
            <a:ext cx="1527174" cy="202026"/>
            <a:chOff x="2523757" y="960000"/>
            <a:chExt cx="915136" cy="202026"/>
          </a:xfrm>
        </p:grpSpPr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3466F1B8-7F8E-CDE2-C59F-7899356E0860}"/>
                </a:ext>
              </a:extLst>
            </p:cNvPr>
            <p:cNvCxnSpPr>
              <a:cxnSpLocks/>
            </p:cNvCxnSpPr>
            <p:nvPr/>
          </p:nvCxnSpPr>
          <p:spPr>
            <a:xfrm>
              <a:off x="2523757" y="960000"/>
              <a:ext cx="915136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1D5364B-2501-426B-7A60-F3022B23AD5A}"/>
                </a:ext>
              </a:extLst>
            </p:cNvPr>
            <p:cNvSpPr/>
            <p:nvPr/>
          </p:nvSpPr>
          <p:spPr>
            <a:xfrm>
              <a:off x="2585924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1</a:t>
              </a:r>
              <a:r>
                <a:rPr lang="ko-KR" altLang="en-US" sz="110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차 일정 </a:t>
              </a:r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조율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58340A3-3D66-8660-2FF0-C6E83DEEEA9B}"/>
              </a:ext>
            </a:extLst>
          </p:cNvPr>
          <p:cNvGrpSpPr/>
          <p:nvPr/>
        </p:nvGrpSpPr>
        <p:grpSpPr>
          <a:xfrm>
            <a:off x="5048759" y="2506859"/>
            <a:ext cx="1339001" cy="261257"/>
            <a:chOff x="3530600" y="853598"/>
            <a:chExt cx="1527175" cy="261257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1EF1E30-DFFC-C98B-C4C5-A27D1523BCF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11E4FD1-22AC-D42C-ABE9-FA42E8DECA29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일정 확정 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3D2198DC-858E-98A5-59B8-38E52EB4C5EC}"/>
              </a:ext>
            </a:extLst>
          </p:cNvPr>
          <p:cNvGrpSpPr/>
          <p:nvPr/>
        </p:nvGrpSpPr>
        <p:grpSpPr>
          <a:xfrm>
            <a:off x="4671320" y="2975734"/>
            <a:ext cx="790802" cy="198385"/>
            <a:chOff x="2677970" y="960000"/>
            <a:chExt cx="790802" cy="198385"/>
          </a:xfrm>
        </p:grpSpPr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6B181E6F-E2A4-5F1E-1E1C-D42B64301DFC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2F81466-8785-4D64-F604-89F9E7C4FFB9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1</a:t>
              </a:r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차 설계 구상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FB612FC2-C7E0-CC97-8962-1A59B206CA02}"/>
              </a:ext>
            </a:extLst>
          </p:cNvPr>
          <p:cNvGrpSpPr/>
          <p:nvPr/>
        </p:nvGrpSpPr>
        <p:grpSpPr>
          <a:xfrm>
            <a:off x="5430656" y="2897908"/>
            <a:ext cx="1144279" cy="261257"/>
            <a:chOff x="3530600" y="853598"/>
            <a:chExt cx="1527175" cy="26125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204CF682-5FB6-BB21-3280-217B5B31A78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0DD60B95-DA4D-F12C-81EC-691B845C0FE2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 설계 확정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5F99D67-2DE5-FF96-2124-6A7C19CDC1B9}"/>
              </a:ext>
            </a:extLst>
          </p:cNvPr>
          <p:cNvGrpSpPr/>
          <p:nvPr/>
        </p:nvGrpSpPr>
        <p:grpSpPr>
          <a:xfrm>
            <a:off x="4101061" y="3404093"/>
            <a:ext cx="915136" cy="202026"/>
            <a:chOff x="3065321" y="960000"/>
            <a:chExt cx="915136" cy="202026"/>
          </a:xfrm>
        </p:grpSpPr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6A181C7C-A85C-F9B1-4722-5578998876A6}"/>
                </a:ext>
              </a:extLst>
            </p:cNvPr>
            <p:cNvCxnSpPr>
              <a:cxnSpLocks/>
            </p:cNvCxnSpPr>
            <p:nvPr/>
          </p:nvCxnSpPr>
          <p:spPr>
            <a:xfrm>
              <a:off x="3065321" y="960000"/>
              <a:ext cx="915136" cy="0"/>
            </a:xfrm>
            <a:prstGeom prst="straightConnector1">
              <a:avLst/>
            </a:prstGeom>
            <a:ln w="28575">
              <a:solidFill>
                <a:srgbClr val="2D314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3B67BCAD-8162-4178-E181-7A001C32ED56}"/>
                </a:ext>
              </a:extLst>
            </p:cNvPr>
            <p:cNvSpPr/>
            <p:nvPr/>
          </p:nvSpPr>
          <p:spPr>
            <a:xfrm>
              <a:off x="3127488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연구 가설 설정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1B02F01-2E11-F938-BBFD-69EC41E22781}"/>
              </a:ext>
            </a:extLst>
          </p:cNvPr>
          <p:cNvGrpSpPr/>
          <p:nvPr/>
        </p:nvGrpSpPr>
        <p:grpSpPr>
          <a:xfrm>
            <a:off x="5057774" y="3323885"/>
            <a:ext cx="1007166" cy="261257"/>
            <a:chOff x="4050609" y="853598"/>
            <a:chExt cx="1007166" cy="261257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C5C43C3B-C171-F6B4-B6B2-DEB74436EE7E}"/>
                </a:ext>
              </a:extLst>
            </p:cNvPr>
            <p:cNvSpPr/>
            <p:nvPr/>
          </p:nvSpPr>
          <p:spPr>
            <a:xfrm>
              <a:off x="4050609" y="853598"/>
              <a:ext cx="1007166" cy="2612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A0167AA-4984-D0FB-8DF1-E6F6551A0C87}"/>
                </a:ext>
              </a:extLst>
            </p:cNvPr>
            <p:cNvSpPr/>
            <p:nvPr/>
          </p:nvSpPr>
          <p:spPr>
            <a:xfrm>
              <a:off x="4158791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가설 선정 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95CA999-9A97-1743-540E-AF7863B870BE}"/>
              </a:ext>
            </a:extLst>
          </p:cNvPr>
          <p:cNvGrpSpPr/>
          <p:nvPr/>
        </p:nvGrpSpPr>
        <p:grpSpPr>
          <a:xfrm>
            <a:off x="4101061" y="3828503"/>
            <a:ext cx="915136" cy="202026"/>
            <a:chOff x="3065321" y="960000"/>
            <a:chExt cx="915136" cy="202026"/>
          </a:xfrm>
        </p:grpSpPr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18557770-8585-C9D4-65EA-1F84011CBA20}"/>
                </a:ext>
              </a:extLst>
            </p:cNvPr>
            <p:cNvCxnSpPr>
              <a:cxnSpLocks/>
            </p:cNvCxnSpPr>
            <p:nvPr/>
          </p:nvCxnSpPr>
          <p:spPr>
            <a:xfrm>
              <a:off x="3065321" y="960000"/>
              <a:ext cx="915136" cy="0"/>
            </a:xfrm>
            <a:prstGeom prst="straightConnector1">
              <a:avLst/>
            </a:prstGeom>
            <a:ln w="28575">
              <a:solidFill>
                <a:srgbClr val="2D314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DCEDB307-D1D0-9679-B6C6-A7F3868C6DC8}"/>
                </a:ext>
              </a:extLst>
            </p:cNvPr>
            <p:cNvSpPr/>
            <p:nvPr/>
          </p:nvSpPr>
          <p:spPr>
            <a:xfrm>
              <a:off x="3127488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항목 설정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DEEAD29-0D62-4B96-D4FD-0EB1BE622DDC}"/>
              </a:ext>
            </a:extLst>
          </p:cNvPr>
          <p:cNvGrpSpPr/>
          <p:nvPr/>
        </p:nvGrpSpPr>
        <p:grpSpPr>
          <a:xfrm>
            <a:off x="5057774" y="3748295"/>
            <a:ext cx="1007166" cy="261257"/>
            <a:chOff x="4050609" y="853598"/>
            <a:chExt cx="1007166" cy="261257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8D63CC1B-D915-28AE-F69F-1F67B4E6F589}"/>
                </a:ext>
              </a:extLst>
            </p:cNvPr>
            <p:cNvSpPr/>
            <p:nvPr/>
          </p:nvSpPr>
          <p:spPr>
            <a:xfrm>
              <a:off x="4050609" y="853598"/>
              <a:ext cx="1007166" cy="2612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22D493BB-045B-5B8F-86D2-86600AC77FC5}"/>
                </a:ext>
              </a:extLst>
            </p:cNvPr>
            <p:cNvSpPr/>
            <p:nvPr/>
          </p:nvSpPr>
          <p:spPr>
            <a:xfrm>
              <a:off x="4158791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측정 항목 확정</a:t>
              </a:r>
            </a:p>
          </p:txBody>
        </p:sp>
      </p:grpSp>
      <p:grpSp>
        <p:nvGrpSpPr>
          <p:cNvPr id="1027" name="그룹 1026">
            <a:extLst>
              <a:ext uri="{FF2B5EF4-FFF2-40B4-BE49-F238E27FC236}">
                <a16:creationId xmlns:a16="http://schemas.microsoft.com/office/drawing/2014/main" id="{040BEADE-AE91-FC5E-0BED-B6CFCBFAC66D}"/>
              </a:ext>
            </a:extLst>
          </p:cNvPr>
          <p:cNvGrpSpPr/>
          <p:nvPr/>
        </p:nvGrpSpPr>
        <p:grpSpPr>
          <a:xfrm>
            <a:off x="3550236" y="4283988"/>
            <a:ext cx="712439" cy="202026"/>
            <a:chOff x="3550236" y="4283988"/>
            <a:chExt cx="712439" cy="202026"/>
          </a:xfrm>
        </p:grpSpPr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F134F656-C1C6-3C34-CD3E-7DE6FB6985D7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E58BDAC-6A12-A813-4BB0-9EA7DB5E4538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분석</a:t>
              </a:r>
            </a:p>
          </p:txBody>
        </p:sp>
      </p:grpSp>
      <p:grpSp>
        <p:nvGrpSpPr>
          <p:cNvPr id="1029" name="그룹 1028">
            <a:extLst>
              <a:ext uri="{FF2B5EF4-FFF2-40B4-BE49-F238E27FC236}">
                <a16:creationId xmlns:a16="http://schemas.microsoft.com/office/drawing/2014/main" id="{CE1583DF-1553-D3CF-7FDA-C7C173B638DD}"/>
              </a:ext>
            </a:extLst>
          </p:cNvPr>
          <p:cNvGrpSpPr/>
          <p:nvPr/>
        </p:nvGrpSpPr>
        <p:grpSpPr>
          <a:xfrm>
            <a:off x="5437464" y="4283988"/>
            <a:ext cx="1137471" cy="202026"/>
            <a:chOff x="5626837" y="4283988"/>
            <a:chExt cx="712439" cy="202026"/>
          </a:xfrm>
        </p:grpSpPr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5C7E3FED-3E8C-B5FA-A1BB-15B1640FCE91}"/>
                </a:ext>
              </a:extLst>
            </p:cNvPr>
            <p:cNvCxnSpPr>
              <a:cxnSpLocks/>
            </p:cNvCxnSpPr>
            <p:nvPr/>
          </p:nvCxnSpPr>
          <p:spPr>
            <a:xfrm>
              <a:off x="5626837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4DC9B087-94D2-4886-D0A0-3D57867D4266}"/>
                </a:ext>
              </a:extLst>
            </p:cNvPr>
            <p:cNvSpPr/>
            <p:nvPr/>
          </p:nvSpPr>
          <p:spPr>
            <a:xfrm>
              <a:off x="5626837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활용 방안 탐구</a:t>
              </a: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0F4C9695-1AA9-CE98-1B9C-3181D2C7CF63}"/>
              </a:ext>
            </a:extLst>
          </p:cNvPr>
          <p:cNvGrpSpPr/>
          <p:nvPr/>
        </p:nvGrpSpPr>
        <p:grpSpPr>
          <a:xfrm>
            <a:off x="4287838" y="4203501"/>
            <a:ext cx="1142818" cy="261257"/>
            <a:chOff x="3530600" y="853598"/>
            <a:chExt cx="1527175" cy="261257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7FE1FB84-EF03-11E2-FE20-A172FAF9C67E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E89509D8-F781-5F2A-8994-D2100E479E03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확보 및 가공 </a:t>
              </a:r>
            </a:p>
          </p:txBody>
        </p:sp>
      </p:grpSp>
      <p:grpSp>
        <p:nvGrpSpPr>
          <p:cNvPr id="1033" name="그룹 1032">
            <a:extLst>
              <a:ext uri="{FF2B5EF4-FFF2-40B4-BE49-F238E27FC236}">
                <a16:creationId xmlns:a16="http://schemas.microsoft.com/office/drawing/2014/main" id="{A446571A-4E07-F531-D01D-759FDC8AEDA1}"/>
              </a:ext>
            </a:extLst>
          </p:cNvPr>
          <p:cNvGrpSpPr/>
          <p:nvPr/>
        </p:nvGrpSpPr>
        <p:grpSpPr>
          <a:xfrm>
            <a:off x="5057774" y="4738418"/>
            <a:ext cx="712439" cy="202026"/>
            <a:chOff x="3550236" y="4283988"/>
            <a:chExt cx="712439" cy="202026"/>
          </a:xfrm>
        </p:grpSpPr>
        <p:cxnSp>
          <p:nvCxnSpPr>
            <p:cNvPr id="1034" name="직선 화살표 연결선 1033">
              <a:extLst>
                <a:ext uri="{FF2B5EF4-FFF2-40B4-BE49-F238E27FC236}">
                  <a16:creationId xmlns:a16="http://schemas.microsoft.com/office/drawing/2014/main" id="{567C1C3E-8241-C201-F355-4F88C0016D22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5" name="직사각형 1034">
              <a:extLst>
                <a:ext uri="{FF2B5EF4-FFF2-40B4-BE49-F238E27FC236}">
                  <a16:creationId xmlns:a16="http://schemas.microsoft.com/office/drawing/2014/main" id="{C92B7E38-D1B9-8A3C-CDCA-33295A5E35E3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코딩</a:t>
              </a:r>
            </a:p>
          </p:txBody>
        </p:sp>
      </p:grpSp>
      <p:grpSp>
        <p:nvGrpSpPr>
          <p:cNvPr id="1036" name="그룹 1035">
            <a:extLst>
              <a:ext uri="{FF2B5EF4-FFF2-40B4-BE49-F238E27FC236}">
                <a16:creationId xmlns:a16="http://schemas.microsoft.com/office/drawing/2014/main" id="{C9B24716-2B2E-58E3-DA5E-341BCB8AD3A1}"/>
              </a:ext>
            </a:extLst>
          </p:cNvPr>
          <p:cNvGrpSpPr/>
          <p:nvPr/>
        </p:nvGrpSpPr>
        <p:grpSpPr>
          <a:xfrm>
            <a:off x="5795376" y="4657931"/>
            <a:ext cx="1142818" cy="261257"/>
            <a:chOff x="3530600" y="853598"/>
            <a:chExt cx="1527175" cy="261257"/>
          </a:xfrm>
        </p:grpSpPr>
        <p:sp>
          <p:nvSpPr>
            <p:cNvPr id="1037" name="직사각형 1036">
              <a:extLst>
                <a:ext uri="{FF2B5EF4-FFF2-40B4-BE49-F238E27FC236}">
                  <a16:creationId xmlns:a16="http://schemas.microsoft.com/office/drawing/2014/main" id="{FBF36372-DDE0-E144-BF45-3E01763BC063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8" name="직사각형 1037">
              <a:extLst>
                <a:ext uri="{FF2B5EF4-FFF2-40B4-BE49-F238E27FC236}">
                  <a16:creationId xmlns:a16="http://schemas.microsoft.com/office/drawing/2014/main" id="{4433B6FA-10B1-7B02-B215-74D8C29A0C7A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RAG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 구축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1039" name="그룹 1038">
            <a:extLst>
              <a:ext uri="{FF2B5EF4-FFF2-40B4-BE49-F238E27FC236}">
                <a16:creationId xmlns:a16="http://schemas.microsoft.com/office/drawing/2014/main" id="{F0256376-62FC-5E5B-06C3-791C4B71030B}"/>
              </a:ext>
            </a:extLst>
          </p:cNvPr>
          <p:cNvGrpSpPr/>
          <p:nvPr/>
        </p:nvGrpSpPr>
        <p:grpSpPr>
          <a:xfrm>
            <a:off x="9266830" y="4738418"/>
            <a:ext cx="712439" cy="202026"/>
            <a:chOff x="3550236" y="4283988"/>
            <a:chExt cx="712439" cy="202026"/>
          </a:xfrm>
        </p:grpSpPr>
        <p:cxnSp>
          <p:nvCxnSpPr>
            <p:cNvPr id="1040" name="직선 화살표 연결선 1039">
              <a:extLst>
                <a:ext uri="{FF2B5EF4-FFF2-40B4-BE49-F238E27FC236}">
                  <a16:creationId xmlns:a16="http://schemas.microsoft.com/office/drawing/2014/main" id="{F9438236-77EA-19E9-091B-A8ECD89778A8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1" name="직사각형 1040">
              <a:extLst>
                <a:ext uri="{FF2B5EF4-FFF2-40B4-BE49-F238E27FC236}">
                  <a16:creationId xmlns:a16="http://schemas.microsoft.com/office/drawing/2014/main" id="{E3E3EAC7-BF19-0580-2025-C4E808BF2A01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 서비스 기획</a:t>
              </a:r>
            </a:p>
          </p:txBody>
        </p:sp>
      </p:grpSp>
      <p:grpSp>
        <p:nvGrpSpPr>
          <p:cNvPr id="1042" name="그룹 1041">
            <a:extLst>
              <a:ext uri="{FF2B5EF4-FFF2-40B4-BE49-F238E27FC236}">
                <a16:creationId xmlns:a16="http://schemas.microsoft.com/office/drawing/2014/main" id="{A3AC4DA8-1942-48BE-333C-044685028A87}"/>
              </a:ext>
            </a:extLst>
          </p:cNvPr>
          <p:cNvGrpSpPr/>
          <p:nvPr/>
        </p:nvGrpSpPr>
        <p:grpSpPr>
          <a:xfrm>
            <a:off x="9989087" y="4657931"/>
            <a:ext cx="1512352" cy="261257"/>
            <a:chOff x="3530600" y="853598"/>
            <a:chExt cx="1527175" cy="261257"/>
          </a:xfrm>
        </p:grpSpPr>
        <p:sp>
          <p:nvSpPr>
            <p:cNvPr id="1043" name="직사각형 1042">
              <a:extLst>
                <a:ext uri="{FF2B5EF4-FFF2-40B4-BE49-F238E27FC236}">
                  <a16:creationId xmlns:a16="http://schemas.microsoft.com/office/drawing/2014/main" id="{EDCB23C2-E4D8-B475-E606-687673D5130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4" name="직사각형 1043">
              <a:extLst>
                <a:ext uri="{FF2B5EF4-FFF2-40B4-BE49-F238E27FC236}">
                  <a16:creationId xmlns:a16="http://schemas.microsoft.com/office/drawing/2014/main" id="{435ED443-642E-C390-33B1-21C406969E0B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Django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프론트엔드개발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1045" name="그룹 1044">
            <a:extLst>
              <a:ext uri="{FF2B5EF4-FFF2-40B4-BE49-F238E27FC236}">
                <a16:creationId xmlns:a16="http://schemas.microsoft.com/office/drawing/2014/main" id="{4A9B5078-AFAF-9F68-1A03-D0F5B6892DC5}"/>
              </a:ext>
            </a:extLst>
          </p:cNvPr>
          <p:cNvGrpSpPr/>
          <p:nvPr/>
        </p:nvGrpSpPr>
        <p:grpSpPr>
          <a:xfrm>
            <a:off x="6948489" y="4738418"/>
            <a:ext cx="712439" cy="202026"/>
            <a:chOff x="3550236" y="4283988"/>
            <a:chExt cx="712439" cy="202026"/>
          </a:xfrm>
        </p:grpSpPr>
        <p:cxnSp>
          <p:nvCxnSpPr>
            <p:cNvPr id="1046" name="직선 화살표 연결선 1045">
              <a:extLst>
                <a:ext uri="{FF2B5EF4-FFF2-40B4-BE49-F238E27FC236}">
                  <a16:creationId xmlns:a16="http://schemas.microsoft.com/office/drawing/2014/main" id="{057BABD9-79F9-B295-AFF6-F4F6EE9B661A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7" name="직사각형 1046">
              <a:extLst>
                <a:ext uri="{FF2B5EF4-FFF2-40B4-BE49-F238E27FC236}">
                  <a16:creationId xmlns:a16="http://schemas.microsoft.com/office/drawing/2014/main" id="{CD38F26D-969B-2046-7B23-0F6039E3443B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ML </a:t>
              </a:r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기획</a:t>
              </a:r>
            </a:p>
          </p:txBody>
        </p:sp>
      </p:grpSp>
      <p:grpSp>
        <p:nvGrpSpPr>
          <p:cNvPr id="1048" name="그룹 1047">
            <a:extLst>
              <a:ext uri="{FF2B5EF4-FFF2-40B4-BE49-F238E27FC236}">
                <a16:creationId xmlns:a16="http://schemas.microsoft.com/office/drawing/2014/main" id="{14B31C6B-FD20-E898-C196-09E09CE71D97}"/>
              </a:ext>
            </a:extLst>
          </p:cNvPr>
          <p:cNvGrpSpPr/>
          <p:nvPr/>
        </p:nvGrpSpPr>
        <p:grpSpPr>
          <a:xfrm>
            <a:off x="7686091" y="4657931"/>
            <a:ext cx="1547694" cy="261257"/>
            <a:chOff x="3530600" y="853598"/>
            <a:chExt cx="1527175" cy="261257"/>
          </a:xfrm>
        </p:grpSpPr>
        <p:sp>
          <p:nvSpPr>
            <p:cNvPr id="1049" name="직사각형 1048">
              <a:extLst>
                <a:ext uri="{FF2B5EF4-FFF2-40B4-BE49-F238E27FC236}">
                  <a16:creationId xmlns:a16="http://schemas.microsoft.com/office/drawing/2014/main" id="{0CDBB265-B544-51B2-2A14-E9A6E794FC62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0" name="직사각형 1049">
              <a:extLst>
                <a:ext uri="{FF2B5EF4-FFF2-40B4-BE49-F238E27FC236}">
                  <a16:creationId xmlns:a16="http://schemas.microsoft.com/office/drawing/2014/main" id="{4B86ACE4-2765-2512-5304-110BEBCBF121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LLM, LangChin 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백엔드 개발 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BD4EF667-1DFD-B8AD-3A59-FA16DF50110B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E35F35BD-EE92-5E12-B556-1FE8B9CE632F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FA5FCC2-23A7-2701-FE0D-1314A34B1820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419489B-9535-59AA-71E7-578BDA62D926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4.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추진 일정표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6E4BA8A3-5D9D-E9C5-ED95-E5AB72675B3C}"/>
              </a:ext>
            </a:extLst>
          </p:cNvPr>
          <p:cNvGrpSpPr/>
          <p:nvPr/>
        </p:nvGrpSpPr>
        <p:grpSpPr>
          <a:xfrm>
            <a:off x="4659708" y="5914783"/>
            <a:ext cx="790802" cy="198385"/>
            <a:chOff x="2677970" y="960000"/>
            <a:chExt cx="790802" cy="198385"/>
          </a:xfrm>
        </p:grpSpPr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FC9A885A-A5A1-8139-4E86-7C2BA6A8D08E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2A534A26-7594-6BDE-6579-9F3B7BA956E4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기능 구상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8FC7D1A-70E9-1AE0-33F7-49CC14603D1F}"/>
              </a:ext>
            </a:extLst>
          </p:cNvPr>
          <p:cNvGrpSpPr/>
          <p:nvPr/>
        </p:nvGrpSpPr>
        <p:grpSpPr>
          <a:xfrm>
            <a:off x="5425395" y="5836957"/>
            <a:ext cx="1144280" cy="261257"/>
            <a:chOff x="3530600" y="853598"/>
            <a:chExt cx="1527175" cy="261257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F86FD1C2-C8AC-F169-6ACD-721DCDDC45EB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BAB8D526-3925-C168-EB74-3055CE4F5DF4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UI,UX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프로토타입 제작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348B8ED8-C5F2-0F17-B2F5-FB71FFEBFB4F}"/>
              </a:ext>
            </a:extLst>
          </p:cNvPr>
          <p:cNvGrpSpPr/>
          <p:nvPr/>
        </p:nvGrpSpPr>
        <p:grpSpPr>
          <a:xfrm>
            <a:off x="6938194" y="5485837"/>
            <a:ext cx="712439" cy="202026"/>
            <a:chOff x="3550236" y="4283988"/>
            <a:chExt cx="712439" cy="202026"/>
          </a:xfrm>
        </p:grpSpPr>
        <p:cxnSp>
          <p:nvCxnSpPr>
            <p:cNvPr id="1024" name="직선 화살표 연결선 1023">
              <a:extLst>
                <a:ext uri="{FF2B5EF4-FFF2-40B4-BE49-F238E27FC236}">
                  <a16:creationId xmlns:a16="http://schemas.microsoft.com/office/drawing/2014/main" id="{741C35A8-6090-6381-0D43-1045CB88E37C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5" name="직사각형 1024">
              <a:extLst>
                <a:ext uri="{FF2B5EF4-FFF2-40B4-BE49-F238E27FC236}">
                  <a16:creationId xmlns:a16="http://schemas.microsoft.com/office/drawing/2014/main" id="{6C700EEB-BD42-4920-308D-B71C5DF86218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 서비스 기획</a:t>
              </a:r>
            </a:p>
          </p:txBody>
        </p:sp>
      </p:grpSp>
      <p:grpSp>
        <p:nvGrpSpPr>
          <p:cNvPr id="1026" name="그룹 1025">
            <a:extLst>
              <a:ext uri="{FF2B5EF4-FFF2-40B4-BE49-F238E27FC236}">
                <a16:creationId xmlns:a16="http://schemas.microsoft.com/office/drawing/2014/main" id="{F1F1D792-90E4-648E-F969-EBE33E5F5C33}"/>
              </a:ext>
            </a:extLst>
          </p:cNvPr>
          <p:cNvGrpSpPr/>
          <p:nvPr/>
        </p:nvGrpSpPr>
        <p:grpSpPr>
          <a:xfrm>
            <a:off x="7660451" y="5405350"/>
            <a:ext cx="3840988" cy="261257"/>
            <a:chOff x="3530600" y="853598"/>
            <a:chExt cx="1527175" cy="261257"/>
          </a:xfrm>
        </p:grpSpPr>
        <p:sp>
          <p:nvSpPr>
            <p:cNvPr id="1028" name="직사각형 1027">
              <a:extLst>
                <a:ext uri="{FF2B5EF4-FFF2-40B4-BE49-F238E27FC236}">
                  <a16:creationId xmlns:a16="http://schemas.microsoft.com/office/drawing/2014/main" id="{7FA6413F-E7BE-068A-C1E9-C33190E5D606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0" name="직사각형 1029">
              <a:extLst>
                <a:ext uri="{FF2B5EF4-FFF2-40B4-BE49-F238E27FC236}">
                  <a16:creationId xmlns:a16="http://schemas.microsoft.com/office/drawing/2014/main" id="{14C63631-8661-45B0-D2B6-66D8BEDFBA51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통합 테스트 및 버그 수정 </a:t>
              </a:r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/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성능 최적화 </a:t>
              </a:r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/ PythonAnywhere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배포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7178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AE4D6-D336-F792-F781-3DF1D327F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68660C5-D42A-B149-CB6C-06855748F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377"/>
              </p:ext>
            </p:extLst>
          </p:nvPr>
        </p:nvGraphicFramePr>
        <p:xfrm>
          <a:off x="558801" y="1271150"/>
          <a:ext cx="11074399" cy="3200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5199">
                  <a:extLst>
                    <a:ext uri="{9D8B030D-6E8A-4147-A177-3AD203B41FA5}">
                      <a16:colId xmlns:a16="http://schemas.microsoft.com/office/drawing/2014/main" val="2272385301"/>
                    </a:ext>
                  </a:extLst>
                </a:gridCol>
                <a:gridCol w="8839200">
                  <a:extLst>
                    <a:ext uri="{9D8B030D-6E8A-4147-A177-3AD203B41FA5}">
                      <a16:colId xmlns:a16="http://schemas.microsoft.com/office/drawing/2014/main" val="2854153201"/>
                    </a:ext>
                  </a:extLst>
                </a:gridCol>
              </a:tblGrid>
              <a:tr h="39094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개발 환경 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di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0302161"/>
                  </a:ext>
                </a:extLst>
              </a:tr>
              <a:tr h="4634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OS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Window 10 pro 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949231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Language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Python 3.10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898935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IDE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Anaconda Jupyter NoteBook, Vscode, Cursor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94446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Backend &amp; AI Core Stack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Mock Server, LLM, LangChain, RAG, Django,ML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150451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Database &amp; Vector Store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MySQL, PythonAnywhere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73774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Data Processing &amp; ML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easycodefpy,Pandas, Numpy, Scikit-learn, NLTK/spaCy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6119858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Frontend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Django Templates, Bootstrap, JavaScript,Chart.js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377602"/>
                  </a:ext>
                </a:extLst>
              </a:tr>
            </a:tbl>
          </a:graphicData>
        </a:graphic>
      </p:graphicFrame>
      <p:grpSp>
        <p:nvGrpSpPr>
          <p:cNvPr id="10" name="그룹 9">
            <a:extLst>
              <a:ext uri="{FF2B5EF4-FFF2-40B4-BE49-F238E27FC236}">
                <a16:creationId xmlns:a16="http://schemas.microsoft.com/office/drawing/2014/main" id="{945D2038-ED20-0899-3D2E-1AA76CFE0F6F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1F00293-70AB-346A-3156-F3B770895BC4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21F265B-B658-136D-8111-AB598E51B0C6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E8F33C9-53B1-26AE-AD3F-3E5CCED8DC14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5.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개발 환경</a:t>
              </a:r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54BC57EA-6411-4B78-1106-647BC3179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72" y="-3488860"/>
            <a:ext cx="3105150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048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E48FD-9418-298E-7B11-F957B1372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352D3B0-5265-D8B6-813C-491FD31D2FE9}"/>
              </a:ext>
            </a:extLst>
          </p:cNvPr>
          <p:cNvGraphicFramePr>
            <a:graphicFrameLocks noGrp="1"/>
          </p:cNvGraphicFramePr>
          <p:nvPr/>
        </p:nvGraphicFramePr>
        <p:xfrm>
          <a:off x="558801" y="1271150"/>
          <a:ext cx="11074399" cy="3200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5199">
                  <a:extLst>
                    <a:ext uri="{9D8B030D-6E8A-4147-A177-3AD203B41FA5}">
                      <a16:colId xmlns:a16="http://schemas.microsoft.com/office/drawing/2014/main" val="2272385301"/>
                    </a:ext>
                  </a:extLst>
                </a:gridCol>
                <a:gridCol w="8839200">
                  <a:extLst>
                    <a:ext uri="{9D8B030D-6E8A-4147-A177-3AD203B41FA5}">
                      <a16:colId xmlns:a16="http://schemas.microsoft.com/office/drawing/2014/main" val="2854153201"/>
                    </a:ext>
                  </a:extLst>
                </a:gridCol>
              </a:tblGrid>
              <a:tr h="39094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개발 환경 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di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0302161"/>
                  </a:ext>
                </a:extLst>
              </a:tr>
              <a:tr h="4634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OS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Window 10 pro 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949231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Language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Python 3.10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898935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IDE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Anaconda Jupyter NoteBook, Vscode, Cursor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94446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Backend &amp; AI Core Stack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Mock Server, LLM, LangChain, RAG, Django,ML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150451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Database &amp; Vector Store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MySQL, PythonAnywhere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73774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Data Processing &amp; ML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easycodefpy,Pandas, Numpy, Scikit-learn, NLTK/spaCy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6119858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Frontend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Django Templates, Bootstrap, JavaScript,Chart.js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377602"/>
                  </a:ext>
                </a:extLst>
              </a:tr>
            </a:tbl>
          </a:graphicData>
        </a:graphic>
      </p:graphicFrame>
      <p:grpSp>
        <p:nvGrpSpPr>
          <p:cNvPr id="10" name="그룹 9">
            <a:extLst>
              <a:ext uri="{FF2B5EF4-FFF2-40B4-BE49-F238E27FC236}">
                <a16:creationId xmlns:a16="http://schemas.microsoft.com/office/drawing/2014/main" id="{272E2C11-8645-4274-703C-8021B1A0134F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3452C5E-2035-2112-F9C1-F773A0C451BF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BF2267E-A2FF-D139-B123-8210CC32528E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2707923-4D84-3BA8-C64D-9154C196CD34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6.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외부 서비스 연동</a:t>
              </a:r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C977C9C4-E8AB-DE3E-EDC1-DFCB6C698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72" y="-3488860"/>
            <a:ext cx="3105150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90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</TotalTime>
  <Words>881</Words>
  <Application>Microsoft Office PowerPoint</Application>
  <PresentationFormat>와이드스크린</PresentationFormat>
  <Paragraphs>271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Freesentation 8 ExtraBold</vt:lpstr>
      <vt:lpstr>맑은 고딕</vt:lpstr>
      <vt:lpstr>프리젠테이션 5 Medium</vt:lpstr>
      <vt:lpstr>프리젠테이션 8 ExtraBold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49</cp:revision>
  <dcterms:created xsi:type="dcterms:W3CDTF">2025-07-31T07:13:26Z</dcterms:created>
  <dcterms:modified xsi:type="dcterms:W3CDTF">2025-08-04T07:07:23Z</dcterms:modified>
</cp:coreProperties>
</file>